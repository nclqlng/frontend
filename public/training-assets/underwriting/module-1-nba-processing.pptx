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6858000" cx="12192000"/>
  <p:notesSz cx="6858000" cy="9144000"/>
  <p:embeddedFontLst>
    <p:embeddedFont>
      <p:font typeface="Arial Black"/>
      <p:regular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51" roundtripDataSignature="AMtx7mghwNPV5hLTWnzG0skP6fvTsiGf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D2C7CD6-886A-417D-B27C-4667D700F7CC}">
  <a:tblStyle styleId="{4D2C7CD6-886A-417D-B27C-4667D700F7CC}"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accent2"/>
              </a:solidFill>
              <a:prstDash val="solid"/>
              <a:round/>
              <a:headEnd len="sm" w="sm" type="none"/>
              <a:tailEnd len="sm" w="sm" type="none"/>
            </a:ln>
          </a:top>
          <a:bottom>
            <a:ln cap="flat" cmpd="sng" w="12700">
              <a:solidFill>
                <a:schemeClr val="accent2"/>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accent2">
              <a:alpha val="20000"/>
            </a:schemeClr>
          </a:solidFill>
        </a:fill>
      </a:tcStyle>
    </a:band1H>
    <a:band2H>
      <a:tcTxStyle/>
    </a:band2H>
    <a:band1V>
      <a:tcTxStyle/>
      <a:tcStyle>
        <a:fill>
          <a:solidFill>
            <a:schemeClr val="accent2">
              <a:alpha val="20000"/>
            </a:schemeClr>
          </a:solidFill>
        </a:fill>
      </a:tcStyle>
    </a:band1V>
    <a:band2V>
      <a:tcTxStyle/>
    </a:band2V>
    <a:lastCol>
      <a:tcTxStyle b="on" i="off"/>
    </a:lastCol>
    <a:firstCol>
      <a:tcTxStyle b="on" i="off"/>
    </a:firstCol>
    <a:lastRow>
      <a:tcTxStyle b="on" i="off"/>
      <a:tcStyle>
        <a:tcBdr>
          <a:top>
            <a:ln cap="flat" cmpd="sng" w="12700">
              <a:solidFill>
                <a:schemeClr val="accent2"/>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accent2"/>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FE460B03-B3B5-448B-8531-5D30C03FCD8C}" styleName="Table_1">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20000"/>
            </a:schemeClr>
          </a:solidFill>
        </a:fill>
      </a:tcStyle>
    </a:band1H>
    <a:band2H>
      <a:tcTxStyle/>
    </a:band2H>
    <a:band1V>
      <a:tcTxStyle/>
      <a:tcStyle>
        <a:fill>
          <a:solidFill>
            <a:schemeClr val="accent1">
              <a:alpha val="20000"/>
            </a:schemeClr>
          </a:solidFill>
        </a:fill>
      </a:tcStyle>
    </a:band1V>
    <a:band2V>
      <a:tcTxStyle/>
    </a:band2V>
    <a:lastCol>
      <a:tcTxStyle b="on" i="off"/>
    </a:lastCol>
    <a:firstCol>
      <a:tcTxStyle b="on" i="off"/>
    </a:firstCol>
    <a:lastRow>
      <a:tcTxStyle b="on" i="off"/>
      <a:tcStyle>
        <a:tcBdr>
          <a:top>
            <a:ln cap="flat" cmpd="sng" w="12700">
              <a:solidFill>
                <a:schemeClr val="accent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12700">
              <a:solidFill>
                <a:schemeClr val="accent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 styleId="{B7E1684D-5046-4E9B-AD58-42CE886D0D3C}" styleName="Table_2">
    <a:wholeTbl>
      <a:tcTxStyle b="off" i="off">
        <a:font>
          <a:latin typeface="Calibri"/>
          <a:ea typeface="Calibri"/>
          <a:cs typeface="Calibri"/>
        </a:font>
        <a:schemeClr val="dk1"/>
      </a:tcTxStyle>
      <a:tcStyle>
        <a:tcBdr>
          <a:left>
            <a:ln cap="flat" cmpd="sng" w="12700">
              <a:solidFill>
                <a:schemeClr val="accent6"/>
              </a:solidFill>
              <a:prstDash val="solid"/>
              <a:round/>
              <a:headEnd len="sm" w="sm" type="none"/>
              <a:tailEnd len="sm" w="sm" type="none"/>
            </a:ln>
          </a:left>
          <a:right>
            <a:ln cap="flat" cmpd="sng" w="12700">
              <a:solidFill>
                <a:schemeClr val="accent6"/>
              </a:solidFill>
              <a:prstDash val="solid"/>
              <a:round/>
              <a:headEnd len="sm" w="sm" type="none"/>
              <a:tailEnd len="sm" w="sm" type="none"/>
            </a:ln>
          </a:right>
          <a:top>
            <a:ln cap="flat" cmpd="sng" w="12700">
              <a:solidFill>
                <a:schemeClr val="accent6"/>
              </a:solidFill>
              <a:prstDash val="solid"/>
              <a:round/>
              <a:headEnd len="sm" w="sm" type="none"/>
              <a:tailEnd len="sm" w="sm" type="none"/>
            </a:ln>
          </a:top>
          <a:bottom>
            <a:ln cap="flat" cmpd="sng" w="12700">
              <a:solidFill>
                <a:schemeClr val="accent6"/>
              </a:solidFill>
              <a:prstDash val="solid"/>
              <a:round/>
              <a:headEnd len="sm" w="sm" type="none"/>
              <a:tailEnd len="sm" w="sm" type="none"/>
            </a:ln>
          </a:bottom>
          <a:insideH>
            <a:ln cap="flat" cmpd="sng" w="12700">
              <a:solidFill>
                <a:schemeClr val="accent6"/>
              </a:solidFill>
              <a:prstDash val="solid"/>
              <a:round/>
              <a:headEnd len="sm" w="sm" type="none"/>
              <a:tailEnd len="sm" w="sm" type="none"/>
            </a:ln>
          </a:insideH>
          <a:insideV>
            <a:ln cap="flat" cmpd="sng" w="12700">
              <a:solidFill>
                <a:schemeClr val="accent6"/>
              </a:solidFill>
              <a:prstDash val="solid"/>
              <a:round/>
              <a:headEnd len="sm" w="sm" type="none"/>
              <a:tailEnd len="sm" w="sm" type="none"/>
            </a:ln>
          </a:insideV>
        </a:tcBdr>
        <a:fill>
          <a:solidFill>
            <a:srgbClr val="FFFFFF">
              <a:alpha val="0"/>
            </a:srgbClr>
          </a:solidFill>
        </a:fill>
      </a:tcStyle>
    </a:wholeTbl>
    <a:band1H>
      <a:tcTxStyle/>
      <a:tcStyle>
        <a:fill>
          <a:solidFill>
            <a:schemeClr val="accent6">
              <a:alpha val="20000"/>
            </a:schemeClr>
          </a:solidFill>
        </a:fill>
      </a:tcStyle>
    </a:band1H>
    <a:band2H>
      <a:tcTxStyle/>
    </a:band2H>
    <a:band1V>
      <a:tcTxStyle/>
      <a:tcStyle>
        <a:fill>
          <a:solidFill>
            <a:schemeClr val="accent6">
              <a:alpha val="20000"/>
            </a:schemeClr>
          </a:solidFill>
        </a:fill>
      </a:tcStyle>
    </a:band1V>
    <a:band2V>
      <a:tcTxStyle/>
    </a:band2V>
    <a:lastCol>
      <a:tcTxStyle b="on" i="off"/>
    </a:lastCol>
    <a:firstCol>
      <a:tcTxStyle b="on" i="off"/>
    </a:firstCol>
    <a:lastRow>
      <a:tcTxStyle b="on" i="off"/>
      <a:tcStyle>
        <a:tcBdr>
          <a:top>
            <a:ln cap="flat" cmpd="sng" w="50800">
              <a:solidFill>
                <a:schemeClr val="accent6"/>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6"/>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customschemas.google.com/relationships/presentationmetadata" Target="metadata"/><Relationship Id="rId50" Type="http://schemas.openxmlformats.org/officeDocument/2006/relationships/font" Target="fonts/ArialBlack-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97 warm bodies – </a:t>
            </a:r>
            <a:endParaRPr/>
          </a:p>
          <a:p>
            <a:pPr indent="0" lvl="0" marL="0" rtl="0" algn="l">
              <a:spcBef>
                <a:spcPts val="0"/>
              </a:spcBef>
              <a:spcAft>
                <a:spcPts val="0"/>
              </a:spcAft>
              <a:buNone/>
            </a:pPr>
            <a:r>
              <a:rPr b="1" lang="en-US"/>
              <a:t>BREAKDOWN</a:t>
            </a:r>
            <a:endParaRPr/>
          </a:p>
          <a:p>
            <a:pPr indent="0" lvl="0" marL="0" rtl="0" algn="l">
              <a:lnSpc>
                <a:spcPct val="100000"/>
              </a:lnSpc>
              <a:spcBef>
                <a:spcPts val="0"/>
              </a:spcBef>
              <a:spcAft>
                <a:spcPts val="0"/>
              </a:spcAft>
              <a:buClr>
                <a:srgbClr val="000000"/>
              </a:buClr>
              <a:buSzPts val="1200"/>
              <a:buFont typeface="Arial"/>
              <a:buNone/>
            </a:pPr>
            <a:r>
              <a:rPr lang="en-US" sz="1200">
                <a:solidFill>
                  <a:srgbClr val="000000"/>
                </a:solidFill>
                <a:latin typeface="Arial"/>
                <a:ea typeface="Arial"/>
                <a:cs typeface="Arial"/>
                <a:sym typeface="Arial"/>
              </a:rPr>
              <a:t>Policy Issue &amp; Facilitating     =    1</a:t>
            </a:r>
            <a:endParaRPr/>
          </a:p>
          <a:p>
            <a:pPr indent="0" lvl="0" marL="0" rtl="0" algn="l">
              <a:lnSpc>
                <a:spcPct val="100000"/>
              </a:lnSpc>
              <a:spcBef>
                <a:spcPts val="0"/>
              </a:spcBef>
              <a:spcAft>
                <a:spcPts val="0"/>
              </a:spcAft>
              <a:buClr>
                <a:srgbClr val="000000"/>
              </a:buClr>
              <a:buSzPts val="1200"/>
              <a:buFont typeface="Arial"/>
              <a:buNone/>
            </a:pPr>
            <a:r>
              <a:rPr lang="en-US" sz="1200">
                <a:solidFill>
                  <a:srgbClr val="000000"/>
                </a:solidFill>
                <a:latin typeface="Arial"/>
                <a:ea typeface="Arial"/>
                <a:cs typeface="Arial"/>
                <a:sym typeface="Arial"/>
              </a:rPr>
              <a:t>NB Review                            =  49</a:t>
            </a:r>
            <a:endParaRPr/>
          </a:p>
          <a:p>
            <a:pPr indent="0" lvl="0" marL="0" rtl="0" algn="l">
              <a:lnSpc>
                <a:spcPct val="100000"/>
              </a:lnSpc>
              <a:spcBef>
                <a:spcPts val="0"/>
              </a:spcBef>
              <a:spcAft>
                <a:spcPts val="0"/>
              </a:spcAft>
              <a:buClr>
                <a:srgbClr val="000000"/>
              </a:buClr>
              <a:buSzPts val="1200"/>
              <a:buFont typeface="Arial"/>
              <a:buNone/>
            </a:pPr>
            <a:r>
              <a:rPr lang="en-US" sz="1200">
                <a:solidFill>
                  <a:srgbClr val="000000"/>
                </a:solidFill>
                <a:latin typeface="Arial"/>
                <a:ea typeface="Arial"/>
                <a:cs typeface="Arial"/>
                <a:sym typeface="Arial"/>
              </a:rPr>
              <a:t>Facilitating                             =  10 </a:t>
            </a:r>
            <a:endParaRPr/>
          </a:p>
          <a:p>
            <a:pPr indent="0" lvl="0" marL="0" rtl="0" algn="l">
              <a:lnSpc>
                <a:spcPct val="100000"/>
              </a:lnSpc>
              <a:spcBef>
                <a:spcPts val="0"/>
              </a:spcBef>
              <a:spcAft>
                <a:spcPts val="0"/>
              </a:spcAft>
              <a:buClr>
                <a:schemeClr val="dk1"/>
              </a:buClr>
              <a:buSzPts val="1200"/>
              <a:buFont typeface="Noto Sans Symbols"/>
              <a:buNone/>
            </a:pPr>
            <a:r>
              <a:rPr lang="en-US" sz="1200">
                <a:latin typeface="Arial"/>
                <a:ea typeface="Arial"/>
                <a:cs typeface="Arial"/>
                <a:sym typeface="Arial"/>
              </a:rPr>
              <a:t>Underwriters		= 33</a:t>
            </a:r>
            <a:endParaRPr/>
          </a:p>
          <a:p>
            <a:pPr indent="0" lvl="0" marL="0" rtl="0" algn="l">
              <a:lnSpc>
                <a:spcPct val="100000"/>
              </a:lnSpc>
              <a:spcBef>
                <a:spcPts val="0"/>
              </a:spcBef>
              <a:spcAft>
                <a:spcPts val="0"/>
              </a:spcAft>
              <a:buClr>
                <a:schemeClr val="dk1"/>
              </a:buClr>
              <a:buSzPts val="1200"/>
              <a:buFont typeface="Arial"/>
              <a:buNone/>
            </a:pPr>
            <a:r>
              <a:rPr lang="en-US" sz="1200">
                <a:latin typeface="Arial"/>
                <a:ea typeface="Arial"/>
                <a:cs typeface="Arial"/>
                <a:sym typeface="Arial"/>
              </a:rPr>
              <a:t>NB &amp; UW Support	= 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challenge</a:t>
            </a:r>
            <a:endParaRPr/>
          </a:p>
          <a:p>
            <a:pPr indent="0" lvl="0" marL="0" rtl="0" algn="l">
              <a:spcBef>
                <a:spcPts val="0"/>
              </a:spcBef>
              <a:spcAft>
                <a:spcPts val="0"/>
              </a:spcAft>
              <a:buNone/>
            </a:pPr>
            <a:r>
              <a:rPr lang="en-US"/>
              <a:t>2017 – target 6 hiring – only 5 were hired</a:t>
            </a:r>
            <a:endParaRPr/>
          </a:p>
          <a:p>
            <a:pPr indent="0" lvl="0" marL="0" rtl="0" algn="l">
              <a:spcBef>
                <a:spcPts val="0"/>
              </a:spcBef>
              <a:spcAft>
                <a:spcPts val="0"/>
              </a:spcAft>
              <a:buNone/>
            </a:pPr>
            <a:r>
              <a:rPr lang="en-US"/>
              <a:t>2018 – target 10 hiring  - only 9 were hired</a:t>
            </a:r>
            <a:endParaRPr/>
          </a:p>
          <a:p>
            <a:pPr indent="0" lvl="0" marL="0" rtl="0" algn="l">
              <a:spcBef>
                <a:spcPts val="0"/>
              </a:spcBef>
              <a:spcAft>
                <a:spcPts val="0"/>
              </a:spcAft>
              <a:buNone/>
            </a:pPr>
            <a:r>
              <a:rPr lang="en-US"/>
              <a:t>2012 – target 12 hiring – 7 were hired already</a:t>
            </a:r>
            <a:endParaRPr/>
          </a:p>
          <a:p>
            <a:pPr indent="0" lvl="0" marL="0" rtl="0" algn="l">
              <a:spcBef>
                <a:spcPts val="0"/>
              </a:spcBef>
              <a:spcAft>
                <a:spcPts val="0"/>
              </a:spcAft>
              <a:buNone/>
            </a:pPr>
            <a:r>
              <a:rPr lang="en-US"/>
              <a:t>We still lack 7 staff + 4 (resignation) = lack 11 staff</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US"/>
              <a:t>For 2019:  </a:t>
            </a:r>
            <a:endParaRPr/>
          </a:p>
          <a:p>
            <a:pPr indent="0" lvl="0" marL="0" rtl="0" algn="l">
              <a:spcBef>
                <a:spcPts val="0"/>
              </a:spcBef>
              <a:spcAft>
                <a:spcPts val="0"/>
              </a:spcAft>
              <a:buNone/>
            </a:pPr>
            <a:r>
              <a:rPr lang="en-US"/>
              <a:t>NB – 1 replacement + 7 new staff : 8 </a:t>
            </a:r>
            <a:endParaRPr/>
          </a:p>
          <a:p>
            <a:pPr indent="0" lvl="0" marL="0" rtl="0" algn="l">
              <a:lnSpc>
                <a:spcPct val="100000"/>
              </a:lnSpc>
              <a:spcBef>
                <a:spcPts val="0"/>
              </a:spcBef>
              <a:spcAft>
                <a:spcPts val="0"/>
              </a:spcAft>
              <a:buClr>
                <a:schemeClr val="dk1"/>
              </a:buClr>
              <a:buSzPts val="1200"/>
              <a:buFont typeface="Calibri"/>
              <a:buNone/>
            </a:pPr>
            <a:r>
              <a:rPr lang="en-US"/>
              <a:t>UW – 3 replacement+ 6 new staff: 9</a:t>
            </a:r>
            <a:endParaRPr/>
          </a:p>
        </p:txBody>
      </p:sp>
      <p:sp>
        <p:nvSpPr>
          <p:cNvPr id="156" name="Google Shape;15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solidFill>
                  <a:srgbClr val="17365D"/>
                </a:solidFill>
                <a:latin typeface="Arial Black"/>
                <a:ea typeface="Arial Black"/>
                <a:cs typeface="Arial Black"/>
                <a:sym typeface="Arial Black"/>
              </a:rPr>
              <a:t>TEAM 1</a:t>
            </a:r>
            <a:r>
              <a:rPr b="1" lang="en-US" sz="1200">
                <a:solidFill>
                  <a:srgbClr val="17365D"/>
                </a:solidFill>
                <a:latin typeface="Arial"/>
                <a:ea typeface="Arial"/>
                <a:cs typeface="Arial"/>
                <a:sym typeface="Arial"/>
              </a:rPr>
              <a:t> </a:t>
            </a:r>
            <a:endParaRPr/>
          </a:p>
          <a:p>
            <a:pPr indent="-228600" lvl="0" marL="228600" rtl="0" algn="l">
              <a:spcBef>
                <a:spcPts val="0"/>
              </a:spcBef>
              <a:spcAft>
                <a:spcPts val="0"/>
              </a:spcAft>
              <a:buClr>
                <a:srgbClr val="17365D"/>
              </a:buClr>
              <a:buSzPts val="1200"/>
              <a:buFont typeface="Arial"/>
              <a:buAutoNum type="arabicPeriod"/>
            </a:pPr>
            <a:r>
              <a:rPr b="1" lang="en-US" sz="1200">
                <a:solidFill>
                  <a:srgbClr val="17365D"/>
                </a:solidFill>
                <a:latin typeface="Arial"/>
                <a:ea typeface="Arial"/>
                <a:cs typeface="Arial"/>
                <a:sym typeface="Arial"/>
              </a:rPr>
              <a:t>SLOCPI NB Appraisal                                                        </a:t>
            </a:r>
            <a:endParaRPr/>
          </a:p>
          <a:p>
            <a:pPr indent="-228600" lvl="0" marL="228600" rtl="0" algn="l">
              <a:spcBef>
                <a:spcPts val="0"/>
              </a:spcBef>
              <a:spcAft>
                <a:spcPts val="0"/>
              </a:spcAft>
              <a:buClr>
                <a:srgbClr val="17365D"/>
              </a:buClr>
              <a:buSzPts val="1200"/>
              <a:buFont typeface="Arial"/>
              <a:buAutoNum type="arabicPeriod"/>
            </a:pPr>
            <a:r>
              <a:rPr b="1" lang="en-US" sz="1200">
                <a:solidFill>
                  <a:srgbClr val="17365D"/>
                </a:solidFill>
                <a:latin typeface="Arial"/>
                <a:ea typeface="Arial"/>
                <a:cs typeface="Arial"/>
                <a:sym typeface="Arial"/>
              </a:rPr>
              <a:t>Conduct IES/Training sessions for advisors within the territory                                                                          </a:t>
            </a:r>
            <a:endParaRPr/>
          </a:p>
          <a:p>
            <a:pPr indent="-228600" lvl="0" marL="228600" rtl="0" algn="l">
              <a:spcBef>
                <a:spcPts val="0"/>
              </a:spcBef>
              <a:spcAft>
                <a:spcPts val="0"/>
              </a:spcAft>
              <a:buClr>
                <a:srgbClr val="00B0F0"/>
              </a:buClr>
              <a:buSzPts val="1200"/>
              <a:buFont typeface="Arial"/>
              <a:buAutoNum type="arabicPeriod"/>
            </a:pPr>
            <a:r>
              <a:rPr b="1" lang="en-US" sz="1200">
                <a:solidFill>
                  <a:srgbClr val="00B0F0"/>
                </a:solidFill>
                <a:latin typeface="Arial"/>
                <a:ea typeface="Arial"/>
                <a:cs typeface="Arial"/>
                <a:sym typeface="Arial"/>
              </a:rPr>
              <a:t>Coordinate with Client Care on issues relating to NB Calls (providing trainings when necessary, updating Client Care when there are changes in guidelines, handling calls that may need to be elevated to UW due to complexity) </a:t>
            </a:r>
            <a:endParaRPr/>
          </a:p>
          <a:p>
            <a:pPr indent="0" lvl="0" marL="0" rtl="0" algn="l">
              <a:spcBef>
                <a:spcPts val="0"/>
              </a:spcBef>
              <a:spcAft>
                <a:spcPts val="0"/>
              </a:spcAft>
              <a:buClr>
                <a:schemeClr val="dk1"/>
              </a:buClr>
              <a:buSzPts val="1200"/>
              <a:buFont typeface="Calibri"/>
              <a:buNone/>
            </a:pPr>
            <a:r>
              <a:t/>
            </a:r>
            <a:endParaRPr b="1" sz="1200">
              <a:solidFill>
                <a:srgbClr val="00B0F0"/>
              </a:solidFill>
              <a:latin typeface="Arial"/>
              <a:ea typeface="Arial"/>
              <a:cs typeface="Arial"/>
              <a:sym typeface="Arial"/>
            </a:endParaRPr>
          </a:p>
          <a:p>
            <a:pPr indent="0" lvl="0" marL="0" rtl="0" algn="l">
              <a:spcBef>
                <a:spcPts val="0"/>
              </a:spcBef>
              <a:spcAft>
                <a:spcPts val="0"/>
              </a:spcAft>
              <a:buNone/>
            </a:pPr>
            <a:r>
              <a:rPr b="1" lang="en-US" sz="1200">
                <a:solidFill>
                  <a:srgbClr val="17365D"/>
                </a:solidFill>
                <a:latin typeface="Arial Black"/>
                <a:ea typeface="Arial Black"/>
                <a:cs typeface="Arial Black"/>
                <a:sym typeface="Arial Black"/>
              </a:rPr>
              <a:t>TEAM 2</a:t>
            </a:r>
            <a:endParaRPr/>
          </a:p>
          <a:p>
            <a:pPr indent="0" lvl="0" marL="0" rtl="0" algn="l">
              <a:spcBef>
                <a:spcPts val="0"/>
              </a:spcBef>
              <a:spcAft>
                <a:spcPts val="0"/>
              </a:spcAft>
              <a:buNone/>
            </a:pPr>
            <a:r>
              <a:rPr b="1" lang="en-US" sz="1200">
                <a:solidFill>
                  <a:srgbClr val="17365D"/>
                </a:solidFill>
                <a:latin typeface="Arial"/>
                <a:ea typeface="Arial"/>
                <a:cs typeface="Arial"/>
                <a:sym typeface="Arial"/>
              </a:rPr>
              <a:t> 1. SLOCPI NB Appraisal                                                        </a:t>
            </a:r>
            <a:endParaRPr/>
          </a:p>
          <a:p>
            <a:pPr indent="0" lvl="0" marL="0" rtl="0" algn="l">
              <a:spcBef>
                <a:spcPts val="0"/>
              </a:spcBef>
              <a:spcAft>
                <a:spcPts val="0"/>
              </a:spcAft>
              <a:buNone/>
            </a:pPr>
            <a:r>
              <a:rPr b="1" lang="en-US" sz="1200">
                <a:solidFill>
                  <a:srgbClr val="17365D"/>
                </a:solidFill>
                <a:latin typeface="Arial"/>
                <a:ea typeface="Arial"/>
                <a:cs typeface="Arial"/>
                <a:sym typeface="Arial"/>
              </a:rPr>
              <a:t> 2. Conduct IES/Training sessions for advisors within the territory                                                                         </a:t>
            </a:r>
            <a:endParaRPr/>
          </a:p>
          <a:p>
            <a:pPr indent="0" lvl="0" marL="0" rtl="0" algn="l">
              <a:spcBef>
                <a:spcPts val="0"/>
              </a:spcBef>
              <a:spcAft>
                <a:spcPts val="0"/>
              </a:spcAft>
              <a:buNone/>
            </a:pPr>
            <a:r>
              <a:rPr b="1" lang="en-US" sz="1200">
                <a:solidFill>
                  <a:srgbClr val="17365D"/>
                </a:solidFill>
                <a:latin typeface="Arial"/>
                <a:ea typeface="Arial"/>
                <a:cs typeface="Arial"/>
                <a:sym typeface="Arial"/>
              </a:rPr>
              <a:t> 3. </a:t>
            </a:r>
            <a:r>
              <a:rPr b="1" lang="en-US" sz="1200">
                <a:solidFill>
                  <a:srgbClr val="00B0F0"/>
                </a:solidFill>
                <a:latin typeface="Arial"/>
                <a:ea typeface="Arial"/>
                <a:cs typeface="Arial"/>
                <a:sym typeface="Arial"/>
              </a:rPr>
              <a:t>Audit of Underwriters under Band 5A                                                                  </a:t>
            </a:r>
            <a:endParaRPr/>
          </a:p>
          <a:p>
            <a:pPr indent="0" lvl="0" marL="0" rtl="0" algn="l">
              <a:spcBef>
                <a:spcPts val="0"/>
              </a:spcBef>
              <a:spcAft>
                <a:spcPts val="0"/>
              </a:spcAft>
              <a:buNone/>
            </a:pPr>
            <a:r>
              <a:rPr b="1" lang="en-US" sz="1200">
                <a:solidFill>
                  <a:srgbClr val="17365D"/>
                </a:solidFill>
                <a:latin typeface="Arial"/>
                <a:ea typeface="Arial"/>
                <a:cs typeface="Arial"/>
                <a:sym typeface="Arial"/>
              </a:rPr>
              <a:t>4. </a:t>
            </a:r>
            <a:r>
              <a:rPr b="1" lang="en-US" sz="1200">
                <a:solidFill>
                  <a:srgbClr val="00B0F0"/>
                </a:solidFill>
                <a:latin typeface="Arial"/>
                <a:ea typeface="Arial"/>
                <a:cs typeface="Arial"/>
                <a:sym typeface="Arial"/>
              </a:rPr>
              <a:t>Continue to represent Sun Life to the HOLUAP board until completion of term </a:t>
            </a:r>
            <a:endParaRPr/>
          </a:p>
          <a:p>
            <a:pPr indent="0" lvl="0" marL="0" rtl="0" algn="l">
              <a:spcBef>
                <a:spcPts val="0"/>
              </a:spcBef>
              <a:spcAft>
                <a:spcPts val="0"/>
              </a:spcAft>
              <a:buClr>
                <a:schemeClr val="dk1"/>
              </a:buClr>
              <a:buSzPts val="1200"/>
              <a:buFont typeface="Calibri"/>
              <a:buNone/>
            </a:pPr>
            <a:r>
              <a:t/>
            </a:r>
            <a:endParaRPr/>
          </a:p>
          <a:p>
            <a:pPr indent="0" lvl="0" marL="0" rtl="0" algn="l">
              <a:spcBef>
                <a:spcPts val="0"/>
              </a:spcBef>
              <a:spcAft>
                <a:spcPts val="0"/>
              </a:spcAft>
              <a:buNone/>
            </a:pPr>
            <a:r>
              <a:rPr b="1" lang="en-US" sz="1200">
                <a:solidFill>
                  <a:srgbClr val="17365D"/>
                </a:solidFill>
                <a:latin typeface="Arial Black"/>
                <a:ea typeface="Arial Black"/>
                <a:cs typeface="Arial Black"/>
                <a:sym typeface="Arial Black"/>
              </a:rPr>
              <a:t>TEAM 3</a:t>
            </a:r>
            <a:r>
              <a:rPr b="1" lang="en-US" sz="1200">
                <a:solidFill>
                  <a:srgbClr val="17365D"/>
                </a:solidFill>
                <a:latin typeface="Arial"/>
                <a:ea typeface="Arial"/>
                <a:cs typeface="Arial"/>
                <a:sym typeface="Arial"/>
              </a:rPr>
              <a:t> </a:t>
            </a:r>
            <a:endParaRPr/>
          </a:p>
          <a:p>
            <a:pPr indent="-228600" lvl="0" marL="228600" rtl="0" algn="l">
              <a:spcBef>
                <a:spcPts val="0"/>
              </a:spcBef>
              <a:spcAft>
                <a:spcPts val="0"/>
              </a:spcAft>
              <a:buClr>
                <a:srgbClr val="17365D"/>
              </a:buClr>
              <a:buSzPts val="1200"/>
              <a:buFont typeface="Arial"/>
              <a:buAutoNum type="arabicPeriod"/>
            </a:pPr>
            <a:r>
              <a:rPr b="1" lang="en-US" sz="1200">
                <a:solidFill>
                  <a:srgbClr val="17365D"/>
                </a:solidFill>
                <a:latin typeface="Arial"/>
                <a:ea typeface="Arial"/>
                <a:cs typeface="Arial"/>
                <a:sym typeface="Arial"/>
              </a:rPr>
              <a:t>SLOCPI NB Appraisal                                                         </a:t>
            </a:r>
            <a:endParaRPr/>
          </a:p>
          <a:p>
            <a:pPr indent="-228600" lvl="0" marL="228600" rtl="0" algn="l">
              <a:spcBef>
                <a:spcPts val="0"/>
              </a:spcBef>
              <a:spcAft>
                <a:spcPts val="0"/>
              </a:spcAft>
              <a:buClr>
                <a:srgbClr val="00B0F0"/>
              </a:buClr>
              <a:buSzPts val="1200"/>
              <a:buFont typeface="Arial"/>
              <a:buAutoNum type="arabicPeriod"/>
            </a:pPr>
            <a:r>
              <a:rPr b="1" lang="en-US" sz="1200">
                <a:solidFill>
                  <a:srgbClr val="00B0F0"/>
                </a:solidFill>
                <a:latin typeface="Arial"/>
                <a:ea typeface="Arial"/>
                <a:cs typeface="Arial"/>
                <a:sym typeface="Arial"/>
              </a:rPr>
              <a:t> Handle  the Polcon on-hold and Retrigger databases and ensure cases are resolved within 10 days from release of the report. Ensure action plans are provided and carried out. Provide quarterly summary. </a:t>
            </a:r>
            <a:endParaRPr/>
          </a:p>
          <a:p>
            <a:pPr indent="0" lvl="0" marL="0" rtl="0" algn="l">
              <a:spcBef>
                <a:spcPts val="0"/>
              </a:spcBef>
              <a:spcAft>
                <a:spcPts val="0"/>
              </a:spcAft>
              <a:buClr>
                <a:schemeClr val="dk1"/>
              </a:buClr>
              <a:buSzPts val="1200"/>
              <a:buFont typeface="Calibri"/>
              <a:buNone/>
            </a:pPr>
            <a:r>
              <a:t/>
            </a:r>
            <a:endParaRPr/>
          </a:p>
        </p:txBody>
      </p:sp>
      <p:sp>
        <p:nvSpPr>
          <p:cNvPr id="269" name="Google Shape;26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17365D"/>
              </a:buClr>
              <a:buSzPts val="1200"/>
              <a:buFont typeface="Arial"/>
              <a:buNone/>
            </a:pPr>
            <a:r>
              <a:rPr b="1" lang="en-US" sz="1200">
                <a:solidFill>
                  <a:srgbClr val="17365D"/>
                </a:solidFill>
                <a:latin typeface="Arial"/>
                <a:ea typeface="Arial"/>
                <a:cs typeface="Arial"/>
                <a:sym typeface="Arial"/>
              </a:rPr>
              <a:t>TEAM 1</a:t>
            </a:r>
            <a:endParaRPr/>
          </a:p>
          <a:p>
            <a:pPr indent="-228600" lvl="0" marL="228600" rtl="0" algn="l">
              <a:spcBef>
                <a:spcPts val="0"/>
              </a:spcBef>
              <a:spcAft>
                <a:spcPts val="0"/>
              </a:spcAft>
              <a:buClr>
                <a:srgbClr val="17365D"/>
              </a:buClr>
              <a:buSzPts val="1200"/>
              <a:buFont typeface="Arial"/>
              <a:buAutoNum type="arabicPeriod"/>
            </a:pPr>
            <a:r>
              <a:rPr b="1" lang="en-US" sz="1200">
                <a:solidFill>
                  <a:srgbClr val="17365D"/>
                </a:solidFill>
                <a:latin typeface="Arial"/>
                <a:ea typeface="Arial"/>
                <a:cs typeface="Arial"/>
                <a:sym typeface="Arial"/>
              </a:rPr>
              <a:t>SLOCPI NB Appraisal                                         </a:t>
            </a:r>
            <a:endParaRPr/>
          </a:p>
          <a:p>
            <a:pPr indent="-228600" lvl="0" marL="228600" rtl="0" algn="l">
              <a:spcBef>
                <a:spcPts val="0"/>
              </a:spcBef>
              <a:spcAft>
                <a:spcPts val="0"/>
              </a:spcAft>
              <a:buClr>
                <a:srgbClr val="17365D"/>
              </a:buClr>
              <a:buSzPts val="1200"/>
              <a:buFont typeface="Arial"/>
              <a:buAutoNum type="arabicPeriod"/>
            </a:pPr>
            <a:r>
              <a:rPr b="1" lang="en-US" sz="1200">
                <a:solidFill>
                  <a:srgbClr val="17365D"/>
                </a:solidFill>
                <a:latin typeface="Arial"/>
                <a:ea typeface="Arial"/>
                <a:cs typeface="Arial"/>
                <a:sym typeface="Arial"/>
              </a:rPr>
              <a:t>Conduct IES/Training sessions for advisors within the territory                                                                          </a:t>
            </a:r>
            <a:endParaRPr/>
          </a:p>
          <a:p>
            <a:pPr indent="-228600" lvl="0" marL="228600" rtl="0" algn="l">
              <a:spcBef>
                <a:spcPts val="0"/>
              </a:spcBef>
              <a:spcAft>
                <a:spcPts val="0"/>
              </a:spcAft>
              <a:buClr>
                <a:srgbClr val="00B0F0"/>
              </a:buClr>
              <a:buSzPts val="1200"/>
              <a:buFont typeface="Arial"/>
              <a:buAutoNum type="arabicPeriod"/>
            </a:pPr>
            <a:r>
              <a:rPr b="1" lang="en-US" sz="1200">
                <a:solidFill>
                  <a:srgbClr val="00B0F0"/>
                </a:solidFill>
                <a:latin typeface="Arial"/>
                <a:ea typeface="Arial"/>
                <a:cs typeface="Arial"/>
                <a:sym typeface="Arial"/>
              </a:rPr>
              <a:t>Prepare/ Update IES modules for use of all advisors and prepare Learning session curricula for use of all underwriters. Coordinate also w/ Training Dept. if there are decks originating from NB &amp; UW that need to be revised/updated </a:t>
            </a:r>
            <a:endParaRPr/>
          </a:p>
          <a:p>
            <a:pPr indent="-152400" lvl="0" marL="228600" rtl="0" algn="l">
              <a:spcBef>
                <a:spcPts val="0"/>
              </a:spcBef>
              <a:spcAft>
                <a:spcPts val="0"/>
              </a:spcAft>
              <a:buClr>
                <a:schemeClr val="dk1"/>
              </a:buClr>
              <a:buSzPts val="1200"/>
              <a:buFont typeface="Calibri"/>
              <a:buNone/>
            </a:pPr>
            <a:r>
              <a:t/>
            </a:r>
            <a:endParaRPr b="1" sz="1200">
              <a:solidFill>
                <a:srgbClr val="00B0F0"/>
              </a:solidFill>
              <a:latin typeface="Arial"/>
              <a:ea typeface="Arial"/>
              <a:cs typeface="Arial"/>
              <a:sym typeface="Arial"/>
            </a:endParaRPr>
          </a:p>
          <a:p>
            <a:pPr indent="0" lvl="0" marL="0" rtl="0" algn="l">
              <a:spcBef>
                <a:spcPts val="0"/>
              </a:spcBef>
              <a:spcAft>
                <a:spcPts val="0"/>
              </a:spcAft>
              <a:buClr>
                <a:srgbClr val="00B0F0"/>
              </a:buClr>
              <a:buSzPts val="1200"/>
              <a:buFont typeface="Arial"/>
              <a:buNone/>
            </a:pPr>
            <a:r>
              <a:rPr b="1" lang="en-US" sz="1200">
                <a:solidFill>
                  <a:srgbClr val="00B0F0"/>
                </a:solidFill>
                <a:latin typeface="Arial"/>
                <a:ea typeface="Arial"/>
                <a:cs typeface="Arial"/>
                <a:sym typeface="Arial"/>
              </a:rPr>
              <a:t>TEAM 2</a:t>
            </a:r>
            <a:endParaRPr b="1" sz="1200">
              <a:solidFill>
                <a:srgbClr val="17365D"/>
              </a:solidFill>
              <a:latin typeface="Arial"/>
              <a:ea typeface="Arial"/>
              <a:cs typeface="Arial"/>
              <a:sym typeface="Arial"/>
            </a:endParaRPr>
          </a:p>
          <a:p>
            <a:pPr indent="-228600" lvl="0" marL="228600" rtl="0" algn="l">
              <a:spcBef>
                <a:spcPts val="0"/>
              </a:spcBef>
              <a:spcAft>
                <a:spcPts val="0"/>
              </a:spcAft>
              <a:buClr>
                <a:srgbClr val="17365D"/>
              </a:buClr>
              <a:buSzPts val="1200"/>
              <a:buFont typeface="Arial"/>
              <a:buAutoNum type="arabicPeriod"/>
            </a:pPr>
            <a:r>
              <a:rPr b="1" lang="en-US" sz="1200">
                <a:solidFill>
                  <a:srgbClr val="17365D"/>
                </a:solidFill>
                <a:latin typeface="Arial"/>
                <a:ea typeface="Arial"/>
                <a:cs typeface="Arial"/>
                <a:sym typeface="Arial"/>
              </a:rPr>
              <a:t>SLOCPI NB Appraisal                                                         </a:t>
            </a:r>
            <a:endParaRPr/>
          </a:p>
          <a:p>
            <a:pPr indent="-228600" lvl="0" marL="228600" rtl="0" algn="l">
              <a:spcBef>
                <a:spcPts val="0"/>
              </a:spcBef>
              <a:spcAft>
                <a:spcPts val="0"/>
              </a:spcAft>
              <a:buClr>
                <a:schemeClr val="dk1"/>
              </a:buClr>
              <a:buSzPts val="1200"/>
              <a:buFont typeface="Arial"/>
              <a:buAutoNum type="arabicPeriod"/>
            </a:pPr>
            <a:r>
              <a:rPr b="1" lang="en-US" sz="1200">
                <a:latin typeface="Arial"/>
                <a:ea typeface="Arial"/>
                <a:cs typeface="Arial"/>
                <a:sym typeface="Arial"/>
              </a:rPr>
              <a:t>Conduct  IES/Training sessions for advisors within the territory </a:t>
            </a:r>
            <a:endParaRPr/>
          </a:p>
          <a:p>
            <a:pPr indent="0" lvl="0" marL="0" rtl="0" algn="l">
              <a:spcBef>
                <a:spcPts val="0"/>
              </a:spcBef>
              <a:spcAft>
                <a:spcPts val="0"/>
              </a:spcAft>
              <a:buClr>
                <a:schemeClr val="dk1"/>
              </a:buClr>
              <a:buSzPts val="1200"/>
              <a:buFont typeface="Calibri"/>
              <a:buNone/>
            </a:pPr>
            <a:r>
              <a:t/>
            </a:r>
            <a:endParaRPr b="1" sz="1200">
              <a:solidFill>
                <a:srgbClr val="00B0F0"/>
              </a:solidFill>
              <a:latin typeface="Arial"/>
              <a:ea typeface="Arial"/>
              <a:cs typeface="Arial"/>
              <a:sym typeface="Arial"/>
            </a:endParaRPr>
          </a:p>
          <a:p>
            <a:pPr indent="0" lvl="0" marL="0" rtl="0" algn="l">
              <a:spcBef>
                <a:spcPts val="0"/>
              </a:spcBef>
              <a:spcAft>
                <a:spcPts val="0"/>
              </a:spcAft>
              <a:buNone/>
            </a:pPr>
            <a:r>
              <a:rPr b="1" lang="en-US" sz="1200">
                <a:solidFill>
                  <a:srgbClr val="17365D"/>
                </a:solidFill>
                <a:latin typeface="Arial Black"/>
                <a:ea typeface="Arial Black"/>
                <a:cs typeface="Arial Black"/>
                <a:sym typeface="Arial Black"/>
              </a:rPr>
              <a:t>TEAM 3</a:t>
            </a:r>
            <a:r>
              <a:rPr b="1" lang="en-US" sz="1200">
                <a:solidFill>
                  <a:srgbClr val="17365D"/>
                </a:solidFill>
                <a:latin typeface="Arial"/>
                <a:ea typeface="Arial"/>
                <a:cs typeface="Arial"/>
                <a:sym typeface="Arial"/>
              </a:rPr>
              <a:t> </a:t>
            </a:r>
            <a:endParaRPr/>
          </a:p>
          <a:p>
            <a:pPr indent="-228600" lvl="0" marL="228600" rtl="0" algn="l">
              <a:spcBef>
                <a:spcPts val="0"/>
              </a:spcBef>
              <a:spcAft>
                <a:spcPts val="0"/>
              </a:spcAft>
              <a:buClr>
                <a:srgbClr val="17365D"/>
              </a:buClr>
              <a:buSzPts val="1200"/>
              <a:buFont typeface="Arial"/>
              <a:buAutoNum type="arabicPeriod"/>
            </a:pPr>
            <a:r>
              <a:rPr b="1" lang="en-US" sz="1200">
                <a:solidFill>
                  <a:srgbClr val="17365D"/>
                </a:solidFill>
                <a:latin typeface="Arial"/>
                <a:ea typeface="Arial"/>
                <a:cs typeface="Arial"/>
                <a:sym typeface="Arial"/>
              </a:rPr>
              <a:t>SLOCPI NB Appraisal                                                         </a:t>
            </a:r>
            <a:endParaRPr/>
          </a:p>
          <a:p>
            <a:pPr indent="-228600" lvl="0" marL="228600" rtl="0" algn="l">
              <a:spcBef>
                <a:spcPts val="0"/>
              </a:spcBef>
              <a:spcAft>
                <a:spcPts val="0"/>
              </a:spcAft>
              <a:buClr>
                <a:srgbClr val="00B0F0"/>
              </a:buClr>
              <a:buSzPts val="1200"/>
              <a:buFont typeface="Arial"/>
              <a:buAutoNum type="arabicPeriod"/>
            </a:pPr>
            <a:r>
              <a:rPr b="1" lang="en-US" sz="1200">
                <a:solidFill>
                  <a:srgbClr val="00B0F0"/>
                </a:solidFill>
                <a:latin typeface="Arial"/>
                <a:ea typeface="Arial"/>
                <a:cs typeface="Arial"/>
                <a:sym typeface="Arial"/>
              </a:rPr>
              <a:t>Handle coordination with Compliance relating to Random test/High Risk databases and with Medical Dept. for List of Examiners/Labs                                                    </a:t>
            </a:r>
            <a:endParaRPr/>
          </a:p>
          <a:p>
            <a:pPr indent="-228600" lvl="0" marL="228600" rtl="0" algn="l">
              <a:spcBef>
                <a:spcPts val="0"/>
              </a:spcBef>
              <a:spcAft>
                <a:spcPts val="0"/>
              </a:spcAft>
              <a:buClr>
                <a:srgbClr val="00B0F0"/>
              </a:buClr>
              <a:buSzPts val="1200"/>
              <a:buFont typeface="Arial"/>
              <a:buAutoNum type="arabicPeriod"/>
            </a:pPr>
            <a:r>
              <a:rPr b="1" lang="en-US" sz="1200">
                <a:solidFill>
                  <a:srgbClr val="00B0F0"/>
                </a:solidFill>
                <a:latin typeface="Arial"/>
                <a:ea typeface="Arial"/>
                <a:cs typeface="Arial"/>
                <a:sym typeface="Arial"/>
              </a:rPr>
              <a:t>Handle coordination of concerns  affecting NB &amp; Underwriting such as problems with the Proposal system,  NB portion in Advisors' Portal,  etc.                                                            </a:t>
            </a:r>
            <a:endParaRPr/>
          </a:p>
          <a:p>
            <a:pPr indent="0" lvl="0" marL="0" rtl="0" algn="l">
              <a:spcBef>
                <a:spcPts val="0"/>
              </a:spcBef>
              <a:spcAft>
                <a:spcPts val="0"/>
              </a:spcAft>
              <a:buClr>
                <a:schemeClr val="dk1"/>
              </a:buClr>
              <a:buSzPts val="1200"/>
              <a:buFont typeface="Calibri"/>
              <a:buNone/>
            </a:pPr>
            <a:r>
              <a:t/>
            </a:r>
            <a:endParaRPr b="1" sz="1200">
              <a:solidFill>
                <a:srgbClr val="00B0F0"/>
              </a:solidFill>
              <a:latin typeface="Arial"/>
              <a:ea typeface="Arial"/>
              <a:cs typeface="Arial"/>
              <a:sym typeface="Arial"/>
            </a:endParaRPr>
          </a:p>
        </p:txBody>
      </p:sp>
      <p:sp>
        <p:nvSpPr>
          <p:cNvPr id="349" name="Google Shape;34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solidFill>
                  <a:srgbClr val="17365D"/>
                </a:solidFill>
                <a:latin typeface="Arial Black"/>
                <a:ea typeface="Arial Black"/>
                <a:cs typeface="Arial Black"/>
                <a:sym typeface="Arial Black"/>
              </a:rPr>
              <a:t>TEAM 1</a:t>
            </a:r>
            <a:r>
              <a:rPr b="1" lang="en-US" sz="1200">
                <a:solidFill>
                  <a:srgbClr val="17365D"/>
                </a:solidFill>
                <a:latin typeface="Arial"/>
                <a:ea typeface="Arial"/>
                <a:cs typeface="Arial"/>
                <a:sym typeface="Arial"/>
              </a:rPr>
              <a:t> </a:t>
            </a:r>
            <a:endParaRPr/>
          </a:p>
          <a:p>
            <a:pPr indent="-228600" lvl="0" marL="228600" rtl="0" algn="l">
              <a:spcBef>
                <a:spcPts val="0"/>
              </a:spcBef>
              <a:spcAft>
                <a:spcPts val="0"/>
              </a:spcAft>
              <a:buClr>
                <a:srgbClr val="17365D"/>
              </a:buClr>
              <a:buSzPts val="1200"/>
              <a:buFont typeface="Arial"/>
              <a:buAutoNum type="arabicPeriod"/>
            </a:pPr>
            <a:r>
              <a:rPr b="1" lang="en-US" sz="1200">
                <a:solidFill>
                  <a:srgbClr val="17365D"/>
                </a:solidFill>
                <a:latin typeface="Arial"/>
                <a:ea typeface="Arial"/>
                <a:cs typeface="Arial"/>
                <a:sym typeface="Arial"/>
              </a:rPr>
              <a:t>Review and approval of SLGFI New Business Applications                                  </a:t>
            </a:r>
            <a:endParaRPr/>
          </a:p>
          <a:p>
            <a:pPr indent="-228600" lvl="0" marL="228600" rtl="0" algn="l">
              <a:spcBef>
                <a:spcPts val="0"/>
              </a:spcBef>
              <a:spcAft>
                <a:spcPts val="0"/>
              </a:spcAft>
              <a:buClr>
                <a:srgbClr val="17365D"/>
              </a:buClr>
              <a:buSzPts val="1200"/>
              <a:buFont typeface="Arial"/>
              <a:buAutoNum type="arabicPeriod"/>
            </a:pPr>
            <a:r>
              <a:rPr b="1" lang="en-US" sz="1200">
                <a:solidFill>
                  <a:srgbClr val="17365D"/>
                </a:solidFill>
                <a:latin typeface="Arial"/>
                <a:ea typeface="Arial"/>
                <a:cs typeface="Arial"/>
                <a:sym typeface="Arial"/>
              </a:rPr>
              <a:t>Review and approval of SLGFI PPC/Group cases                                                    </a:t>
            </a:r>
            <a:endParaRPr/>
          </a:p>
          <a:p>
            <a:pPr indent="-228600" lvl="0" marL="228600" rtl="0" algn="l">
              <a:spcBef>
                <a:spcPts val="0"/>
              </a:spcBef>
              <a:spcAft>
                <a:spcPts val="0"/>
              </a:spcAft>
              <a:buClr>
                <a:srgbClr val="17365D"/>
              </a:buClr>
              <a:buSzPts val="1200"/>
              <a:buFont typeface="Arial"/>
              <a:buAutoNum type="arabicPeriod"/>
            </a:pPr>
            <a:r>
              <a:rPr b="1" lang="en-US" sz="1200">
                <a:solidFill>
                  <a:srgbClr val="17365D"/>
                </a:solidFill>
                <a:latin typeface="Arial"/>
                <a:ea typeface="Arial"/>
                <a:cs typeface="Arial"/>
                <a:sym typeface="Arial"/>
              </a:rPr>
              <a:t>Conduct IES/training sessions to  SLGFI advisors/BSOs                                     </a:t>
            </a:r>
            <a:endParaRPr/>
          </a:p>
          <a:p>
            <a:pPr indent="-228600" lvl="0" marL="228600" rtl="0" algn="l">
              <a:spcBef>
                <a:spcPts val="0"/>
              </a:spcBef>
              <a:spcAft>
                <a:spcPts val="0"/>
              </a:spcAft>
              <a:buClr>
                <a:srgbClr val="17365D"/>
              </a:buClr>
              <a:buSzPts val="1200"/>
              <a:buFont typeface="Arial"/>
              <a:buAutoNum type="arabicPeriod"/>
            </a:pPr>
            <a:r>
              <a:rPr b="1" lang="en-US" sz="1200">
                <a:solidFill>
                  <a:srgbClr val="17365D"/>
                </a:solidFill>
                <a:latin typeface="Arial"/>
                <a:ea typeface="Arial"/>
                <a:cs typeface="Arial"/>
                <a:sym typeface="Arial"/>
              </a:rPr>
              <a:t>Provide monthly scorecard results w/ summary to Agency/Banca heads                                                                          </a:t>
            </a:r>
            <a:endParaRPr/>
          </a:p>
          <a:p>
            <a:pPr indent="-228600" lvl="0" marL="228600" rtl="0" algn="l">
              <a:spcBef>
                <a:spcPts val="0"/>
              </a:spcBef>
              <a:spcAft>
                <a:spcPts val="0"/>
              </a:spcAft>
              <a:buClr>
                <a:srgbClr val="17365D"/>
              </a:buClr>
              <a:buSzPts val="1200"/>
              <a:buFont typeface="Arial"/>
              <a:buAutoNum type="arabicPeriod"/>
            </a:pPr>
            <a:r>
              <a:rPr b="1" lang="en-US" sz="1200">
                <a:solidFill>
                  <a:srgbClr val="17365D"/>
                </a:solidFill>
                <a:latin typeface="Arial"/>
                <a:ea typeface="Arial"/>
                <a:cs typeface="Arial"/>
                <a:sym typeface="Arial"/>
              </a:rPr>
              <a:t>Provide support to Ivy when she is on leave or when volume of PPC/Group transaction is high                                                                  </a:t>
            </a:r>
            <a:endParaRPr/>
          </a:p>
          <a:p>
            <a:pPr indent="-228600" lvl="0" marL="228600" rtl="0" algn="l">
              <a:spcBef>
                <a:spcPts val="0"/>
              </a:spcBef>
              <a:spcAft>
                <a:spcPts val="0"/>
              </a:spcAft>
              <a:buClr>
                <a:srgbClr val="17365D"/>
              </a:buClr>
              <a:buSzPts val="1200"/>
              <a:buFont typeface="Arial"/>
              <a:buAutoNum type="arabicPeriod"/>
            </a:pPr>
            <a:r>
              <a:rPr b="1" lang="en-US" sz="1200">
                <a:solidFill>
                  <a:srgbClr val="17365D"/>
                </a:solidFill>
                <a:latin typeface="Arial"/>
                <a:ea typeface="Arial"/>
                <a:cs typeface="Arial"/>
                <a:sym typeface="Arial"/>
              </a:rPr>
              <a:t>Provide support to Technical group in terms of RAED Review when staff in charge is on leave or volume of transactions is high                   </a:t>
            </a:r>
            <a:endParaRPr/>
          </a:p>
          <a:p>
            <a:pPr indent="-228600" lvl="0" marL="228600" rtl="0" algn="l">
              <a:spcBef>
                <a:spcPts val="0"/>
              </a:spcBef>
              <a:spcAft>
                <a:spcPts val="0"/>
              </a:spcAft>
              <a:buClr>
                <a:srgbClr val="17365D"/>
              </a:buClr>
              <a:buSzPts val="1200"/>
              <a:buFont typeface="Arial"/>
              <a:buAutoNum type="arabicPeriod"/>
            </a:pPr>
            <a:r>
              <a:rPr b="1" lang="en-US" sz="1200">
                <a:solidFill>
                  <a:srgbClr val="17365D"/>
                </a:solidFill>
                <a:latin typeface="Arial"/>
                <a:ea typeface="Arial"/>
                <a:cs typeface="Arial"/>
                <a:sym typeface="Arial"/>
              </a:rPr>
              <a:t>Provide support to SLOCPI when SLGFI’s volume is low</a:t>
            </a:r>
            <a:endParaRPr/>
          </a:p>
          <a:p>
            <a:pPr indent="0" lvl="0" marL="0" rtl="0" algn="l">
              <a:spcBef>
                <a:spcPts val="0"/>
              </a:spcBef>
              <a:spcAft>
                <a:spcPts val="0"/>
              </a:spcAft>
              <a:buClr>
                <a:schemeClr val="dk1"/>
              </a:buClr>
              <a:buSzPts val="1200"/>
              <a:buFont typeface="Calibri"/>
              <a:buNone/>
            </a:pPr>
            <a:r>
              <a:t/>
            </a:r>
            <a:endParaRPr b="1" sz="1200">
              <a:solidFill>
                <a:srgbClr val="17365D"/>
              </a:solidFill>
              <a:latin typeface="Arial"/>
              <a:ea typeface="Arial"/>
              <a:cs typeface="Arial"/>
              <a:sym typeface="Arial"/>
            </a:endParaRPr>
          </a:p>
          <a:p>
            <a:pPr indent="0" lvl="0" marL="0" rtl="0" algn="l">
              <a:spcBef>
                <a:spcPts val="0"/>
              </a:spcBef>
              <a:spcAft>
                <a:spcPts val="0"/>
              </a:spcAft>
              <a:buClr>
                <a:schemeClr val="dk1"/>
              </a:buClr>
              <a:buSzPts val="1200"/>
              <a:buFont typeface="Calibri"/>
              <a:buNone/>
            </a:pPr>
            <a:r>
              <a:t/>
            </a:r>
            <a:endParaRPr b="1" sz="1200">
              <a:solidFill>
                <a:srgbClr val="00B0F0"/>
              </a:solidFill>
              <a:latin typeface="Arial"/>
              <a:ea typeface="Arial"/>
              <a:cs typeface="Arial"/>
              <a:sym typeface="Arial"/>
            </a:endParaRPr>
          </a:p>
          <a:p>
            <a:pPr indent="0" lvl="0" marL="0" rtl="0" algn="l">
              <a:spcBef>
                <a:spcPts val="0"/>
              </a:spcBef>
              <a:spcAft>
                <a:spcPts val="0"/>
              </a:spcAft>
              <a:buNone/>
            </a:pPr>
            <a:r>
              <a:rPr b="1" lang="en-US" sz="1200">
                <a:solidFill>
                  <a:srgbClr val="17365D"/>
                </a:solidFill>
                <a:latin typeface="Arial Black"/>
                <a:ea typeface="Arial Black"/>
                <a:cs typeface="Arial Black"/>
                <a:sym typeface="Arial Black"/>
              </a:rPr>
              <a:t>Technical Support:                                                                                                                             </a:t>
            </a:r>
            <a:endParaRPr b="1" sz="1200">
              <a:solidFill>
                <a:srgbClr val="17365D"/>
              </a:solidFill>
              <a:latin typeface="Arial"/>
              <a:ea typeface="Arial"/>
              <a:cs typeface="Arial"/>
              <a:sym typeface="Arial"/>
            </a:endParaRPr>
          </a:p>
          <a:p>
            <a:pPr indent="-228600" lvl="0" marL="228600" rtl="0" algn="l">
              <a:spcBef>
                <a:spcPts val="0"/>
              </a:spcBef>
              <a:spcAft>
                <a:spcPts val="0"/>
              </a:spcAft>
              <a:buClr>
                <a:srgbClr val="17365D"/>
              </a:buClr>
              <a:buSzPts val="1200"/>
              <a:buFont typeface="Arial"/>
              <a:buAutoNum type="arabicPeriod"/>
            </a:pPr>
            <a:r>
              <a:rPr lang="en-US" sz="1200">
                <a:solidFill>
                  <a:srgbClr val="17365D"/>
                </a:solidFill>
                <a:latin typeface="Arial"/>
                <a:ea typeface="Arial"/>
                <a:cs typeface="Arial"/>
                <a:sym typeface="Arial"/>
              </a:rPr>
              <a:t>BR Reviews                                                                                                                                             </a:t>
            </a:r>
            <a:endParaRPr/>
          </a:p>
          <a:p>
            <a:pPr indent="-228600" lvl="0" marL="228600" rtl="0" algn="l">
              <a:spcBef>
                <a:spcPts val="0"/>
              </a:spcBef>
              <a:spcAft>
                <a:spcPts val="0"/>
              </a:spcAft>
              <a:buClr>
                <a:srgbClr val="17365D"/>
              </a:buClr>
              <a:buSzPts val="1200"/>
              <a:buFont typeface="Arial"/>
              <a:buAutoNum type="arabicPeriod"/>
            </a:pPr>
            <a:r>
              <a:rPr lang="en-US" sz="1200">
                <a:solidFill>
                  <a:srgbClr val="17365D"/>
                </a:solidFill>
                <a:latin typeface="Arial"/>
                <a:ea typeface="Arial"/>
                <a:cs typeface="Arial"/>
                <a:sym typeface="Arial"/>
              </a:rPr>
              <a:t>2. UAT                                                                                                                                                    </a:t>
            </a:r>
            <a:endParaRPr/>
          </a:p>
          <a:p>
            <a:pPr indent="-228600" lvl="0" marL="228600" rtl="0" algn="l">
              <a:spcBef>
                <a:spcPts val="0"/>
              </a:spcBef>
              <a:spcAft>
                <a:spcPts val="0"/>
              </a:spcAft>
              <a:buClr>
                <a:srgbClr val="17365D"/>
              </a:buClr>
              <a:buSzPts val="1200"/>
              <a:buFont typeface="Arial"/>
              <a:buAutoNum type="arabicPeriod"/>
            </a:pPr>
            <a:r>
              <a:rPr lang="en-US" sz="1200">
                <a:solidFill>
                  <a:srgbClr val="17365D"/>
                </a:solidFill>
                <a:latin typeface="Arial"/>
                <a:ea typeface="Arial"/>
                <a:cs typeface="Arial"/>
                <a:sym typeface="Arial"/>
              </a:rPr>
              <a:t>Documentation of Procedures                                                                                                       </a:t>
            </a:r>
            <a:endParaRPr/>
          </a:p>
          <a:p>
            <a:pPr indent="-228600" lvl="0" marL="228600" rtl="0" algn="l">
              <a:spcBef>
                <a:spcPts val="0"/>
              </a:spcBef>
              <a:spcAft>
                <a:spcPts val="0"/>
              </a:spcAft>
              <a:buClr>
                <a:srgbClr val="17365D"/>
              </a:buClr>
              <a:buSzPts val="1200"/>
              <a:buFont typeface="Arial"/>
              <a:buAutoNum type="arabicPeriod"/>
            </a:pPr>
            <a:r>
              <a:rPr lang="en-US" sz="1200">
                <a:solidFill>
                  <a:srgbClr val="17365D"/>
                </a:solidFill>
                <a:latin typeface="Arial"/>
                <a:ea typeface="Arial"/>
                <a:cs typeface="Arial"/>
                <a:sym typeface="Arial"/>
              </a:rPr>
              <a:t>RAED Review and Approval for SLOCPI/SLGFI New Business apps                                 </a:t>
            </a:r>
            <a:endParaRPr/>
          </a:p>
          <a:p>
            <a:pPr indent="-228600" lvl="0" marL="228600" rtl="0" algn="l">
              <a:spcBef>
                <a:spcPts val="0"/>
              </a:spcBef>
              <a:spcAft>
                <a:spcPts val="0"/>
              </a:spcAft>
              <a:buClr>
                <a:srgbClr val="17365D"/>
              </a:buClr>
              <a:buSzPts val="1200"/>
              <a:buFont typeface="Arial"/>
              <a:buAutoNum type="arabicPeriod"/>
            </a:pPr>
            <a:r>
              <a:rPr lang="en-US" sz="1200">
                <a:solidFill>
                  <a:srgbClr val="17365D"/>
                </a:solidFill>
                <a:latin typeface="Arial"/>
                <a:ea typeface="Arial"/>
                <a:cs typeface="Arial"/>
                <a:sym typeface="Arial"/>
              </a:rPr>
              <a:t>Review and approve requests for transfer of ownership to entities </a:t>
            </a:r>
            <a:endParaRPr sz="1200">
              <a:solidFill>
                <a:srgbClr val="00B0F0"/>
              </a:solidFill>
              <a:latin typeface="Arial"/>
              <a:ea typeface="Arial"/>
              <a:cs typeface="Arial"/>
              <a:sym typeface="Arial"/>
            </a:endParaRPr>
          </a:p>
          <a:p>
            <a:pPr indent="0" lvl="0" marL="0" rtl="0" algn="l">
              <a:spcBef>
                <a:spcPts val="0"/>
              </a:spcBef>
              <a:spcAft>
                <a:spcPts val="0"/>
              </a:spcAft>
              <a:buClr>
                <a:schemeClr val="dk1"/>
              </a:buClr>
              <a:buSzPts val="1200"/>
              <a:buFont typeface="Calibri"/>
              <a:buNone/>
            </a:pPr>
            <a:r>
              <a:t/>
            </a:r>
            <a:endParaRPr b="1" sz="1200">
              <a:solidFill>
                <a:srgbClr val="00B0F0"/>
              </a:solidFill>
              <a:latin typeface="Arial"/>
              <a:ea typeface="Arial"/>
              <a:cs typeface="Arial"/>
              <a:sym typeface="Arial"/>
            </a:endParaRPr>
          </a:p>
          <a:p>
            <a:pPr indent="0" lvl="0" marL="0" rtl="0" algn="l">
              <a:spcBef>
                <a:spcPts val="0"/>
              </a:spcBef>
              <a:spcAft>
                <a:spcPts val="0"/>
              </a:spcAft>
              <a:buClr>
                <a:srgbClr val="00B0F0"/>
              </a:buClr>
              <a:buSzPts val="1200"/>
              <a:buFont typeface="Arial"/>
              <a:buNone/>
            </a:pPr>
            <a:r>
              <a:rPr b="1" lang="en-US" sz="1200">
                <a:solidFill>
                  <a:srgbClr val="00B0F0"/>
                </a:solidFill>
                <a:latin typeface="Arial"/>
                <a:ea typeface="Arial"/>
                <a:cs typeface="Arial"/>
                <a:sym typeface="Arial"/>
              </a:rPr>
              <a:t>Replacement of Ma’am Ivy</a:t>
            </a:r>
            <a:endParaRPr/>
          </a:p>
          <a:p>
            <a:pPr indent="-171450" lvl="0" marL="171450" rtl="0" algn="l">
              <a:spcBef>
                <a:spcPts val="0"/>
              </a:spcBef>
              <a:spcAft>
                <a:spcPts val="0"/>
              </a:spcAft>
              <a:buClr>
                <a:srgbClr val="17365D"/>
              </a:buClr>
              <a:buSzPts val="1200"/>
              <a:buFont typeface="Arial"/>
              <a:buAutoNum type="arabicPeriod"/>
            </a:pPr>
            <a:r>
              <a:rPr b="1" lang="en-US" sz="1200">
                <a:solidFill>
                  <a:srgbClr val="17365D"/>
                </a:solidFill>
                <a:latin typeface="Arial"/>
                <a:ea typeface="Arial"/>
                <a:cs typeface="Arial"/>
                <a:sym typeface="Arial"/>
              </a:rPr>
              <a:t>Review and approval of SLOCPI PPC/Group cases </a:t>
            </a:r>
            <a:endParaRPr/>
          </a:p>
          <a:p>
            <a:pPr indent="-171450" lvl="0" marL="171450" rtl="0" algn="l">
              <a:spcBef>
                <a:spcPts val="0"/>
              </a:spcBef>
              <a:spcAft>
                <a:spcPts val="0"/>
              </a:spcAft>
              <a:buClr>
                <a:srgbClr val="17365D"/>
              </a:buClr>
              <a:buSzPts val="1200"/>
              <a:buFont typeface="Arial"/>
              <a:buAutoNum type="arabicPeriod"/>
            </a:pPr>
            <a:r>
              <a:rPr b="1" lang="en-US" sz="1200">
                <a:solidFill>
                  <a:srgbClr val="17365D"/>
                </a:solidFill>
                <a:latin typeface="Arial"/>
                <a:ea typeface="Arial"/>
                <a:cs typeface="Arial"/>
                <a:sym typeface="Arial"/>
              </a:rPr>
              <a:t>Review and approval  of complex beneficiary changes for SLOCPI </a:t>
            </a:r>
            <a:endParaRPr/>
          </a:p>
          <a:p>
            <a:pPr indent="-171450" lvl="0" marL="171450" rtl="0" algn="l">
              <a:spcBef>
                <a:spcPts val="0"/>
              </a:spcBef>
              <a:spcAft>
                <a:spcPts val="0"/>
              </a:spcAft>
              <a:buClr>
                <a:srgbClr val="00B0F0"/>
              </a:buClr>
              <a:buSzPts val="1200"/>
              <a:buFont typeface="Arial"/>
              <a:buAutoNum type="arabicPeriod"/>
            </a:pPr>
            <a:r>
              <a:rPr b="1" lang="en-US" sz="1200">
                <a:solidFill>
                  <a:srgbClr val="00B0F0"/>
                </a:solidFill>
                <a:latin typeface="Arial"/>
                <a:ea typeface="Arial"/>
                <a:cs typeface="Arial"/>
                <a:sym typeface="Arial"/>
              </a:rPr>
              <a:t>Audit of underwriter up to 4B .</a:t>
            </a:r>
            <a:endParaRPr/>
          </a:p>
          <a:p>
            <a:pPr indent="0" lvl="0" marL="0" rtl="0" algn="l">
              <a:spcBef>
                <a:spcPts val="0"/>
              </a:spcBef>
              <a:spcAft>
                <a:spcPts val="0"/>
              </a:spcAft>
              <a:buClr>
                <a:schemeClr val="dk1"/>
              </a:buClr>
              <a:buSzPts val="1200"/>
              <a:buFont typeface="Calibri"/>
              <a:buNone/>
            </a:pPr>
            <a:r>
              <a:t/>
            </a:r>
            <a:endParaRPr b="1" sz="1200">
              <a:solidFill>
                <a:srgbClr val="00B0F0"/>
              </a:solidFill>
              <a:latin typeface="Arial"/>
              <a:ea typeface="Arial"/>
              <a:cs typeface="Arial"/>
              <a:sym typeface="Arial"/>
            </a:endParaRPr>
          </a:p>
        </p:txBody>
      </p:sp>
      <p:sp>
        <p:nvSpPr>
          <p:cNvPr id="429" name="Google Shape;42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1" sz="1200">
              <a:solidFill>
                <a:srgbClr val="00B0F0"/>
              </a:solidFill>
              <a:latin typeface="Arial"/>
              <a:ea typeface="Arial"/>
              <a:cs typeface="Arial"/>
              <a:sym typeface="Arial"/>
            </a:endParaRPr>
          </a:p>
        </p:txBody>
      </p:sp>
      <p:sp>
        <p:nvSpPr>
          <p:cNvPr id="496" name="Google Shape;49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solidFill>
                  <a:srgbClr val="000000"/>
                </a:solidFill>
                <a:latin typeface="Arial Black"/>
                <a:ea typeface="Arial Black"/>
                <a:cs typeface="Arial Black"/>
                <a:sym typeface="Arial Black"/>
              </a:rPr>
              <a:t>TEAM 1</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SLOCPI</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E-app &amp; Regular app</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 </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1.  SLOCPI e-APP and Regular  app initial review/auto appraisal up to authority limit</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2.  Referrals of cases for settlement over the limit of Reviewers/EDD- High risks up to authority limit</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3. Resource person for system enhancements relating to the assigned type of application</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4. Prod Support  to ePDS encoders</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5. Ensure that the team's target are met</a:t>
            </a:r>
            <a:endParaRPr sz="1200">
              <a:solidFill>
                <a:srgbClr val="000000"/>
              </a:solidFill>
              <a:latin typeface="Arial"/>
              <a:ea typeface="Arial"/>
              <a:cs typeface="Arial"/>
              <a:sym typeface="Arial"/>
            </a:endParaRPr>
          </a:p>
          <a:p>
            <a:pPr indent="0" lvl="0" marL="0" rtl="0" algn="l">
              <a:spcBef>
                <a:spcPts val="0"/>
              </a:spcBef>
              <a:spcAft>
                <a:spcPts val="0"/>
              </a:spcAft>
              <a:buClr>
                <a:schemeClr val="dk1"/>
              </a:buClr>
              <a:buSzPts val="1200"/>
              <a:buFont typeface="Calibri"/>
              <a:buNone/>
            </a:pPr>
            <a:r>
              <a:t/>
            </a:r>
            <a:endParaRPr b="1" sz="1200">
              <a:solidFill>
                <a:srgbClr val="00B0F0"/>
              </a:solidFill>
              <a:latin typeface="Arial"/>
              <a:ea typeface="Arial"/>
              <a:cs typeface="Arial"/>
              <a:sym typeface="Arial"/>
            </a:endParaRPr>
          </a:p>
        </p:txBody>
      </p:sp>
      <p:sp>
        <p:nvSpPr>
          <p:cNvPr id="551" name="Google Shape;55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solidFill>
                  <a:srgbClr val="000000"/>
                </a:solidFill>
                <a:latin typeface="Arial Black"/>
                <a:ea typeface="Arial Black"/>
                <a:cs typeface="Arial Black"/>
                <a:sym typeface="Arial Black"/>
              </a:rPr>
              <a:t>TEAM 2</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SLOCPI </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GIO &amp; Regular app</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 </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1.  SLOCPI GIO and Regular  app initial review/auto appraisal up to authority limit</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2.  Referrals of cases for settlement over the limit of Reviewers/EDD- High risks up to authority limit</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3. Resource person for system enhancements relating to the assigned type of application</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4. Prod Support  to ePDS encoders</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5. Ensure that the team's target are met</a:t>
            </a:r>
            <a:endParaRPr b="1" sz="1200">
              <a:solidFill>
                <a:srgbClr val="000000"/>
              </a:solidFill>
              <a:latin typeface="Arial"/>
              <a:ea typeface="Arial"/>
              <a:cs typeface="Arial"/>
              <a:sym typeface="Arial"/>
            </a:endParaRPr>
          </a:p>
        </p:txBody>
      </p:sp>
      <p:sp>
        <p:nvSpPr>
          <p:cNvPr id="605" name="Google Shape;60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solidFill>
                  <a:srgbClr val="000000"/>
                </a:solidFill>
                <a:latin typeface="Arial Black"/>
                <a:ea typeface="Arial Black"/>
                <a:cs typeface="Arial Black"/>
                <a:sym typeface="Arial Black"/>
              </a:rPr>
              <a:t>TEAM 3</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SLOCPI </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SIO, Sun Fit &amp; Well &amp; Regular app</a:t>
            </a:r>
            <a:endParaRPr b="1" sz="1200">
              <a:solidFill>
                <a:srgbClr val="000000"/>
              </a:solidFill>
              <a:latin typeface="Arial"/>
              <a:ea typeface="Arial"/>
              <a:cs typeface="Arial"/>
              <a:sym typeface="Arial"/>
            </a:endParaRPr>
          </a:p>
          <a:p>
            <a:pPr indent="0" lvl="0" marL="0" rtl="0" algn="l">
              <a:spcBef>
                <a:spcPts val="0"/>
              </a:spcBef>
              <a:spcAft>
                <a:spcPts val="0"/>
              </a:spcAft>
              <a:buNone/>
            </a:pPr>
            <a:r>
              <a:rPr b="1" lang="en-US" sz="1200">
                <a:solidFill>
                  <a:srgbClr val="000000"/>
                </a:solidFill>
                <a:latin typeface="Arial"/>
                <a:ea typeface="Arial"/>
                <a:cs typeface="Arial"/>
                <a:sym typeface="Arial"/>
              </a:rPr>
              <a:t> </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1.  SLOCPI SIO, Sun Fit &amp; Well  and Regular  app initial review/auto appraisal up to authority limit</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2. Referrals of cases for settlement over the limit of Reviewers/EDD- High risks up to authority limit</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3. Resource person for system enhancements relating to the assigned type of application</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4. Ensure that the team's target are met</a:t>
            </a:r>
            <a:endParaRPr b="1" sz="1200">
              <a:solidFill>
                <a:srgbClr val="000000"/>
              </a:solidFill>
              <a:latin typeface="Arial"/>
              <a:ea typeface="Arial"/>
              <a:cs typeface="Arial"/>
              <a:sym typeface="Arial"/>
            </a:endParaRPr>
          </a:p>
        </p:txBody>
      </p:sp>
      <p:sp>
        <p:nvSpPr>
          <p:cNvPr id="658" name="Google Shape;65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solidFill>
                  <a:srgbClr val="000000"/>
                </a:solidFill>
                <a:latin typeface="Arial Black"/>
                <a:ea typeface="Arial Black"/>
                <a:cs typeface="Arial Black"/>
                <a:sym typeface="Arial Black"/>
              </a:rPr>
              <a:t>TEAM 4</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SLOCPI </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Corp Account &amp; Regular app</a:t>
            </a:r>
            <a:endParaRPr b="1" sz="1200">
              <a:solidFill>
                <a:srgbClr val="000000"/>
              </a:solidFill>
              <a:latin typeface="Arial"/>
              <a:ea typeface="Arial"/>
              <a:cs typeface="Arial"/>
              <a:sym typeface="Arial"/>
            </a:endParaRPr>
          </a:p>
          <a:p>
            <a:pPr indent="0" lvl="0" marL="0" rtl="0" algn="l">
              <a:spcBef>
                <a:spcPts val="0"/>
              </a:spcBef>
              <a:spcAft>
                <a:spcPts val="0"/>
              </a:spcAft>
              <a:buNone/>
            </a:pPr>
            <a:r>
              <a:rPr b="1" lang="en-US" sz="1200">
                <a:solidFill>
                  <a:srgbClr val="000000"/>
                </a:solidFill>
                <a:latin typeface="Arial"/>
                <a:ea typeface="Arial"/>
                <a:cs typeface="Arial"/>
                <a:sym typeface="Arial"/>
              </a:rPr>
              <a:t> </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1.  SLOCPI Corp Account and Regular  app initial review/auto appraisal up to authority limit</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2. Referrals of cases for settlement over the limit of Reviewers/EDD- High risks up to authority limit</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3. Resource person for system enhancements relating to the assigned type of application</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4. Ensure that the team's target are met </a:t>
            </a:r>
            <a:endParaRPr/>
          </a:p>
          <a:p>
            <a:pPr indent="0" lvl="0" marL="0" rtl="0" algn="l">
              <a:spcBef>
                <a:spcPts val="0"/>
              </a:spcBef>
              <a:spcAft>
                <a:spcPts val="0"/>
              </a:spcAft>
              <a:buNone/>
            </a:pPr>
            <a:r>
              <a:t/>
            </a:r>
            <a:endParaRPr b="1" sz="1200">
              <a:solidFill>
                <a:srgbClr val="000000"/>
              </a:solidFill>
              <a:latin typeface="Arial"/>
              <a:ea typeface="Arial"/>
              <a:cs typeface="Arial"/>
              <a:sym typeface="Arial"/>
            </a:endParaRPr>
          </a:p>
        </p:txBody>
      </p:sp>
      <p:sp>
        <p:nvSpPr>
          <p:cNvPr id="711" name="Google Shape;71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7" name="Google Shape;75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solidFill>
                  <a:srgbClr val="000000"/>
                </a:solidFill>
                <a:latin typeface="Arial Black"/>
                <a:ea typeface="Arial Black"/>
                <a:cs typeface="Arial Black"/>
                <a:sym typeface="Arial Black"/>
              </a:rPr>
              <a:t>TEAM 5</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SLGFI &amp; Policy Issuance</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(SLGFI &amp; SLOCPI)</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 </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1.  Maricel Buce , Louie Gallardo and Marn Pagapulan - SLGFI - initial review;  SLGFI  ING edits; SLGFI  Polcon ;  SLGFI phone calls;  Assist in SLOCPI Polcon when volume is high </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2. Karla Lanuza and Johanna Hortaleza - SLOCPI Polcon, assist in SLGFI initial review, SLGFI ING edits and POLCON when volume is high.</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3.  Additional for Noel-   referrals of cases for settlement over the limit of Reviewers/EDD- High risks up to authority limit; Monitor UBIX- Policy Issue ; on hold cases ; Requesting of Polcon supplies and coordinate with Abi</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4. Prod Support to ePDS encoders; resource person for the system enhancements relating to the assigned type of application. </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5.  Ensure that the team's target are met</a:t>
            </a:r>
            <a:endParaRPr b="1" sz="1200">
              <a:solidFill>
                <a:srgbClr val="000000"/>
              </a:solidFill>
              <a:latin typeface="Arial"/>
              <a:ea typeface="Arial"/>
              <a:cs typeface="Arial"/>
              <a:sym typeface="Arial"/>
            </a:endParaRPr>
          </a:p>
        </p:txBody>
      </p:sp>
      <p:sp>
        <p:nvSpPr>
          <p:cNvPr id="758" name="Google Shape;75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0" name="Google Shape;80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solidFill>
                  <a:srgbClr val="000000"/>
                </a:solidFill>
                <a:latin typeface="Arial Black"/>
                <a:ea typeface="Arial Black"/>
                <a:cs typeface="Arial Black"/>
                <a:sym typeface="Arial Black"/>
              </a:rPr>
              <a:t>TEAM 6</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SLOCPI/SLGFI</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Facilitating</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 </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1. Refund; forms prep, matching/indexing ( SLGFI cases), APS payment; monitor RTS cases; return borrowed records</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2.  Sheila Pascual - CAS approval and signing of refund letters; backdating/reinstatement ; approval of OR</a:t>
            </a:r>
            <a:endParaRPr b="1" sz="1200">
              <a:solidFill>
                <a:srgbClr val="000000"/>
              </a:solidFill>
              <a:latin typeface="Arial"/>
              <a:ea typeface="Arial"/>
              <a:cs typeface="Arial"/>
              <a:sym typeface="Arial"/>
            </a:endParaRPr>
          </a:p>
        </p:txBody>
      </p:sp>
      <p:sp>
        <p:nvSpPr>
          <p:cNvPr id="801" name="Google Shape;80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1" name="Google Shape;85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solidFill>
                  <a:srgbClr val="000000"/>
                </a:solidFill>
                <a:latin typeface="Arial Black"/>
                <a:ea typeface="Arial Black"/>
                <a:cs typeface="Arial Black"/>
                <a:sym typeface="Arial Black"/>
              </a:rPr>
              <a:t>TEAM 7</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QA &amp; Production Support</a:t>
            </a:r>
            <a:endParaRPr b="1" sz="1200">
              <a:solidFill>
                <a:srgbClr val="000000"/>
              </a:solidFill>
              <a:latin typeface="Arial"/>
              <a:ea typeface="Arial"/>
              <a:cs typeface="Arial"/>
              <a:sym typeface="Arial"/>
            </a:endParaRPr>
          </a:p>
          <a:p>
            <a:pPr indent="0" lvl="0" marL="0" rtl="0" algn="l">
              <a:spcBef>
                <a:spcPts val="0"/>
              </a:spcBef>
              <a:spcAft>
                <a:spcPts val="0"/>
              </a:spcAft>
              <a:buNone/>
            </a:pPr>
            <a:r>
              <a:rPr b="1" lang="en-US" sz="1200">
                <a:solidFill>
                  <a:srgbClr val="000000"/>
                </a:solidFill>
                <a:latin typeface="Arial"/>
                <a:ea typeface="Arial"/>
                <a:cs typeface="Arial"/>
                <a:sym typeface="Arial"/>
              </a:rPr>
              <a:t> </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1.  Edgie &amp; Syl - Audit ( Reviewers - Initial review ), Update Speedy Issue Guidelines , Retrigger  and assist in handling calls during closing and critical periods</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2.  Cecile Ledesma - Audit (Facilitating /Policy Issue), Prepare monthly reports, Documentation of Procedures, on hold monitoring, Prepare Learning session  PPT for use of NB Review and Facilitating; Assist in handling calls during closing and critical periods</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3.  Bobot  - Phil-follow; checking of cases in RVWawaiting payment queue, assist in handling calls during closing and critical periods, assist in ING edits when volume is high</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4.  Cai Pilaza - ING edits; checking of cases in RVWawaiting payment queue, assist in handling calls during closing and critical periods, Assist in Phil-follow-up when volume is high</a:t>
            </a:r>
            <a:endParaRPr/>
          </a:p>
          <a:p>
            <a:pPr indent="0" lvl="0" marL="0" rtl="0" algn="l">
              <a:spcBef>
                <a:spcPts val="0"/>
              </a:spcBef>
              <a:spcAft>
                <a:spcPts val="0"/>
              </a:spcAft>
              <a:buNone/>
            </a:pPr>
            <a:r>
              <a:rPr b="1" lang="en-US" sz="1200">
                <a:solidFill>
                  <a:srgbClr val="000000"/>
                </a:solidFill>
                <a:latin typeface="Arial"/>
                <a:ea typeface="Arial"/>
                <a:cs typeface="Arial"/>
                <a:sym typeface="Arial"/>
              </a:rPr>
              <a:t>5. Abi Ballena - Prepare Audit executive summary for submission to COO; Investigation of complicated cases; Update  IES Module ; Assist in Conducting IES ; Be the point person for Compliance related issues : QA - Supervisors, Monitor supplies of NB Review</a:t>
            </a:r>
            <a:endParaRPr/>
          </a:p>
          <a:p>
            <a:pPr indent="0" lvl="0" marL="0" rtl="0" algn="l">
              <a:spcBef>
                <a:spcPts val="0"/>
              </a:spcBef>
              <a:spcAft>
                <a:spcPts val="0"/>
              </a:spcAft>
              <a:buNone/>
            </a:pPr>
            <a:r>
              <a:t/>
            </a:r>
            <a:endParaRPr b="1" sz="1200">
              <a:solidFill>
                <a:srgbClr val="000000"/>
              </a:solidFill>
              <a:latin typeface="Arial"/>
              <a:ea typeface="Arial"/>
              <a:cs typeface="Arial"/>
              <a:sym typeface="Arial"/>
            </a:endParaRPr>
          </a:p>
        </p:txBody>
      </p:sp>
      <p:sp>
        <p:nvSpPr>
          <p:cNvPr id="852" name="Google Shape;85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2" name="Google Shape;89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3" name="Google Shape;89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2" name="Google Shape;90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3" name="Google Shape;90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2" name="Google Shape;91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3" name="Google Shape;91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2" name="Google Shape;92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3" name="Google Shape;92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2" name="Google Shape;93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B050"/>
              </a:buClr>
              <a:buSzPts val="2000"/>
              <a:buFont typeface="Calibri"/>
              <a:buNone/>
            </a:pPr>
            <a:r>
              <a:rPr b="1" lang="en-US" sz="2000">
                <a:solidFill>
                  <a:srgbClr val="00B050"/>
                </a:solidFill>
                <a:latin typeface="Calibri"/>
                <a:ea typeface="Calibri"/>
                <a:cs typeface="Calibri"/>
                <a:sym typeface="Calibri"/>
              </a:rPr>
              <a:t>GIO Application Form: </a:t>
            </a:r>
            <a:r>
              <a:rPr lang="en-US" sz="1600">
                <a:solidFill>
                  <a:srgbClr val="00B050"/>
                </a:solidFill>
              </a:rPr>
              <a:t>This is the form for guaranteed issue products (example: Sun MaxiLink One, Sun Dollar Maximizer, Tranche).</a:t>
            </a:r>
            <a:endParaRPr/>
          </a:p>
          <a:p>
            <a:pPr indent="0" lvl="0" marL="0" marR="0" rtl="0" algn="l">
              <a:lnSpc>
                <a:spcPct val="100000"/>
              </a:lnSpc>
              <a:spcBef>
                <a:spcPts val="0"/>
              </a:spcBef>
              <a:spcAft>
                <a:spcPts val="0"/>
              </a:spcAft>
              <a:buClr>
                <a:srgbClr val="00B050"/>
              </a:buClr>
              <a:buSzPts val="1600"/>
              <a:buFont typeface="Calibri"/>
              <a:buNone/>
            </a:pPr>
            <a:r>
              <a:rPr b="1" lang="en-US" sz="1600">
                <a:solidFill>
                  <a:srgbClr val="00B050"/>
                </a:solidFill>
                <a:latin typeface="Calibri"/>
                <a:ea typeface="Calibri"/>
                <a:cs typeface="Calibri"/>
                <a:sym typeface="Calibri"/>
              </a:rPr>
              <a:t>SIO Application Form: </a:t>
            </a:r>
            <a:r>
              <a:rPr lang="en-US" sz="1200">
                <a:solidFill>
                  <a:srgbClr val="00B050"/>
                </a:solidFill>
              </a:rPr>
              <a:t>This is the form for simplified issue products (example, Sun First Aid, Sun Start Up, Sun Healthier Life)</a:t>
            </a:r>
            <a:endParaRPr/>
          </a:p>
          <a:p>
            <a:pPr indent="0" lvl="0" marL="0" rtl="0" algn="l">
              <a:spcBef>
                <a:spcPts val="0"/>
              </a:spcBef>
              <a:spcAft>
                <a:spcPts val="0"/>
              </a:spcAft>
              <a:buNone/>
            </a:pPr>
            <a:r>
              <a:t/>
            </a:r>
            <a:endParaRPr/>
          </a:p>
        </p:txBody>
      </p:sp>
      <p:sp>
        <p:nvSpPr>
          <p:cNvPr id="933" name="Google Shape;93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8" name="Google Shape;94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B050"/>
              </a:buClr>
              <a:buSzPts val="2000"/>
              <a:buFont typeface="Calibri"/>
              <a:buNone/>
            </a:pPr>
            <a:r>
              <a:rPr b="1" lang="en-US" sz="2000">
                <a:solidFill>
                  <a:srgbClr val="00B050"/>
                </a:solidFill>
                <a:latin typeface="Calibri"/>
                <a:ea typeface="Calibri"/>
                <a:cs typeface="Calibri"/>
                <a:sym typeface="Calibri"/>
              </a:rPr>
              <a:t>GIO Application Form: </a:t>
            </a:r>
            <a:r>
              <a:rPr lang="en-US" sz="1600">
                <a:solidFill>
                  <a:srgbClr val="00B050"/>
                </a:solidFill>
              </a:rPr>
              <a:t>This is the form for guaranteed issue products (example: Sun MaxiLink One, Sun Dollar Maximizer, Tranche).</a:t>
            </a:r>
            <a:endParaRPr/>
          </a:p>
          <a:p>
            <a:pPr indent="0" lvl="0" marL="0" marR="0" rtl="0" algn="l">
              <a:lnSpc>
                <a:spcPct val="100000"/>
              </a:lnSpc>
              <a:spcBef>
                <a:spcPts val="0"/>
              </a:spcBef>
              <a:spcAft>
                <a:spcPts val="0"/>
              </a:spcAft>
              <a:buClr>
                <a:srgbClr val="00B050"/>
              </a:buClr>
              <a:buSzPts val="1600"/>
              <a:buFont typeface="Calibri"/>
              <a:buNone/>
            </a:pPr>
            <a:r>
              <a:rPr b="1" lang="en-US" sz="1600">
                <a:solidFill>
                  <a:srgbClr val="00B050"/>
                </a:solidFill>
                <a:latin typeface="Calibri"/>
                <a:ea typeface="Calibri"/>
                <a:cs typeface="Calibri"/>
                <a:sym typeface="Calibri"/>
              </a:rPr>
              <a:t>SIO Application Form: </a:t>
            </a:r>
            <a:r>
              <a:rPr lang="en-US" sz="1200">
                <a:solidFill>
                  <a:srgbClr val="00B050"/>
                </a:solidFill>
              </a:rPr>
              <a:t>This is the form for simplified issue products (example, Sun First Aid, Sun Start Up, Sun Healthier Life)</a:t>
            </a:r>
            <a:endParaRPr/>
          </a:p>
          <a:p>
            <a:pPr indent="0" lvl="0" marL="0" rtl="0" algn="l">
              <a:spcBef>
                <a:spcPts val="0"/>
              </a:spcBef>
              <a:spcAft>
                <a:spcPts val="0"/>
              </a:spcAft>
              <a:buNone/>
            </a:pPr>
            <a:r>
              <a:t/>
            </a:r>
            <a:endParaRPr/>
          </a:p>
        </p:txBody>
      </p:sp>
      <p:sp>
        <p:nvSpPr>
          <p:cNvPr id="949" name="Google Shape;94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5" name="Google Shape;96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B050"/>
              </a:buClr>
              <a:buSzPts val="2000"/>
              <a:buFont typeface="Calibri"/>
              <a:buNone/>
            </a:pPr>
            <a:r>
              <a:rPr b="1" lang="en-US" sz="2000">
                <a:solidFill>
                  <a:srgbClr val="00B050"/>
                </a:solidFill>
                <a:latin typeface="Calibri"/>
                <a:ea typeface="Calibri"/>
                <a:cs typeface="Calibri"/>
                <a:sym typeface="Calibri"/>
              </a:rPr>
              <a:t>GIO Application Form: </a:t>
            </a:r>
            <a:r>
              <a:rPr lang="en-US" sz="1600">
                <a:solidFill>
                  <a:srgbClr val="00B050"/>
                </a:solidFill>
              </a:rPr>
              <a:t>This is the form for guaranteed issue products (example: Sun MaxiLink One, Sun Dollar Maximizer, Tranche).</a:t>
            </a:r>
            <a:endParaRPr/>
          </a:p>
          <a:p>
            <a:pPr indent="0" lvl="0" marL="0" marR="0" rtl="0" algn="l">
              <a:lnSpc>
                <a:spcPct val="100000"/>
              </a:lnSpc>
              <a:spcBef>
                <a:spcPts val="0"/>
              </a:spcBef>
              <a:spcAft>
                <a:spcPts val="0"/>
              </a:spcAft>
              <a:buClr>
                <a:srgbClr val="00B050"/>
              </a:buClr>
              <a:buSzPts val="1600"/>
              <a:buFont typeface="Calibri"/>
              <a:buNone/>
            </a:pPr>
            <a:r>
              <a:rPr b="1" lang="en-US" sz="1600">
                <a:solidFill>
                  <a:srgbClr val="00B050"/>
                </a:solidFill>
                <a:latin typeface="Calibri"/>
                <a:ea typeface="Calibri"/>
                <a:cs typeface="Calibri"/>
                <a:sym typeface="Calibri"/>
              </a:rPr>
              <a:t>SIO Application Form: </a:t>
            </a:r>
            <a:r>
              <a:rPr lang="en-US" sz="1200">
                <a:solidFill>
                  <a:srgbClr val="00B050"/>
                </a:solidFill>
              </a:rPr>
              <a:t>This is the form for simplified issue products (example, Sun First Aid, Sun Start Up, Sun Healthier Life)</a:t>
            </a:r>
            <a:endParaRPr/>
          </a:p>
          <a:p>
            <a:pPr indent="0" lvl="0" marL="0" rtl="0" algn="l">
              <a:spcBef>
                <a:spcPts val="0"/>
              </a:spcBef>
              <a:spcAft>
                <a:spcPts val="0"/>
              </a:spcAft>
              <a:buNone/>
            </a:pPr>
            <a:r>
              <a:t/>
            </a:r>
            <a:endParaRPr/>
          </a:p>
        </p:txBody>
      </p:sp>
      <p:sp>
        <p:nvSpPr>
          <p:cNvPr id="966" name="Google Shape;96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1" name="Google Shape;98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Why do we require IDs?</a:t>
            </a:r>
            <a:endParaRPr/>
          </a:p>
          <a:p>
            <a:pPr indent="0" lvl="1" marL="457200" rtl="0" algn="l">
              <a:spcBef>
                <a:spcPts val="0"/>
              </a:spcBef>
              <a:spcAft>
                <a:spcPts val="0"/>
              </a:spcAft>
              <a:buNone/>
            </a:pPr>
            <a:r>
              <a:rPr lang="en-US"/>
              <a:t>In line with the Company's obligations to comply with the Anti-Money Laundering Act (AMLA) and Foreign Account Tax Compliance Act (FATCA) requirements.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Why did we revise the list of acceptable IDs?</a:t>
            </a:r>
            <a:endParaRPr/>
          </a:p>
          <a:p>
            <a:pPr indent="0" lvl="1" marL="457200" rtl="0" algn="l">
              <a:spcBef>
                <a:spcPts val="0"/>
              </a:spcBef>
              <a:spcAft>
                <a:spcPts val="0"/>
              </a:spcAft>
              <a:buNone/>
            </a:pPr>
            <a:r>
              <a:rPr lang="en-US"/>
              <a:t>The revision is intended to incorporate additional IDs allowed under the 2016 implementing Rules and Regulations of RA no. 1960 and rationalize acceptable IDs according to degree of reliance.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further verification of the client’s identity, it is mandatory that the ID submitted must, aside from the name, contain at least one the following information:</a:t>
            </a:r>
            <a:endParaRPr/>
          </a:p>
          <a:p>
            <a:pPr indent="0" lvl="1" marL="457200" rtl="0" algn="l">
              <a:spcBef>
                <a:spcPts val="0"/>
              </a:spcBef>
              <a:spcAft>
                <a:spcPts val="0"/>
              </a:spcAft>
              <a:buNone/>
            </a:pPr>
            <a:r>
              <a:rPr lang="en-US"/>
              <a:t>Birth date;</a:t>
            </a:r>
            <a:endParaRPr/>
          </a:p>
          <a:p>
            <a:pPr indent="0" lvl="1" marL="457200" rtl="0" algn="l">
              <a:spcBef>
                <a:spcPts val="0"/>
              </a:spcBef>
              <a:spcAft>
                <a:spcPts val="0"/>
              </a:spcAft>
              <a:buNone/>
            </a:pPr>
            <a:r>
              <a:rPr lang="en-US"/>
              <a:t>Address;</a:t>
            </a:r>
            <a:endParaRPr/>
          </a:p>
          <a:p>
            <a:pPr indent="0" lvl="1" marL="457200" rtl="0" algn="l">
              <a:spcBef>
                <a:spcPts val="0"/>
              </a:spcBef>
              <a:spcAft>
                <a:spcPts val="0"/>
              </a:spcAft>
              <a:buNone/>
            </a:pPr>
            <a:r>
              <a:rPr lang="en-US"/>
              <a:t>TIN; or</a:t>
            </a:r>
            <a:endParaRPr/>
          </a:p>
          <a:p>
            <a:pPr indent="0" lvl="1" marL="457200" rtl="0" algn="l">
              <a:spcBef>
                <a:spcPts val="0"/>
              </a:spcBef>
              <a:spcAft>
                <a:spcPts val="0"/>
              </a:spcAft>
              <a:buNone/>
            </a:pPr>
            <a:r>
              <a:rPr lang="en-US"/>
              <a:t>SSS No. / GSIS No.</a:t>
            </a:r>
            <a:endParaRPr/>
          </a:p>
          <a:p>
            <a:pPr indent="0" lvl="0" marL="0" rtl="0" algn="l">
              <a:spcBef>
                <a:spcPts val="0"/>
              </a:spcBef>
              <a:spcAft>
                <a:spcPts val="0"/>
              </a:spcAft>
              <a:buNone/>
            </a:pPr>
            <a:br>
              <a:rPr lang="en-US"/>
            </a:br>
            <a:r>
              <a:rPr lang="en-US"/>
              <a:t>An identifiable applicant on the photograph</a:t>
            </a:r>
            <a:endParaRPr/>
          </a:p>
          <a:p>
            <a:pPr indent="0" lvl="0" marL="0" rtl="0" algn="l">
              <a:spcBef>
                <a:spcPts val="0"/>
              </a:spcBef>
              <a:spcAft>
                <a:spcPts val="0"/>
              </a:spcAft>
              <a:buNone/>
            </a:pPr>
            <a:r>
              <a:rPr lang="en-US"/>
              <a:t>Clear picture or photograph</a:t>
            </a:r>
            <a:endParaRPr/>
          </a:p>
          <a:p>
            <a:pPr indent="0" lvl="0" marL="0" rtl="0" algn="l">
              <a:spcBef>
                <a:spcPts val="0"/>
              </a:spcBef>
              <a:spcAft>
                <a:spcPts val="0"/>
              </a:spcAft>
              <a:buNone/>
            </a:pPr>
            <a:r>
              <a:rPr lang="en-US"/>
              <a:t>With readable information</a:t>
            </a:r>
            <a:endParaRPr/>
          </a:p>
          <a:p>
            <a:pPr indent="0" lvl="0" marL="0" rtl="0" algn="l">
              <a:spcBef>
                <a:spcPts val="0"/>
              </a:spcBef>
              <a:spcAft>
                <a:spcPts val="0"/>
              </a:spcAft>
              <a:buNone/>
            </a:pPr>
            <a:r>
              <a:rPr lang="en-US"/>
              <a:t>Identifiable signature</a:t>
            </a:r>
            <a:endParaRPr/>
          </a:p>
          <a:p>
            <a:pPr indent="0" lvl="0" marL="0" rtl="0" algn="l">
              <a:spcBef>
                <a:spcPts val="0"/>
              </a:spcBef>
              <a:spcAft>
                <a:spcPts val="0"/>
              </a:spcAft>
              <a:buNone/>
            </a:pPr>
            <a:r>
              <a:rPr lang="en-US"/>
              <a:t>Date of issue and/or expiration are visible</a:t>
            </a:r>
            <a:endParaRPr/>
          </a:p>
          <a:p>
            <a:pPr indent="0" lvl="0" marL="0" rtl="0" algn="l">
              <a:spcBef>
                <a:spcPts val="0"/>
              </a:spcBef>
              <a:spcAft>
                <a:spcPts val="0"/>
              </a:spcAft>
              <a:buNone/>
            </a:pPr>
            <a:r>
              <a:rPr lang="en-US"/>
              <a:t>Free from alterations, erasures or tampering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82" name="Google Shape;98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2" name="Google Shape;100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3" name="Google Shape;100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7" name="Google Shape;101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Discrepancy in Name and birthdate -  App vs ID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Using middle initial only for insured.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TIN/SSS - with occupation but omitted.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Permanent/Present/Business address -incomplete/omitted/answered N/A.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Q.6 Country/ies of Legal Residence pg.1</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Q.25 Government Position pg.1  - omitted or answered N/A.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Omission in Page 2 Section B Q#70 regarding source of funds.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Omission in Page 3 (Q#75-85) - Plan details for Traditional Applications.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Height and weight - no unit of measurement.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Third party details in Section K omitted for student/Housewife receiving allowance/allotment.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Family history in Page 4 Q#94 - for insured and applicant.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Mobile number, Philippine mobile number and Email address omitted but elected billing type as SMS+E-notice / SMS+Printed Copy. ( Do not use International mobile number if billing type is with SMS.)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Inconsistent smoking habit (application vs proposal)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Page 3 Sec.F Insurance History Q.86-89 - omitted/answered N/A.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Q#90 - omitted/no details if declared occ is housewife and; </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Q#91 - omitted insurance of family and applicant/owner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Sec C Beneficiary (Omitted Relationship to insured, Citizenship and Birthday)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Wife/Husband as beneficiary - different surname - should have submitted Marriage Certificate / MCERT.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Advisor already married but declared as beneficiary - not allowed per Market Conduct Guidelines.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Q#95 - w/ yes answer but family history on Q#94 - all healthy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Q.92 a-c birth weight pg.4</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Page 4 Q#96 - medication - omitted/answered N/A or incomplete details.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Page 4 Q#98 - weight change - omitted/incomplete details/ answered N/A.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Page 4 Q#93 letter A,B,C for female - omitted/incomplete details/answered N/A.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Annual income of insured/applicant - omitted or sometimes declaring monthly income only.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Additional beneficiary noted as remarks in Advisor's report (Page 8 not included in contract)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Inconsistent smoking habit (application vs proposal)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Q.102 details to yes answer on Sec G (for Q.95-101)</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Page 7 #20-22 - signature of advisor as witness.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Previous Occupation – for Retired/Unemployed omitted especially for GIO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Businessman, Self-employed/online selling - omitted nature/name of business/business address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With YES answer in Q#99-101 - but no details noted.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Section I Q#1-3 Temporary life insurance questions - omitted/answered N/A.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Insured age is 18yrs old++ make sure to indicate the signature in last page of app Q#3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Grandmother/Grandfather is the applicant, make sure that the signature of parents is present in last page of app Q#12-13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FATCA questions omitted or answered as N/A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18" name="Google Shape;1018;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7" name="Google Shape;103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Mobile number, Philippine mobile number and Email address omitted but elected billing type as SMS+E-notice / SMS+Printed Copy. ( Do not use International mobile number if billing type is with SMS.)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Inconsistent smoking habit (application vs proposal)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Page 3 Sec.F Insurance History Q.86-89 - omitted/answered N/A.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Q#90 - omitted/no details if declared occ is housewife and; </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Q#91 - omitted insurance of family and applicant/owner</a:t>
            </a:r>
            <a:endParaRPr/>
          </a:p>
          <a:p>
            <a:pPr indent="0" lvl="0" marL="0" marR="0" rtl="0" algn="l">
              <a:lnSpc>
                <a:spcPct val="100000"/>
              </a:lnSpc>
              <a:spcBef>
                <a:spcPts val="0"/>
              </a:spcBef>
              <a:spcAft>
                <a:spcPts val="0"/>
              </a:spcAft>
              <a:buClr>
                <a:schemeClr val="dk1"/>
              </a:buClr>
              <a:buSzPts val="1200"/>
              <a:buFont typeface="Calibri"/>
              <a:buNone/>
            </a:pPr>
            <a:r>
              <a:rPr lang="en-US" sz="1200"/>
              <a:t>Annual income of insured/applicant is sometimes declared as monthly income only.</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38" name="Google Shape;103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2" name="Google Shape;105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Sec C Beneficiary (Omitted Relationship to insured, Citizenship and Birthday)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Wife/Husband as beneficiary - different surname - should have submitted Marriage Certificate / MCERT.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Advisor already married but declared as beneficiary - not allowed per Market Conduct Guidelines.</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Additional beneficiary noted as remarks in Advisor's report (Page 8 not included in contract)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Additional beneficiaries are listed on blank sheet of paper.</a:t>
            </a:r>
            <a:endParaRPr/>
          </a:p>
        </p:txBody>
      </p:sp>
      <p:sp>
        <p:nvSpPr>
          <p:cNvPr id="1053" name="Google Shape;1053;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3" name="Google Shape;1063;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Q#95 - w/ yes answer but family history on Q#94 - all healthy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Q.92 a-c birth weight pg.4</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Page 4 Q#96 - medication - omitted/answered N/A or incomplete details.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Page 4 Q#98 - weight change - omitted/incomplete details/ answered N/A.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Page 4 Q#93 letter A,B,C for female - omitted/incomplete details/answered N/A.</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Q.102 details to yes answer on Sec G (for Q.95-101)</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Page 7 #20-22 - signature of advisor as witness.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Previous Occupation – for Retired/Unemployed omitted especially for GIO</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Businessman, Self-employed/online selling - omitted nature/name of business/business address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With YES answer in Q#99-101 - but no details noted.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Section I Q#1-3 Temporary life insurance questions - omitted/answered N/A.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Insured age is 18yrs old++ make sure to indicate the signature in last page of app Q#3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Grandmother/Grandfather is the applicant, make sure that the signature of parents is present in last page of app Q#12-13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FATCA questions omitted or answered as N/A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64" name="Google Shape;1064;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1" name="Google Shape;108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Section I Q#1-3 Temporary life insurance questions - omitted/answered N/A.</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Insured age is 18yrs old++ make sure to indicate the signature in last page of app Q#3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Grandmother/Grandfather is the applicant, make sure that the signature of parents is present in last page of app Q#12-13</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FATCA questions omitted or answered as N/A </a:t>
            </a:r>
            <a:endParaRPr/>
          </a:p>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Page 7 #20-22 - signature of advisor as witness.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82" name="Google Shape;108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7" name="Google Shape;1097;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No answer in Page 1 KEY FINANCIAL NEEDS.</a:t>
            </a:r>
            <a:r>
              <a:rPr lang="en-US"/>
              <a:t> </a:t>
            </a:r>
            <a:r>
              <a:rPr b="0" i="0" lang="en-US" sz="1200" u="none" strike="noStrike">
                <a:solidFill>
                  <a:schemeClr val="dk1"/>
                </a:solidFill>
                <a:latin typeface="Calibri"/>
                <a:ea typeface="Calibri"/>
                <a:cs typeface="Calibri"/>
                <a:sym typeface="Calibri"/>
              </a:rPr>
              <a:t>Score in Page 2.</a:t>
            </a:r>
            <a:r>
              <a:rPr lang="en-US"/>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98" name="Google Shape;109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4" name="Google Shape;1114;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Page 8 Question #2 regarding relative with Government position-omitted. (Specify rank/position) if Answered YES.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Page 8 Question #5 - source of sale omitted.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Page 8 Question #6 answered Validated Deposit slip but did not indicate source of cash.</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Wrong Bank branch/Referrers code (SLGFI)</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Correct agent code and sharing should be written clearly</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Declared as family member of advisor – but no relationship indicated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Incorrect mode of payment based on initial payment e.g. declared quarterly mode but paid for the whole year (Annual)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Seaman - not specified designation/position (Details of duties and nature of business)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Collector/Messenger-using motorcycle and Pastor if missionary or non-missionary - Same on all other occupation that needs to be specified.</a:t>
            </a:r>
            <a:endParaRPr/>
          </a:p>
          <a:p>
            <a:pPr indent="0" lvl="0" marL="0" rtl="0" algn="l">
              <a:spcBef>
                <a:spcPts val="0"/>
              </a:spcBef>
              <a:spcAft>
                <a:spcPts val="0"/>
              </a:spcAft>
              <a:buNone/>
            </a:pPr>
            <a:r>
              <a:t/>
            </a:r>
            <a:endParaRPr/>
          </a:p>
        </p:txBody>
      </p:sp>
      <p:sp>
        <p:nvSpPr>
          <p:cNvPr id="1115" name="Google Shape;1115;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2" name="Shape 1132"/>
        <p:cNvGrpSpPr/>
        <p:nvPr/>
      </p:nvGrpSpPr>
      <p:grpSpPr>
        <a:xfrm>
          <a:off x="0" y="0"/>
          <a:ext cx="0" cy="0"/>
          <a:chOff x="0" y="0"/>
          <a:chExt cx="0" cy="0"/>
        </a:xfrm>
      </p:grpSpPr>
      <p:sp>
        <p:nvSpPr>
          <p:cNvPr id="1133" name="Google Shape;113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4" name="Google Shape;1134;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Incorrect rating applied.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Incorrect Gender.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Different advisor generates the proposal but not under JFW.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Old version submitted.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Incorrect age of insured/applicant.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Applying for FCM/FCI rider but no FMBQ submitted.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Applying for Sun Maiden but no FMBQ submitted.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Proposal generated by other advisors without remarks on AGR under JFW.</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Discrepancy in Application vs Proposal in riders applied.</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Discrepancy in proposal's serial number.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135" name="Google Shape;1135;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8" name="Google Shape;115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Random medex – </a:t>
            </a:r>
            <a:endParaRPr/>
          </a:p>
          <a:p>
            <a:pPr indent="0" lvl="0" marL="0" rtl="0" algn="l">
              <a:spcBef>
                <a:spcPts val="0"/>
              </a:spcBef>
              <a:spcAft>
                <a:spcPts val="0"/>
              </a:spcAft>
              <a:buNone/>
            </a:pPr>
            <a:r>
              <a:rPr b="1" lang="en-US"/>
              <a:t>Age 15 and below</a:t>
            </a:r>
            <a:endParaRPr/>
          </a:p>
          <a:p>
            <a:pPr indent="0" lvl="0" marL="0" rtl="0" algn="l">
              <a:spcBef>
                <a:spcPts val="0"/>
              </a:spcBef>
              <a:spcAft>
                <a:spcPts val="0"/>
              </a:spcAft>
              <a:buNone/>
            </a:pPr>
            <a:r>
              <a:rPr b="1" lang="en-US"/>
              <a:t>Mdrt, f, qcc advisors</a:t>
            </a:r>
            <a:endParaRPr b="1"/>
          </a:p>
        </p:txBody>
      </p:sp>
      <p:sp>
        <p:nvSpPr>
          <p:cNvPr id="1159" name="Google Shape;1159;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4" name="Google Shape;1184;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solidFill>
                  <a:srgbClr val="000000"/>
                </a:solidFill>
                <a:latin typeface="Arial"/>
                <a:ea typeface="Arial"/>
                <a:cs typeface="Arial"/>
                <a:sym typeface="Arial"/>
              </a:rPr>
              <a:t>SPEEDY CASES: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Non medical cases.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Risk rating: Low and Medium</a:t>
            </a:r>
            <a:endParaRPr/>
          </a:p>
          <a:p>
            <a:pPr indent="0" lvl="0" marL="0" rtl="0" algn="l">
              <a:spcBef>
                <a:spcPts val="0"/>
              </a:spcBef>
              <a:spcAft>
                <a:spcPts val="0"/>
              </a:spcAft>
              <a:buNone/>
            </a:pPr>
            <a:r>
              <a:rPr lang="en-US" sz="1200">
                <a:solidFill>
                  <a:srgbClr val="000000"/>
                </a:solidFill>
                <a:latin typeface="Arial"/>
                <a:ea typeface="Arial"/>
                <a:cs typeface="Arial"/>
                <a:sym typeface="Arial"/>
              </a:rPr>
              <a:t>No underwriting concerns.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All questions in the application form are completely answered.</a:t>
            </a:r>
            <a:endParaRPr/>
          </a:p>
          <a:p>
            <a:pPr indent="0" lvl="0" marL="0" rtl="0" algn="l">
              <a:spcBef>
                <a:spcPts val="0"/>
              </a:spcBef>
              <a:spcAft>
                <a:spcPts val="0"/>
              </a:spcAft>
              <a:buNone/>
            </a:pPr>
            <a:r>
              <a:rPr lang="en-US" sz="1200">
                <a:solidFill>
                  <a:srgbClr val="000000"/>
                </a:solidFill>
                <a:latin typeface="Arial"/>
                <a:ea typeface="Arial"/>
                <a:cs typeface="Arial"/>
                <a:sym typeface="Arial"/>
              </a:rPr>
              <a:t>No inconsistent details provided in the current application form vs the proposal or previous applications.</a:t>
            </a:r>
            <a:endParaRPr/>
          </a:p>
          <a:p>
            <a:pPr indent="0" lvl="0" marL="0" rtl="0" algn="l">
              <a:spcBef>
                <a:spcPts val="0"/>
              </a:spcBef>
              <a:spcAft>
                <a:spcPts val="0"/>
              </a:spcAft>
              <a:buNone/>
            </a:pPr>
            <a:r>
              <a:rPr lang="en-US" sz="1200">
                <a:solidFill>
                  <a:srgbClr val="000000"/>
                </a:solidFill>
                <a:latin typeface="Arial"/>
                <a:ea typeface="Arial"/>
                <a:cs typeface="Arial"/>
                <a:sym typeface="Arial"/>
              </a:rPr>
              <a:t>No MIB findings.</a:t>
            </a:r>
            <a:endParaRPr/>
          </a:p>
          <a:p>
            <a:pPr indent="0" lvl="0" marL="0" rtl="0" algn="l">
              <a:spcBef>
                <a:spcPts val="0"/>
              </a:spcBef>
              <a:spcAft>
                <a:spcPts val="0"/>
              </a:spcAft>
              <a:buNone/>
            </a:pPr>
            <a:r>
              <a:rPr lang="en-US" sz="1200">
                <a:solidFill>
                  <a:srgbClr val="000000"/>
                </a:solidFill>
                <a:latin typeface="Arial"/>
                <a:ea typeface="Arial"/>
                <a:cs typeface="Arial"/>
                <a:sym typeface="Arial"/>
              </a:rPr>
              <a:t>Complete basic mandatory requirements.</a:t>
            </a:r>
            <a:endParaRPr/>
          </a:p>
          <a:p>
            <a:pPr indent="0" lvl="0" marL="0" rtl="0" algn="l">
              <a:spcBef>
                <a:spcPts val="0"/>
              </a:spcBef>
              <a:spcAft>
                <a:spcPts val="0"/>
              </a:spcAft>
              <a:buNone/>
            </a:pPr>
            <a:r>
              <a:rPr lang="en-US" sz="1200">
                <a:solidFill>
                  <a:srgbClr val="000000"/>
                </a:solidFill>
                <a:latin typeface="Arial"/>
                <a:ea typeface="Arial"/>
                <a:cs typeface="Arial"/>
                <a:sym typeface="Arial"/>
              </a:rPr>
              <a:t>Payment submitted is exact for initial/modal premium; if with excess premium, provide appropriate instructions in the Advisor’s Report.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UW CASES: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Medical cases, and cases with additional medical requirements based on the published UW Limits and Guidelines.</a:t>
            </a:r>
            <a:endParaRPr/>
          </a:p>
          <a:p>
            <a:pPr indent="0" lvl="0" marL="0" rtl="0" algn="l">
              <a:spcBef>
                <a:spcPts val="0"/>
              </a:spcBef>
              <a:spcAft>
                <a:spcPts val="0"/>
              </a:spcAft>
              <a:buNone/>
            </a:pPr>
            <a:r>
              <a:rPr lang="en-US" sz="1200">
                <a:solidFill>
                  <a:srgbClr val="000000"/>
                </a:solidFill>
                <a:latin typeface="Arial"/>
                <a:ea typeface="Arial"/>
                <a:cs typeface="Arial"/>
                <a:sym typeface="Arial"/>
              </a:rPr>
              <a:t>Risk rating: High risk – Regular application</a:t>
            </a:r>
            <a:endParaRPr/>
          </a:p>
          <a:p>
            <a:pPr indent="0" lvl="0" marL="0" rtl="0" algn="l">
              <a:spcBef>
                <a:spcPts val="0"/>
              </a:spcBef>
              <a:spcAft>
                <a:spcPts val="0"/>
              </a:spcAft>
              <a:buNone/>
            </a:pPr>
            <a:r>
              <a:rPr lang="en-US" sz="1200">
                <a:solidFill>
                  <a:srgbClr val="000000"/>
                </a:solidFill>
                <a:latin typeface="Arial"/>
                <a:ea typeface="Arial"/>
                <a:cs typeface="Arial"/>
                <a:sym typeface="Arial"/>
              </a:rPr>
              <a:t>Non-medical cases with underwriting concerns, or not approved under Auto Appraisal.</a:t>
            </a:r>
            <a:endParaRPr/>
          </a:p>
          <a:p>
            <a:pPr indent="0" lvl="0" marL="0" rtl="0" algn="l">
              <a:spcBef>
                <a:spcPts val="0"/>
              </a:spcBef>
              <a:spcAft>
                <a:spcPts val="0"/>
              </a:spcAft>
              <a:buNone/>
            </a:pPr>
            <a:r>
              <a:rPr lang="en-US" sz="1200">
                <a:solidFill>
                  <a:srgbClr val="000000"/>
                </a:solidFill>
                <a:latin typeface="Arial"/>
                <a:ea typeface="Arial"/>
                <a:cs typeface="Arial"/>
                <a:sym typeface="Arial"/>
              </a:rPr>
              <a:t>With MIB findings.</a:t>
            </a:r>
            <a:endParaRPr/>
          </a:p>
          <a:p>
            <a:pPr indent="0" lvl="0" marL="0" rtl="0" algn="l">
              <a:spcBef>
                <a:spcPts val="0"/>
              </a:spcBef>
              <a:spcAft>
                <a:spcPts val="0"/>
              </a:spcAft>
              <a:buNone/>
            </a:pPr>
            <a:r>
              <a:rPr lang="en-US" sz="1200">
                <a:solidFill>
                  <a:srgbClr val="000000"/>
                </a:solidFill>
                <a:latin typeface="Arial"/>
                <a:ea typeface="Arial"/>
                <a:cs typeface="Arial"/>
                <a:sym typeface="Arial"/>
              </a:rPr>
              <a:t>Additional requirements not listed in published UW Limits &amp; Guidelines may be required depending on the review of each requirement submitted.</a:t>
            </a:r>
            <a:endParaRPr/>
          </a:p>
          <a:p>
            <a:pPr indent="0" lvl="0" marL="0" rtl="0" algn="l">
              <a:spcBef>
                <a:spcPts val="0"/>
              </a:spcBef>
              <a:spcAft>
                <a:spcPts val="0"/>
              </a:spcAft>
              <a:buNone/>
            </a:pPr>
            <a:r>
              <a:t/>
            </a:r>
            <a:endParaRPr b="1"/>
          </a:p>
          <a:p>
            <a:pPr indent="0" lvl="0" marL="0" rtl="0" algn="l">
              <a:spcBef>
                <a:spcPts val="0"/>
              </a:spcBef>
              <a:spcAft>
                <a:spcPts val="0"/>
              </a:spcAft>
              <a:buNone/>
            </a:pPr>
            <a:r>
              <a:t/>
            </a:r>
            <a:endParaRPr/>
          </a:p>
        </p:txBody>
      </p:sp>
      <p:sp>
        <p:nvSpPr>
          <p:cNvPr id="1185" name="Google Shape;1185;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6" name="Google Shape;119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6" name="Google Shape;1206;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7" name="Google Shape;1217;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8" name="Google Shape;1218;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7" name="Google Shape;1227;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8" name="Google Shape;1228;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0" name="Google Shape;124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1" name="Google Shape;1241;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7" name="Google Shape;125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4" name="Google Shape;1324;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LEGEND:						</a:t>
            </a:r>
            <a:endParaRPr/>
          </a:p>
          <a:p>
            <a:pPr indent="0" lvl="0" marL="0" rtl="0" algn="l">
              <a:spcBef>
                <a:spcPts val="0"/>
              </a:spcBef>
              <a:spcAft>
                <a:spcPts val="0"/>
              </a:spcAft>
              <a:buNone/>
            </a:pPr>
            <a:r>
              <a:rPr lang="en-US"/>
              <a:t>A score of  One (1)  would mean						</a:t>
            </a:r>
            <a:endParaRPr/>
          </a:p>
          <a:p>
            <a:pPr indent="0" lvl="0" marL="0" rtl="0" algn="l">
              <a:spcBef>
                <a:spcPts val="0"/>
              </a:spcBef>
              <a:spcAft>
                <a:spcPts val="0"/>
              </a:spcAft>
              <a:buNone/>
            </a:pPr>
            <a:r>
              <a:rPr lang="en-US"/>
              <a:t>·	An advisor’s compliance exceeds expectation, an equivalent rating of 101-105%					</a:t>
            </a:r>
            <a:endParaRPr/>
          </a:p>
          <a:p>
            <a:pPr indent="0" lvl="0" marL="0" rtl="0" algn="l">
              <a:spcBef>
                <a:spcPts val="0"/>
              </a:spcBef>
              <a:spcAft>
                <a:spcPts val="0"/>
              </a:spcAft>
              <a:buNone/>
            </a:pPr>
            <a:r>
              <a:rPr lang="en-US"/>
              <a:t>·	A perfect score and would be recognized as outstanding					</a:t>
            </a:r>
            <a:endParaRPr/>
          </a:p>
          <a:p>
            <a:pPr indent="0" lvl="0" marL="0" rtl="0" algn="l">
              <a:spcBef>
                <a:spcPts val="0"/>
              </a:spcBef>
              <a:spcAft>
                <a:spcPts val="0"/>
              </a:spcAft>
              <a:buNone/>
            </a:pPr>
            <a:r>
              <a:rPr lang="en-US"/>
              <a:t>·	The advisor did a very good job and furnished the Underwriters with all the information about the client without further communication from the Underwriters.					</a:t>
            </a:r>
            <a:endParaRPr/>
          </a:p>
          <a:p>
            <a:pPr indent="0" lvl="0" marL="0" rtl="0" algn="l">
              <a:spcBef>
                <a:spcPts val="0"/>
              </a:spcBef>
              <a:spcAft>
                <a:spcPts val="0"/>
              </a:spcAft>
              <a:buNone/>
            </a:pPr>
            <a:r>
              <a:rPr lang="en-US"/>
              <a:t>·	All criteria under code two are met or even exceeded.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A score of  Two (2)  would mean						</a:t>
            </a:r>
            <a:endParaRPr/>
          </a:p>
          <a:p>
            <a:pPr indent="0" lvl="0" marL="0" rtl="0" algn="l">
              <a:spcBef>
                <a:spcPts val="0"/>
              </a:spcBef>
              <a:spcAft>
                <a:spcPts val="0"/>
              </a:spcAft>
              <a:buNone/>
            </a:pPr>
            <a:r>
              <a:rPr lang="en-US"/>
              <a:t>·	An advisor’s compliance with regard to the application meets the UW expectations with an equivalent rating of 90-100%					</a:t>
            </a:r>
            <a:endParaRPr/>
          </a:p>
          <a:p>
            <a:pPr indent="0" lvl="0" marL="0" rtl="0" algn="l">
              <a:spcBef>
                <a:spcPts val="0"/>
              </a:spcBef>
              <a:spcAft>
                <a:spcPts val="0"/>
              </a:spcAft>
              <a:buNone/>
            </a:pPr>
            <a:r>
              <a:rPr lang="en-US"/>
              <a:t>·	This score is considered as average.					</a:t>
            </a:r>
            <a:endParaRPr/>
          </a:p>
          <a:p>
            <a:pPr indent="0" lvl="0" marL="0" rtl="0" algn="l">
              <a:spcBef>
                <a:spcPts val="0"/>
              </a:spcBef>
              <a:spcAft>
                <a:spcPts val="0"/>
              </a:spcAft>
              <a:buNone/>
            </a:pPr>
            <a:r>
              <a:rPr lang="en-US"/>
              <a:t>·	The advisor has satisfactorily met the requirements for applications such as:  completion of application without omissions, submission of all mandatory and					</a:t>
            </a:r>
            <a:endParaRPr/>
          </a:p>
          <a:p>
            <a:pPr indent="0" lvl="0" marL="0" rtl="0" algn="l">
              <a:spcBef>
                <a:spcPts val="0"/>
              </a:spcBef>
              <a:spcAft>
                <a:spcPts val="0"/>
              </a:spcAft>
              <a:buNone/>
            </a:pPr>
            <a:r>
              <a:rPr lang="en-US"/>
              <a:t>	 all the routine requirements for age and amount, submission of appropriate questionnaire,  and submission of SPA and letter from the client regarding mailing c/o advisor					</a:t>
            </a:r>
            <a:endParaRPr/>
          </a:p>
          <a:p>
            <a:pPr indent="0" lvl="0" marL="0" rtl="0" algn="l">
              <a:spcBef>
                <a:spcPts val="0"/>
              </a:spcBef>
              <a:spcAft>
                <a:spcPts val="0"/>
              </a:spcAft>
              <a:buNone/>
            </a:pPr>
            <a:r>
              <a:rPr lang="en-US"/>
              <a:t>·	Indicated rating (if any) as provided in the occupational and foreign residence guidelines.					</a:t>
            </a:r>
            <a:endParaRPr/>
          </a:p>
          <a:p>
            <a:pPr indent="0" lvl="0" marL="0" rtl="0" algn="l">
              <a:spcBef>
                <a:spcPts val="0"/>
              </a:spcBef>
              <a:spcAft>
                <a:spcPts val="0"/>
              </a:spcAft>
              <a:buNone/>
            </a:pPr>
            <a:r>
              <a:rPr lang="en-US"/>
              <a:t>·	All “YES” answer are given sufficient details; physical abnormalities are gathered and reported.					</a:t>
            </a:r>
            <a:endParaRPr/>
          </a:p>
          <a:p>
            <a:pPr indent="0" lvl="0" marL="0" rtl="0" algn="l">
              <a:spcBef>
                <a:spcPts val="0"/>
              </a:spcBef>
              <a:spcAft>
                <a:spcPts val="0"/>
              </a:spcAft>
              <a:buNone/>
            </a:pPr>
            <a:r>
              <a:rPr lang="en-US"/>
              <a:t>·	Benefits such as ADB, CIB, HIB etc. limits are not exceeded. Retention limits are properly observed, i.e. COD cases over retention.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 score of Three (3) would mean						</a:t>
            </a:r>
            <a:endParaRPr/>
          </a:p>
          <a:p>
            <a:pPr indent="0" lvl="0" marL="0" rtl="0" algn="l">
              <a:spcBef>
                <a:spcPts val="0"/>
              </a:spcBef>
              <a:spcAft>
                <a:spcPts val="0"/>
              </a:spcAft>
              <a:buNone/>
            </a:pPr>
            <a:r>
              <a:rPr lang="en-US"/>
              <a:t>·	An advisor’s compliance with regard to the application needs improvement. There are some omissions or oversights but an underwriter can still correct these on initial appraisal					</a:t>
            </a:r>
            <a:endParaRPr/>
          </a:p>
          <a:p>
            <a:pPr indent="0" lvl="0" marL="0" rtl="0" algn="l">
              <a:spcBef>
                <a:spcPts val="0"/>
              </a:spcBef>
              <a:spcAft>
                <a:spcPts val="0"/>
              </a:spcAft>
              <a:buNone/>
            </a:pPr>
            <a:r>
              <a:rPr lang="en-US"/>
              <a:t>	 and will not put the company under risk.					</a:t>
            </a:r>
            <a:endParaRPr/>
          </a:p>
          <a:p>
            <a:pPr indent="0" lvl="0" marL="0" rtl="0" algn="l">
              <a:spcBef>
                <a:spcPts val="0"/>
              </a:spcBef>
              <a:spcAft>
                <a:spcPts val="0"/>
              </a:spcAft>
              <a:buNone/>
            </a:pPr>
            <a:r>
              <a:rPr lang="en-US"/>
              <a:t>·	An equivalent rating of 80-89%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This score is broken down into several points:					</a:t>
            </a:r>
            <a:endParaRPr/>
          </a:p>
          <a:p>
            <a:pPr indent="0" lvl="0" marL="0" rtl="0" algn="l">
              <a:spcBef>
                <a:spcPts val="0"/>
              </a:spcBef>
              <a:spcAft>
                <a:spcPts val="0"/>
              </a:spcAft>
              <a:buNone/>
            </a:pPr>
            <a:r>
              <a:rPr lang="en-US"/>
              <a:t>	3 - All other minor omissions/oversights not specifically classified in the succeeding categories:					</a:t>
            </a:r>
            <a:endParaRPr/>
          </a:p>
          <a:p>
            <a:pPr indent="0" lvl="0" marL="0" rtl="0" algn="l">
              <a:spcBef>
                <a:spcPts val="0"/>
              </a:spcBef>
              <a:spcAft>
                <a:spcPts val="0"/>
              </a:spcAft>
              <a:buNone/>
            </a:pPr>
            <a:r>
              <a:rPr lang="en-US"/>
              <a:t>	3.1 - Advisor omitted minor questions in the application, which may be forgone by an underwriter in making decisions but no omissions of major question in the application.					</a:t>
            </a:r>
            <a:endParaRPr/>
          </a:p>
          <a:p>
            <a:pPr indent="0" lvl="0" marL="0" rtl="0" algn="l">
              <a:spcBef>
                <a:spcPts val="0"/>
              </a:spcBef>
              <a:spcAft>
                <a:spcPts val="0"/>
              </a:spcAft>
              <a:buNone/>
            </a:pPr>
            <a:r>
              <a:rPr lang="en-US"/>
              <a:t>	3.2 - Mandatory requirements submitted but other routine special tests and financial requirements were not submitted with the application.					</a:t>
            </a:r>
            <a:endParaRPr/>
          </a:p>
          <a:p>
            <a:pPr indent="0" lvl="0" marL="0" rtl="0" algn="l">
              <a:spcBef>
                <a:spcPts val="0"/>
              </a:spcBef>
              <a:spcAft>
                <a:spcPts val="0"/>
              </a:spcAft>
              <a:buNone/>
            </a:pPr>
            <a:r>
              <a:rPr lang="en-US"/>
              <a:t>	3.3 - Erasures were not countersigned.					</a:t>
            </a:r>
            <a:endParaRPr/>
          </a:p>
          <a:p>
            <a:pPr indent="0" lvl="0" marL="0" rtl="0" algn="l">
              <a:spcBef>
                <a:spcPts val="0"/>
              </a:spcBef>
              <a:spcAft>
                <a:spcPts val="0"/>
              </a:spcAft>
              <a:buNone/>
            </a:pPr>
            <a:r>
              <a:rPr lang="en-US"/>
              <a:t>	3.4 - Benefits limits exceeded.					</a:t>
            </a:r>
            <a:endParaRPr/>
          </a:p>
          <a:p>
            <a:pPr indent="0" lvl="0" marL="0" rtl="0" algn="l">
              <a:spcBef>
                <a:spcPts val="0"/>
              </a:spcBef>
              <a:spcAft>
                <a:spcPts val="0"/>
              </a:spcAft>
              <a:buNone/>
            </a:pPr>
            <a:r>
              <a:rPr lang="en-US"/>
              <a:t>	3.5 - Insufficient details to “Yes" answer or only minor details were missed.					</a:t>
            </a:r>
            <a:endParaRPr/>
          </a:p>
          <a:p>
            <a:pPr indent="0" lvl="0" marL="0" rtl="0" algn="l">
              <a:spcBef>
                <a:spcPts val="0"/>
              </a:spcBef>
              <a:spcAft>
                <a:spcPts val="0"/>
              </a:spcAft>
              <a:buNone/>
            </a:pPr>
            <a:r>
              <a:rPr lang="en-US"/>
              <a:t>	3.6 - Appropriate rating as indicated in the occupational and foreign residence guidelines were not applied.					</a:t>
            </a:r>
            <a:endParaRPr/>
          </a:p>
          <a:p>
            <a:pPr indent="0" lvl="0" marL="0" rtl="0" algn="l">
              <a:spcBef>
                <a:spcPts val="0"/>
              </a:spcBef>
              <a:spcAft>
                <a:spcPts val="0"/>
              </a:spcAft>
              <a:buNone/>
            </a:pPr>
            <a:r>
              <a:rPr lang="en-US"/>
              <a:t>	3.7 - Wrong application form was used.					</a:t>
            </a:r>
            <a:endParaRPr/>
          </a:p>
          <a:p>
            <a:pPr indent="0" lvl="0" marL="0" rtl="0" algn="l">
              <a:spcBef>
                <a:spcPts val="0"/>
              </a:spcBef>
              <a:spcAft>
                <a:spcPts val="0"/>
              </a:spcAft>
              <a:buNone/>
            </a:pPr>
            <a:r>
              <a:rPr lang="en-US"/>
              <a:t>	3.8 - PCI was not submitted or NM was not answered to update previous medex.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 score of  Four (4) would mean						</a:t>
            </a:r>
            <a:endParaRPr/>
          </a:p>
          <a:p>
            <a:pPr indent="0" lvl="0" marL="0" rtl="0" algn="l">
              <a:spcBef>
                <a:spcPts val="0"/>
              </a:spcBef>
              <a:spcAft>
                <a:spcPts val="0"/>
              </a:spcAft>
              <a:buNone/>
            </a:pPr>
            <a:r>
              <a:rPr lang="en-US"/>
              <a:t>·	An advisor’s compliance with regard to the application is unacceptable or went below the underwriter’s expectation.					</a:t>
            </a:r>
            <a:endParaRPr/>
          </a:p>
          <a:p>
            <a:pPr indent="0" lvl="0" marL="0" rtl="0" algn="l">
              <a:spcBef>
                <a:spcPts val="0"/>
              </a:spcBef>
              <a:spcAft>
                <a:spcPts val="0"/>
              </a:spcAft>
              <a:buNone/>
            </a:pPr>
            <a:r>
              <a:rPr lang="en-US"/>
              <a:t>·	Omissions and oversights are considered major and can put the company under a great risk.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This score is broken down into several points.					</a:t>
            </a:r>
            <a:endParaRPr/>
          </a:p>
          <a:p>
            <a:pPr indent="0" lvl="0" marL="0" rtl="0" algn="l">
              <a:spcBef>
                <a:spcPts val="0"/>
              </a:spcBef>
              <a:spcAft>
                <a:spcPts val="0"/>
              </a:spcAft>
              <a:buNone/>
            </a:pPr>
            <a:r>
              <a:rPr lang="en-US"/>
              <a:t>	4 - All other major omissions/oversights/adverse actions committed by agent not specifically classified in the succeeding points					</a:t>
            </a:r>
            <a:endParaRPr/>
          </a:p>
          <a:p>
            <a:pPr indent="0" lvl="0" marL="0" rtl="0" algn="l">
              <a:spcBef>
                <a:spcPts val="0"/>
              </a:spcBef>
              <a:spcAft>
                <a:spcPts val="0"/>
              </a:spcAft>
              <a:buNone/>
            </a:pPr>
            <a:r>
              <a:rPr lang="en-US"/>
              <a:t>	4.1 - Mandatory requirements were not submitted.					</a:t>
            </a:r>
            <a:endParaRPr/>
          </a:p>
          <a:p>
            <a:pPr indent="0" lvl="0" marL="0" rtl="0" algn="l">
              <a:spcBef>
                <a:spcPts val="0"/>
              </a:spcBef>
              <a:spcAft>
                <a:spcPts val="0"/>
              </a:spcAft>
              <a:buNone/>
            </a:pPr>
            <a:r>
              <a:rPr lang="en-US"/>
              <a:t>	4.2 – There are major omissions in the applications.					</a:t>
            </a:r>
            <a:endParaRPr/>
          </a:p>
          <a:p>
            <a:pPr indent="0" lvl="0" marL="0" rtl="0" algn="l">
              <a:spcBef>
                <a:spcPts val="0"/>
              </a:spcBef>
              <a:spcAft>
                <a:spcPts val="0"/>
              </a:spcAft>
              <a:buNone/>
            </a:pPr>
            <a:r>
              <a:rPr lang="en-US"/>
              <a:t>	4.3 – There was suspected forgery.  					</a:t>
            </a:r>
            <a:endParaRPr/>
          </a:p>
          <a:p>
            <a:pPr indent="0" lvl="0" marL="0" rtl="0" algn="l">
              <a:spcBef>
                <a:spcPts val="0"/>
              </a:spcBef>
              <a:spcAft>
                <a:spcPts val="0"/>
              </a:spcAft>
              <a:buNone/>
            </a:pPr>
            <a:r>
              <a:rPr lang="en-US"/>
              <a:t>	4.4 - Very incorrect information were provided in the application (example: major deviation in build)					</a:t>
            </a:r>
            <a:endParaRPr/>
          </a:p>
          <a:p>
            <a:pPr indent="0" lvl="0" marL="0" rtl="0" algn="l">
              <a:spcBef>
                <a:spcPts val="0"/>
              </a:spcBef>
              <a:spcAft>
                <a:spcPts val="0"/>
              </a:spcAft>
              <a:buNone/>
            </a:pPr>
            <a:r>
              <a:rPr lang="en-US"/>
              <a:t>	4.5 - No details to "Yes" answer or major details  were provided.					</a:t>
            </a:r>
            <a:endParaRPr/>
          </a:p>
          <a:p>
            <a:pPr indent="0" lvl="0" marL="0" rtl="0" algn="l">
              <a:spcBef>
                <a:spcPts val="0"/>
              </a:spcBef>
              <a:spcAft>
                <a:spcPts val="0"/>
              </a:spcAft>
              <a:buNone/>
            </a:pPr>
            <a:r>
              <a:rPr lang="en-US"/>
              <a:t>	4.6 - Physical abnormality was  not reported.					</a:t>
            </a:r>
            <a:endParaRPr/>
          </a:p>
          <a:p>
            <a:pPr indent="0" lvl="0" marL="0" rtl="0" algn="l">
              <a:spcBef>
                <a:spcPts val="0"/>
              </a:spcBef>
              <a:spcAft>
                <a:spcPts val="0"/>
              </a:spcAft>
              <a:buNone/>
            </a:pPr>
            <a:r>
              <a:rPr lang="en-US"/>
              <a:t>	4.7 - Major medical history was  not gathered (as discovered from other sources).					</a:t>
            </a:r>
            <a:endParaRPr/>
          </a:p>
          <a:p>
            <a:pPr indent="0" lvl="0" marL="0" rtl="0" algn="l">
              <a:spcBef>
                <a:spcPts val="0"/>
              </a:spcBef>
              <a:spcAft>
                <a:spcPts val="0"/>
              </a:spcAft>
              <a:buNone/>
            </a:pPr>
            <a:r>
              <a:rPr lang="en-US"/>
              <a:t>	4.8 - Smoking habit was not correctly disclosed.					</a:t>
            </a:r>
            <a:endParaRPr/>
          </a:p>
          <a:p>
            <a:pPr indent="0" lvl="0" marL="0" rtl="0" algn="l">
              <a:spcBef>
                <a:spcPts val="0"/>
              </a:spcBef>
              <a:spcAft>
                <a:spcPts val="0"/>
              </a:spcAft>
              <a:buNone/>
            </a:pPr>
            <a:r>
              <a:rPr lang="en-US"/>
              <a:t>	4.9 - Retention limit exceeded and case was not on COD.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t/>
            </a:r>
            <a:endParaRPr/>
          </a:p>
        </p:txBody>
      </p:sp>
      <p:sp>
        <p:nvSpPr>
          <p:cNvPr id="1325" name="Google Shape;1325;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8" name="Google Shape;1338;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285750" lvl="0" marL="285750" rtl="0" algn="l">
              <a:spcBef>
                <a:spcPts val="0"/>
              </a:spcBef>
              <a:spcAft>
                <a:spcPts val="0"/>
              </a:spcAft>
              <a:buClr>
                <a:schemeClr val="dk1"/>
              </a:buClr>
              <a:buSzPts val="1200"/>
              <a:buFont typeface="Arial"/>
              <a:buChar char="•"/>
            </a:pPr>
            <a:r>
              <a:rPr lang="en-US"/>
              <a:t>Cancer-survivor client - UW</a:t>
            </a:r>
            <a:endParaRPr/>
          </a:p>
          <a:p>
            <a:pPr indent="-285750" lvl="0" marL="285750" rtl="0" algn="l">
              <a:spcBef>
                <a:spcPts val="0"/>
              </a:spcBef>
              <a:spcAft>
                <a:spcPts val="0"/>
              </a:spcAft>
              <a:buClr>
                <a:schemeClr val="dk1"/>
              </a:buClr>
              <a:buSzPts val="1200"/>
              <a:buFont typeface="Arial"/>
              <a:buChar char="•"/>
            </a:pPr>
            <a:r>
              <a:rPr lang="en-US"/>
              <a:t>Only concern is the omitted present residence address - NB</a:t>
            </a:r>
            <a:endParaRPr/>
          </a:p>
          <a:p>
            <a:pPr indent="-285750" lvl="0" marL="285750" rtl="0" algn="l">
              <a:spcBef>
                <a:spcPts val="0"/>
              </a:spcBef>
              <a:spcAft>
                <a:spcPts val="0"/>
              </a:spcAft>
              <a:buClr>
                <a:schemeClr val="dk1"/>
              </a:buClr>
              <a:buSzPts val="1200"/>
              <a:buFont typeface="Arial"/>
              <a:buChar char="•"/>
            </a:pPr>
            <a:r>
              <a:rPr lang="en-US"/>
              <a:t>Occupation concern only – working as ordinary seaman - NB</a:t>
            </a:r>
            <a:endParaRPr/>
          </a:p>
          <a:p>
            <a:pPr indent="-285750" lvl="0" marL="285750" rtl="0" algn="l">
              <a:spcBef>
                <a:spcPts val="0"/>
              </a:spcBef>
              <a:spcAft>
                <a:spcPts val="0"/>
              </a:spcAft>
              <a:buClr>
                <a:schemeClr val="dk1"/>
              </a:buClr>
              <a:buSzPts val="1200"/>
              <a:buFont typeface="Arial"/>
              <a:buChar char="•"/>
            </a:pPr>
            <a:r>
              <a:rPr lang="en-US"/>
              <a:t>Beneficiary is romantic or same-sex partner - UW</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False - MCG</a:t>
            </a:r>
            <a:endParaRPr/>
          </a:p>
          <a:p>
            <a:pPr indent="0" lvl="0" marL="0" rtl="0" algn="l">
              <a:spcBef>
                <a:spcPts val="0"/>
              </a:spcBef>
              <a:spcAft>
                <a:spcPts val="0"/>
              </a:spcAft>
              <a:buNone/>
            </a:pPr>
            <a:r>
              <a:rPr lang="en-US"/>
              <a:t>False – TRAD PLAN only</a:t>
            </a:r>
            <a:endParaRPr/>
          </a:p>
          <a:p>
            <a:pPr indent="0" lvl="0" marL="0" rtl="0" algn="l">
              <a:spcBef>
                <a:spcPts val="0"/>
              </a:spcBef>
              <a:spcAft>
                <a:spcPts val="0"/>
              </a:spcAft>
              <a:buNone/>
            </a:pPr>
            <a:r>
              <a:rPr lang="en-US"/>
              <a:t>False - NBREV</a:t>
            </a:r>
            <a:endParaRPr/>
          </a:p>
        </p:txBody>
      </p:sp>
      <p:sp>
        <p:nvSpPr>
          <p:cNvPr id="1339" name="Google Shape;1339;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0" name="Google Shape;1360;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1" name="Google Shape;1361;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4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4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5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5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5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5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5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5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4"/>
          <p:cNvSpPr/>
          <p:nvPr>
            <p:ph idx="2" type="pic"/>
          </p:nvPr>
        </p:nvSpPr>
        <p:spPr>
          <a:xfrm>
            <a:off x="5183188" y="987425"/>
            <a:ext cx="6172200" cy="4873625"/>
          </a:xfrm>
          <a:prstGeom prst="rect">
            <a:avLst/>
          </a:prstGeom>
          <a:noFill/>
          <a:ln>
            <a:noFill/>
          </a:ln>
        </p:spPr>
      </p:sp>
      <p:sp>
        <p:nvSpPr>
          <p:cNvPr id="68" name="Google Shape;68;p5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5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0" Type="http://schemas.openxmlformats.org/officeDocument/2006/relationships/image" Target="../media/image4.png"/><Relationship Id="rId11" Type="http://schemas.openxmlformats.org/officeDocument/2006/relationships/image" Target="../media/image1.jpg"/><Relationship Id="rId10" Type="http://schemas.openxmlformats.org/officeDocument/2006/relationships/image" Target="../media/image10.jpg"/><Relationship Id="rId13" Type="http://schemas.openxmlformats.org/officeDocument/2006/relationships/image" Target="../media/image6.png"/><Relationship Id="rId12" Type="http://schemas.openxmlformats.org/officeDocument/2006/relationships/image" Target="../media/image8.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17.png"/><Relationship Id="rId9" Type="http://schemas.openxmlformats.org/officeDocument/2006/relationships/image" Target="../media/image16.png"/><Relationship Id="rId15" Type="http://schemas.openxmlformats.org/officeDocument/2006/relationships/image" Target="../media/image15.png"/><Relationship Id="rId14" Type="http://schemas.openxmlformats.org/officeDocument/2006/relationships/image" Target="../media/image12.png"/><Relationship Id="rId17" Type="http://schemas.openxmlformats.org/officeDocument/2006/relationships/image" Target="../media/image2.png"/><Relationship Id="rId16" Type="http://schemas.openxmlformats.org/officeDocument/2006/relationships/image" Target="../media/image9.png"/><Relationship Id="rId5" Type="http://schemas.openxmlformats.org/officeDocument/2006/relationships/image" Target="../media/image7.png"/><Relationship Id="rId19" Type="http://schemas.openxmlformats.org/officeDocument/2006/relationships/image" Target="../media/image14.png"/><Relationship Id="rId6" Type="http://schemas.openxmlformats.org/officeDocument/2006/relationships/image" Target="../media/image11.png"/><Relationship Id="rId18" Type="http://schemas.openxmlformats.org/officeDocument/2006/relationships/image" Target="../media/image5.png"/><Relationship Id="rId7" Type="http://schemas.openxmlformats.org/officeDocument/2006/relationships/image" Target="../media/image20.png"/><Relationship Id="rId8"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3.png"/><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11" Type="http://schemas.openxmlformats.org/officeDocument/2006/relationships/image" Target="../media/image32.jpg"/><Relationship Id="rId10" Type="http://schemas.openxmlformats.org/officeDocument/2006/relationships/image" Target="../media/image26.jpg"/><Relationship Id="rId13" Type="http://schemas.openxmlformats.org/officeDocument/2006/relationships/image" Target="../media/image31.jpg"/><Relationship Id="rId12" Type="http://schemas.openxmlformats.org/officeDocument/2006/relationships/image" Target="../media/image33.jp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8.png"/><Relationship Id="rId4" Type="http://schemas.openxmlformats.org/officeDocument/2006/relationships/image" Target="../media/image25.png"/><Relationship Id="rId9" Type="http://schemas.openxmlformats.org/officeDocument/2006/relationships/image" Target="../media/image27.jpg"/><Relationship Id="rId14" Type="http://schemas.openxmlformats.org/officeDocument/2006/relationships/image" Target="../media/image24.png"/><Relationship Id="rId5" Type="http://schemas.openxmlformats.org/officeDocument/2006/relationships/image" Target="../media/image21.png"/><Relationship Id="rId6" Type="http://schemas.openxmlformats.org/officeDocument/2006/relationships/image" Target="../media/image23.png"/><Relationship Id="rId7" Type="http://schemas.openxmlformats.org/officeDocument/2006/relationships/image" Target="../media/image30.jpg"/><Relationship Id="rId8" Type="http://schemas.openxmlformats.org/officeDocument/2006/relationships/image" Target="../media/image22.png"/></Relationships>
</file>

<file path=ppt/slides/_rels/slide5.xml.rels><?xml version="1.0" encoding="UTF-8" standalone="yes"?><Relationships xmlns="http://schemas.openxmlformats.org/package/2006/relationships"><Relationship Id="rId10" Type="http://schemas.openxmlformats.org/officeDocument/2006/relationships/image" Target="../media/image34.jp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41.jpg"/><Relationship Id="rId5" Type="http://schemas.openxmlformats.org/officeDocument/2006/relationships/image" Target="../media/image36.jpg"/><Relationship Id="rId6" Type="http://schemas.openxmlformats.org/officeDocument/2006/relationships/image" Target="../media/image35.png"/><Relationship Id="rId7" Type="http://schemas.openxmlformats.org/officeDocument/2006/relationships/image" Target="../media/image40.jpg"/><Relationship Id="rId8" Type="http://schemas.openxmlformats.org/officeDocument/2006/relationships/image" Target="../media/image37.jpg"/></Relationships>
</file>

<file path=ppt/slides/_rels/slide6.xml.rels><?xml version="1.0" encoding="UTF-8" standalone="yes"?><Relationships xmlns="http://schemas.openxmlformats.org/package/2006/relationships"><Relationship Id="rId20" Type="http://schemas.openxmlformats.org/officeDocument/2006/relationships/image" Target="../media/image23.png"/><Relationship Id="rId11" Type="http://schemas.openxmlformats.org/officeDocument/2006/relationships/image" Target="../media/image45.png"/><Relationship Id="rId10" Type="http://schemas.openxmlformats.org/officeDocument/2006/relationships/image" Target="../media/image43.png"/><Relationship Id="rId13" Type="http://schemas.openxmlformats.org/officeDocument/2006/relationships/image" Target="../media/image46.jpg"/><Relationship Id="rId12" Type="http://schemas.openxmlformats.org/officeDocument/2006/relationships/image" Target="../media/image44.jp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9.png"/><Relationship Id="rId4" Type="http://schemas.openxmlformats.org/officeDocument/2006/relationships/image" Target="../media/image35.png"/><Relationship Id="rId9" Type="http://schemas.openxmlformats.org/officeDocument/2006/relationships/image" Target="../media/image42.png"/><Relationship Id="rId15" Type="http://schemas.openxmlformats.org/officeDocument/2006/relationships/image" Target="../media/image50.jpg"/><Relationship Id="rId14" Type="http://schemas.openxmlformats.org/officeDocument/2006/relationships/image" Target="../media/image47.jpg"/><Relationship Id="rId17" Type="http://schemas.openxmlformats.org/officeDocument/2006/relationships/image" Target="../media/image51.jpg"/><Relationship Id="rId16" Type="http://schemas.openxmlformats.org/officeDocument/2006/relationships/image" Target="../media/image49.png"/><Relationship Id="rId5" Type="http://schemas.openxmlformats.org/officeDocument/2006/relationships/image" Target="../media/image40.jpg"/><Relationship Id="rId19" Type="http://schemas.openxmlformats.org/officeDocument/2006/relationships/image" Target="../media/image54.png"/><Relationship Id="rId6" Type="http://schemas.openxmlformats.org/officeDocument/2006/relationships/image" Target="../media/image38.jpg"/><Relationship Id="rId18" Type="http://schemas.openxmlformats.org/officeDocument/2006/relationships/image" Target="../media/image53.png"/><Relationship Id="rId7" Type="http://schemas.openxmlformats.org/officeDocument/2006/relationships/image" Target="../media/image39.jpg"/><Relationship Id="rId8" Type="http://schemas.openxmlformats.org/officeDocument/2006/relationships/image" Target="../media/image48.jpg"/></Relationships>
</file>

<file path=ppt/slides/_rels/slide7.xml.rels><?xml version="1.0" encoding="UTF-8" standalone="yes"?><Relationships xmlns="http://schemas.openxmlformats.org/package/2006/relationships"><Relationship Id="rId20" Type="http://schemas.openxmlformats.org/officeDocument/2006/relationships/image" Target="../media/image23.png"/><Relationship Id="rId11" Type="http://schemas.openxmlformats.org/officeDocument/2006/relationships/image" Target="../media/image57.jpg"/><Relationship Id="rId10" Type="http://schemas.openxmlformats.org/officeDocument/2006/relationships/image" Target="../media/image62.jpg"/><Relationship Id="rId21" Type="http://schemas.openxmlformats.org/officeDocument/2006/relationships/image" Target="../media/image71.png"/><Relationship Id="rId13" Type="http://schemas.openxmlformats.org/officeDocument/2006/relationships/image" Target="../media/image56.jpg"/><Relationship Id="rId12" Type="http://schemas.openxmlformats.org/officeDocument/2006/relationships/image" Target="../media/image61.jp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9.png"/><Relationship Id="rId4" Type="http://schemas.openxmlformats.org/officeDocument/2006/relationships/image" Target="../media/image35.png"/><Relationship Id="rId9" Type="http://schemas.openxmlformats.org/officeDocument/2006/relationships/image" Target="../media/image55.jpg"/><Relationship Id="rId15" Type="http://schemas.openxmlformats.org/officeDocument/2006/relationships/image" Target="../media/image66.jpg"/><Relationship Id="rId14" Type="http://schemas.openxmlformats.org/officeDocument/2006/relationships/image" Target="../media/image74.jpg"/><Relationship Id="rId17" Type="http://schemas.openxmlformats.org/officeDocument/2006/relationships/image" Target="../media/image70.jpg"/><Relationship Id="rId16" Type="http://schemas.openxmlformats.org/officeDocument/2006/relationships/image" Target="../media/image64.jpg"/><Relationship Id="rId5" Type="http://schemas.openxmlformats.org/officeDocument/2006/relationships/image" Target="../media/image37.jpg"/><Relationship Id="rId19" Type="http://schemas.openxmlformats.org/officeDocument/2006/relationships/image" Target="../media/image63.jpg"/><Relationship Id="rId6" Type="http://schemas.openxmlformats.org/officeDocument/2006/relationships/image" Target="../media/image52.jpg"/><Relationship Id="rId18" Type="http://schemas.openxmlformats.org/officeDocument/2006/relationships/image" Target="../media/image60.jpg"/><Relationship Id="rId7" Type="http://schemas.openxmlformats.org/officeDocument/2006/relationships/image" Target="../media/image59.jpg"/><Relationship Id="rId8" Type="http://schemas.openxmlformats.org/officeDocument/2006/relationships/image" Target="../media/image58.jpg"/></Relationships>
</file>

<file path=ppt/slides/_rels/slide8.xml.rels><?xml version="1.0" encoding="UTF-8" standalone="yes"?><Relationships xmlns="http://schemas.openxmlformats.org/package/2006/relationships"><Relationship Id="rId11" Type="http://schemas.openxmlformats.org/officeDocument/2006/relationships/image" Target="../media/image72.png"/><Relationship Id="rId10" Type="http://schemas.openxmlformats.org/officeDocument/2006/relationships/image" Target="../media/image67.jpg"/><Relationship Id="rId13" Type="http://schemas.openxmlformats.org/officeDocument/2006/relationships/image" Target="../media/image89.jpg"/><Relationship Id="rId12" Type="http://schemas.openxmlformats.org/officeDocument/2006/relationships/image" Target="../media/image73.jp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69.jpg"/><Relationship Id="rId15" Type="http://schemas.openxmlformats.org/officeDocument/2006/relationships/image" Target="../media/image75.jpg"/><Relationship Id="rId14" Type="http://schemas.openxmlformats.org/officeDocument/2006/relationships/image" Target="../media/image85.png"/><Relationship Id="rId5" Type="http://schemas.openxmlformats.org/officeDocument/2006/relationships/image" Target="../media/image35.png"/><Relationship Id="rId6" Type="http://schemas.openxmlformats.org/officeDocument/2006/relationships/image" Target="../media/image41.jpg"/><Relationship Id="rId7" Type="http://schemas.openxmlformats.org/officeDocument/2006/relationships/image" Target="../media/image65.jpg"/><Relationship Id="rId8" Type="http://schemas.openxmlformats.org/officeDocument/2006/relationships/image" Target="../media/image68.jpg"/></Relationships>
</file>

<file path=ppt/slides/_rels/slide9.xml.rels><?xml version="1.0" encoding="UTF-8" standalone="yes"?><Relationships xmlns="http://schemas.openxmlformats.org/package/2006/relationships"><Relationship Id="rId11" Type="http://schemas.openxmlformats.org/officeDocument/2006/relationships/image" Target="../media/image84.jpg"/><Relationship Id="rId10" Type="http://schemas.openxmlformats.org/officeDocument/2006/relationships/image" Target="../media/image82.jpg"/><Relationship Id="rId13" Type="http://schemas.openxmlformats.org/officeDocument/2006/relationships/image" Target="../media/image78.jpg"/><Relationship Id="rId12" Type="http://schemas.openxmlformats.org/officeDocument/2006/relationships/image" Target="../media/image81.jp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80.jpg"/><Relationship Id="rId5" Type="http://schemas.openxmlformats.org/officeDocument/2006/relationships/image" Target="../media/image35.png"/><Relationship Id="rId6" Type="http://schemas.openxmlformats.org/officeDocument/2006/relationships/image" Target="../media/image76.jpg"/><Relationship Id="rId7" Type="http://schemas.openxmlformats.org/officeDocument/2006/relationships/image" Target="../media/image79.jpg"/><Relationship Id="rId8" Type="http://schemas.openxmlformats.org/officeDocument/2006/relationships/image" Target="../media/image77.jpg"/></Relationships>
</file>

<file path=ppt/slides/_rels/slide10.xml.rels><?xml version="1.0" encoding="UTF-8" standalone="yes"?><Relationships xmlns="http://schemas.openxmlformats.org/package/2006/relationships"><Relationship Id="rId11" Type="http://schemas.openxmlformats.org/officeDocument/2006/relationships/image" Target="../media/image96.png"/><Relationship Id="rId10" Type="http://schemas.openxmlformats.org/officeDocument/2006/relationships/image" Target="../media/image90.jpg"/><Relationship Id="rId13" Type="http://schemas.openxmlformats.org/officeDocument/2006/relationships/image" Target="../media/image93.png"/><Relationship Id="rId12" Type="http://schemas.openxmlformats.org/officeDocument/2006/relationships/image" Target="../media/image92.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88.png"/><Relationship Id="rId15" Type="http://schemas.openxmlformats.org/officeDocument/2006/relationships/image" Target="../media/image97.png"/><Relationship Id="rId14" Type="http://schemas.openxmlformats.org/officeDocument/2006/relationships/image" Target="../media/image91.png"/><Relationship Id="rId5" Type="http://schemas.openxmlformats.org/officeDocument/2006/relationships/image" Target="../media/image76.jpg"/><Relationship Id="rId6" Type="http://schemas.openxmlformats.org/officeDocument/2006/relationships/image" Target="../media/image83.jpg"/><Relationship Id="rId7" Type="http://schemas.openxmlformats.org/officeDocument/2006/relationships/image" Target="../media/image87.jpg"/><Relationship Id="rId8" Type="http://schemas.openxmlformats.org/officeDocument/2006/relationships/image" Target="../media/image86.png"/></Relationships>
</file>

<file path=ppt/slides/_rels/slide11.xml.rels><?xml version="1.0" encoding="UTF-8" standalone="yes"?><Relationships xmlns="http://schemas.openxmlformats.org/package/2006/relationships"><Relationship Id="rId11" Type="http://schemas.openxmlformats.org/officeDocument/2006/relationships/image" Target="../media/image102.png"/><Relationship Id="rId10" Type="http://schemas.openxmlformats.org/officeDocument/2006/relationships/image" Target="../media/image103.png"/><Relationship Id="rId13" Type="http://schemas.openxmlformats.org/officeDocument/2006/relationships/image" Target="../media/image100.png"/><Relationship Id="rId12" Type="http://schemas.openxmlformats.org/officeDocument/2006/relationships/image" Target="../media/image108.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99.jpg"/><Relationship Id="rId14" Type="http://schemas.openxmlformats.org/officeDocument/2006/relationships/image" Target="../media/image101.png"/><Relationship Id="rId5" Type="http://schemas.openxmlformats.org/officeDocument/2006/relationships/image" Target="../media/image76.jpg"/><Relationship Id="rId6" Type="http://schemas.openxmlformats.org/officeDocument/2006/relationships/image" Target="../media/image94.jpg"/><Relationship Id="rId7" Type="http://schemas.openxmlformats.org/officeDocument/2006/relationships/image" Target="../media/image104.jpg"/><Relationship Id="rId8" Type="http://schemas.openxmlformats.org/officeDocument/2006/relationships/image" Target="../media/image95.jpg"/></Relationships>
</file>

<file path=ppt/slides/_rels/slide12.xml.rels><?xml version="1.0" encoding="UTF-8" standalone="yes"?><Relationships xmlns="http://schemas.openxmlformats.org/package/2006/relationships"><Relationship Id="rId11" Type="http://schemas.openxmlformats.org/officeDocument/2006/relationships/image" Target="../media/image110.png"/><Relationship Id="rId10" Type="http://schemas.openxmlformats.org/officeDocument/2006/relationships/image" Target="../media/image121.png"/><Relationship Id="rId13" Type="http://schemas.openxmlformats.org/officeDocument/2006/relationships/image" Target="../media/image107.png"/><Relationship Id="rId12" Type="http://schemas.openxmlformats.org/officeDocument/2006/relationships/image" Target="../media/image112.png"/><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115.jpg"/><Relationship Id="rId15" Type="http://schemas.openxmlformats.org/officeDocument/2006/relationships/image" Target="../media/image111.jpg"/><Relationship Id="rId14" Type="http://schemas.openxmlformats.org/officeDocument/2006/relationships/image" Target="../media/image113.png"/><Relationship Id="rId5" Type="http://schemas.openxmlformats.org/officeDocument/2006/relationships/image" Target="../media/image76.jpg"/><Relationship Id="rId6" Type="http://schemas.openxmlformats.org/officeDocument/2006/relationships/image" Target="../media/image98.jpg"/><Relationship Id="rId7" Type="http://schemas.openxmlformats.org/officeDocument/2006/relationships/image" Target="../media/image106.jpg"/><Relationship Id="rId8" Type="http://schemas.openxmlformats.org/officeDocument/2006/relationships/image" Target="../media/image105.png"/></Relationships>
</file>

<file path=ppt/slides/_rels/slide13.xml.rels><?xml version="1.0" encoding="UTF-8" standalone="yes"?><Relationships xmlns="http://schemas.openxmlformats.org/package/2006/relationships"><Relationship Id="rId11" Type="http://schemas.openxmlformats.org/officeDocument/2006/relationships/image" Target="../media/image119.png"/><Relationship Id="rId10" Type="http://schemas.openxmlformats.org/officeDocument/2006/relationships/image" Target="../media/image114.png"/><Relationship Id="rId13" Type="http://schemas.openxmlformats.org/officeDocument/2006/relationships/image" Target="../media/image122.png"/><Relationship Id="rId12" Type="http://schemas.openxmlformats.org/officeDocument/2006/relationships/image" Target="../media/image120.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124.png"/><Relationship Id="rId5" Type="http://schemas.openxmlformats.org/officeDocument/2006/relationships/image" Target="../media/image76.jpg"/><Relationship Id="rId6" Type="http://schemas.openxmlformats.org/officeDocument/2006/relationships/image" Target="../media/image109.jpg"/><Relationship Id="rId7" Type="http://schemas.openxmlformats.org/officeDocument/2006/relationships/image" Target="../media/image118.jpg"/><Relationship Id="rId8" Type="http://schemas.openxmlformats.org/officeDocument/2006/relationships/image" Target="../media/image117.jpg"/></Relationships>
</file>

<file path=ppt/slides/_rels/slide14.xml.rels><?xml version="1.0" encoding="UTF-8" standalone="yes"?><Relationships xmlns="http://schemas.openxmlformats.org/package/2006/relationships"><Relationship Id="rId11" Type="http://schemas.openxmlformats.org/officeDocument/2006/relationships/image" Target="../media/image155.png"/><Relationship Id="rId10" Type="http://schemas.openxmlformats.org/officeDocument/2006/relationships/image" Target="../media/image128.png"/><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129.jpg"/><Relationship Id="rId5" Type="http://schemas.openxmlformats.org/officeDocument/2006/relationships/image" Target="../media/image76.jpg"/><Relationship Id="rId6" Type="http://schemas.openxmlformats.org/officeDocument/2006/relationships/image" Target="../media/image116.jpg"/><Relationship Id="rId7" Type="http://schemas.openxmlformats.org/officeDocument/2006/relationships/image" Target="../media/image127.png"/><Relationship Id="rId8" Type="http://schemas.openxmlformats.org/officeDocument/2006/relationships/image" Target="../media/image123.jpg"/></Relationships>
</file>

<file path=ppt/slides/_rels/slide15.xml.rels><?xml version="1.0" encoding="UTF-8" standalone="yes"?><Relationships xmlns="http://schemas.openxmlformats.org/package/2006/relationships"><Relationship Id="rId11" Type="http://schemas.openxmlformats.org/officeDocument/2006/relationships/image" Target="../media/image130.png"/><Relationship Id="rId10" Type="http://schemas.openxmlformats.org/officeDocument/2006/relationships/image" Target="../media/image132.jpg"/><Relationship Id="rId13" Type="http://schemas.openxmlformats.org/officeDocument/2006/relationships/image" Target="../media/image134.jpg"/><Relationship Id="rId12" Type="http://schemas.openxmlformats.org/officeDocument/2006/relationships/image" Target="../media/image142.jpg"/><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133.jpg"/><Relationship Id="rId14" Type="http://schemas.openxmlformats.org/officeDocument/2006/relationships/image" Target="../media/image137.png"/><Relationship Id="rId5" Type="http://schemas.openxmlformats.org/officeDocument/2006/relationships/image" Target="../media/image76.jpg"/><Relationship Id="rId6" Type="http://schemas.openxmlformats.org/officeDocument/2006/relationships/image" Target="../media/image125.jpg"/><Relationship Id="rId7" Type="http://schemas.openxmlformats.org/officeDocument/2006/relationships/image" Target="../media/image126.jpg"/><Relationship Id="rId8" Type="http://schemas.openxmlformats.org/officeDocument/2006/relationships/image" Target="../media/image131.jpg"/></Relationships>
</file>

<file path=ppt/slides/_rels/slide16.xml.rels><?xml version="1.0" encoding="UTF-8" standalone="yes"?><Relationships xmlns="http://schemas.openxmlformats.org/package/2006/relationships"><Relationship Id="rId11" Type="http://schemas.openxmlformats.org/officeDocument/2006/relationships/image" Target="../media/image139.jpg"/><Relationship Id="rId10" Type="http://schemas.openxmlformats.org/officeDocument/2006/relationships/image" Target="../media/image141.jpg"/><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140.png"/><Relationship Id="rId5" Type="http://schemas.openxmlformats.org/officeDocument/2006/relationships/image" Target="../media/image76.jpg"/><Relationship Id="rId6" Type="http://schemas.openxmlformats.org/officeDocument/2006/relationships/image" Target="../media/image136.jpg"/><Relationship Id="rId7" Type="http://schemas.openxmlformats.org/officeDocument/2006/relationships/image" Target="../media/image135.jpg"/><Relationship Id="rId8" Type="http://schemas.openxmlformats.org/officeDocument/2006/relationships/image" Target="../media/image14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3.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38.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8.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8.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45.png"/><Relationship Id="rId4" Type="http://schemas.openxmlformats.org/officeDocument/2006/relationships/image" Target="../media/image149.png"/><Relationship Id="rId5" Type="http://schemas.openxmlformats.org/officeDocument/2006/relationships/image" Target="../media/image148.png"/><Relationship Id="rId6" Type="http://schemas.openxmlformats.org/officeDocument/2006/relationships/image" Target="../media/image146.png"/><Relationship Id="rId7"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7.png"/><Relationship Id="rId4" Type="http://schemas.openxmlformats.org/officeDocument/2006/relationships/image" Target="../media/image150.png"/><Relationship Id="rId5" Type="http://schemas.openxmlformats.org/officeDocument/2006/relationships/image" Target="../media/image152.png"/><Relationship Id="rId6" Type="http://schemas.openxmlformats.org/officeDocument/2006/relationships/image" Target="../media/image153.png"/><Relationship Id="rId7" Type="http://schemas.openxmlformats.org/officeDocument/2006/relationships/image" Target="../media/image160.png"/><Relationship Id="rId8"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47.png"/><Relationship Id="rId4" Type="http://schemas.openxmlformats.org/officeDocument/2006/relationships/image" Target="../media/image151.png"/><Relationship Id="rId5" Type="http://schemas.openxmlformats.org/officeDocument/2006/relationships/image" Target="../media/image162.png"/><Relationship Id="rId6" Type="http://schemas.openxmlformats.org/officeDocument/2006/relationships/image" Target="../media/image23.png"/><Relationship Id="rId7" Type="http://schemas.openxmlformats.org/officeDocument/2006/relationships/image" Target="../media/image15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5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3.png"/><Relationship Id="rId4" Type="http://schemas.openxmlformats.org/officeDocument/2006/relationships/image" Target="../media/image156.png"/><Relationship Id="rId5" Type="http://schemas.openxmlformats.org/officeDocument/2006/relationships/image" Target="../media/image169.png"/><Relationship Id="rId6" Type="http://schemas.openxmlformats.org/officeDocument/2006/relationships/image" Target="../media/image16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8.png"/><Relationship Id="rId4" Type="http://schemas.openxmlformats.org/officeDocument/2006/relationships/image" Target="../media/image166.png"/><Relationship Id="rId5" Type="http://schemas.openxmlformats.org/officeDocument/2006/relationships/image" Target="../media/image171.png"/><Relationship Id="rId6" Type="http://schemas.openxmlformats.org/officeDocument/2006/relationships/image" Target="../media/image15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64.png"/><Relationship Id="rId4" Type="http://schemas.openxmlformats.org/officeDocument/2006/relationships/image" Target="../media/image163.png"/><Relationship Id="rId5" Type="http://schemas.openxmlformats.org/officeDocument/2006/relationships/image" Target="../media/image167.png"/><Relationship Id="rId6" Type="http://schemas.openxmlformats.org/officeDocument/2006/relationships/image" Target="../media/image16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70.png"/><Relationship Id="rId4" Type="http://schemas.openxmlformats.org/officeDocument/2006/relationships/image" Target="../media/image16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80.png"/><Relationship Id="rId4" Type="http://schemas.openxmlformats.org/officeDocument/2006/relationships/image" Target="../media/image174.png"/><Relationship Id="rId5" Type="http://schemas.openxmlformats.org/officeDocument/2006/relationships/image" Target="../media/image17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73.png"/><Relationship Id="rId4" Type="http://schemas.openxmlformats.org/officeDocument/2006/relationships/image" Target="../media/image172.png"/><Relationship Id="rId5" Type="http://schemas.openxmlformats.org/officeDocument/2006/relationships/image" Target="../media/image179.png"/><Relationship Id="rId6" Type="http://schemas.openxmlformats.org/officeDocument/2006/relationships/image" Target="../media/image17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81.png"/><Relationship Id="rId4" Type="http://schemas.openxmlformats.org/officeDocument/2006/relationships/image" Target="../media/image23.png"/><Relationship Id="rId5" Type="http://schemas.openxmlformats.org/officeDocument/2006/relationships/image" Target="../media/image178.png"/><Relationship Id="rId6" Type="http://schemas.openxmlformats.org/officeDocument/2006/relationships/image" Target="../media/image177.png"/><Relationship Id="rId7" Type="http://schemas.openxmlformats.org/officeDocument/2006/relationships/image" Target="../media/image18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3.png"/><Relationship Id="rId4" Type="http://schemas.openxmlformats.org/officeDocument/2006/relationships/image" Target="../media/image178.png"/><Relationship Id="rId5" Type="http://schemas.openxmlformats.org/officeDocument/2006/relationships/image" Target="../media/image177.png"/><Relationship Id="rId6" Type="http://schemas.openxmlformats.org/officeDocument/2006/relationships/image" Target="../media/image18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3.png"/><Relationship Id="rId4" Type="http://schemas.openxmlformats.org/officeDocument/2006/relationships/image" Target="../media/image178.png"/><Relationship Id="rId5" Type="http://schemas.openxmlformats.org/officeDocument/2006/relationships/image" Target="../media/image177.png"/><Relationship Id="rId6" Type="http://schemas.openxmlformats.org/officeDocument/2006/relationships/image" Target="../media/image187.png"/><Relationship Id="rId7" Type="http://schemas.openxmlformats.org/officeDocument/2006/relationships/image" Target="../media/image18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92.jpg"/><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8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hyperlink" Target="mailto:Phil-Followup@sunlife.com" TargetMode="External"/><Relationship Id="rId4" Type="http://schemas.openxmlformats.org/officeDocument/2006/relationships/hyperlink" Target="mailto:Phil-Followup@sunlife.com" TargetMode="External"/><Relationship Id="rId5" Type="http://schemas.openxmlformats.org/officeDocument/2006/relationships/image" Target="../media/image18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94.jpg"/><Relationship Id="rId4" Type="http://schemas.openxmlformats.org/officeDocument/2006/relationships/hyperlink" Target="mailto:PHIL-ePDS-Scanning@sunlife.co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8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96.jpg"/><Relationship Id="rId4" Type="http://schemas.openxmlformats.org/officeDocument/2006/relationships/hyperlink" Target="mailto:phil-usd-facilitating@sunlife.com"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90.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93.jpg"/><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88.jpg"/><Relationship Id="rId4" Type="http://schemas.openxmlformats.org/officeDocument/2006/relationships/image" Target="../media/image23.png"/><Relationship Id="rId5" Type="http://schemas.openxmlformats.org/officeDocument/2006/relationships/image" Target="../media/image19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95.jp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nvSpPr>
        <p:spPr>
          <a:xfrm>
            <a:off x="7122212" y="1726000"/>
            <a:ext cx="4456802" cy="11079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6600" u="none" cap="none" strike="noStrike">
                <a:solidFill>
                  <a:schemeClr val="accent5"/>
                </a:solidFill>
                <a:latin typeface="Impact"/>
                <a:ea typeface="Impact"/>
                <a:cs typeface="Impact"/>
                <a:sym typeface="Impact"/>
              </a:rPr>
              <a:t>ENRICHMENT</a:t>
            </a:r>
            <a:endParaRPr sz="6600">
              <a:solidFill>
                <a:schemeClr val="accent5"/>
              </a:solidFill>
              <a:latin typeface="Impact"/>
              <a:ea typeface="Impact"/>
              <a:cs typeface="Impact"/>
              <a:sym typeface="Impact"/>
            </a:endParaRPr>
          </a:p>
        </p:txBody>
      </p:sp>
      <p:sp>
        <p:nvSpPr>
          <p:cNvPr id="89" name="Google Shape;89;p1"/>
          <p:cNvSpPr txBox="1"/>
          <p:nvPr/>
        </p:nvSpPr>
        <p:spPr>
          <a:xfrm>
            <a:off x="7122212" y="816128"/>
            <a:ext cx="4970608" cy="11079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6600">
                <a:solidFill>
                  <a:srgbClr val="FF9933"/>
                </a:solidFill>
                <a:latin typeface="Impact"/>
                <a:ea typeface="Impact"/>
                <a:cs typeface="Impact"/>
                <a:sym typeface="Impact"/>
              </a:rPr>
              <a:t>information</a:t>
            </a:r>
            <a:endParaRPr sz="6600">
              <a:solidFill>
                <a:srgbClr val="FF9933"/>
              </a:solidFill>
              <a:latin typeface="Impact"/>
              <a:ea typeface="Impact"/>
              <a:cs typeface="Impact"/>
              <a:sym typeface="Impact"/>
            </a:endParaRPr>
          </a:p>
        </p:txBody>
      </p:sp>
      <p:sp>
        <p:nvSpPr>
          <p:cNvPr id="90" name="Google Shape;90;p1"/>
          <p:cNvSpPr txBox="1"/>
          <p:nvPr/>
        </p:nvSpPr>
        <p:spPr>
          <a:xfrm>
            <a:off x="7122212" y="2587194"/>
            <a:ext cx="3200303" cy="11079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6600">
                <a:solidFill>
                  <a:srgbClr val="3A3838"/>
                </a:solidFill>
                <a:latin typeface="Impact"/>
                <a:ea typeface="Impact"/>
                <a:cs typeface="Impact"/>
                <a:sym typeface="Impact"/>
              </a:rPr>
              <a:t>series</a:t>
            </a:r>
            <a:endParaRPr sz="6600">
              <a:solidFill>
                <a:srgbClr val="3A3838"/>
              </a:solidFill>
              <a:latin typeface="Impact"/>
              <a:ea typeface="Impact"/>
              <a:cs typeface="Impact"/>
              <a:sym typeface="Impact"/>
            </a:endParaRPr>
          </a:p>
        </p:txBody>
      </p:sp>
      <p:grpSp>
        <p:nvGrpSpPr>
          <p:cNvPr id="91" name="Google Shape;91;p1"/>
          <p:cNvGrpSpPr/>
          <p:nvPr/>
        </p:nvGrpSpPr>
        <p:grpSpPr>
          <a:xfrm>
            <a:off x="-56271" y="0"/>
            <a:ext cx="8473721" cy="6921305"/>
            <a:chOff x="-56271" y="0"/>
            <a:chExt cx="8473721" cy="6921305"/>
          </a:xfrm>
        </p:grpSpPr>
        <p:sp>
          <p:nvSpPr>
            <p:cNvPr id="92" name="Google Shape;92;p1"/>
            <p:cNvSpPr/>
            <p:nvPr/>
          </p:nvSpPr>
          <p:spPr>
            <a:xfrm>
              <a:off x="4548097" y="0"/>
              <a:ext cx="1828800" cy="6863447"/>
            </a:xfrm>
            <a:prstGeom prst="rect">
              <a:avLst/>
            </a:prstGeom>
            <a:solidFill>
              <a:srgbClr val="7F7F7F">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 name="Google Shape;93;p1"/>
            <p:cNvSpPr/>
            <p:nvPr/>
          </p:nvSpPr>
          <p:spPr>
            <a:xfrm>
              <a:off x="493401" y="0"/>
              <a:ext cx="1828800" cy="6863447"/>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 name="Google Shape;94;p1"/>
            <p:cNvSpPr/>
            <p:nvPr/>
          </p:nvSpPr>
          <p:spPr>
            <a:xfrm>
              <a:off x="2523727" y="5447"/>
              <a:ext cx="1828800" cy="6858000"/>
            </a:xfrm>
            <a:prstGeom prst="rect">
              <a:avLst/>
            </a:prstGeom>
            <a:solidFill>
              <a:srgbClr val="5B9BD5">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95" name="Google Shape;95;p1"/>
            <p:cNvPicPr preferRelativeResize="0"/>
            <p:nvPr/>
          </p:nvPicPr>
          <p:blipFill rotWithShape="1">
            <a:blip r:embed="rId3">
              <a:alphaModFix/>
            </a:blip>
            <a:srcRect b="24003" l="3020" r="0" t="0"/>
            <a:stretch/>
          </p:blipFill>
          <p:spPr>
            <a:xfrm>
              <a:off x="-56271" y="2510172"/>
              <a:ext cx="8473721" cy="4411133"/>
            </a:xfrm>
            <a:prstGeom prst="rect">
              <a:avLst/>
            </a:prstGeom>
            <a:noFill/>
            <a:ln>
              <a:noFill/>
            </a:ln>
          </p:spPr>
        </p:pic>
        <p:pic>
          <p:nvPicPr>
            <p:cNvPr id="96" name="Google Shape;96;p1"/>
            <p:cNvPicPr preferRelativeResize="0"/>
            <p:nvPr/>
          </p:nvPicPr>
          <p:blipFill rotWithShape="1">
            <a:blip r:embed="rId4">
              <a:alphaModFix/>
            </a:blip>
            <a:srcRect b="0" l="0" r="0" t="0"/>
            <a:stretch/>
          </p:blipFill>
          <p:spPr>
            <a:xfrm>
              <a:off x="3220041" y="3793503"/>
              <a:ext cx="914400" cy="914400"/>
            </a:xfrm>
            <a:prstGeom prst="hexagon">
              <a:avLst>
                <a:gd fmla="val 25000" name="adj"/>
                <a:gd fmla="val 115470" name="vf"/>
              </a:avLst>
            </a:prstGeom>
            <a:solidFill>
              <a:schemeClr val="lt1"/>
            </a:solidFill>
            <a:ln cap="flat" cmpd="sng" w="9525">
              <a:solidFill>
                <a:schemeClr val="accent3"/>
              </a:solidFill>
              <a:prstDash val="solid"/>
              <a:round/>
              <a:headEnd len="sm" w="sm" type="none"/>
              <a:tailEnd len="sm" w="sm" type="none"/>
            </a:ln>
          </p:spPr>
        </p:pic>
        <p:pic>
          <p:nvPicPr>
            <p:cNvPr id="97" name="Google Shape;97;p1"/>
            <p:cNvPicPr preferRelativeResize="0"/>
            <p:nvPr/>
          </p:nvPicPr>
          <p:blipFill rotWithShape="1">
            <a:blip r:embed="rId5">
              <a:alphaModFix/>
            </a:blip>
            <a:srcRect b="0" l="0" r="0" t="0"/>
            <a:stretch/>
          </p:blipFill>
          <p:spPr>
            <a:xfrm>
              <a:off x="264323" y="1888673"/>
              <a:ext cx="914400" cy="919187"/>
            </a:xfrm>
            <a:prstGeom prst="hexagon">
              <a:avLst>
                <a:gd fmla="val 25000" name="adj"/>
                <a:gd fmla="val 115470" name="vf"/>
              </a:avLst>
            </a:prstGeom>
            <a:solidFill>
              <a:schemeClr val="lt1"/>
            </a:solidFill>
            <a:ln cap="flat" cmpd="sng" w="9525">
              <a:solidFill>
                <a:schemeClr val="accent2"/>
              </a:solidFill>
              <a:prstDash val="solid"/>
              <a:round/>
              <a:headEnd len="sm" w="sm" type="none"/>
              <a:tailEnd len="sm" w="sm" type="none"/>
            </a:ln>
          </p:spPr>
        </p:pic>
        <p:pic>
          <p:nvPicPr>
            <p:cNvPr id="98" name="Google Shape;98;p1"/>
            <p:cNvPicPr preferRelativeResize="0"/>
            <p:nvPr/>
          </p:nvPicPr>
          <p:blipFill rotWithShape="1">
            <a:blip r:embed="rId6">
              <a:alphaModFix/>
            </a:blip>
            <a:srcRect b="0" l="10277" r="10189" t="0"/>
            <a:stretch/>
          </p:blipFill>
          <p:spPr>
            <a:xfrm>
              <a:off x="3220041" y="2831617"/>
              <a:ext cx="914400" cy="919782"/>
            </a:xfrm>
            <a:prstGeom prst="hexagon">
              <a:avLst>
                <a:gd fmla="val 25000" name="adj"/>
                <a:gd fmla="val 115470" name="vf"/>
              </a:avLst>
            </a:prstGeom>
            <a:solidFill>
              <a:schemeClr val="lt1"/>
            </a:solidFill>
            <a:ln cap="flat" cmpd="sng" w="9525">
              <a:solidFill>
                <a:schemeClr val="accent1"/>
              </a:solidFill>
              <a:prstDash val="solid"/>
              <a:round/>
              <a:headEnd len="sm" w="sm" type="none"/>
              <a:tailEnd len="sm" w="sm" type="none"/>
            </a:ln>
          </p:spPr>
        </p:pic>
        <p:pic>
          <p:nvPicPr>
            <p:cNvPr id="99" name="Google Shape;99;p1"/>
            <p:cNvPicPr preferRelativeResize="0"/>
            <p:nvPr/>
          </p:nvPicPr>
          <p:blipFill rotWithShape="1">
            <a:blip r:embed="rId7">
              <a:alphaModFix/>
            </a:blip>
            <a:srcRect b="0" l="0" r="0" t="0"/>
            <a:stretch/>
          </p:blipFill>
          <p:spPr>
            <a:xfrm>
              <a:off x="4680620" y="1891296"/>
              <a:ext cx="914400" cy="914400"/>
            </a:xfrm>
            <a:prstGeom prst="hexagon">
              <a:avLst>
                <a:gd fmla="val 25000" name="adj"/>
                <a:gd fmla="val 115470" name="vf"/>
              </a:avLst>
            </a:prstGeom>
            <a:solidFill>
              <a:schemeClr val="lt1"/>
            </a:solidFill>
            <a:ln cap="flat" cmpd="sng" w="9525">
              <a:solidFill>
                <a:srgbClr val="BF9000"/>
              </a:solidFill>
              <a:prstDash val="solid"/>
              <a:round/>
              <a:headEnd len="sm" w="sm" type="none"/>
              <a:tailEnd len="sm" w="sm" type="none"/>
            </a:ln>
          </p:spPr>
        </p:pic>
        <p:pic>
          <p:nvPicPr>
            <p:cNvPr id="100" name="Google Shape;100;p1"/>
            <p:cNvPicPr preferRelativeResize="0"/>
            <p:nvPr/>
          </p:nvPicPr>
          <p:blipFill rotWithShape="1">
            <a:blip r:embed="rId8">
              <a:alphaModFix/>
            </a:blip>
            <a:srcRect b="0" l="0" r="0" t="0"/>
            <a:stretch/>
          </p:blipFill>
          <p:spPr>
            <a:xfrm>
              <a:off x="1743392" y="2844859"/>
              <a:ext cx="914400" cy="914400"/>
            </a:xfrm>
            <a:prstGeom prst="hexagon">
              <a:avLst>
                <a:gd fmla="val 25000" name="adj"/>
                <a:gd fmla="val 115470" name="vf"/>
              </a:avLst>
            </a:prstGeom>
            <a:noFill/>
            <a:ln cap="flat" cmpd="sng" w="9525">
              <a:solidFill>
                <a:schemeClr val="accent5"/>
              </a:solidFill>
              <a:prstDash val="solid"/>
              <a:round/>
              <a:headEnd len="sm" w="sm" type="none"/>
              <a:tailEnd len="sm" w="sm" type="none"/>
            </a:ln>
          </p:spPr>
        </p:pic>
        <p:pic>
          <p:nvPicPr>
            <p:cNvPr id="101" name="Google Shape;101;p1"/>
            <p:cNvPicPr preferRelativeResize="0"/>
            <p:nvPr/>
          </p:nvPicPr>
          <p:blipFill rotWithShape="1">
            <a:blip r:embed="rId9">
              <a:alphaModFix/>
            </a:blip>
            <a:srcRect b="0" l="0" r="0" t="0"/>
            <a:stretch/>
          </p:blipFill>
          <p:spPr>
            <a:xfrm>
              <a:off x="2506290" y="3322918"/>
              <a:ext cx="914400" cy="885952"/>
            </a:xfrm>
            <a:prstGeom prst="hexagon">
              <a:avLst>
                <a:gd fmla="val 25000" name="adj"/>
                <a:gd fmla="val 115470" name="vf"/>
              </a:avLst>
            </a:prstGeom>
            <a:solidFill>
              <a:schemeClr val="lt1"/>
            </a:solidFill>
            <a:ln cap="flat" cmpd="sng" w="9525">
              <a:solidFill>
                <a:srgbClr val="92D050"/>
              </a:solidFill>
              <a:prstDash val="solid"/>
              <a:round/>
              <a:headEnd len="sm" w="sm" type="none"/>
              <a:tailEnd len="sm" w="sm" type="none"/>
            </a:ln>
          </p:spPr>
        </p:pic>
        <p:pic>
          <p:nvPicPr>
            <p:cNvPr id="102" name="Google Shape;102;p1"/>
            <p:cNvPicPr preferRelativeResize="0"/>
            <p:nvPr/>
          </p:nvPicPr>
          <p:blipFill rotWithShape="1">
            <a:blip r:embed="rId10">
              <a:alphaModFix/>
            </a:blip>
            <a:srcRect b="7397" l="0" r="0" t="0"/>
            <a:stretch/>
          </p:blipFill>
          <p:spPr>
            <a:xfrm>
              <a:off x="1010358" y="1403096"/>
              <a:ext cx="914400" cy="914505"/>
            </a:xfrm>
            <a:prstGeom prst="hexagon">
              <a:avLst>
                <a:gd fmla="val 25000" name="adj"/>
                <a:gd fmla="val 115470" name="vf"/>
              </a:avLst>
            </a:prstGeom>
            <a:noFill/>
            <a:ln cap="flat" cmpd="sng" w="9525">
              <a:solidFill>
                <a:schemeClr val="accent2"/>
              </a:solidFill>
              <a:prstDash val="solid"/>
              <a:round/>
              <a:headEnd len="sm" w="sm" type="none"/>
              <a:tailEnd len="sm" w="sm" type="none"/>
            </a:ln>
          </p:spPr>
        </p:pic>
        <p:pic>
          <p:nvPicPr>
            <p:cNvPr id="103" name="Google Shape;103;p1"/>
            <p:cNvPicPr preferRelativeResize="0"/>
            <p:nvPr/>
          </p:nvPicPr>
          <p:blipFill rotWithShape="1">
            <a:blip r:embed="rId11">
              <a:alphaModFix/>
            </a:blip>
            <a:srcRect b="0" l="0" r="0" t="0"/>
            <a:stretch/>
          </p:blipFill>
          <p:spPr>
            <a:xfrm>
              <a:off x="996907" y="2380004"/>
              <a:ext cx="914400" cy="914400"/>
            </a:xfrm>
            <a:prstGeom prst="hexagon">
              <a:avLst>
                <a:gd fmla="val 25000" name="adj"/>
                <a:gd fmla="val 115470" name="vf"/>
              </a:avLst>
            </a:prstGeom>
            <a:noFill/>
            <a:ln cap="flat" cmpd="sng" w="9525">
              <a:solidFill>
                <a:schemeClr val="accent4"/>
              </a:solidFill>
              <a:prstDash val="solid"/>
              <a:round/>
              <a:headEnd len="sm" w="sm" type="none"/>
              <a:tailEnd len="sm" w="sm" type="none"/>
            </a:ln>
          </p:spPr>
        </p:pic>
        <p:pic>
          <p:nvPicPr>
            <p:cNvPr id="104" name="Google Shape;104;p1"/>
            <p:cNvPicPr preferRelativeResize="0"/>
            <p:nvPr/>
          </p:nvPicPr>
          <p:blipFill rotWithShape="1">
            <a:blip r:embed="rId12">
              <a:alphaModFix/>
            </a:blip>
            <a:srcRect b="0" l="0" r="0" t="0"/>
            <a:stretch/>
          </p:blipFill>
          <p:spPr>
            <a:xfrm>
              <a:off x="1016545" y="3358897"/>
              <a:ext cx="914400" cy="914400"/>
            </a:xfrm>
            <a:prstGeom prst="hexagon">
              <a:avLst>
                <a:gd fmla="val 25000" name="adj"/>
                <a:gd fmla="val 115470" name="vf"/>
              </a:avLst>
            </a:prstGeom>
            <a:solidFill>
              <a:schemeClr val="lt1"/>
            </a:solidFill>
            <a:ln cap="flat" cmpd="sng" w="9525">
              <a:solidFill>
                <a:schemeClr val="accent6"/>
              </a:solidFill>
              <a:prstDash val="solid"/>
              <a:round/>
              <a:headEnd len="sm" w="sm" type="none"/>
              <a:tailEnd len="sm" w="sm" type="none"/>
            </a:ln>
          </p:spPr>
        </p:pic>
        <p:pic>
          <p:nvPicPr>
            <p:cNvPr id="105" name="Google Shape;105;p1"/>
            <p:cNvPicPr preferRelativeResize="0"/>
            <p:nvPr/>
          </p:nvPicPr>
          <p:blipFill rotWithShape="1">
            <a:blip r:embed="rId13">
              <a:alphaModFix/>
            </a:blip>
            <a:srcRect b="0" l="0" r="0" t="0"/>
            <a:stretch/>
          </p:blipFill>
          <p:spPr>
            <a:xfrm>
              <a:off x="3973484" y="1370126"/>
              <a:ext cx="914400" cy="914400"/>
            </a:xfrm>
            <a:prstGeom prst="hexagon">
              <a:avLst>
                <a:gd fmla="val 25000" name="adj"/>
                <a:gd fmla="val 115470" name="vf"/>
              </a:avLst>
            </a:prstGeom>
            <a:solidFill>
              <a:schemeClr val="lt1"/>
            </a:solidFill>
            <a:ln cap="flat" cmpd="sng" w="9525">
              <a:solidFill>
                <a:schemeClr val="accent5"/>
              </a:solidFill>
              <a:prstDash val="solid"/>
              <a:round/>
              <a:headEnd len="sm" w="sm" type="none"/>
              <a:tailEnd len="sm" w="sm" type="none"/>
            </a:ln>
          </p:spPr>
        </p:pic>
        <p:pic>
          <p:nvPicPr>
            <p:cNvPr id="106" name="Google Shape;106;p1"/>
            <p:cNvPicPr preferRelativeResize="0"/>
            <p:nvPr/>
          </p:nvPicPr>
          <p:blipFill rotWithShape="1">
            <a:blip r:embed="rId14">
              <a:alphaModFix/>
            </a:blip>
            <a:srcRect b="0" l="0" r="0" t="0"/>
            <a:stretch/>
          </p:blipFill>
          <p:spPr>
            <a:xfrm>
              <a:off x="1756816" y="1872639"/>
              <a:ext cx="914400" cy="914400"/>
            </a:xfrm>
            <a:prstGeom prst="hexagon">
              <a:avLst>
                <a:gd fmla="val 25000" name="adj"/>
                <a:gd fmla="val 115470" name="vf"/>
              </a:avLst>
            </a:prstGeom>
            <a:solidFill>
              <a:schemeClr val="lt1"/>
            </a:solidFill>
            <a:ln cap="flat" cmpd="sng" w="9525">
              <a:solidFill>
                <a:srgbClr val="00B050"/>
              </a:solidFill>
              <a:prstDash val="solid"/>
              <a:round/>
              <a:headEnd len="sm" w="sm" type="none"/>
              <a:tailEnd len="sm" w="sm" type="none"/>
            </a:ln>
          </p:spPr>
        </p:pic>
        <p:pic>
          <p:nvPicPr>
            <p:cNvPr id="107" name="Google Shape;107;p1"/>
            <p:cNvPicPr preferRelativeResize="0"/>
            <p:nvPr/>
          </p:nvPicPr>
          <p:blipFill rotWithShape="1">
            <a:blip r:embed="rId15">
              <a:alphaModFix/>
            </a:blip>
            <a:srcRect b="0" l="0" r="0" t="0"/>
            <a:stretch/>
          </p:blipFill>
          <p:spPr>
            <a:xfrm>
              <a:off x="4684173" y="2842933"/>
              <a:ext cx="914400" cy="914400"/>
            </a:xfrm>
            <a:prstGeom prst="hexagon">
              <a:avLst>
                <a:gd fmla="val 25000" name="adj"/>
                <a:gd fmla="val 115470" name="vf"/>
              </a:avLst>
            </a:prstGeom>
            <a:solidFill>
              <a:schemeClr val="lt1"/>
            </a:solidFill>
            <a:ln cap="flat" cmpd="sng" w="9525">
              <a:solidFill>
                <a:srgbClr val="00B0F0"/>
              </a:solidFill>
              <a:prstDash val="solid"/>
              <a:round/>
              <a:headEnd len="sm" w="sm" type="none"/>
              <a:tailEnd len="sm" w="sm" type="none"/>
            </a:ln>
          </p:spPr>
        </p:pic>
        <p:pic>
          <p:nvPicPr>
            <p:cNvPr id="108" name="Google Shape;108;p1"/>
            <p:cNvPicPr preferRelativeResize="0"/>
            <p:nvPr/>
          </p:nvPicPr>
          <p:blipFill rotWithShape="1">
            <a:blip r:embed="rId16">
              <a:alphaModFix/>
            </a:blip>
            <a:srcRect b="0" l="0" r="0" t="0"/>
            <a:stretch/>
          </p:blipFill>
          <p:spPr>
            <a:xfrm>
              <a:off x="5430633" y="2372909"/>
              <a:ext cx="914400" cy="914400"/>
            </a:xfrm>
            <a:prstGeom prst="hexagon">
              <a:avLst>
                <a:gd fmla="val 25000" name="adj"/>
                <a:gd fmla="val 115470" name="vf"/>
              </a:avLst>
            </a:prstGeom>
            <a:solidFill>
              <a:schemeClr val="lt1"/>
            </a:solidFill>
            <a:ln cap="flat" cmpd="sng" w="9525">
              <a:solidFill>
                <a:srgbClr val="BFBFBF"/>
              </a:solidFill>
              <a:prstDash val="solid"/>
              <a:round/>
              <a:headEnd len="sm" w="sm" type="none"/>
              <a:tailEnd len="sm" w="sm" type="none"/>
            </a:ln>
          </p:spPr>
        </p:pic>
        <p:pic>
          <p:nvPicPr>
            <p:cNvPr id="109" name="Google Shape;109;p1"/>
            <p:cNvPicPr preferRelativeResize="0"/>
            <p:nvPr/>
          </p:nvPicPr>
          <p:blipFill rotWithShape="1">
            <a:blip r:embed="rId17">
              <a:alphaModFix/>
            </a:blip>
            <a:srcRect b="0" l="0" r="0" t="0"/>
            <a:stretch/>
          </p:blipFill>
          <p:spPr>
            <a:xfrm>
              <a:off x="2484098" y="2347034"/>
              <a:ext cx="914400" cy="914400"/>
            </a:xfrm>
            <a:prstGeom prst="hexagon">
              <a:avLst>
                <a:gd fmla="val 25000" name="adj"/>
                <a:gd fmla="val 115470" name="vf"/>
              </a:avLst>
            </a:prstGeom>
            <a:solidFill>
              <a:schemeClr val="lt1"/>
            </a:solidFill>
            <a:ln cap="flat" cmpd="sng" w="9525">
              <a:solidFill>
                <a:srgbClr val="7F6000"/>
              </a:solidFill>
              <a:prstDash val="solid"/>
              <a:round/>
              <a:headEnd len="sm" w="sm" type="none"/>
              <a:tailEnd len="sm" w="sm" type="none"/>
            </a:ln>
          </p:spPr>
        </p:pic>
        <p:pic>
          <p:nvPicPr>
            <p:cNvPr id="110" name="Google Shape;110;p1"/>
            <p:cNvPicPr preferRelativeResize="0"/>
            <p:nvPr/>
          </p:nvPicPr>
          <p:blipFill rotWithShape="1">
            <a:blip r:embed="rId18">
              <a:alphaModFix/>
            </a:blip>
            <a:srcRect b="0" l="0" r="0" t="0"/>
            <a:stretch/>
          </p:blipFill>
          <p:spPr>
            <a:xfrm>
              <a:off x="3955984" y="3323938"/>
              <a:ext cx="914400" cy="914400"/>
            </a:xfrm>
            <a:prstGeom prst="hexagon">
              <a:avLst>
                <a:gd fmla="val 25000" name="adj"/>
                <a:gd fmla="val 115470" name="vf"/>
              </a:avLst>
            </a:prstGeom>
            <a:solidFill>
              <a:schemeClr val="lt1"/>
            </a:solidFill>
            <a:ln cap="flat" cmpd="sng" w="9525">
              <a:solidFill>
                <a:srgbClr val="92D050"/>
              </a:solidFill>
              <a:prstDash val="solid"/>
              <a:round/>
              <a:headEnd len="sm" w="sm" type="none"/>
              <a:tailEnd len="sm" w="sm" type="none"/>
            </a:ln>
          </p:spPr>
        </p:pic>
        <p:pic>
          <p:nvPicPr>
            <p:cNvPr id="111" name="Google Shape;111;p1"/>
            <p:cNvPicPr preferRelativeResize="0"/>
            <p:nvPr/>
          </p:nvPicPr>
          <p:blipFill rotWithShape="1">
            <a:blip r:embed="rId19">
              <a:alphaModFix/>
            </a:blip>
            <a:srcRect b="0" l="0" r="0" t="0"/>
            <a:stretch/>
          </p:blipFill>
          <p:spPr>
            <a:xfrm>
              <a:off x="3223596" y="1856226"/>
              <a:ext cx="917965" cy="914400"/>
            </a:xfrm>
            <a:prstGeom prst="hexagon">
              <a:avLst>
                <a:gd fmla="val 25000" name="adj"/>
                <a:gd fmla="val 115470" name="vf"/>
              </a:avLst>
            </a:prstGeom>
            <a:solidFill>
              <a:schemeClr val="lt1"/>
            </a:solidFill>
            <a:ln cap="flat" cmpd="sng" w="9525">
              <a:solidFill>
                <a:schemeClr val="accent4"/>
              </a:solidFill>
              <a:prstDash val="solid"/>
              <a:round/>
              <a:headEnd len="sm" w="sm" type="none"/>
              <a:tailEnd len="sm" w="sm" type="none"/>
            </a:ln>
          </p:spPr>
        </p:pic>
        <p:sp>
          <p:nvSpPr>
            <p:cNvPr id="112" name="Google Shape;112;p1"/>
            <p:cNvSpPr/>
            <p:nvPr/>
          </p:nvSpPr>
          <p:spPr>
            <a:xfrm>
              <a:off x="2477138" y="1377974"/>
              <a:ext cx="914400" cy="914400"/>
            </a:xfrm>
            <a:prstGeom prst="hexagon">
              <a:avLst>
                <a:gd fmla="val 25000" name="adj"/>
                <a:gd fmla="val 115470" name="vf"/>
              </a:avLst>
            </a:prstGeom>
            <a:gradFill>
              <a:gsLst>
                <a:gs pos="0">
                  <a:srgbClr val="AFAFAF"/>
                </a:gs>
                <a:gs pos="50000">
                  <a:schemeClr val="accent3"/>
                </a:gs>
                <a:gs pos="100000">
                  <a:srgbClr val="919191"/>
                </a:gs>
              </a:gsLst>
              <a:lin ang="5400000" scaled="0"/>
            </a:gra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 name="Google Shape;113;p1"/>
            <p:cNvSpPr/>
            <p:nvPr/>
          </p:nvSpPr>
          <p:spPr>
            <a:xfrm>
              <a:off x="264871" y="2865718"/>
              <a:ext cx="914400" cy="914400"/>
            </a:xfrm>
            <a:prstGeom prst="hexagon">
              <a:avLst>
                <a:gd fmla="val 25000" name="adj"/>
                <a:gd fmla="val 115470" name="vf"/>
              </a:avLst>
            </a:prstGeom>
            <a:gradFill>
              <a:gsLst>
                <a:gs pos="0">
                  <a:srgbClr val="AFAFAF"/>
                </a:gs>
                <a:gs pos="50000">
                  <a:schemeClr val="accent3"/>
                </a:gs>
                <a:gs pos="100000">
                  <a:srgbClr val="919191"/>
                </a:gs>
              </a:gsLst>
              <a:lin ang="5400000" scaled="0"/>
            </a:gra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 name="Google Shape;114;p1"/>
            <p:cNvSpPr/>
            <p:nvPr/>
          </p:nvSpPr>
          <p:spPr>
            <a:xfrm>
              <a:off x="1767354" y="3809652"/>
              <a:ext cx="914400" cy="914400"/>
            </a:xfrm>
            <a:prstGeom prst="hexagon">
              <a:avLst>
                <a:gd fmla="val 25000" name="adj"/>
                <a:gd fmla="val 115470" name="vf"/>
              </a:avLst>
            </a:prstGeom>
            <a:gradFill>
              <a:gsLst>
                <a:gs pos="0">
                  <a:srgbClr val="AFAFAF"/>
                </a:gs>
                <a:gs pos="50000">
                  <a:schemeClr val="accent3"/>
                </a:gs>
                <a:gs pos="100000">
                  <a:srgbClr val="919191"/>
                </a:gs>
              </a:gsLst>
              <a:lin ang="5400000" scaled="0"/>
            </a:gra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5" name="Google Shape;115;p1"/>
            <p:cNvSpPr/>
            <p:nvPr/>
          </p:nvSpPr>
          <p:spPr>
            <a:xfrm>
              <a:off x="4670860" y="3793503"/>
              <a:ext cx="914400" cy="914400"/>
            </a:xfrm>
            <a:prstGeom prst="hexagon">
              <a:avLst>
                <a:gd fmla="val 25000" name="adj"/>
                <a:gd fmla="val 115470" name="vf"/>
              </a:avLst>
            </a:prstGeom>
            <a:gradFill>
              <a:gsLst>
                <a:gs pos="0">
                  <a:srgbClr val="AFAFAF"/>
                </a:gs>
                <a:gs pos="50000">
                  <a:schemeClr val="accent3"/>
                </a:gs>
                <a:gs pos="100000">
                  <a:srgbClr val="919191"/>
                </a:gs>
              </a:gsLst>
              <a:lin ang="5400000" scaled="0"/>
            </a:gra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16" name="Google Shape;116;p1"/>
            <p:cNvPicPr preferRelativeResize="0"/>
            <p:nvPr/>
          </p:nvPicPr>
          <p:blipFill rotWithShape="1">
            <a:blip r:embed="rId20">
              <a:alphaModFix/>
            </a:blip>
            <a:srcRect b="0" l="0" r="0" t="0"/>
            <a:stretch/>
          </p:blipFill>
          <p:spPr>
            <a:xfrm>
              <a:off x="5416175" y="3340380"/>
              <a:ext cx="914400" cy="914400"/>
            </a:xfrm>
            <a:prstGeom prst="hexagon">
              <a:avLst>
                <a:gd fmla="val 25000" name="adj"/>
                <a:gd fmla="val 115470" name="vf"/>
              </a:avLst>
            </a:prstGeom>
            <a:solidFill>
              <a:schemeClr val="lt1"/>
            </a:solidFill>
            <a:ln cap="flat" cmpd="sng" w="9525">
              <a:solidFill>
                <a:schemeClr val="dk2"/>
              </a:solidFill>
              <a:prstDash val="solid"/>
              <a:round/>
              <a:headEnd len="sm" w="sm" type="none"/>
              <a:tailEnd len="sm" w="sm" type="none"/>
            </a:ln>
          </p:spPr>
        </p:pic>
        <p:sp>
          <p:nvSpPr>
            <p:cNvPr id="117" name="Google Shape;117;p1"/>
            <p:cNvSpPr/>
            <p:nvPr/>
          </p:nvSpPr>
          <p:spPr>
            <a:xfrm>
              <a:off x="3930606" y="2342384"/>
              <a:ext cx="914400" cy="914400"/>
            </a:xfrm>
            <a:prstGeom prst="hexagon">
              <a:avLst>
                <a:gd fmla="val 25000" name="adj"/>
                <a:gd fmla="val 115470" name="vf"/>
              </a:avLst>
            </a:prstGeom>
            <a:gradFill>
              <a:gsLst>
                <a:gs pos="0">
                  <a:srgbClr val="AFAFAF"/>
                </a:gs>
                <a:gs pos="50000">
                  <a:schemeClr val="accent3"/>
                </a:gs>
                <a:gs pos="100000">
                  <a:srgbClr val="919191"/>
                </a:gs>
              </a:gsLst>
              <a:lin ang="5400000" scaled="0"/>
            </a:gra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 name="Google Shape;118;p1"/>
            <p:cNvSpPr/>
            <p:nvPr/>
          </p:nvSpPr>
          <p:spPr>
            <a:xfrm>
              <a:off x="6143495" y="2866738"/>
              <a:ext cx="914400" cy="914400"/>
            </a:xfrm>
            <a:prstGeom prst="hexagon">
              <a:avLst>
                <a:gd fmla="val 25000" name="adj"/>
                <a:gd fmla="val 115470" name="vf"/>
              </a:avLst>
            </a:prstGeom>
            <a:gradFill>
              <a:gsLst>
                <a:gs pos="0">
                  <a:srgbClr val="AFAFAF"/>
                </a:gs>
                <a:gs pos="50000">
                  <a:schemeClr val="accent3"/>
                </a:gs>
                <a:gs pos="100000">
                  <a:srgbClr val="919191"/>
                </a:gs>
              </a:gsLst>
              <a:lin ang="5400000" scaled="0"/>
            </a:gra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119" name="Google Shape;119;p1"/>
          <p:cNvSpPr txBox="1"/>
          <p:nvPr/>
        </p:nvSpPr>
        <p:spPr>
          <a:xfrm>
            <a:off x="7146311" y="3564848"/>
            <a:ext cx="445680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A3838"/>
                </a:solidFill>
                <a:latin typeface="Calibri"/>
                <a:ea typeface="Calibri"/>
                <a:cs typeface="Calibri"/>
                <a:sym typeface="Calibri"/>
              </a:rPr>
              <a:t>New Business and Underwriting</a:t>
            </a:r>
            <a:endParaRPr/>
          </a:p>
        </p:txBody>
      </p:sp>
      <p:sp>
        <p:nvSpPr>
          <p:cNvPr id="120" name="Google Shape;120;p1"/>
          <p:cNvSpPr/>
          <p:nvPr/>
        </p:nvSpPr>
        <p:spPr>
          <a:xfrm>
            <a:off x="6376897" y="5339025"/>
            <a:ext cx="5451875" cy="400110"/>
          </a:xfrm>
          <a:prstGeom prst="homePlate">
            <a:avLst>
              <a:gd fmla="val 50000" name="adj"/>
            </a:avLst>
          </a:prstGeom>
          <a:solidFill>
            <a:srgbClr val="BBD6EE">
              <a:alpha val="49803"/>
            </a:srgbClr>
          </a:solidFill>
          <a:ln cap="flat" cmpd="sng" w="9525">
            <a:solidFill>
              <a:srgbClr val="E1EFD8"/>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Module 1 – New Business Application Processing </a:t>
            </a:r>
            <a:endParaRPr b="1"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1000"/>
                                        <p:tgtEl>
                                          <p:spTgt spid="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1000"/>
                                        <p:tgtEl>
                                          <p:spTgt spid="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1000"/>
                                        <p:tgtEl>
                                          <p:spTgt spid="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500"/>
                                        <p:tgtEl>
                                          <p:spTgt spid="1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0"/>
                                        </p:tgtEl>
                                        <p:attrNameLst>
                                          <p:attrName>style.visibility</p:attrName>
                                        </p:attrNameLst>
                                      </p:cBhvr>
                                      <p:to>
                                        <p:strVal val="visible"/>
                                      </p:to>
                                    </p:set>
                                    <p:anim calcmode="lin" valueType="num">
                                      <p:cBhvr additive="base">
                                        <p:cTn dur="500"/>
                                        <p:tgtEl>
                                          <p:spTgt spid="12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
          <p:cNvSpPr txBox="1"/>
          <p:nvPr/>
        </p:nvSpPr>
        <p:spPr>
          <a:xfrm>
            <a:off x="327911" y="5728222"/>
            <a:ext cx="1759226" cy="95410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MODULE </a:t>
            </a:r>
            <a:endParaRPr/>
          </a:p>
          <a:p>
            <a:pPr indent="0" lvl="0" marL="0" marR="0" rtl="0" algn="l">
              <a:spcBef>
                <a:spcPts val="0"/>
              </a:spcBef>
              <a:spcAft>
                <a:spcPts val="0"/>
              </a:spcAft>
              <a:buNone/>
            </a:pPr>
            <a:r>
              <a:rPr b="1" lang="en-US" sz="2800">
                <a:solidFill>
                  <a:schemeClr val="dk1"/>
                </a:solidFill>
                <a:latin typeface="Calibri"/>
                <a:ea typeface="Calibri"/>
                <a:cs typeface="Calibri"/>
                <a:sym typeface="Calibri"/>
              </a:rPr>
              <a:t>OVERVIEW</a:t>
            </a:r>
            <a:endParaRPr b="1" sz="2800">
              <a:solidFill>
                <a:schemeClr val="dk1"/>
              </a:solidFill>
              <a:latin typeface="Calibri"/>
              <a:ea typeface="Calibri"/>
              <a:cs typeface="Calibri"/>
              <a:sym typeface="Calibri"/>
            </a:endParaRPr>
          </a:p>
        </p:txBody>
      </p:sp>
      <p:sp>
        <p:nvSpPr>
          <p:cNvPr id="127" name="Google Shape;127;p2"/>
          <p:cNvSpPr/>
          <p:nvPr/>
        </p:nvSpPr>
        <p:spPr>
          <a:xfrm>
            <a:off x="162665" y="5029200"/>
            <a:ext cx="182880" cy="1828800"/>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128" name="Google Shape;128;p2"/>
          <p:cNvGrpSpPr/>
          <p:nvPr/>
        </p:nvGrpSpPr>
        <p:grpSpPr>
          <a:xfrm>
            <a:off x="1659835" y="349816"/>
            <a:ext cx="10532165" cy="6508183"/>
            <a:chOff x="1659835" y="349816"/>
            <a:chExt cx="10532165" cy="6508183"/>
          </a:xfrm>
        </p:grpSpPr>
        <p:sp>
          <p:nvSpPr>
            <p:cNvPr id="129" name="Google Shape;129;p2"/>
            <p:cNvSpPr/>
            <p:nvPr/>
          </p:nvSpPr>
          <p:spPr>
            <a:xfrm>
              <a:off x="8100391" y="3969933"/>
              <a:ext cx="4091609" cy="2888066"/>
            </a:xfrm>
            <a:prstGeom prst="rect">
              <a:avLst/>
            </a:prstGeom>
            <a:solidFill>
              <a:srgbClr val="5B9BD5">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 name="Google Shape;130;p2"/>
            <p:cNvSpPr/>
            <p:nvPr/>
          </p:nvSpPr>
          <p:spPr>
            <a:xfrm>
              <a:off x="1659835" y="349816"/>
              <a:ext cx="2636426" cy="1138773"/>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3200">
                  <a:solidFill>
                    <a:schemeClr val="dk1"/>
                  </a:solidFill>
                  <a:latin typeface="Calibri"/>
                  <a:ea typeface="Calibri"/>
                  <a:cs typeface="Calibri"/>
                  <a:sym typeface="Calibri"/>
                </a:rPr>
                <a:t>01</a:t>
              </a:r>
              <a:endParaRPr/>
            </a:p>
            <a:p>
              <a:pPr indent="0" lvl="0" marL="0" marR="0" rtl="0" algn="r">
                <a:spcBef>
                  <a:spcPts val="0"/>
                </a:spcBef>
                <a:spcAft>
                  <a:spcPts val="0"/>
                </a:spcAft>
                <a:buNone/>
              </a:pPr>
              <a:r>
                <a:rPr lang="en-US" sz="1800">
                  <a:solidFill>
                    <a:schemeClr val="dk1"/>
                  </a:solidFill>
                  <a:latin typeface="Calibri"/>
                  <a:ea typeface="Calibri"/>
                  <a:cs typeface="Calibri"/>
                  <a:sym typeface="Calibri"/>
                </a:rPr>
                <a:t>GETTING TO KNOW YOUR </a:t>
              </a:r>
              <a:endParaRPr sz="1800">
                <a:solidFill>
                  <a:schemeClr val="dk1"/>
                </a:solidFill>
                <a:latin typeface="Calibri"/>
                <a:ea typeface="Calibri"/>
                <a:cs typeface="Calibri"/>
                <a:sym typeface="Calibri"/>
              </a:endParaRPr>
            </a:p>
            <a:p>
              <a:pPr indent="0" lvl="0" marL="0" marR="0" rtl="0" algn="r">
                <a:spcBef>
                  <a:spcPts val="0"/>
                </a:spcBef>
                <a:spcAft>
                  <a:spcPts val="0"/>
                </a:spcAft>
                <a:buNone/>
              </a:pPr>
              <a:r>
                <a:rPr lang="en-US" sz="1800">
                  <a:solidFill>
                    <a:schemeClr val="dk1"/>
                  </a:solidFill>
                  <a:latin typeface="Calibri"/>
                  <a:ea typeface="Calibri"/>
                  <a:cs typeface="Calibri"/>
                  <a:sym typeface="Calibri"/>
                </a:rPr>
                <a:t>NB &amp; UW PARTNERS </a:t>
              </a:r>
              <a:endParaRPr/>
            </a:p>
          </p:txBody>
        </p:sp>
        <p:sp>
          <p:nvSpPr>
            <p:cNvPr id="131" name="Google Shape;131;p2"/>
            <p:cNvSpPr/>
            <p:nvPr/>
          </p:nvSpPr>
          <p:spPr>
            <a:xfrm>
              <a:off x="2087137" y="1759190"/>
              <a:ext cx="2182970" cy="1138773"/>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3200">
                  <a:solidFill>
                    <a:schemeClr val="dk1"/>
                  </a:solidFill>
                  <a:latin typeface="Calibri"/>
                  <a:ea typeface="Calibri"/>
                  <a:cs typeface="Calibri"/>
                  <a:sym typeface="Calibri"/>
                </a:rPr>
                <a:t>02</a:t>
              </a:r>
              <a:endParaRPr/>
            </a:p>
            <a:p>
              <a:pPr indent="0" lvl="0" marL="0" marR="0" rtl="0" algn="r">
                <a:spcBef>
                  <a:spcPts val="0"/>
                </a:spcBef>
                <a:spcAft>
                  <a:spcPts val="0"/>
                </a:spcAft>
                <a:buNone/>
              </a:pPr>
              <a:r>
                <a:rPr lang="en-US" sz="1800">
                  <a:solidFill>
                    <a:schemeClr val="dk1"/>
                  </a:solidFill>
                  <a:latin typeface="Calibri"/>
                  <a:ea typeface="Calibri"/>
                  <a:cs typeface="Calibri"/>
                  <a:sym typeface="Calibri"/>
                </a:rPr>
                <a:t>DIFFERENT TYPES OF </a:t>
              </a:r>
              <a:endParaRPr/>
            </a:p>
            <a:p>
              <a:pPr indent="0" lvl="0" marL="0" marR="0" rtl="0" algn="r">
                <a:spcBef>
                  <a:spcPts val="0"/>
                </a:spcBef>
                <a:spcAft>
                  <a:spcPts val="0"/>
                </a:spcAft>
                <a:buNone/>
              </a:pPr>
              <a:r>
                <a:rPr lang="en-US" sz="1800">
                  <a:solidFill>
                    <a:schemeClr val="dk1"/>
                  </a:solidFill>
                  <a:latin typeface="Calibri"/>
                  <a:ea typeface="Calibri"/>
                  <a:cs typeface="Calibri"/>
                  <a:sym typeface="Calibri"/>
                </a:rPr>
                <a:t>APPLICATION FORMS</a:t>
              </a:r>
              <a:endParaRPr sz="1800">
                <a:solidFill>
                  <a:schemeClr val="dk1"/>
                </a:solidFill>
                <a:latin typeface="Calibri"/>
                <a:ea typeface="Calibri"/>
                <a:cs typeface="Calibri"/>
                <a:sym typeface="Calibri"/>
              </a:endParaRPr>
            </a:p>
          </p:txBody>
        </p:sp>
        <p:sp>
          <p:nvSpPr>
            <p:cNvPr id="132" name="Google Shape;132;p2"/>
            <p:cNvSpPr/>
            <p:nvPr/>
          </p:nvSpPr>
          <p:spPr>
            <a:xfrm>
              <a:off x="2075981" y="3070386"/>
              <a:ext cx="2203232" cy="86177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3200">
                  <a:solidFill>
                    <a:schemeClr val="dk1"/>
                  </a:solidFill>
                  <a:latin typeface="Calibri"/>
                  <a:ea typeface="Calibri"/>
                  <a:cs typeface="Calibri"/>
                  <a:sym typeface="Calibri"/>
                </a:rPr>
                <a:t>03</a:t>
              </a:r>
              <a:endParaRPr/>
            </a:p>
            <a:p>
              <a:pPr indent="0" lvl="0" marL="0" marR="0" rtl="0" algn="r">
                <a:spcBef>
                  <a:spcPts val="0"/>
                </a:spcBef>
                <a:spcAft>
                  <a:spcPts val="0"/>
                </a:spcAft>
                <a:buNone/>
              </a:pPr>
              <a:r>
                <a:rPr lang="en-US" sz="1800">
                  <a:solidFill>
                    <a:schemeClr val="dk1"/>
                  </a:solidFill>
                  <a:latin typeface="Calibri"/>
                  <a:ea typeface="Calibri"/>
                  <a:cs typeface="Calibri"/>
                  <a:sym typeface="Calibri"/>
                </a:rPr>
                <a:t>REVIEW OF VALID IDS</a:t>
              </a:r>
              <a:endParaRPr sz="1800">
                <a:solidFill>
                  <a:schemeClr val="dk1"/>
                </a:solidFill>
                <a:latin typeface="Calibri"/>
                <a:ea typeface="Calibri"/>
                <a:cs typeface="Calibri"/>
                <a:sym typeface="Calibri"/>
              </a:endParaRPr>
            </a:p>
          </p:txBody>
        </p:sp>
        <p:sp>
          <p:nvSpPr>
            <p:cNvPr id="133" name="Google Shape;133;p2"/>
            <p:cNvSpPr/>
            <p:nvPr/>
          </p:nvSpPr>
          <p:spPr>
            <a:xfrm>
              <a:off x="2114553" y="4666327"/>
              <a:ext cx="2118265" cy="196977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3200">
                  <a:solidFill>
                    <a:schemeClr val="dk1"/>
                  </a:solidFill>
                  <a:latin typeface="Calibri"/>
                  <a:ea typeface="Calibri"/>
                  <a:cs typeface="Calibri"/>
                  <a:sym typeface="Calibri"/>
                </a:rPr>
                <a:t>04</a:t>
              </a:r>
              <a:endParaRPr/>
            </a:p>
            <a:p>
              <a:pPr indent="0" lvl="0" marL="0" marR="0" rtl="0" algn="r">
                <a:spcBef>
                  <a:spcPts val="0"/>
                </a:spcBef>
                <a:spcAft>
                  <a:spcPts val="0"/>
                </a:spcAft>
                <a:buNone/>
              </a:pPr>
              <a:r>
                <a:rPr lang="en-US" sz="1800">
                  <a:solidFill>
                    <a:schemeClr val="dk1"/>
                  </a:solidFill>
                  <a:latin typeface="Calibri"/>
                  <a:ea typeface="Calibri"/>
                  <a:cs typeface="Calibri"/>
                  <a:sym typeface="Calibri"/>
                </a:rPr>
                <a:t>COMMONLY OMITTED </a:t>
              </a:r>
              <a:endParaRPr/>
            </a:p>
            <a:p>
              <a:pPr indent="0" lvl="0" marL="0" marR="0" rtl="0" algn="r">
                <a:spcBef>
                  <a:spcPts val="0"/>
                </a:spcBef>
                <a:spcAft>
                  <a:spcPts val="0"/>
                </a:spcAft>
                <a:buNone/>
              </a:pPr>
              <a:r>
                <a:rPr lang="en-US" sz="1800">
                  <a:solidFill>
                    <a:schemeClr val="dk1"/>
                  </a:solidFill>
                  <a:latin typeface="Calibri"/>
                  <a:ea typeface="Calibri"/>
                  <a:cs typeface="Calibri"/>
                  <a:sym typeface="Calibri"/>
                </a:rPr>
                <a:t>QUESTIONS IN THE </a:t>
              </a:r>
              <a:endParaRPr/>
            </a:p>
            <a:p>
              <a:pPr indent="0" lvl="0" marL="0" marR="0" rtl="0" algn="r">
                <a:spcBef>
                  <a:spcPts val="0"/>
                </a:spcBef>
                <a:spcAft>
                  <a:spcPts val="0"/>
                </a:spcAft>
                <a:buNone/>
              </a:pPr>
              <a:r>
                <a:rPr lang="en-US" sz="1800">
                  <a:solidFill>
                    <a:schemeClr val="dk1"/>
                  </a:solidFill>
                  <a:latin typeface="Calibri"/>
                  <a:ea typeface="Calibri"/>
                  <a:cs typeface="Calibri"/>
                  <a:sym typeface="Calibri"/>
                </a:rPr>
                <a:t>APPLICATION FORMS</a:t>
              </a:r>
              <a:endParaRPr sz="1800">
                <a:solidFill>
                  <a:schemeClr val="dk1"/>
                </a:solidFill>
                <a:latin typeface="Calibri"/>
                <a:ea typeface="Calibri"/>
                <a:cs typeface="Calibri"/>
                <a:sym typeface="Calibri"/>
              </a:endParaRPr>
            </a:p>
          </p:txBody>
        </p:sp>
        <p:cxnSp>
          <p:nvCxnSpPr>
            <p:cNvPr id="134" name="Google Shape;134;p2"/>
            <p:cNvCxnSpPr/>
            <p:nvPr/>
          </p:nvCxnSpPr>
          <p:spPr>
            <a:xfrm>
              <a:off x="4355743" y="349816"/>
              <a:ext cx="575" cy="4671391"/>
            </a:xfrm>
            <a:prstGeom prst="straightConnector1">
              <a:avLst/>
            </a:prstGeom>
            <a:noFill/>
            <a:ln cap="flat" cmpd="sng" w="9525">
              <a:solidFill>
                <a:schemeClr val="dk1"/>
              </a:solidFill>
              <a:prstDash val="solid"/>
              <a:miter lim="800000"/>
              <a:headEnd len="sm" w="sm" type="none"/>
              <a:tailEnd len="sm" w="sm" type="none"/>
            </a:ln>
          </p:spPr>
        </p:cxnSp>
        <p:sp>
          <p:nvSpPr>
            <p:cNvPr id="135" name="Google Shape;135;p2"/>
            <p:cNvSpPr/>
            <p:nvPr/>
          </p:nvSpPr>
          <p:spPr>
            <a:xfrm>
              <a:off x="7291513" y="349816"/>
              <a:ext cx="2365513" cy="141577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3200">
                  <a:solidFill>
                    <a:schemeClr val="dk1"/>
                  </a:solidFill>
                  <a:latin typeface="Calibri"/>
                  <a:ea typeface="Calibri"/>
                  <a:cs typeface="Calibri"/>
                  <a:sym typeface="Calibri"/>
                </a:rPr>
                <a:t>05</a:t>
              </a:r>
              <a:endParaRPr/>
            </a:p>
            <a:p>
              <a:pPr indent="0" lvl="0" marL="0" marR="0" rtl="0" algn="r">
                <a:spcBef>
                  <a:spcPts val="0"/>
                </a:spcBef>
                <a:spcAft>
                  <a:spcPts val="0"/>
                </a:spcAft>
                <a:buNone/>
              </a:pPr>
              <a:r>
                <a:rPr lang="en-US" sz="1800">
                  <a:solidFill>
                    <a:schemeClr val="dk1"/>
                  </a:solidFill>
                  <a:latin typeface="Calibri"/>
                  <a:ea typeface="Calibri"/>
                  <a:cs typeface="Calibri"/>
                  <a:sym typeface="Calibri"/>
                </a:rPr>
                <a:t>APPLICATION PROCESSING AND TURN AROUND TIME</a:t>
              </a:r>
              <a:endParaRPr sz="1800">
                <a:solidFill>
                  <a:schemeClr val="dk1"/>
                </a:solidFill>
                <a:latin typeface="Calibri"/>
                <a:ea typeface="Calibri"/>
                <a:cs typeface="Calibri"/>
                <a:sym typeface="Calibri"/>
              </a:endParaRPr>
            </a:p>
          </p:txBody>
        </p:sp>
        <p:sp>
          <p:nvSpPr>
            <p:cNvPr id="136" name="Google Shape;136;p2"/>
            <p:cNvSpPr/>
            <p:nvPr/>
          </p:nvSpPr>
          <p:spPr>
            <a:xfrm>
              <a:off x="7612050" y="1759190"/>
              <a:ext cx="2018822" cy="1138773"/>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3200">
                  <a:solidFill>
                    <a:schemeClr val="dk1"/>
                  </a:solidFill>
                  <a:latin typeface="Calibri"/>
                  <a:ea typeface="Calibri"/>
                  <a:cs typeface="Calibri"/>
                  <a:sym typeface="Calibri"/>
                </a:rPr>
                <a:t>06</a:t>
              </a:r>
              <a:endParaRPr/>
            </a:p>
            <a:p>
              <a:pPr indent="0" lvl="0" marL="0" marR="0" rtl="0" algn="r">
                <a:spcBef>
                  <a:spcPts val="0"/>
                </a:spcBef>
                <a:spcAft>
                  <a:spcPts val="0"/>
                </a:spcAft>
                <a:buNone/>
              </a:pPr>
              <a:r>
                <a:rPr lang="en-US" sz="1800">
                  <a:solidFill>
                    <a:schemeClr val="dk1"/>
                  </a:solidFill>
                  <a:latin typeface="Calibri"/>
                  <a:ea typeface="Calibri"/>
                  <a:cs typeface="Calibri"/>
                  <a:sym typeface="Calibri"/>
                </a:rPr>
                <a:t>SCORECARD: OURS </a:t>
              </a:r>
              <a:endParaRPr/>
            </a:p>
            <a:p>
              <a:pPr indent="0" lvl="0" marL="0" marR="0" rtl="0" algn="r">
                <a:spcBef>
                  <a:spcPts val="0"/>
                </a:spcBef>
                <a:spcAft>
                  <a:spcPts val="0"/>
                </a:spcAft>
                <a:buNone/>
              </a:pPr>
              <a:r>
                <a:rPr lang="en-US" sz="1800">
                  <a:solidFill>
                    <a:schemeClr val="dk1"/>
                  </a:solidFill>
                  <a:latin typeface="Calibri"/>
                  <a:ea typeface="Calibri"/>
                  <a:cs typeface="Calibri"/>
                  <a:sym typeface="Calibri"/>
                </a:rPr>
                <a:t>AND YOURS</a:t>
              </a:r>
              <a:endParaRPr sz="1800">
                <a:solidFill>
                  <a:schemeClr val="dk1"/>
                </a:solidFill>
                <a:latin typeface="Calibri"/>
                <a:ea typeface="Calibri"/>
                <a:cs typeface="Calibri"/>
                <a:sym typeface="Calibri"/>
              </a:endParaRPr>
            </a:p>
          </p:txBody>
        </p:sp>
        <p:sp>
          <p:nvSpPr>
            <p:cNvPr id="137" name="Google Shape;137;p2"/>
            <p:cNvSpPr/>
            <p:nvPr/>
          </p:nvSpPr>
          <p:spPr>
            <a:xfrm>
              <a:off x="8987234" y="3070386"/>
              <a:ext cx="652744" cy="86177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3200">
                  <a:solidFill>
                    <a:schemeClr val="dk1"/>
                  </a:solidFill>
                  <a:latin typeface="Calibri"/>
                  <a:ea typeface="Calibri"/>
                  <a:cs typeface="Calibri"/>
                  <a:sym typeface="Calibri"/>
                </a:rPr>
                <a:t>07</a:t>
              </a:r>
              <a:endParaRPr/>
            </a:p>
            <a:p>
              <a:pPr indent="0" lvl="0" marL="0" marR="0" rtl="0" algn="r">
                <a:spcBef>
                  <a:spcPts val="0"/>
                </a:spcBef>
                <a:spcAft>
                  <a:spcPts val="0"/>
                </a:spcAft>
                <a:buNone/>
              </a:pPr>
              <a:r>
                <a:rPr lang="en-US" sz="1800">
                  <a:solidFill>
                    <a:schemeClr val="dk1"/>
                  </a:solidFill>
                  <a:latin typeface="Calibri"/>
                  <a:ea typeface="Calibri"/>
                  <a:cs typeface="Calibri"/>
                  <a:sym typeface="Calibri"/>
                </a:rPr>
                <a:t>QUIZ</a:t>
              </a:r>
              <a:endParaRPr sz="1800">
                <a:solidFill>
                  <a:schemeClr val="dk1"/>
                </a:solidFill>
                <a:latin typeface="Calibri"/>
                <a:ea typeface="Calibri"/>
                <a:cs typeface="Calibri"/>
                <a:sym typeface="Calibri"/>
              </a:endParaRPr>
            </a:p>
          </p:txBody>
        </p:sp>
        <p:cxnSp>
          <p:nvCxnSpPr>
            <p:cNvPr id="138" name="Google Shape;138;p2"/>
            <p:cNvCxnSpPr/>
            <p:nvPr/>
          </p:nvCxnSpPr>
          <p:spPr>
            <a:xfrm>
              <a:off x="9716508" y="349816"/>
              <a:ext cx="575" cy="4671391"/>
            </a:xfrm>
            <a:prstGeom prst="straightConnector1">
              <a:avLst/>
            </a:prstGeom>
            <a:noFill/>
            <a:ln cap="flat" cmpd="sng" w="9525">
              <a:solidFill>
                <a:schemeClr val="dk1"/>
              </a:solidFill>
              <a:prstDash val="solid"/>
              <a:miter lim="800000"/>
              <a:headEnd len="sm" w="sm" type="none"/>
              <a:tailEnd len="sm" w="sm" type="none"/>
            </a:ln>
          </p:spPr>
        </p:cxnSp>
        <p:sp>
          <p:nvSpPr>
            <p:cNvPr id="139" name="Google Shape;139;p2"/>
            <p:cNvSpPr/>
            <p:nvPr/>
          </p:nvSpPr>
          <p:spPr>
            <a:xfrm>
              <a:off x="4273413" y="550807"/>
              <a:ext cx="182880" cy="18288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 name="Google Shape;140;p2"/>
            <p:cNvSpPr/>
            <p:nvPr/>
          </p:nvSpPr>
          <p:spPr>
            <a:xfrm>
              <a:off x="4243309" y="1941788"/>
              <a:ext cx="182880" cy="18288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 name="Google Shape;141;p2"/>
            <p:cNvSpPr/>
            <p:nvPr/>
          </p:nvSpPr>
          <p:spPr>
            <a:xfrm>
              <a:off x="4264303" y="3271377"/>
              <a:ext cx="182880" cy="18288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 name="Google Shape;142;p2"/>
            <p:cNvSpPr/>
            <p:nvPr/>
          </p:nvSpPr>
          <p:spPr>
            <a:xfrm>
              <a:off x="4260234" y="4867208"/>
              <a:ext cx="182880" cy="18288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 name="Google Shape;143;p2"/>
            <p:cNvSpPr/>
            <p:nvPr/>
          </p:nvSpPr>
          <p:spPr>
            <a:xfrm>
              <a:off x="9657026" y="550807"/>
              <a:ext cx="182880" cy="18288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 name="Google Shape;144;p2"/>
            <p:cNvSpPr/>
            <p:nvPr/>
          </p:nvSpPr>
          <p:spPr>
            <a:xfrm>
              <a:off x="9626922" y="1941788"/>
              <a:ext cx="182880" cy="18288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5" name="Google Shape;145;p2"/>
            <p:cNvSpPr/>
            <p:nvPr/>
          </p:nvSpPr>
          <p:spPr>
            <a:xfrm>
              <a:off x="9636016" y="3271377"/>
              <a:ext cx="182880" cy="182880"/>
            </a:xfrm>
            <a:prstGeom prst="ellipse">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 name="Google Shape;146;p2"/>
            <p:cNvSpPr txBox="1"/>
            <p:nvPr/>
          </p:nvSpPr>
          <p:spPr>
            <a:xfrm>
              <a:off x="4515775" y="503703"/>
              <a:ext cx="2365513"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200">
                  <a:solidFill>
                    <a:srgbClr val="3A3838"/>
                  </a:solidFill>
                  <a:latin typeface="Calibri"/>
                  <a:ea typeface="Calibri"/>
                  <a:cs typeface="Calibri"/>
                  <a:sym typeface="Calibri"/>
                </a:rPr>
                <a:t>Table of Organization</a:t>
              </a:r>
              <a:endParaRPr/>
            </a:p>
            <a:p>
              <a:pPr indent="0" lvl="0" marL="0" marR="0" rtl="0" algn="l">
                <a:spcBef>
                  <a:spcPts val="0"/>
                </a:spcBef>
                <a:spcAft>
                  <a:spcPts val="0"/>
                </a:spcAft>
                <a:buNone/>
              </a:pPr>
              <a:r>
                <a:rPr i="1" lang="en-US" sz="1200">
                  <a:solidFill>
                    <a:srgbClr val="3A3838"/>
                  </a:solidFill>
                  <a:latin typeface="Calibri"/>
                  <a:ea typeface="Calibri"/>
                  <a:cs typeface="Calibri"/>
                  <a:sym typeface="Calibri"/>
                </a:rPr>
                <a:t>Sections &amp; Assignments </a:t>
              </a:r>
              <a:endParaRPr/>
            </a:p>
            <a:p>
              <a:pPr indent="0" lvl="0" marL="0" marR="0" rtl="0" algn="l">
                <a:spcBef>
                  <a:spcPts val="0"/>
                </a:spcBef>
                <a:spcAft>
                  <a:spcPts val="0"/>
                </a:spcAft>
                <a:buNone/>
              </a:pPr>
              <a:r>
                <a:rPr i="1" lang="en-US" sz="1200">
                  <a:solidFill>
                    <a:srgbClr val="3A3838"/>
                  </a:solidFill>
                  <a:latin typeface="Calibri"/>
                  <a:ea typeface="Calibri"/>
                  <a:cs typeface="Calibri"/>
                  <a:sym typeface="Calibri"/>
                </a:rPr>
                <a:t>NB &amp; UW Personnel Demographics </a:t>
              </a:r>
              <a:endParaRPr/>
            </a:p>
            <a:p>
              <a:pPr indent="0" lvl="0" marL="0" marR="0" rtl="0" algn="l">
                <a:spcBef>
                  <a:spcPts val="0"/>
                </a:spcBef>
                <a:spcAft>
                  <a:spcPts val="0"/>
                </a:spcAft>
                <a:buNone/>
              </a:pPr>
              <a:r>
                <a:rPr i="1" lang="en-US" sz="1200">
                  <a:solidFill>
                    <a:srgbClr val="3A3838"/>
                  </a:solidFill>
                  <a:latin typeface="Calibri"/>
                  <a:ea typeface="Calibri"/>
                  <a:cs typeface="Calibri"/>
                  <a:sym typeface="Calibri"/>
                </a:rPr>
                <a:t>Authority limits</a:t>
              </a:r>
              <a:endParaRPr/>
            </a:p>
          </p:txBody>
        </p:sp>
        <p:sp>
          <p:nvSpPr>
            <p:cNvPr id="147" name="Google Shape;147;p2"/>
            <p:cNvSpPr txBox="1"/>
            <p:nvPr/>
          </p:nvSpPr>
          <p:spPr>
            <a:xfrm>
              <a:off x="4509907" y="1908433"/>
              <a:ext cx="236551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200">
                  <a:solidFill>
                    <a:srgbClr val="3A3838"/>
                  </a:solidFill>
                  <a:latin typeface="Calibri"/>
                  <a:ea typeface="Calibri"/>
                  <a:cs typeface="Calibri"/>
                  <a:sym typeface="Calibri"/>
                </a:rPr>
                <a:t>SIO, GIO, REGULAR APPLICATION FORM, FNARPQ, PROPOSAL</a:t>
              </a:r>
              <a:endParaRPr i="1" sz="1200">
                <a:solidFill>
                  <a:srgbClr val="3A3838"/>
                </a:solidFill>
                <a:latin typeface="Calibri"/>
                <a:ea typeface="Calibri"/>
                <a:cs typeface="Calibri"/>
                <a:sym typeface="Calibri"/>
              </a:endParaRPr>
            </a:p>
          </p:txBody>
        </p:sp>
        <p:sp>
          <p:nvSpPr>
            <p:cNvPr id="148" name="Google Shape;148;p2"/>
            <p:cNvSpPr txBox="1"/>
            <p:nvPr/>
          </p:nvSpPr>
          <p:spPr>
            <a:xfrm>
              <a:off x="4506665" y="3224706"/>
              <a:ext cx="236551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200">
                  <a:solidFill>
                    <a:srgbClr val="3A3838"/>
                  </a:solidFill>
                  <a:latin typeface="Calibri"/>
                  <a:ea typeface="Calibri"/>
                  <a:cs typeface="Calibri"/>
                  <a:sym typeface="Calibri"/>
                </a:rPr>
                <a:t>Primary and Secondary ID</a:t>
              </a:r>
              <a:endParaRPr i="1" sz="1200">
                <a:solidFill>
                  <a:srgbClr val="3A3838"/>
                </a:solidFill>
                <a:latin typeface="Calibri"/>
                <a:ea typeface="Calibri"/>
                <a:cs typeface="Calibri"/>
                <a:sym typeface="Calibri"/>
              </a:endParaRPr>
            </a:p>
          </p:txBody>
        </p:sp>
        <p:sp>
          <p:nvSpPr>
            <p:cNvPr id="149" name="Google Shape;149;p2"/>
            <p:cNvSpPr txBox="1"/>
            <p:nvPr/>
          </p:nvSpPr>
          <p:spPr>
            <a:xfrm>
              <a:off x="4470530" y="4820149"/>
              <a:ext cx="236551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200">
                  <a:solidFill>
                    <a:srgbClr val="3A3838"/>
                  </a:solidFill>
                  <a:latin typeface="Calibri"/>
                  <a:ea typeface="Calibri"/>
                  <a:cs typeface="Calibri"/>
                  <a:sym typeface="Calibri"/>
                </a:rPr>
                <a:t>Example Portion of the Application Form</a:t>
              </a:r>
              <a:endParaRPr/>
            </a:p>
          </p:txBody>
        </p:sp>
        <p:sp>
          <p:nvSpPr>
            <p:cNvPr id="150" name="Google Shape;150;p2"/>
            <p:cNvSpPr txBox="1"/>
            <p:nvPr/>
          </p:nvSpPr>
          <p:spPr>
            <a:xfrm>
              <a:off x="9855782" y="503703"/>
              <a:ext cx="2255439" cy="127727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100">
                  <a:solidFill>
                    <a:srgbClr val="3A3838"/>
                  </a:solidFill>
                  <a:latin typeface="Calibri"/>
                  <a:ea typeface="Calibri"/>
                  <a:cs typeface="Calibri"/>
                  <a:sym typeface="Calibri"/>
                </a:rPr>
                <a:t>End-to-end NB application processing including TAT </a:t>
              </a:r>
              <a:endParaRPr i="1" sz="1100">
                <a:solidFill>
                  <a:srgbClr val="3A3838"/>
                </a:solidFill>
                <a:latin typeface="Calibri"/>
                <a:ea typeface="Calibri"/>
                <a:cs typeface="Calibri"/>
                <a:sym typeface="Calibri"/>
              </a:endParaRPr>
            </a:p>
            <a:p>
              <a:pPr indent="0" lvl="0" marL="0" marR="0" rtl="0" algn="l">
                <a:spcBef>
                  <a:spcPts val="0"/>
                </a:spcBef>
                <a:spcAft>
                  <a:spcPts val="0"/>
                </a:spcAft>
                <a:buNone/>
              </a:pPr>
              <a:r>
                <a:rPr i="1" lang="en-US" sz="1100">
                  <a:solidFill>
                    <a:srgbClr val="3A3838"/>
                  </a:solidFill>
                  <a:latin typeface="Calibri"/>
                  <a:ea typeface="Calibri"/>
                  <a:cs typeface="Calibri"/>
                  <a:sym typeface="Calibri"/>
                </a:rPr>
                <a:t>Requirements Processing</a:t>
              </a:r>
              <a:endParaRPr/>
            </a:p>
            <a:p>
              <a:pPr indent="0" lvl="0" marL="0" marR="0" rtl="0" algn="l">
                <a:spcBef>
                  <a:spcPts val="0"/>
                </a:spcBef>
                <a:spcAft>
                  <a:spcPts val="0"/>
                </a:spcAft>
                <a:buNone/>
              </a:pPr>
              <a:r>
                <a:rPr i="1" lang="en-US" sz="1100">
                  <a:solidFill>
                    <a:srgbClr val="3A3838"/>
                  </a:solidFill>
                  <a:latin typeface="Calibri"/>
                  <a:ea typeface="Calibri"/>
                  <a:cs typeface="Calibri"/>
                  <a:sym typeface="Calibri"/>
                </a:rPr>
                <a:t>Refund Processing </a:t>
              </a:r>
              <a:endParaRPr/>
            </a:p>
            <a:p>
              <a:pPr indent="0" lvl="0" marL="0" marR="0" rtl="0" algn="l">
                <a:spcBef>
                  <a:spcPts val="0"/>
                </a:spcBef>
                <a:spcAft>
                  <a:spcPts val="0"/>
                </a:spcAft>
                <a:buNone/>
              </a:pPr>
              <a:r>
                <a:rPr i="1" lang="en-US" sz="1100">
                  <a:solidFill>
                    <a:srgbClr val="3A3838"/>
                  </a:solidFill>
                  <a:latin typeface="Calibri"/>
                  <a:ea typeface="Calibri"/>
                  <a:cs typeface="Calibri"/>
                  <a:sym typeface="Calibri"/>
                </a:rPr>
                <a:t>Procedures in making follow-ups, submitting requirements, requesting for reconsideration</a:t>
              </a:r>
              <a:endParaRPr/>
            </a:p>
          </p:txBody>
        </p:sp>
        <p:pic>
          <p:nvPicPr>
            <p:cNvPr id="151" name="Google Shape;151;p2"/>
            <p:cNvPicPr preferRelativeResize="0"/>
            <p:nvPr/>
          </p:nvPicPr>
          <p:blipFill rotWithShape="1">
            <a:blip r:embed="rId3">
              <a:alphaModFix/>
            </a:blip>
            <a:srcRect b="0" l="0" r="0" t="0"/>
            <a:stretch/>
          </p:blipFill>
          <p:spPr>
            <a:xfrm>
              <a:off x="8417570" y="4156392"/>
              <a:ext cx="3457249" cy="2515148"/>
            </a:xfrm>
            <a:prstGeom prst="rect">
              <a:avLst/>
            </a:prstGeom>
            <a:solidFill>
              <a:schemeClr val="lt1"/>
            </a:solidFill>
            <a:ln cap="flat" cmpd="sng" w="9525">
              <a:solidFill>
                <a:srgbClr val="00B0F0"/>
              </a:solidFill>
              <a:prstDash val="solid"/>
              <a:round/>
              <a:headEnd len="sm" w="sm" type="none"/>
              <a:tailEnd len="sm" w="sm" type="none"/>
            </a:ln>
          </p:spPr>
        </p:pic>
      </p:grpSp>
      <p:pic>
        <p:nvPicPr>
          <p:cNvPr id="152" name="Google Shape;152;p2"/>
          <p:cNvPicPr preferRelativeResize="0"/>
          <p:nvPr/>
        </p:nvPicPr>
        <p:blipFill rotWithShape="1">
          <a:blip r:embed="rId4">
            <a:alphaModFix/>
          </a:blip>
          <a:srcRect b="0" l="0" r="0" t="0"/>
          <a:stretch/>
        </p:blipFill>
        <p:spPr>
          <a:xfrm>
            <a:off x="1609893" y="5486400"/>
            <a:ext cx="917965" cy="91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000"/>
                                        <p:tgtEl>
                                          <p:spTgt spid="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3"/>
          <p:cNvPicPr preferRelativeResize="0"/>
          <p:nvPr/>
        </p:nvPicPr>
        <p:blipFill rotWithShape="1">
          <a:blip r:embed="rId3">
            <a:alphaModFix/>
          </a:blip>
          <a:srcRect b="0" l="0" r="0" t="0"/>
          <a:stretch/>
        </p:blipFill>
        <p:spPr>
          <a:xfrm>
            <a:off x="2666194" y="4285811"/>
            <a:ext cx="917965" cy="914400"/>
          </a:xfrm>
          <a:prstGeom prst="rect">
            <a:avLst/>
          </a:prstGeom>
          <a:noFill/>
          <a:ln>
            <a:noFill/>
          </a:ln>
        </p:spPr>
      </p:pic>
      <p:sp>
        <p:nvSpPr>
          <p:cNvPr id="159" name="Google Shape;159;p3"/>
          <p:cNvSpPr/>
          <p:nvPr/>
        </p:nvSpPr>
        <p:spPr>
          <a:xfrm>
            <a:off x="183732" y="4244921"/>
            <a:ext cx="1045163" cy="2613079"/>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160" name="Google Shape;160;p3"/>
          <p:cNvPicPr preferRelativeResize="0"/>
          <p:nvPr/>
        </p:nvPicPr>
        <p:blipFill rotWithShape="1">
          <a:blip r:embed="rId4">
            <a:alphaModFix/>
          </a:blip>
          <a:srcRect b="0" l="0" r="0" t="0"/>
          <a:stretch/>
        </p:blipFill>
        <p:spPr>
          <a:xfrm>
            <a:off x="183733" y="4700875"/>
            <a:ext cx="3364536" cy="2049717"/>
          </a:xfrm>
          <a:prstGeom prst="rect">
            <a:avLst/>
          </a:prstGeom>
          <a:noFill/>
          <a:ln>
            <a:noFill/>
          </a:ln>
        </p:spPr>
      </p:pic>
      <p:sp>
        <p:nvSpPr>
          <p:cNvPr id="161" name="Google Shape;161;p3"/>
          <p:cNvSpPr txBox="1"/>
          <p:nvPr/>
        </p:nvSpPr>
        <p:spPr>
          <a:xfrm>
            <a:off x="1220995" y="4223239"/>
            <a:ext cx="2319373" cy="83099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1" i="0" lang="en-US" sz="2400" u="none" cap="none" strike="noStrike">
                <a:solidFill>
                  <a:srgbClr val="000000"/>
                </a:solidFill>
                <a:latin typeface="Calibri"/>
                <a:ea typeface="Calibri"/>
                <a:cs typeface="Calibri"/>
                <a:sym typeface="Calibri"/>
              </a:rPr>
              <a:t>WHO ARE WE?</a:t>
            </a:r>
            <a:endParaRPr/>
          </a:p>
          <a:p>
            <a:pPr indent="0" lvl="0" marL="0" marR="0" rtl="0" algn="l">
              <a:lnSpc>
                <a:spcPct val="100000"/>
              </a:lnSpc>
              <a:spcBef>
                <a:spcPts val="0"/>
              </a:spcBef>
              <a:spcAft>
                <a:spcPts val="0"/>
              </a:spcAft>
              <a:buClr>
                <a:srgbClr val="000000"/>
              </a:buClr>
              <a:buSzPts val="1200"/>
              <a:buFont typeface="Calibri"/>
              <a:buNone/>
            </a:pPr>
            <a:r>
              <a:rPr b="1" i="0" lang="en-US" sz="1200" u="none" cap="none" strike="noStrike">
                <a:solidFill>
                  <a:srgbClr val="000000"/>
                </a:solidFill>
                <a:latin typeface="Calibri"/>
                <a:ea typeface="Calibri"/>
                <a:cs typeface="Calibri"/>
                <a:sym typeface="Calibri"/>
              </a:rPr>
              <a:t>THE MEN AND WOMEN </a:t>
            </a:r>
            <a:endParaRPr/>
          </a:p>
          <a:p>
            <a:pPr indent="0" lvl="0" marL="0" marR="0" rtl="0" algn="l">
              <a:lnSpc>
                <a:spcPct val="100000"/>
              </a:lnSpc>
              <a:spcBef>
                <a:spcPts val="0"/>
              </a:spcBef>
              <a:spcAft>
                <a:spcPts val="0"/>
              </a:spcAft>
              <a:buClr>
                <a:srgbClr val="000000"/>
              </a:buClr>
              <a:buSzPts val="1200"/>
              <a:buFont typeface="Calibri"/>
              <a:buNone/>
            </a:pPr>
            <a:r>
              <a:rPr b="1" i="0" lang="en-US" sz="1200" u="none" cap="none" strike="noStrike">
                <a:solidFill>
                  <a:srgbClr val="000000"/>
                </a:solidFill>
                <a:latin typeface="Calibri"/>
                <a:ea typeface="Calibri"/>
                <a:cs typeface="Calibri"/>
                <a:sym typeface="Calibri"/>
              </a:rPr>
              <a:t>BEHIND NB &amp; UW SERVICES</a:t>
            </a:r>
            <a:endParaRPr b="1" i="0" sz="1200" u="none" cap="none" strike="noStrike">
              <a:solidFill>
                <a:srgbClr val="000000"/>
              </a:solidFill>
              <a:latin typeface="Calibri"/>
              <a:ea typeface="Calibri"/>
              <a:cs typeface="Calibri"/>
              <a:sym typeface="Calibri"/>
            </a:endParaRPr>
          </a:p>
        </p:txBody>
      </p:sp>
      <p:sp>
        <p:nvSpPr>
          <p:cNvPr id="162" name="Google Shape;162;p3"/>
          <p:cNvSpPr txBox="1"/>
          <p:nvPr/>
        </p:nvSpPr>
        <p:spPr>
          <a:xfrm>
            <a:off x="183731" y="4030104"/>
            <a:ext cx="1214131" cy="120032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Calibri"/>
              <a:buNone/>
            </a:pPr>
            <a:r>
              <a:rPr b="0" i="0" lang="en-US" sz="7200" u="none" cap="none" strike="noStrike">
                <a:solidFill>
                  <a:srgbClr val="000000"/>
                </a:solidFill>
                <a:latin typeface="Calibri"/>
                <a:ea typeface="Calibri"/>
                <a:cs typeface="Calibri"/>
                <a:sym typeface="Calibri"/>
              </a:rPr>
              <a:t>01</a:t>
            </a:r>
            <a:endParaRPr b="0" i="0" sz="4400" u="none" cap="none" strike="noStrike">
              <a:solidFill>
                <a:srgbClr val="000000"/>
              </a:solidFill>
              <a:latin typeface="Calibri"/>
              <a:ea typeface="Calibri"/>
              <a:cs typeface="Calibri"/>
              <a:sym typeface="Calibri"/>
            </a:endParaRPr>
          </a:p>
        </p:txBody>
      </p:sp>
      <p:sp>
        <p:nvSpPr>
          <p:cNvPr id="163" name="Google Shape;163;p3"/>
          <p:cNvSpPr/>
          <p:nvPr/>
        </p:nvSpPr>
        <p:spPr>
          <a:xfrm>
            <a:off x="183732" y="436803"/>
            <a:ext cx="8232682" cy="461665"/>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A3838"/>
              </a:buClr>
              <a:buSzPts val="2400"/>
              <a:buFont typeface="Calibri"/>
              <a:buNone/>
            </a:pPr>
            <a:r>
              <a:rPr b="1" i="0" lang="en-US" sz="2400" u="none" cap="none" strike="noStrike">
                <a:solidFill>
                  <a:srgbClr val="3A3838"/>
                </a:solidFill>
                <a:latin typeface="Calibri"/>
                <a:ea typeface="Calibri"/>
                <a:cs typeface="Calibri"/>
                <a:sym typeface="Calibri"/>
              </a:rPr>
              <a:t>New Business and Underwriting Services as of MARCH 06, 2019</a:t>
            </a:r>
            <a:endParaRPr b="1" i="0" sz="1800" u="none" cap="none" strike="noStrike">
              <a:solidFill>
                <a:srgbClr val="000000"/>
              </a:solidFill>
              <a:latin typeface="Calibri"/>
              <a:ea typeface="Calibri"/>
              <a:cs typeface="Calibri"/>
              <a:sym typeface="Calibri"/>
            </a:endParaRPr>
          </a:p>
        </p:txBody>
      </p:sp>
      <p:sp>
        <p:nvSpPr>
          <p:cNvPr id="164" name="Google Shape;164;p3"/>
          <p:cNvSpPr txBox="1"/>
          <p:nvPr/>
        </p:nvSpPr>
        <p:spPr>
          <a:xfrm>
            <a:off x="481047" y="1064211"/>
            <a:ext cx="1439127"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9933"/>
              </a:buClr>
              <a:buSzPts val="5400"/>
              <a:buFont typeface="Impact"/>
              <a:buNone/>
            </a:pPr>
            <a:r>
              <a:rPr b="0" i="0" lang="en-US" sz="5400" u="none" cap="none" strike="noStrike">
                <a:solidFill>
                  <a:srgbClr val="FF9933"/>
                </a:solidFill>
                <a:latin typeface="Impact"/>
                <a:ea typeface="Impact"/>
                <a:cs typeface="Impact"/>
                <a:sym typeface="Impact"/>
              </a:rPr>
              <a:t>99</a:t>
            </a:r>
            <a:endParaRPr b="0" i="0" sz="5400" u="none" cap="none" strike="noStrike">
              <a:solidFill>
                <a:srgbClr val="FF9933"/>
              </a:solidFill>
              <a:latin typeface="Impact"/>
              <a:ea typeface="Impact"/>
              <a:cs typeface="Impact"/>
              <a:sym typeface="Impact"/>
            </a:endParaRPr>
          </a:p>
        </p:txBody>
      </p:sp>
      <p:sp>
        <p:nvSpPr>
          <p:cNvPr id="165" name="Google Shape;165;p3"/>
          <p:cNvSpPr txBox="1"/>
          <p:nvPr/>
        </p:nvSpPr>
        <p:spPr>
          <a:xfrm>
            <a:off x="481047" y="1883019"/>
            <a:ext cx="91681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A3838"/>
              </a:buClr>
              <a:buSzPts val="1200"/>
              <a:buFont typeface="Calibri"/>
              <a:buNone/>
            </a:pPr>
            <a:r>
              <a:rPr b="1" i="0" lang="en-US" sz="1200" u="none" cap="none" strike="noStrike">
                <a:solidFill>
                  <a:srgbClr val="3A3838"/>
                </a:solidFill>
                <a:latin typeface="Calibri"/>
                <a:ea typeface="Calibri"/>
                <a:cs typeface="Calibri"/>
                <a:sym typeface="Calibri"/>
              </a:rPr>
              <a:t>Warm Bodies</a:t>
            </a:r>
            <a:endParaRPr b="1" i="0" sz="1200" u="none" cap="none" strike="noStrike">
              <a:solidFill>
                <a:srgbClr val="3A3838"/>
              </a:solidFill>
              <a:latin typeface="Calibri"/>
              <a:ea typeface="Calibri"/>
              <a:cs typeface="Calibri"/>
              <a:sym typeface="Calibri"/>
            </a:endParaRPr>
          </a:p>
        </p:txBody>
      </p:sp>
      <p:sp>
        <p:nvSpPr>
          <p:cNvPr id="166" name="Google Shape;166;p3"/>
          <p:cNvSpPr txBox="1"/>
          <p:nvPr/>
        </p:nvSpPr>
        <p:spPr>
          <a:xfrm>
            <a:off x="2122087" y="1064211"/>
            <a:ext cx="1216370"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5B9BD5"/>
              </a:buClr>
              <a:buSzPts val="5400"/>
              <a:buFont typeface="Impact"/>
              <a:buNone/>
            </a:pPr>
            <a:r>
              <a:rPr b="0" i="0" lang="en-US" sz="5400" u="none" cap="none" strike="noStrike">
                <a:solidFill>
                  <a:srgbClr val="5B9BD5"/>
                </a:solidFill>
                <a:latin typeface="Impact"/>
                <a:ea typeface="Impact"/>
                <a:cs typeface="Impact"/>
                <a:sym typeface="Impact"/>
              </a:rPr>
              <a:t>5/6</a:t>
            </a:r>
            <a:endParaRPr b="0" i="0" sz="5400" u="none" cap="none" strike="noStrike">
              <a:solidFill>
                <a:srgbClr val="5B9BD5"/>
              </a:solidFill>
              <a:latin typeface="Impact"/>
              <a:ea typeface="Impact"/>
              <a:cs typeface="Impact"/>
              <a:sym typeface="Impact"/>
            </a:endParaRPr>
          </a:p>
        </p:txBody>
      </p:sp>
      <p:sp>
        <p:nvSpPr>
          <p:cNvPr id="167" name="Google Shape;167;p3"/>
          <p:cNvSpPr txBox="1"/>
          <p:nvPr/>
        </p:nvSpPr>
        <p:spPr>
          <a:xfrm>
            <a:off x="1920175" y="1894621"/>
            <a:ext cx="1620193"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4472C4"/>
              </a:buClr>
              <a:buSzPts val="1200"/>
              <a:buFont typeface="Calibri"/>
              <a:buNone/>
            </a:pPr>
            <a:r>
              <a:rPr b="1" i="0" lang="en-US" sz="1200" u="none" cap="none" strike="noStrike">
                <a:solidFill>
                  <a:srgbClr val="4472C4"/>
                </a:solidFill>
                <a:latin typeface="Calibri"/>
                <a:ea typeface="Calibri"/>
                <a:cs typeface="Calibri"/>
                <a:sym typeface="Calibri"/>
              </a:rPr>
              <a:t>2017 </a:t>
            </a:r>
            <a:r>
              <a:rPr b="1" i="0" lang="en-US" sz="1200" u="none" cap="none" strike="noStrike">
                <a:solidFill>
                  <a:srgbClr val="3A3838"/>
                </a:solidFill>
                <a:latin typeface="Calibri"/>
                <a:ea typeface="Calibri"/>
                <a:cs typeface="Calibri"/>
                <a:sym typeface="Calibri"/>
              </a:rPr>
              <a:t>Hired/Approved Head Count</a:t>
            </a:r>
            <a:endParaRPr b="1" i="0" sz="1200" u="none" cap="none" strike="noStrike">
              <a:solidFill>
                <a:srgbClr val="3A3838"/>
              </a:solidFill>
              <a:latin typeface="Calibri"/>
              <a:ea typeface="Calibri"/>
              <a:cs typeface="Calibri"/>
              <a:sym typeface="Calibri"/>
            </a:endParaRPr>
          </a:p>
        </p:txBody>
      </p:sp>
      <p:sp>
        <p:nvSpPr>
          <p:cNvPr id="168" name="Google Shape;168;p3"/>
          <p:cNvSpPr txBox="1"/>
          <p:nvPr/>
        </p:nvSpPr>
        <p:spPr>
          <a:xfrm>
            <a:off x="3878519" y="1063119"/>
            <a:ext cx="1541607"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3A3838"/>
              </a:buClr>
              <a:buSzPts val="5400"/>
              <a:buFont typeface="Impact"/>
              <a:buNone/>
            </a:pPr>
            <a:r>
              <a:rPr b="0" i="0" lang="en-US" sz="5400" u="none" cap="none" strike="noStrike">
                <a:solidFill>
                  <a:srgbClr val="3A3838"/>
                </a:solidFill>
                <a:latin typeface="Impact"/>
                <a:ea typeface="Impact"/>
                <a:cs typeface="Impact"/>
                <a:sym typeface="Impact"/>
              </a:rPr>
              <a:t>9/10</a:t>
            </a:r>
            <a:endParaRPr b="0" i="0" sz="5400" u="none" cap="none" strike="noStrike">
              <a:solidFill>
                <a:srgbClr val="3A3838"/>
              </a:solidFill>
              <a:latin typeface="Impact"/>
              <a:ea typeface="Impact"/>
              <a:cs typeface="Impact"/>
              <a:sym typeface="Impact"/>
            </a:endParaRPr>
          </a:p>
        </p:txBody>
      </p:sp>
      <p:sp>
        <p:nvSpPr>
          <p:cNvPr id="169" name="Google Shape;169;p3"/>
          <p:cNvSpPr txBox="1"/>
          <p:nvPr/>
        </p:nvSpPr>
        <p:spPr>
          <a:xfrm>
            <a:off x="3878520" y="1873759"/>
            <a:ext cx="154160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4472C4"/>
              </a:buClr>
              <a:buSzPts val="1200"/>
              <a:buFont typeface="Calibri"/>
              <a:buNone/>
            </a:pPr>
            <a:r>
              <a:rPr b="1" i="0" lang="en-US" sz="1200" u="none" cap="none" strike="noStrike">
                <a:solidFill>
                  <a:srgbClr val="4472C4"/>
                </a:solidFill>
                <a:latin typeface="Calibri"/>
                <a:ea typeface="Calibri"/>
                <a:cs typeface="Calibri"/>
                <a:sym typeface="Calibri"/>
              </a:rPr>
              <a:t>2018</a:t>
            </a:r>
            <a:r>
              <a:rPr b="1" i="0" lang="en-US" sz="1200" u="none" cap="none" strike="noStrike">
                <a:solidFill>
                  <a:srgbClr val="3A3838"/>
                </a:solidFill>
                <a:latin typeface="Calibri"/>
                <a:ea typeface="Calibri"/>
                <a:cs typeface="Calibri"/>
                <a:sym typeface="Calibri"/>
              </a:rPr>
              <a:t> Hired/Approved Head Count</a:t>
            </a:r>
            <a:endParaRPr b="1" i="0" sz="1200" u="none" cap="none" strike="noStrike">
              <a:solidFill>
                <a:srgbClr val="3A3838"/>
              </a:solidFill>
              <a:latin typeface="Calibri"/>
              <a:ea typeface="Calibri"/>
              <a:cs typeface="Calibri"/>
              <a:sym typeface="Calibri"/>
            </a:endParaRPr>
          </a:p>
        </p:txBody>
      </p:sp>
      <p:sp>
        <p:nvSpPr>
          <p:cNvPr id="170" name="Google Shape;170;p3"/>
          <p:cNvSpPr txBox="1"/>
          <p:nvPr/>
        </p:nvSpPr>
        <p:spPr>
          <a:xfrm>
            <a:off x="5488687" y="1063119"/>
            <a:ext cx="1901724"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9933"/>
              </a:buClr>
              <a:buSzPts val="5400"/>
              <a:buFont typeface="Impact"/>
              <a:buNone/>
            </a:pPr>
            <a:r>
              <a:rPr b="0" i="0" lang="en-US" sz="5400" u="none" cap="none" strike="noStrike">
                <a:solidFill>
                  <a:srgbClr val="FF9933"/>
                </a:solidFill>
                <a:latin typeface="Impact"/>
                <a:ea typeface="Impact"/>
                <a:cs typeface="Impact"/>
                <a:sym typeface="Impact"/>
              </a:rPr>
              <a:t>11/12 </a:t>
            </a:r>
            <a:endParaRPr b="0" i="0" sz="5400" u="none" cap="none" strike="noStrike">
              <a:solidFill>
                <a:srgbClr val="FF9933"/>
              </a:solidFill>
              <a:latin typeface="Impact"/>
              <a:ea typeface="Impact"/>
              <a:cs typeface="Impact"/>
              <a:sym typeface="Impact"/>
            </a:endParaRPr>
          </a:p>
        </p:txBody>
      </p:sp>
      <p:sp>
        <p:nvSpPr>
          <p:cNvPr id="171" name="Google Shape;171;p3"/>
          <p:cNvSpPr txBox="1"/>
          <p:nvPr/>
        </p:nvSpPr>
        <p:spPr>
          <a:xfrm>
            <a:off x="5622037" y="1881927"/>
            <a:ext cx="1480712"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2E75B5"/>
              </a:buClr>
              <a:buSzPts val="1200"/>
              <a:buFont typeface="Calibri"/>
              <a:buNone/>
            </a:pPr>
            <a:r>
              <a:rPr b="1" i="0" lang="en-US" sz="1200" u="none" cap="none" strike="noStrike">
                <a:solidFill>
                  <a:srgbClr val="2E75B5"/>
                </a:solidFill>
                <a:latin typeface="Calibri"/>
                <a:ea typeface="Calibri"/>
                <a:cs typeface="Calibri"/>
                <a:sym typeface="Calibri"/>
              </a:rPr>
              <a:t>2019</a:t>
            </a:r>
            <a:r>
              <a:rPr b="1" i="0" lang="en-US" sz="1200" u="none" cap="none" strike="noStrike">
                <a:solidFill>
                  <a:srgbClr val="3A3838"/>
                </a:solidFill>
                <a:latin typeface="Calibri"/>
                <a:ea typeface="Calibri"/>
                <a:cs typeface="Calibri"/>
                <a:sym typeface="Calibri"/>
              </a:rPr>
              <a:t> Hired/Approved Head Count</a:t>
            </a:r>
            <a:endParaRPr/>
          </a:p>
        </p:txBody>
      </p:sp>
      <p:sp>
        <p:nvSpPr>
          <p:cNvPr id="172" name="Google Shape;172;p3"/>
          <p:cNvSpPr txBox="1"/>
          <p:nvPr/>
        </p:nvSpPr>
        <p:spPr>
          <a:xfrm>
            <a:off x="7523762" y="1090758"/>
            <a:ext cx="1017802"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5B9BD5"/>
              </a:buClr>
              <a:buSzPts val="5400"/>
              <a:buFont typeface="Impact"/>
              <a:buNone/>
            </a:pPr>
            <a:r>
              <a:rPr b="0" i="0" lang="en-US" sz="5400" u="none" cap="none" strike="noStrike">
                <a:solidFill>
                  <a:srgbClr val="5B9BD5"/>
                </a:solidFill>
                <a:latin typeface="Impact"/>
                <a:ea typeface="Impact"/>
                <a:cs typeface="Impact"/>
                <a:sym typeface="Impact"/>
              </a:rPr>
              <a:t>06</a:t>
            </a:r>
            <a:endParaRPr b="0" i="0" sz="5400" u="none" cap="none" strike="noStrike">
              <a:solidFill>
                <a:srgbClr val="5B9BD5"/>
              </a:solidFill>
              <a:latin typeface="Impact"/>
              <a:ea typeface="Impact"/>
              <a:cs typeface="Impact"/>
              <a:sym typeface="Impact"/>
            </a:endParaRPr>
          </a:p>
        </p:txBody>
      </p:sp>
      <p:sp>
        <p:nvSpPr>
          <p:cNvPr id="173" name="Google Shape;173;p3"/>
          <p:cNvSpPr txBox="1"/>
          <p:nvPr/>
        </p:nvSpPr>
        <p:spPr>
          <a:xfrm>
            <a:off x="7304660" y="1929499"/>
            <a:ext cx="1423112"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A3838"/>
              </a:buClr>
              <a:buSzPts val="1200"/>
              <a:buFont typeface="Calibri"/>
              <a:buNone/>
            </a:pPr>
            <a:r>
              <a:rPr b="1" i="0" lang="en-US" sz="1200" u="none" cap="none" strike="noStrike">
                <a:solidFill>
                  <a:srgbClr val="3A3838"/>
                </a:solidFill>
                <a:latin typeface="Calibri"/>
                <a:ea typeface="Calibri"/>
                <a:cs typeface="Calibri"/>
                <a:sym typeface="Calibri"/>
              </a:rPr>
              <a:t>For Replacement</a:t>
            </a:r>
            <a:endParaRPr b="1" i="0" sz="1200" u="none" cap="none" strike="noStrike">
              <a:solidFill>
                <a:srgbClr val="3A3838"/>
              </a:solidFill>
              <a:latin typeface="Calibri"/>
              <a:ea typeface="Calibri"/>
              <a:cs typeface="Calibri"/>
              <a:sym typeface="Calibri"/>
            </a:endParaRPr>
          </a:p>
        </p:txBody>
      </p:sp>
      <p:sp>
        <p:nvSpPr>
          <p:cNvPr id="174" name="Google Shape;174;p3"/>
          <p:cNvSpPr txBox="1"/>
          <p:nvPr/>
        </p:nvSpPr>
        <p:spPr>
          <a:xfrm>
            <a:off x="8861416" y="1063119"/>
            <a:ext cx="1165961"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3A3838"/>
              </a:buClr>
              <a:buSzPts val="5400"/>
              <a:buFont typeface="Impact"/>
              <a:buNone/>
            </a:pPr>
            <a:r>
              <a:rPr b="0" i="0" lang="en-US" sz="5400" u="none" cap="none" strike="noStrike">
                <a:solidFill>
                  <a:srgbClr val="3A3838"/>
                </a:solidFill>
                <a:latin typeface="Impact"/>
                <a:ea typeface="Impact"/>
                <a:cs typeface="Impact"/>
                <a:sym typeface="Impact"/>
              </a:rPr>
              <a:t>02</a:t>
            </a:r>
            <a:endParaRPr b="0" i="0" sz="5400" u="none" cap="none" strike="noStrike">
              <a:solidFill>
                <a:srgbClr val="3A3838"/>
              </a:solidFill>
              <a:latin typeface="Impact"/>
              <a:ea typeface="Impact"/>
              <a:cs typeface="Impact"/>
              <a:sym typeface="Impact"/>
            </a:endParaRPr>
          </a:p>
        </p:txBody>
      </p:sp>
      <p:sp>
        <p:nvSpPr>
          <p:cNvPr id="175" name="Google Shape;175;p3"/>
          <p:cNvSpPr txBox="1"/>
          <p:nvPr/>
        </p:nvSpPr>
        <p:spPr>
          <a:xfrm>
            <a:off x="8861417" y="1930737"/>
            <a:ext cx="1165960"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A3838"/>
              </a:buClr>
              <a:buSzPts val="1200"/>
              <a:buFont typeface="Calibri"/>
              <a:buNone/>
            </a:pPr>
            <a:r>
              <a:rPr b="1" i="0" lang="en-US" sz="1200" u="none" cap="none" strike="noStrike">
                <a:solidFill>
                  <a:srgbClr val="3A3838"/>
                </a:solidFill>
                <a:latin typeface="Calibri"/>
                <a:ea typeface="Calibri"/>
                <a:cs typeface="Calibri"/>
                <a:sym typeface="Calibri"/>
              </a:rPr>
              <a:t>Consultants</a:t>
            </a:r>
            <a:endParaRPr b="1" i="0" sz="1200" u="none" cap="none" strike="noStrike">
              <a:solidFill>
                <a:srgbClr val="3A3838"/>
              </a:solidFill>
              <a:latin typeface="Calibri"/>
              <a:ea typeface="Calibri"/>
              <a:cs typeface="Calibri"/>
              <a:sym typeface="Calibri"/>
            </a:endParaRPr>
          </a:p>
        </p:txBody>
      </p:sp>
      <p:sp>
        <p:nvSpPr>
          <p:cNvPr id="176" name="Google Shape;176;p3"/>
          <p:cNvSpPr txBox="1"/>
          <p:nvPr/>
        </p:nvSpPr>
        <p:spPr>
          <a:xfrm>
            <a:off x="10229288" y="800883"/>
            <a:ext cx="1566256" cy="144655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B050"/>
              </a:buClr>
              <a:buSzPts val="8800"/>
              <a:buFont typeface="Impact"/>
              <a:buNone/>
            </a:pPr>
            <a:r>
              <a:rPr b="0" i="0" lang="en-US" sz="8800" u="none" cap="none" strike="noStrike">
                <a:solidFill>
                  <a:srgbClr val="00B050"/>
                </a:solidFill>
                <a:latin typeface="Impact"/>
                <a:ea typeface="Impact"/>
                <a:cs typeface="Impact"/>
                <a:sym typeface="Impact"/>
              </a:rPr>
              <a:t>01</a:t>
            </a:r>
            <a:endParaRPr b="0" i="0" sz="8800" u="none" cap="none" strike="noStrike">
              <a:solidFill>
                <a:srgbClr val="00B050"/>
              </a:solidFill>
              <a:latin typeface="Impact"/>
              <a:ea typeface="Impact"/>
              <a:cs typeface="Impact"/>
              <a:sym typeface="Impact"/>
            </a:endParaRPr>
          </a:p>
        </p:txBody>
      </p:sp>
      <p:sp>
        <p:nvSpPr>
          <p:cNvPr id="177" name="Google Shape;177;p3"/>
          <p:cNvSpPr txBox="1"/>
          <p:nvPr/>
        </p:nvSpPr>
        <p:spPr>
          <a:xfrm>
            <a:off x="10495940" y="2058425"/>
            <a:ext cx="1165960"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A3838"/>
              </a:buClr>
              <a:buSzPts val="1200"/>
              <a:buFont typeface="Calibri"/>
              <a:buNone/>
            </a:pPr>
            <a:r>
              <a:rPr b="1" i="0" lang="en-US" sz="1200" u="none" cap="none" strike="noStrike">
                <a:solidFill>
                  <a:srgbClr val="3A3838"/>
                </a:solidFill>
                <a:latin typeface="Calibri"/>
                <a:ea typeface="Calibri"/>
                <a:cs typeface="Calibri"/>
                <a:sym typeface="Calibri"/>
              </a:rPr>
              <a:t>Chief NB &amp; UW</a:t>
            </a:r>
            <a:endParaRPr b="1" i="0" sz="1200" u="none" cap="none" strike="noStrike">
              <a:solidFill>
                <a:srgbClr val="3A3838"/>
              </a:solidFill>
              <a:latin typeface="Calibri"/>
              <a:ea typeface="Calibri"/>
              <a:cs typeface="Calibri"/>
              <a:sym typeface="Calibri"/>
            </a:endParaRPr>
          </a:p>
        </p:txBody>
      </p:sp>
      <p:cxnSp>
        <p:nvCxnSpPr>
          <p:cNvPr id="178" name="Google Shape;178;p3"/>
          <p:cNvCxnSpPr/>
          <p:nvPr/>
        </p:nvCxnSpPr>
        <p:spPr>
          <a:xfrm rot="10800000">
            <a:off x="183731" y="2464340"/>
            <a:ext cx="11773044" cy="4617"/>
          </a:xfrm>
          <a:prstGeom prst="straightConnector1">
            <a:avLst/>
          </a:prstGeom>
          <a:noFill/>
          <a:ln cap="flat" cmpd="sng" w="9525">
            <a:solidFill>
              <a:schemeClr val="dk1"/>
            </a:solidFill>
            <a:prstDash val="solid"/>
            <a:miter lim="800000"/>
            <a:headEnd len="sm" w="sm" type="none"/>
            <a:tailEnd len="sm" w="sm" type="none"/>
          </a:ln>
        </p:spPr>
      </p:cxnSp>
      <p:sp>
        <p:nvSpPr>
          <p:cNvPr id="179" name="Google Shape;179;p3"/>
          <p:cNvSpPr/>
          <p:nvPr/>
        </p:nvSpPr>
        <p:spPr>
          <a:xfrm>
            <a:off x="4075342" y="2681604"/>
            <a:ext cx="7849425" cy="461665"/>
          </a:xfrm>
          <a:prstGeom prst="rect">
            <a:avLst/>
          </a:prstGeom>
          <a:solidFill>
            <a:srgbClr val="F2F2F2"/>
          </a:solidFill>
          <a:ln cap="flat" cmpd="sng" w="12700">
            <a:solidFill>
              <a:srgbClr val="F2F2F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A3838"/>
              </a:buClr>
              <a:buSzPts val="2400"/>
              <a:buFont typeface="Calibri"/>
              <a:buNone/>
            </a:pPr>
            <a:r>
              <a:rPr b="1" i="0" lang="en-US" sz="2400" u="none" cap="none" strike="noStrike">
                <a:solidFill>
                  <a:srgbClr val="3A3838"/>
                </a:solidFill>
                <a:latin typeface="Calibri"/>
                <a:ea typeface="Calibri"/>
                <a:cs typeface="Calibri"/>
                <a:sym typeface="Calibri"/>
              </a:rPr>
              <a:t>Three Sections in New Business and Underwriting Services</a:t>
            </a:r>
            <a:endParaRPr b="1" i="0" sz="1800" u="none" cap="none" strike="noStrike">
              <a:solidFill>
                <a:srgbClr val="000000"/>
              </a:solidFill>
              <a:latin typeface="Calibri"/>
              <a:ea typeface="Calibri"/>
              <a:cs typeface="Calibri"/>
              <a:sym typeface="Calibri"/>
            </a:endParaRPr>
          </a:p>
        </p:txBody>
      </p:sp>
      <p:sp>
        <p:nvSpPr>
          <p:cNvPr id="180" name="Google Shape;180;p3"/>
          <p:cNvSpPr txBox="1"/>
          <p:nvPr/>
        </p:nvSpPr>
        <p:spPr>
          <a:xfrm>
            <a:off x="4075342" y="3144615"/>
            <a:ext cx="2486974" cy="584775"/>
          </a:xfrm>
          <a:prstGeom prst="rect">
            <a:avLst/>
          </a:prstGeom>
          <a:solidFill>
            <a:srgbClr val="FF9933"/>
          </a:solidFill>
          <a:ln cap="flat" cmpd="sng" w="9525">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New Business Review Associate and Analyst</a:t>
            </a:r>
            <a:endParaRPr b="1" i="0" sz="1600" u="none" cap="none" strike="noStrike">
              <a:solidFill>
                <a:srgbClr val="FFFFFF"/>
              </a:solidFill>
              <a:latin typeface="Calibri"/>
              <a:ea typeface="Calibri"/>
              <a:cs typeface="Calibri"/>
              <a:sym typeface="Calibri"/>
            </a:endParaRPr>
          </a:p>
        </p:txBody>
      </p:sp>
      <p:sp>
        <p:nvSpPr>
          <p:cNvPr id="181" name="Google Shape;181;p3"/>
          <p:cNvSpPr txBox="1"/>
          <p:nvPr/>
        </p:nvSpPr>
        <p:spPr>
          <a:xfrm>
            <a:off x="6649899" y="3146140"/>
            <a:ext cx="2700311" cy="584775"/>
          </a:xfrm>
          <a:prstGeom prst="rect">
            <a:avLst/>
          </a:prstGeom>
          <a:solidFill>
            <a:schemeClr val="accent1"/>
          </a:solidFill>
          <a:ln cap="flat" cmpd="sng" w="9525">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Underwriter</a:t>
            </a:r>
            <a:endParaRPr/>
          </a:p>
        </p:txBody>
      </p:sp>
      <p:sp>
        <p:nvSpPr>
          <p:cNvPr id="182" name="Google Shape;182;p3"/>
          <p:cNvSpPr txBox="1"/>
          <p:nvPr/>
        </p:nvSpPr>
        <p:spPr>
          <a:xfrm>
            <a:off x="9437793" y="3144615"/>
            <a:ext cx="2486974" cy="584775"/>
          </a:xfrm>
          <a:prstGeom prst="rect">
            <a:avLst/>
          </a:prstGeom>
          <a:solidFill>
            <a:srgbClr val="3A3838"/>
          </a:solidFill>
          <a:ln cap="flat" cmpd="sng" w="9525">
            <a:solidFill>
              <a:srgbClr val="75707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Facilitator</a:t>
            </a:r>
            <a:endParaRPr b="1" i="0" sz="3200" u="none" cap="none" strike="noStrike">
              <a:solidFill>
                <a:srgbClr val="FFFFFF"/>
              </a:solidFill>
              <a:latin typeface="Calibri"/>
              <a:ea typeface="Calibri"/>
              <a:cs typeface="Calibri"/>
              <a:sym typeface="Calibri"/>
            </a:endParaRPr>
          </a:p>
        </p:txBody>
      </p:sp>
      <p:sp>
        <p:nvSpPr>
          <p:cNvPr id="183" name="Google Shape;183;p3"/>
          <p:cNvSpPr txBox="1"/>
          <p:nvPr/>
        </p:nvSpPr>
        <p:spPr>
          <a:xfrm>
            <a:off x="4075342" y="3740294"/>
            <a:ext cx="2486974" cy="2585323"/>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Reviews created records and executes auto appraisal</a:t>
            </a:r>
            <a:endParaRPr/>
          </a:p>
          <a:p>
            <a:pPr indent="0" lvl="0" marL="0" marR="0" rtl="0" algn="l">
              <a:lnSpc>
                <a:spcPct val="100000"/>
              </a:lnSpc>
              <a:spcBef>
                <a:spcPts val="0"/>
              </a:spcBef>
              <a:spcAft>
                <a:spcPts val="0"/>
              </a:spcAft>
              <a:buClr>
                <a:schemeClr val="dk1"/>
              </a:buClr>
              <a:buSzPts val="800"/>
              <a:buFont typeface="Calibri"/>
              <a:buNone/>
            </a:pPr>
            <a:r>
              <a:t/>
            </a:r>
            <a:endParaRPr b="0" i="0" sz="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Performs </a:t>
            </a:r>
            <a:r>
              <a:rPr b="0" i="0" lang="en-US" sz="1400" u="sng" cap="none" strike="noStrike">
                <a:solidFill>
                  <a:srgbClr val="000000"/>
                </a:solidFill>
                <a:latin typeface="Calibri"/>
                <a:ea typeface="Calibri"/>
                <a:cs typeface="Calibri"/>
                <a:sym typeface="Calibri"/>
              </a:rPr>
              <a:t>simple underwriting </a:t>
            </a:r>
            <a:r>
              <a:rPr b="0" i="0" lang="en-US" sz="1400" u="none" cap="none" strike="noStrike">
                <a:solidFill>
                  <a:srgbClr val="000000"/>
                </a:solidFill>
                <a:latin typeface="Calibri"/>
                <a:ea typeface="Calibri"/>
                <a:cs typeface="Calibri"/>
                <a:sym typeface="Calibri"/>
              </a:rPr>
              <a:t>involving </a:t>
            </a:r>
            <a:r>
              <a:rPr b="1" i="0" lang="en-US" sz="1400" u="none" cap="none" strike="noStrike">
                <a:solidFill>
                  <a:srgbClr val="000000"/>
                </a:solidFill>
                <a:latin typeface="Calibri"/>
                <a:ea typeface="Calibri"/>
                <a:cs typeface="Calibri"/>
                <a:sym typeface="Calibri"/>
              </a:rPr>
              <a:t>occupation and foreign travel guidelines </a:t>
            </a:r>
            <a:r>
              <a:rPr b="0" i="0" lang="en-US" sz="1400" u="none" cap="none" strike="noStrike">
                <a:solidFill>
                  <a:srgbClr val="000000"/>
                </a:solidFill>
                <a:latin typeface="Calibri"/>
                <a:ea typeface="Calibri"/>
                <a:cs typeface="Calibri"/>
                <a:sym typeface="Calibri"/>
              </a:rPr>
              <a:t>up to their approval limit</a:t>
            </a:r>
            <a:endParaRPr/>
          </a:p>
          <a:p>
            <a:pPr indent="0" lvl="0" marL="0" marR="0" rtl="0" algn="l">
              <a:lnSpc>
                <a:spcPct val="100000"/>
              </a:lnSpc>
              <a:spcBef>
                <a:spcPts val="0"/>
              </a:spcBef>
              <a:spcAft>
                <a:spcPts val="0"/>
              </a:spcAft>
              <a:buClr>
                <a:schemeClr val="dk1"/>
              </a:buClr>
              <a:buSzPts val="700"/>
              <a:buFont typeface="Calibri"/>
              <a:buNone/>
            </a:pPr>
            <a:r>
              <a:t/>
            </a:r>
            <a:endParaRPr b="0" i="0" sz="7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Final status of speedy processed applications</a:t>
            </a:r>
            <a:endParaRPr/>
          </a:p>
          <a:p>
            <a:pPr indent="0" lvl="0" marL="0" marR="0" rtl="0" algn="l">
              <a:lnSpc>
                <a:spcPct val="100000"/>
              </a:lnSpc>
              <a:spcBef>
                <a:spcPts val="0"/>
              </a:spcBef>
              <a:spcAft>
                <a:spcPts val="0"/>
              </a:spcAft>
              <a:buClr>
                <a:schemeClr val="dk1"/>
              </a:buClr>
              <a:buSzPts val="700"/>
              <a:buFont typeface="Calibri"/>
              <a:buNone/>
            </a:pPr>
            <a:r>
              <a:t/>
            </a:r>
            <a:endParaRPr b="0" i="0" sz="7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Reviews and releases policy contract</a:t>
            </a:r>
            <a:endParaRPr/>
          </a:p>
        </p:txBody>
      </p:sp>
      <p:sp>
        <p:nvSpPr>
          <p:cNvPr id="184" name="Google Shape;184;p3"/>
          <p:cNvSpPr txBox="1"/>
          <p:nvPr/>
        </p:nvSpPr>
        <p:spPr>
          <a:xfrm>
            <a:off x="6649899" y="3729390"/>
            <a:ext cx="2700310" cy="310854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Analyzes the applications that are </a:t>
            </a:r>
            <a:r>
              <a:rPr b="0" i="0" lang="en-US" sz="1400" u="sng" cap="none" strike="noStrike">
                <a:solidFill>
                  <a:srgbClr val="000000"/>
                </a:solidFill>
                <a:latin typeface="Calibri"/>
                <a:ea typeface="Calibri"/>
                <a:cs typeface="Calibri"/>
                <a:sym typeface="Calibri"/>
              </a:rPr>
              <a:t>not approved </a:t>
            </a:r>
            <a:r>
              <a:rPr b="0" i="0" lang="en-US" sz="1400" u="none" cap="none" strike="noStrike">
                <a:solidFill>
                  <a:srgbClr val="000000"/>
                </a:solidFill>
                <a:latin typeface="Calibri"/>
                <a:ea typeface="Calibri"/>
                <a:cs typeface="Calibri"/>
                <a:sym typeface="Calibri"/>
              </a:rPr>
              <a:t>by NB Review Associates which are </a:t>
            </a:r>
            <a:r>
              <a:rPr b="1" i="0" lang="en-US" sz="1400" u="none" cap="none" strike="noStrike">
                <a:solidFill>
                  <a:srgbClr val="000000"/>
                </a:solidFill>
                <a:latin typeface="Calibri"/>
                <a:ea typeface="Calibri"/>
                <a:cs typeface="Calibri"/>
                <a:sym typeface="Calibri"/>
              </a:rPr>
              <a:t>more complex in nature or with medical, financial, and legal concerns</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800"/>
              <a:buFont typeface="Calibri"/>
              <a:buNone/>
            </a:pPr>
            <a:r>
              <a:t/>
            </a:r>
            <a:endParaRPr b="0" i="0" sz="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Performs </a:t>
            </a:r>
            <a:r>
              <a:rPr b="1" i="0" lang="en-US" sz="1400" u="none" cap="none" strike="noStrike">
                <a:solidFill>
                  <a:srgbClr val="000000"/>
                </a:solidFill>
                <a:latin typeface="Calibri"/>
                <a:ea typeface="Calibri"/>
                <a:cs typeface="Calibri"/>
                <a:sym typeface="Calibri"/>
              </a:rPr>
              <a:t>appropriate risk classification </a:t>
            </a:r>
            <a:r>
              <a:rPr b="0" i="0" lang="en-US" sz="1400" u="none" cap="none" strike="noStrike">
                <a:solidFill>
                  <a:srgbClr val="000000"/>
                </a:solidFill>
                <a:latin typeface="Calibri"/>
                <a:ea typeface="Calibri"/>
                <a:cs typeface="Calibri"/>
                <a:sym typeface="Calibri"/>
              </a:rPr>
              <a:t>based on provided information, probability of death, or disability guided by Sun Life Underwriting Manual and Reinsurance Group of America Manual</a:t>
            </a:r>
            <a:endParaRPr b="0" i="0" sz="1400" u="none" cap="none" strike="noStrike">
              <a:solidFill>
                <a:srgbClr val="000000"/>
              </a:solidFill>
              <a:latin typeface="Calibri"/>
              <a:ea typeface="Calibri"/>
              <a:cs typeface="Calibri"/>
              <a:sym typeface="Calibri"/>
            </a:endParaRPr>
          </a:p>
        </p:txBody>
      </p:sp>
      <p:sp>
        <p:nvSpPr>
          <p:cNvPr id="185" name="Google Shape;185;p3"/>
          <p:cNvSpPr txBox="1"/>
          <p:nvPr/>
        </p:nvSpPr>
        <p:spPr>
          <a:xfrm>
            <a:off x="9437792" y="3728628"/>
            <a:ext cx="2486975" cy="2739211"/>
          </a:xfrm>
          <a:prstGeom prst="rect">
            <a:avLst/>
          </a:prstGeom>
          <a:solidFill>
            <a:schemeClr val="lt1"/>
          </a:solidFill>
          <a:ln cap="flat" cmpd="sng" w="12700">
            <a:solidFill>
              <a:srgbClr val="75707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Returns medical records to doctors</a:t>
            </a:r>
            <a:endParaRPr/>
          </a:p>
          <a:p>
            <a:pPr indent="0" lvl="0" marL="0" marR="0" rtl="0" algn="l">
              <a:lnSpc>
                <a:spcPct val="100000"/>
              </a:lnSpc>
              <a:spcBef>
                <a:spcPts val="0"/>
              </a:spcBef>
              <a:spcAft>
                <a:spcPts val="0"/>
              </a:spcAft>
              <a:buClr>
                <a:schemeClr val="dk1"/>
              </a:buClr>
              <a:buSzPts val="700"/>
              <a:buFont typeface="Calibri"/>
              <a:buNone/>
            </a:pPr>
            <a:r>
              <a:t/>
            </a:r>
            <a:endParaRPr b="0" i="0" sz="7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Prepares offer forms and computes extra premiums (for traditional products  only)</a:t>
            </a:r>
            <a:endParaRPr/>
          </a:p>
          <a:p>
            <a:pPr indent="0" lvl="0" marL="0" marR="0" rtl="0" algn="l">
              <a:lnSpc>
                <a:spcPct val="100000"/>
              </a:lnSpc>
              <a:spcBef>
                <a:spcPts val="0"/>
              </a:spcBef>
              <a:spcAft>
                <a:spcPts val="0"/>
              </a:spcAft>
              <a:buClr>
                <a:schemeClr val="dk1"/>
              </a:buClr>
              <a:buSzPts val="700"/>
              <a:buFont typeface="Calibri"/>
              <a:buNone/>
            </a:pPr>
            <a:r>
              <a:t/>
            </a:r>
            <a:endParaRPr b="0" i="0" sz="7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Processes refund of premium</a:t>
            </a:r>
            <a:endParaRPr/>
          </a:p>
          <a:p>
            <a:pPr indent="0" lvl="0" marL="0" marR="0" rtl="0" algn="l">
              <a:lnSpc>
                <a:spcPct val="100000"/>
              </a:lnSpc>
              <a:spcBef>
                <a:spcPts val="0"/>
              </a:spcBef>
              <a:spcAft>
                <a:spcPts val="0"/>
              </a:spcAft>
              <a:buClr>
                <a:schemeClr val="dk1"/>
              </a:buClr>
              <a:buSzPts val="700"/>
              <a:buFont typeface="Calibri"/>
              <a:buNone/>
            </a:pPr>
            <a:r>
              <a:t/>
            </a:r>
            <a:endParaRPr b="0" i="0" sz="7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Processes payment of doctors for APS reports; reimburses advisors of the medical costs they advanced for UW requirements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700"/>
              <a:buFont typeface="Calibri"/>
              <a:buNone/>
            </a:pPr>
            <a:r>
              <a:t/>
            </a:r>
            <a:endParaRPr b="0" i="0" sz="7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Processes NPW fees and charging of  unnecessary requirements submitted by advisor</a:t>
            </a:r>
            <a:endParaRPr b="0" i="0" sz="1200" u="none" cap="none" strike="noStrike">
              <a:solidFill>
                <a:srgbClr val="000000"/>
              </a:solidFill>
              <a:latin typeface="Calibri"/>
              <a:ea typeface="Calibri"/>
              <a:cs typeface="Calibri"/>
              <a:sym typeface="Calibri"/>
            </a:endParaRPr>
          </a:p>
        </p:txBody>
      </p:sp>
      <p:sp>
        <p:nvSpPr>
          <p:cNvPr id="186" name="Google Shape;186;p3"/>
          <p:cNvSpPr txBox="1"/>
          <p:nvPr/>
        </p:nvSpPr>
        <p:spPr>
          <a:xfrm>
            <a:off x="100498" y="2580423"/>
            <a:ext cx="1613755"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385623"/>
              </a:buClr>
              <a:buSzPts val="5400"/>
              <a:buFont typeface="Impact"/>
              <a:buNone/>
            </a:pPr>
            <a:r>
              <a:rPr b="0" i="0" lang="en-US" sz="5400" u="none" cap="none" strike="noStrike">
                <a:solidFill>
                  <a:srgbClr val="385623"/>
                </a:solidFill>
                <a:latin typeface="Impact"/>
                <a:ea typeface="Impact"/>
                <a:cs typeface="Impact"/>
                <a:sym typeface="Impact"/>
              </a:rPr>
              <a:t>2019</a:t>
            </a:r>
            <a:r>
              <a:rPr b="0" i="0" lang="en-US" sz="5400" u="none" cap="none" strike="noStrike">
                <a:solidFill>
                  <a:srgbClr val="800000"/>
                </a:solidFill>
                <a:latin typeface="Impact"/>
                <a:ea typeface="Impact"/>
                <a:cs typeface="Impact"/>
                <a:sym typeface="Impact"/>
              </a:rPr>
              <a:t>  </a:t>
            </a:r>
            <a:endParaRPr b="0" i="0" sz="5400" u="none" cap="none" strike="noStrike">
              <a:solidFill>
                <a:srgbClr val="800000"/>
              </a:solidFill>
              <a:latin typeface="Impact"/>
              <a:ea typeface="Impact"/>
              <a:cs typeface="Impact"/>
              <a:sym typeface="Impact"/>
            </a:endParaRPr>
          </a:p>
        </p:txBody>
      </p:sp>
      <p:sp>
        <p:nvSpPr>
          <p:cNvPr id="187" name="Google Shape;187;p3"/>
          <p:cNvSpPr txBox="1"/>
          <p:nvPr/>
        </p:nvSpPr>
        <p:spPr>
          <a:xfrm>
            <a:off x="1714252" y="2768890"/>
            <a:ext cx="2164267" cy="1107996"/>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A3838"/>
              </a:buClr>
              <a:buSzPts val="1600"/>
              <a:buFont typeface="Calibri"/>
              <a:buNone/>
            </a:pPr>
            <a:r>
              <a:rPr b="1" i="0" lang="en-US" sz="1600" u="none" cap="none" strike="noStrike">
                <a:solidFill>
                  <a:srgbClr val="3A3838"/>
                </a:solidFill>
                <a:latin typeface="Calibri"/>
                <a:ea typeface="Calibri"/>
                <a:cs typeface="Calibri"/>
                <a:sym typeface="Calibri"/>
              </a:rPr>
              <a:t>We still need: </a:t>
            </a:r>
            <a:endParaRPr/>
          </a:p>
          <a:p>
            <a:pPr indent="-285750" lvl="0" marL="285750" marR="0" rtl="0" algn="l">
              <a:lnSpc>
                <a:spcPct val="100000"/>
              </a:lnSpc>
              <a:spcBef>
                <a:spcPts val="0"/>
              </a:spcBef>
              <a:spcAft>
                <a:spcPts val="0"/>
              </a:spcAft>
              <a:buClr>
                <a:srgbClr val="C00000"/>
              </a:buClr>
              <a:buSzPts val="1800"/>
              <a:buFont typeface="Arial"/>
              <a:buChar char="•"/>
            </a:pPr>
            <a:r>
              <a:rPr b="1" i="0" lang="en-US" sz="1800" u="none" cap="none" strike="noStrike">
                <a:solidFill>
                  <a:srgbClr val="C00000"/>
                </a:solidFill>
                <a:latin typeface="Calibri"/>
                <a:ea typeface="Calibri"/>
                <a:cs typeface="Calibri"/>
                <a:sym typeface="Calibri"/>
              </a:rPr>
              <a:t>2 </a:t>
            </a:r>
            <a:r>
              <a:rPr b="0" i="0" lang="en-US" sz="1400" u="none" cap="none" strike="noStrike">
                <a:solidFill>
                  <a:srgbClr val="3A3838"/>
                </a:solidFill>
                <a:latin typeface="Calibri"/>
                <a:ea typeface="Calibri"/>
                <a:cs typeface="Calibri"/>
                <a:sym typeface="Calibri"/>
              </a:rPr>
              <a:t>NB Review Associate and Analysts</a:t>
            </a:r>
            <a:endParaRPr/>
          </a:p>
          <a:p>
            <a:pPr indent="-285750" lvl="0" marL="285750" marR="0" rtl="0" algn="l">
              <a:lnSpc>
                <a:spcPct val="100000"/>
              </a:lnSpc>
              <a:spcBef>
                <a:spcPts val="0"/>
              </a:spcBef>
              <a:spcAft>
                <a:spcPts val="0"/>
              </a:spcAft>
              <a:buClr>
                <a:srgbClr val="C00000"/>
              </a:buClr>
              <a:buSzPts val="1800"/>
              <a:buFont typeface="Arial"/>
              <a:buChar char="•"/>
            </a:pPr>
            <a:r>
              <a:rPr b="1" i="0" lang="en-US" sz="1800" u="none" cap="none" strike="noStrike">
                <a:solidFill>
                  <a:srgbClr val="C00000"/>
                </a:solidFill>
                <a:latin typeface="Calibri"/>
                <a:ea typeface="Calibri"/>
                <a:cs typeface="Calibri"/>
                <a:sym typeface="Calibri"/>
              </a:rPr>
              <a:t>6</a:t>
            </a:r>
            <a:r>
              <a:rPr b="1" i="0" lang="en-US" sz="1600" u="none" cap="none" strike="noStrike">
                <a:solidFill>
                  <a:srgbClr val="3A3838"/>
                </a:solidFill>
                <a:latin typeface="Calibri"/>
                <a:ea typeface="Calibri"/>
                <a:cs typeface="Calibri"/>
                <a:sym typeface="Calibri"/>
              </a:rPr>
              <a:t> </a:t>
            </a:r>
            <a:r>
              <a:rPr b="0" i="0" lang="en-US" sz="1400" u="none" cap="none" strike="noStrike">
                <a:solidFill>
                  <a:srgbClr val="3A3838"/>
                </a:solidFill>
                <a:latin typeface="Calibri"/>
                <a:ea typeface="Calibri"/>
                <a:cs typeface="Calibri"/>
                <a:sym typeface="Calibri"/>
              </a:rPr>
              <a:t>Underwriters</a:t>
            </a:r>
            <a:endParaRPr b="0" i="0" sz="1400" u="none" cap="none" strike="noStrike">
              <a:solidFill>
                <a:srgbClr val="3A3838"/>
              </a:solidFill>
              <a:latin typeface="Calibri"/>
              <a:ea typeface="Calibri"/>
              <a:cs typeface="Calibri"/>
              <a:sym typeface="Calibri"/>
            </a:endParaRPr>
          </a:p>
        </p:txBody>
      </p:sp>
      <p:sp>
        <p:nvSpPr>
          <p:cNvPr id="188" name="Google Shape;188;p3"/>
          <p:cNvSpPr txBox="1"/>
          <p:nvPr/>
        </p:nvSpPr>
        <p:spPr>
          <a:xfrm>
            <a:off x="100497" y="3403042"/>
            <a:ext cx="1662118" cy="73866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A3838"/>
              </a:buClr>
              <a:buSzPts val="1400"/>
              <a:buFont typeface="Calibri"/>
              <a:buNone/>
            </a:pPr>
            <a:r>
              <a:rPr b="1" i="0" lang="en-US" sz="1400" u="none" cap="none" strike="noStrike">
                <a:solidFill>
                  <a:srgbClr val="3A3838"/>
                </a:solidFill>
                <a:latin typeface="Calibri"/>
                <a:ea typeface="Calibri"/>
                <a:cs typeface="Calibri"/>
                <a:sym typeface="Calibri"/>
              </a:rPr>
              <a:t>Pending Approved Additional Head Count</a:t>
            </a:r>
            <a:endParaRPr b="1" i="0" sz="1400" u="none" cap="none" strike="noStrike">
              <a:solidFill>
                <a:srgbClr val="3A3838"/>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par>
                                <p:cTn fill="hold" nodeType="with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par>
                                <p:cTn fill="hold" nodeType="with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1000"/>
                                        <p:tgtEl>
                                          <p:spTgt spid="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par>
                                <p:cTn fill="hold" nodeType="with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000"/>
                                        <p:tgtEl>
                                          <p:spTgt spid="170"/>
                                        </p:tgtEl>
                                      </p:cBhvr>
                                    </p:animEffect>
                                  </p:childTnLst>
                                </p:cTn>
                              </p:par>
                              <p:par>
                                <p:cTn fill="hold" nodeType="with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par>
                                <p:cTn fill="hold" nodeType="with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1000"/>
                                        <p:tgtEl>
                                          <p:spTgt spid="1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1000"/>
                                        <p:tgtEl>
                                          <p:spTgt spid="174"/>
                                        </p:tgtEl>
                                      </p:cBhvr>
                                    </p:animEffect>
                                  </p:childTnLst>
                                </p:cTn>
                              </p:par>
                              <p:par>
                                <p:cTn fill="hold" nodeType="with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1000"/>
                                        <p:tgtEl>
                                          <p:spTgt spid="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1000"/>
                                        <p:tgtEl>
                                          <p:spTgt spid="176"/>
                                        </p:tgtEl>
                                      </p:cBhvr>
                                    </p:animEffect>
                                  </p:childTnLst>
                                </p:cTn>
                              </p:par>
                              <p:par>
                                <p:cTn fill="hold" nodeType="with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1000"/>
                                        <p:tgtEl>
                                          <p:spTgt spid="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6"/>
                                        </p:tgtEl>
                                        <p:attrNameLst>
                                          <p:attrName>style.visibility</p:attrName>
                                        </p:attrNameLst>
                                      </p:cBhvr>
                                      <p:to>
                                        <p:strVal val="visible"/>
                                      </p:to>
                                    </p:set>
                                    <p:anim calcmode="lin" valueType="num">
                                      <p:cBhvr additive="base">
                                        <p:cTn dur="500"/>
                                        <p:tgtEl>
                                          <p:spTgt spid="18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8"/>
                                        </p:tgtEl>
                                        <p:attrNameLst>
                                          <p:attrName>style.visibility</p:attrName>
                                        </p:attrNameLst>
                                      </p:cBhvr>
                                      <p:to>
                                        <p:strVal val="visible"/>
                                      </p:to>
                                    </p:set>
                                    <p:anim calcmode="lin" valueType="num">
                                      <p:cBhvr additive="base">
                                        <p:cTn dur="500"/>
                                        <p:tgtEl>
                                          <p:spTgt spid="18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7"/>
                                        </p:tgtEl>
                                        <p:attrNameLst>
                                          <p:attrName>style.visibility</p:attrName>
                                        </p:attrNameLst>
                                      </p:cBhvr>
                                      <p:to>
                                        <p:strVal val="visible"/>
                                      </p:to>
                                    </p:set>
                                    <p:anim calcmode="lin" valueType="num">
                                      <p:cBhvr additive="base">
                                        <p:cTn dur="500"/>
                                        <p:tgtEl>
                                          <p:spTgt spid="18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1000"/>
                                        <p:tgtEl>
                                          <p:spTgt spid="180"/>
                                        </p:tgtEl>
                                      </p:cBhvr>
                                    </p:animEffect>
                                  </p:childTnLst>
                                </p:cTn>
                              </p:par>
                              <p:par>
                                <p:cTn fill="hold" nodeType="with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1000"/>
                                        <p:tgtEl>
                                          <p:spTgt spid="179"/>
                                        </p:tgtEl>
                                      </p:cBhvr>
                                    </p:animEffect>
                                  </p:childTnLst>
                                </p:cTn>
                              </p:par>
                              <p:par>
                                <p:cTn fill="hold" nodeType="with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1000"/>
                                        <p:tgtEl>
                                          <p:spTgt spid="181"/>
                                        </p:tgtEl>
                                      </p:cBhvr>
                                    </p:animEffect>
                                  </p:childTnLst>
                                </p:cTn>
                              </p:par>
                              <p:par>
                                <p:cTn fill="hold" nodeType="with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500"/>
                                        <p:tgtEl>
                                          <p:spTgt spid="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p4"/>
          <p:cNvPicPr preferRelativeResize="0"/>
          <p:nvPr/>
        </p:nvPicPr>
        <p:blipFill rotWithShape="1">
          <a:blip r:embed="rId3">
            <a:alphaModFix/>
          </a:blip>
          <a:srcRect b="48442" l="0" r="0" t="0"/>
          <a:stretch/>
        </p:blipFill>
        <p:spPr>
          <a:xfrm flipH="1" rot="10800000">
            <a:off x="64411" y="5270011"/>
            <a:ext cx="4171210" cy="1611209"/>
          </a:xfrm>
          <a:prstGeom prst="rect">
            <a:avLst/>
          </a:prstGeom>
          <a:noFill/>
          <a:ln>
            <a:noFill/>
          </a:ln>
        </p:spPr>
      </p:pic>
      <p:pic>
        <p:nvPicPr>
          <p:cNvPr id="195" name="Google Shape;195;p4"/>
          <p:cNvPicPr preferRelativeResize="0"/>
          <p:nvPr/>
        </p:nvPicPr>
        <p:blipFill rotWithShape="1">
          <a:blip r:embed="rId4">
            <a:alphaModFix/>
          </a:blip>
          <a:srcRect b="48442" l="0" r="0" t="0"/>
          <a:stretch/>
        </p:blipFill>
        <p:spPr>
          <a:xfrm flipH="1" rot="10800000">
            <a:off x="8293562" y="5361982"/>
            <a:ext cx="3898438" cy="1496018"/>
          </a:xfrm>
          <a:prstGeom prst="rect">
            <a:avLst/>
          </a:prstGeom>
          <a:noFill/>
          <a:ln>
            <a:noFill/>
          </a:ln>
        </p:spPr>
      </p:pic>
      <p:pic>
        <p:nvPicPr>
          <p:cNvPr id="196" name="Google Shape;196;p4"/>
          <p:cNvPicPr preferRelativeResize="0"/>
          <p:nvPr/>
        </p:nvPicPr>
        <p:blipFill rotWithShape="1">
          <a:blip r:embed="rId5">
            <a:alphaModFix/>
          </a:blip>
          <a:srcRect b="48442" l="0" r="0" t="0"/>
          <a:stretch/>
        </p:blipFill>
        <p:spPr>
          <a:xfrm flipH="1" rot="10800000">
            <a:off x="4413537" y="5246791"/>
            <a:ext cx="4171210" cy="1611209"/>
          </a:xfrm>
          <a:prstGeom prst="rect">
            <a:avLst/>
          </a:prstGeom>
          <a:noFill/>
          <a:ln>
            <a:noFill/>
          </a:ln>
        </p:spPr>
      </p:pic>
      <p:sp>
        <p:nvSpPr>
          <p:cNvPr id="197" name="Google Shape;197;p4"/>
          <p:cNvSpPr/>
          <p:nvPr/>
        </p:nvSpPr>
        <p:spPr>
          <a:xfrm>
            <a:off x="5544789" y="0"/>
            <a:ext cx="3642157" cy="1269047"/>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8" name="Google Shape;198;p4"/>
          <p:cNvSpPr/>
          <p:nvPr/>
        </p:nvSpPr>
        <p:spPr>
          <a:xfrm>
            <a:off x="3178277" y="1306541"/>
            <a:ext cx="3642157" cy="1213076"/>
          </a:xfrm>
          <a:prstGeom prst="rect">
            <a:avLst/>
          </a:prstGeom>
          <a:solidFill>
            <a:srgbClr val="66CCFF">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199" name="Google Shape;199;p4"/>
          <p:cNvPicPr preferRelativeResize="0"/>
          <p:nvPr/>
        </p:nvPicPr>
        <p:blipFill rotWithShape="1">
          <a:blip r:embed="rId6">
            <a:alphaModFix/>
          </a:blip>
          <a:srcRect b="0" l="0" r="0" t="0"/>
          <a:stretch/>
        </p:blipFill>
        <p:spPr>
          <a:xfrm>
            <a:off x="1401171" y="5552551"/>
            <a:ext cx="917965" cy="914400"/>
          </a:xfrm>
          <a:prstGeom prst="rect">
            <a:avLst/>
          </a:prstGeom>
          <a:noFill/>
          <a:ln>
            <a:noFill/>
          </a:ln>
        </p:spPr>
      </p:pic>
      <p:sp>
        <p:nvSpPr>
          <p:cNvPr id="200" name="Google Shape;200;p4"/>
          <p:cNvSpPr txBox="1"/>
          <p:nvPr/>
        </p:nvSpPr>
        <p:spPr>
          <a:xfrm>
            <a:off x="327910" y="5728222"/>
            <a:ext cx="2733341" cy="95410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Table of Organization</a:t>
            </a:r>
            <a:endParaRPr b="1" i="0" sz="2800" u="none" cap="none" strike="noStrike">
              <a:solidFill>
                <a:srgbClr val="000000"/>
              </a:solidFill>
              <a:latin typeface="Calibri"/>
              <a:ea typeface="Calibri"/>
              <a:cs typeface="Calibri"/>
              <a:sym typeface="Calibri"/>
            </a:endParaRPr>
          </a:p>
        </p:txBody>
      </p:sp>
      <p:sp>
        <p:nvSpPr>
          <p:cNvPr id="201" name="Google Shape;201;p4"/>
          <p:cNvSpPr/>
          <p:nvPr/>
        </p:nvSpPr>
        <p:spPr>
          <a:xfrm>
            <a:off x="162665" y="5029200"/>
            <a:ext cx="182880" cy="1828800"/>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02" name="Google Shape;202;p4"/>
          <p:cNvGrpSpPr/>
          <p:nvPr/>
        </p:nvGrpSpPr>
        <p:grpSpPr>
          <a:xfrm>
            <a:off x="345545" y="134772"/>
            <a:ext cx="11740438" cy="5240156"/>
            <a:chOff x="345545" y="222607"/>
            <a:chExt cx="11740438" cy="5240156"/>
          </a:xfrm>
        </p:grpSpPr>
        <p:cxnSp>
          <p:nvCxnSpPr>
            <p:cNvPr id="203" name="Google Shape;203;p4"/>
            <p:cNvCxnSpPr/>
            <p:nvPr/>
          </p:nvCxnSpPr>
          <p:spPr>
            <a:xfrm>
              <a:off x="957202" y="2723322"/>
              <a:ext cx="17635" cy="914400"/>
            </a:xfrm>
            <a:prstGeom prst="straightConnector1">
              <a:avLst/>
            </a:prstGeom>
            <a:noFill/>
            <a:ln cap="flat" cmpd="sng" w="9525">
              <a:solidFill>
                <a:schemeClr val="dk1"/>
              </a:solidFill>
              <a:prstDash val="solid"/>
              <a:miter lim="800000"/>
              <a:headEnd len="sm" w="sm" type="none"/>
              <a:tailEnd len="sm" w="sm" type="none"/>
            </a:ln>
          </p:spPr>
        </p:cxnSp>
        <p:cxnSp>
          <p:nvCxnSpPr>
            <p:cNvPr id="204" name="Google Shape;204;p4"/>
            <p:cNvCxnSpPr/>
            <p:nvPr/>
          </p:nvCxnSpPr>
          <p:spPr>
            <a:xfrm>
              <a:off x="3544120" y="2723322"/>
              <a:ext cx="17635" cy="914400"/>
            </a:xfrm>
            <a:prstGeom prst="straightConnector1">
              <a:avLst/>
            </a:prstGeom>
            <a:noFill/>
            <a:ln cap="flat" cmpd="sng" w="9525">
              <a:solidFill>
                <a:schemeClr val="dk1"/>
              </a:solidFill>
              <a:prstDash val="solid"/>
              <a:miter lim="800000"/>
              <a:headEnd len="sm" w="sm" type="none"/>
              <a:tailEnd len="sm" w="sm" type="none"/>
            </a:ln>
          </p:spPr>
        </p:cxnSp>
        <p:cxnSp>
          <p:nvCxnSpPr>
            <p:cNvPr id="205" name="Google Shape;205;p4"/>
            <p:cNvCxnSpPr/>
            <p:nvPr/>
          </p:nvCxnSpPr>
          <p:spPr>
            <a:xfrm>
              <a:off x="8752440" y="2723322"/>
              <a:ext cx="17635" cy="914400"/>
            </a:xfrm>
            <a:prstGeom prst="straightConnector1">
              <a:avLst/>
            </a:prstGeom>
            <a:noFill/>
            <a:ln cap="flat" cmpd="sng" w="9525">
              <a:solidFill>
                <a:schemeClr val="dk1"/>
              </a:solidFill>
              <a:prstDash val="solid"/>
              <a:miter lim="800000"/>
              <a:headEnd len="sm" w="sm" type="none"/>
              <a:tailEnd len="sm" w="sm" type="none"/>
            </a:ln>
          </p:spPr>
        </p:cxnSp>
        <p:cxnSp>
          <p:nvCxnSpPr>
            <p:cNvPr id="206" name="Google Shape;206;p4"/>
            <p:cNvCxnSpPr/>
            <p:nvPr/>
          </p:nvCxnSpPr>
          <p:spPr>
            <a:xfrm>
              <a:off x="11369870" y="2723322"/>
              <a:ext cx="17635" cy="914400"/>
            </a:xfrm>
            <a:prstGeom prst="straightConnector1">
              <a:avLst/>
            </a:prstGeom>
            <a:noFill/>
            <a:ln cap="flat" cmpd="sng" w="9525">
              <a:solidFill>
                <a:schemeClr val="dk1"/>
              </a:solidFill>
              <a:prstDash val="solid"/>
              <a:miter lim="800000"/>
              <a:headEnd len="sm" w="sm" type="none"/>
              <a:tailEnd len="sm" w="sm" type="none"/>
            </a:ln>
          </p:spPr>
        </p:cxnSp>
        <p:cxnSp>
          <p:nvCxnSpPr>
            <p:cNvPr id="207" name="Google Shape;207;p4"/>
            <p:cNvCxnSpPr>
              <a:stCxn id="208" idx="0"/>
              <a:endCxn id="209" idx="2"/>
            </p:cNvCxnSpPr>
            <p:nvPr/>
          </p:nvCxnSpPr>
          <p:spPr>
            <a:xfrm>
              <a:off x="6125817" y="222607"/>
              <a:ext cx="17700" cy="3697200"/>
            </a:xfrm>
            <a:prstGeom prst="straightConnector1">
              <a:avLst/>
            </a:prstGeom>
            <a:noFill/>
            <a:ln cap="flat" cmpd="sng" w="9525">
              <a:solidFill>
                <a:schemeClr val="dk1"/>
              </a:solidFill>
              <a:prstDash val="solid"/>
              <a:miter lim="800000"/>
              <a:headEnd len="sm" w="sm" type="none"/>
              <a:tailEnd len="sm" w="sm" type="none"/>
            </a:ln>
          </p:spPr>
        </p:cxnSp>
        <p:pic>
          <p:nvPicPr>
            <p:cNvPr id="208" name="Google Shape;208;p4"/>
            <p:cNvPicPr preferRelativeResize="0"/>
            <p:nvPr/>
          </p:nvPicPr>
          <p:blipFill rotWithShape="1">
            <a:blip r:embed="rId7">
              <a:alphaModFix/>
            </a:blip>
            <a:srcRect b="0" l="0" r="0" t="0"/>
            <a:stretch/>
          </p:blipFill>
          <p:spPr>
            <a:xfrm>
              <a:off x="5668617" y="222607"/>
              <a:ext cx="914400" cy="829244"/>
            </a:xfrm>
            <a:prstGeom prst="rect">
              <a:avLst/>
            </a:prstGeom>
            <a:noFill/>
            <a:ln cap="flat" cmpd="sng" w="9525">
              <a:solidFill>
                <a:srgbClr val="000000"/>
              </a:solidFill>
              <a:prstDash val="solid"/>
              <a:miter lim="800000"/>
              <a:headEnd len="sm" w="sm" type="none"/>
              <a:tailEnd len="sm" w="sm" type="none"/>
            </a:ln>
          </p:spPr>
        </p:pic>
        <p:sp>
          <p:nvSpPr>
            <p:cNvPr id="210" name="Google Shape;210;p4"/>
            <p:cNvSpPr txBox="1"/>
            <p:nvPr/>
          </p:nvSpPr>
          <p:spPr>
            <a:xfrm>
              <a:off x="6583017" y="222607"/>
              <a:ext cx="236551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A3838"/>
                </a:buClr>
                <a:buSzPts val="1400"/>
                <a:buFont typeface="Calibri"/>
                <a:buNone/>
              </a:pPr>
              <a:r>
                <a:rPr b="1" i="0" lang="en-US" sz="1400" u="none" cap="none" strike="noStrike">
                  <a:solidFill>
                    <a:srgbClr val="3A3838"/>
                  </a:solidFill>
                  <a:latin typeface="Calibri"/>
                  <a:ea typeface="Calibri"/>
                  <a:cs typeface="Calibri"/>
                  <a:sym typeface="Calibri"/>
                </a:rPr>
                <a:t>Karen Casas</a:t>
              </a:r>
              <a:endParaRPr/>
            </a:p>
            <a:p>
              <a:pPr indent="0" lvl="0" marL="0" marR="0" rtl="0" algn="l">
                <a:lnSpc>
                  <a:spcPct val="100000"/>
                </a:lnSpc>
                <a:spcBef>
                  <a:spcPts val="0"/>
                </a:spcBef>
                <a:spcAft>
                  <a:spcPts val="0"/>
                </a:spcAft>
                <a:buClr>
                  <a:srgbClr val="3A3838"/>
                </a:buClr>
                <a:buSzPts val="1400"/>
                <a:buFont typeface="Calibri"/>
                <a:buNone/>
              </a:pPr>
              <a:r>
                <a:rPr b="1" i="0" lang="en-US" sz="1400" u="none" cap="none" strike="noStrike">
                  <a:solidFill>
                    <a:srgbClr val="3A3838"/>
                  </a:solidFill>
                  <a:latin typeface="Calibri"/>
                  <a:ea typeface="Calibri"/>
                  <a:cs typeface="Calibri"/>
                  <a:sym typeface="Calibri"/>
                </a:rPr>
                <a:t>Chief Operations Officer</a:t>
              </a:r>
              <a:endParaRPr b="1" i="0" sz="1400" u="none" cap="none" strike="noStrike">
                <a:solidFill>
                  <a:srgbClr val="3A3838"/>
                </a:solidFill>
                <a:latin typeface="Calibri"/>
                <a:ea typeface="Calibri"/>
                <a:cs typeface="Calibri"/>
                <a:sym typeface="Calibri"/>
              </a:endParaRPr>
            </a:p>
          </p:txBody>
        </p:sp>
        <p:pic>
          <p:nvPicPr>
            <p:cNvPr id="211" name="Google Shape;211;p4">
              <a:hlinkClick action="ppaction://hlinkshowjump?jump=lastslide"/>
            </p:cNvPr>
            <p:cNvPicPr preferRelativeResize="0"/>
            <p:nvPr/>
          </p:nvPicPr>
          <p:blipFill rotWithShape="1">
            <a:blip r:embed="rId8">
              <a:alphaModFix/>
            </a:blip>
            <a:srcRect b="0" l="0" r="0" t="0"/>
            <a:stretch/>
          </p:blipFill>
          <p:spPr>
            <a:xfrm>
              <a:off x="5657824" y="1514285"/>
              <a:ext cx="971253" cy="926756"/>
            </a:xfrm>
            <a:prstGeom prst="rect">
              <a:avLst/>
            </a:prstGeom>
            <a:noFill/>
            <a:ln cap="flat" cmpd="sng" w="9525">
              <a:solidFill>
                <a:schemeClr val="dk1"/>
              </a:solidFill>
              <a:prstDash val="solid"/>
              <a:round/>
              <a:headEnd len="sm" w="sm" type="none"/>
              <a:tailEnd len="sm" w="sm" type="none"/>
            </a:ln>
          </p:spPr>
        </p:pic>
        <p:sp>
          <p:nvSpPr>
            <p:cNvPr id="212" name="Google Shape;212;p4"/>
            <p:cNvSpPr txBox="1"/>
            <p:nvPr/>
          </p:nvSpPr>
          <p:spPr>
            <a:xfrm>
              <a:off x="3178277" y="1514285"/>
              <a:ext cx="2507974"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2060"/>
                </a:buClr>
                <a:buSzPts val="1400"/>
                <a:buFont typeface="Calibri"/>
                <a:buNone/>
              </a:pPr>
              <a:r>
                <a:rPr b="1" i="0" lang="en-US" sz="1400" u="none" cap="none" strike="noStrike">
                  <a:solidFill>
                    <a:srgbClr val="002060"/>
                  </a:solidFill>
                  <a:latin typeface="Calibri"/>
                  <a:ea typeface="Calibri"/>
                  <a:cs typeface="Calibri"/>
                  <a:sym typeface="Calibri"/>
                </a:rPr>
                <a:t>Tina Dizon, PCS, FLMI, FALU</a:t>
              </a:r>
              <a:endParaRPr/>
            </a:p>
            <a:p>
              <a:pPr indent="0" lvl="0" marL="0" marR="0" rtl="0" algn="r">
                <a:lnSpc>
                  <a:spcPct val="100000"/>
                </a:lnSpc>
                <a:spcBef>
                  <a:spcPts val="0"/>
                </a:spcBef>
                <a:spcAft>
                  <a:spcPts val="0"/>
                </a:spcAft>
                <a:buClr>
                  <a:srgbClr val="0070C0"/>
                </a:buClr>
                <a:buSzPts val="1400"/>
                <a:buFont typeface="Calibri"/>
                <a:buNone/>
              </a:pPr>
              <a:r>
                <a:rPr b="1" i="0" lang="en-US" sz="1400" u="none" cap="none" strike="noStrike">
                  <a:solidFill>
                    <a:srgbClr val="0070C0"/>
                  </a:solidFill>
                  <a:latin typeface="Calibri"/>
                  <a:ea typeface="Calibri"/>
                  <a:cs typeface="Calibri"/>
                  <a:sym typeface="Calibri"/>
                </a:rPr>
                <a:t>Head, NB &amp; UW</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Date of Entry: April 1995</a:t>
              </a:r>
              <a:endParaRPr b="0" i="0" sz="1200" u="none" cap="none" strike="noStrike">
                <a:solidFill>
                  <a:srgbClr val="0070C0"/>
                </a:solidFill>
                <a:latin typeface="Calibri"/>
                <a:ea typeface="Calibri"/>
                <a:cs typeface="Calibri"/>
                <a:sym typeface="Calibri"/>
              </a:endParaRPr>
            </a:p>
          </p:txBody>
        </p:sp>
        <p:cxnSp>
          <p:nvCxnSpPr>
            <p:cNvPr id="213" name="Google Shape;213;p4"/>
            <p:cNvCxnSpPr/>
            <p:nvPr/>
          </p:nvCxnSpPr>
          <p:spPr>
            <a:xfrm>
              <a:off x="6583017" y="745827"/>
              <a:ext cx="2004392" cy="0"/>
            </a:xfrm>
            <a:prstGeom prst="straightConnector1">
              <a:avLst/>
            </a:prstGeom>
            <a:noFill/>
            <a:ln cap="flat" cmpd="sng" w="9525">
              <a:solidFill>
                <a:schemeClr val="dk1"/>
              </a:solidFill>
              <a:prstDash val="solid"/>
              <a:miter lim="800000"/>
              <a:headEnd len="sm" w="sm" type="none"/>
              <a:tailEnd len="sm" w="sm" type="none"/>
            </a:ln>
          </p:spPr>
        </p:cxnSp>
        <p:cxnSp>
          <p:nvCxnSpPr>
            <p:cNvPr id="214" name="Google Shape;214;p4"/>
            <p:cNvCxnSpPr/>
            <p:nvPr/>
          </p:nvCxnSpPr>
          <p:spPr>
            <a:xfrm>
              <a:off x="3224154" y="2259693"/>
              <a:ext cx="2378765" cy="0"/>
            </a:xfrm>
            <a:prstGeom prst="straightConnector1">
              <a:avLst/>
            </a:prstGeom>
            <a:noFill/>
            <a:ln cap="flat" cmpd="sng" w="9525">
              <a:solidFill>
                <a:schemeClr val="accent5"/>
              </a:solidFill>
              <a:prstDash val="solid"/>
              <a:miter lim="800000"/>
              <a:headEnd len="sm" w="sm" type="none"/>
              <a:tailEnd len="sm" w="sm" type="none"/>
            </a:ln>
          </p:spPr>
        </p:cxnSp>
        <p:pic>
          <p:nvPicPr>
            <p:cNvPr id="215" name="Google Shape;215;p4"/>
            <p:cNvPicPr preferRelativeResize="0"/>
            <p:nvPr/>
          </p:nvPicPr>
          <p:blipFill rotWithShape="1">
            <a:blip r:embed="rId9">
              <a:alphaModFix/>
            </a:blip>
            <a:srcRect b="0" l="0" r="0" t="0"/>
            <a:stretch/>
          </p:blipFill>
          <p:spPr>
            <a:xfrm>
              <a:off x="500002" y="2903476"/>
              <a:ext cx="914400" cy="1016432"/>
            </a:xfrm>
            <a:prstGeom prst="rect">
              <a:avLst/>
            </a:prstGeom>
            <a:solidFill>
              <a:srgbClr val="FFFF99"/>
            </a:solidFill>
            <a:ln cap="flat" cmpd="sng" w="9525">
              <a:solidFill>
                <a:schemeClr val="dk1"/>
              </a:solidFill>
              <a:prstDash val="solid"/>
              <a:round/>
              <a:headEnd len="sm" w="sm" type="none"/>
              <a:tailEnd len="sm" w="sm" type="none"/>
            </a:ln>
          </p:spPr>
        </p:pic>
        <p:pic>
          <p:nvPicPr>
            <p:cNvPr id="216" name="Google Shape;216;p4"/>
            <p:cNvPicPr preferRelativeResize="0"/>
            <p:nvPr/>
          </p:nvPicPr>
          <p:blipFill rotWithShape="1">
            <a:blip r:embed="rId10">
              <a:alphaModFix/>
            </a:blip>
            <a:srcRect b="0" l="0" r="0" t="0"/>
            <a:stretch/>
          </p:blipFill>
          <p:spPr>
            <a:xfrm>
              <a:off x="3078886" y="2903477"/>
              <a:ext cx="919969" cy="1016432"/>
            </a:xfrm>
            <a:prstGeom prst="rect">
              <a:avLst/>
            </a:prstGeom>
            <a:noFill/>
            <a:ln cap="flat" cmpd="sng" w="9525">
              <a:solidFill>
                <a:schemeClr val="dk1"/>
              </a:solidFill>
              <a:prstDash val="solid"/>
              <a:round/>
              <a:headEnd len="sm" w="sm" type="none"/>
              <a:tailEnd len="sm" w="sm" type="none"/>
            </a:ln>
          </p:spPr>
        </p:pic>
        <p:pic>
          <p:nvPicPr>
            <p:cNvPr id="209" name="Google Shape;209;p4"/>
            <p:cNvPicPr preferRelativeResize="0"/>
            <p:nvPr/>
          </p:nvPicPr>
          <p:blipFill rotWithShape="1">
            <a:blip r:embed="rId11">
              <a:alphaModFix/>
            </a:blip>
            <a:srcRect b="43986" l="40701" r="34026" t="12025"/>
            <a:stretch/>
          </p:blipFill>
          <p:spPr>
            <a:xfrm>
              <a:off x="5657825" y="2903476"/>
              <a:ext cx="971253" cy="1016432"/>
            </a:xfrm>
            <a:prstGeom prst="rect">
              <a:avLst/>
            </a:prstGeom>
            <a:noFill/>
            <a:ln cap="flat" cmpd="sng" w="9525">
              <a:solidFill>
                <a:schemeClr val="dk1"/>
              </a:solidFill>
              <a:prstDash val="solid"/>
              <a:round/>
              <a:headEnd len="sm" w="sm" type="none"/>
              <a:tailEnd len="sm" w="sm" type="none"/>
            </a:ln>
          </p:spPr>
        </p:pic>
        <p:pic>
          <p:nvPicPr>
            <p:cNvPr id="217" name="Google Shape;217;p4"/>
            <p:cNvPicPr preferRelativeResize="0"/>
            <p:nvPr/>
          </p:nvPicPr>
          <p:blipFill rotWithShape="1">
            <a:blip r:embed="rId12">
              <a:alphaModFix/>
            </a:blip>
            <a:srcRect b="36142" l="40776" r="26501" t="11490"/>
            <a:stretch/>
          </p:blipFill>
          <p:spPr>
            <a:xfrm>
              <a:off x="8293562" y="2903475"/>
              <a:ext cx="885689" cy="1016433"/>
            </a:xfrm>
            <a:prstGeom prst="rect">
              <a:avLst/>
            </a:prstGeom>
            <a:noFill/>
            <a:ln cap="flat" cmpd="sng" w="9525">
              <a:solidFill>
                <a:schemeClr val="dk1"/>
              </a:solidFill>
              <a:prstDash val="solid"/>
              <a:round/>
              <a:headEnd len="sm" w="sm" type="none"/>
              <a:tailEnd len="sm" w="sm" type="none"/>
            </a:ln>
          </p:spPr>
        </p:pic>
        <p:pic>
          <p:nvPicPr>
            <p:cNvPr descr="C:\Users\pj66\Pictures\other - event\mam grace1.jpg" id="218" name="Google Shape;218;p4"/>
            <p:cNvPicPr preferRelativeResize="0"/>
            <p:nvPr/>
          </p:nvPicPr>
          <p:blipFill rotWithShape="1">
            <a:blip r:embed="rId13">
              <a:alphaModFix/>
            </a:blip>
            <a:srcRect b="37040" l="43881" r="42836" t="40742"/>
            <a:stretch/>
          </p:blipFill>
          <p:spPr>
            <a:xfrm>
              <a:off x="10843735" y="2903475"/>
              <a:ext cx="914400" cy="1016433"/>
            </a:xfrm>
            <a:prstGeom prst="rect">
              <a:avLst/>
            </a:prstGeom>
            <a:noFill/>
            <a:ln cap="flat" cmpd="sng" w="9525">
              <a:solidFill>
                <a:schemeClr val="dk1"/>
              </a:solidFill>
              <a:prstDash val="solid"/>
              <a:miter lim="800000"/>
              <a:headEnd len="sm" w="sm" type="none"/>
              <a:tailEnd len="sm" w="sm" type="none"/>
            </a:ln>
          </p:spPr>
        </p:pic>
        <p:sp>
          <p:nvSpPr>
            <p:cNvPr id="219" name="Google Shape;219;p4"/>
            <p:cNvSpPr txBox="1"/>
            <p:nvPr/>
          </p:nvSpPr>
          <p:spPr>
            <a:xfrm>
              <a:off x="345545" y="3982891"/>
              <a:ext cx="1868638" cy="11387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Vilma Tubig, PCS, FLMI </a:t>
              </a:r>
              <a:endParaRPr b="1"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3</a:t>
              </a:r>
              <a:endParaRPr/>
            </a:p>
            <a:p>
              <a:pPr indent="0" lvl="0" marL="0" marR="0" rtl="0" algn="l">
                <a:lnSpc>
                  <a:spcPct val="100000"/>
                </a:lnSpc>
                <a:spcBef>
                  <a:spcPts val="0"/>
                </a:spcBef>
                <a:spcAft>
                  <a:spcPts val="0"/>
                </a:spcAft>
                <a:buClr>
                  <a:srgbClr val="C55A11"/>
                </a:buClr>
                <a:buSzPts val="1400"/>
                <a:buFont typeface="Calibri"/>
                <a:buNone/>
              </a:pPr>
              <a:r>
                <a:rPr b="1" i="0" lang="en-US" sz="1400" u="none" cap="none" strike="noStrike">
                  <a:solidFill>
                    <a:srgbClr val="C55A11"/>
                  </a:solidFill>
                  <a:latin typeface="Calibri"/>
                  <a:ea typeface="Calibri"/>
                  <a:cs typeface="Calibri"/>
                  <a:sym typeface="Calibri"/>
                </a:rPr>
                <a:t>NB Review, Facilitating</a:t>
              </a:r>
              <a:endParaRPr/>
            </a:p>
            <a:p>
              <a:pPr indent="0" lvl="0" marL="0" marR="0" rtl="0" algn="l">
                <a:lnSpc>
                  <a:spcPct val="100000"/>
                </a:lnSpc>
                <a:spcBef>
                  <a:spcPts val="0"/>
                </a:spcBef>
                <a:spcAft>
                  <a:spcPts val="0"/>
                </a:spcAft>
                <a:buClr>
                  <a:srgbClr val="C55A11"/>
                </a:buClr>
                <a:buSzPts val="1400"/>
                <a:buFont typeface="Calibri"/>
                <a:buNone/>
              </a:pPr>
              <a:r>
                <a:rPr b="1" i="0" lang="en-US" sz="1400" u="none" cap="none" strike="noStrike">
                  <a:solidFill>
                    <a:srgbClr val="C55A11"/>
                  </a:solidFill>
                  <a:latin typeface="Calibri"/>
                  <a:ea typeface="Calibri"/>
                  <a:cs typeface="Calibri"/>
                  <a:sym typeface="Calibri"/>
                </a:rPr>
                <a:t>and Post-Issue</a:t>
              </a:r>
              <a:endParaRPr/>
            </a:p>
            <a:p>
              <a:pPr indent="0" lvl="0" marL="0" marR="0" rtl="0" algn="l">
                <a:lnSpc>
                  <a:spcPct val="100000"/>
                </a:lnSpc>
                <a:spcBef>
                  <a:spcPts val="0"/>
                </a:spcBef>
                <a:spcAft>
                  <a:spcPts val="0"/>
                </a:spcAft>
                <a:buClr>
                  <a:srgbClr val="C55A11"/>
                </a:buClr>
                <a:buSzPts val="1200"/>
                <a:buFont typeface="Calibri"/>
                <a:buNone/>
              </a:pPr>
              <a:r>
                <a:rPr b="0" i="0" lang="en-US" sz="1200" u="none" cap="none" strike="noStrike">
                  <a:solidFill>
                    <a:srgbClr val="C55A11"/>
                  </a:solidFill>
                  <a:latin typeface="Calibri"/>
                  <a:ea typeface="Calibri"/>
                  <a:cs typeface="Calibri"/>
                  <a:sym typeface="Calibri"/>
                </a:rPr>
                <a:t>Date of Entry: Nov 1999</a:t>
              </a:r>
              <a:endParaRPr b="0" i="0" sz="1200" u="none" cap="none" strike="noStrike">
                <a:solidFill>
                  <a:srgbClr val="C55A11"/>
                </a:solidFill>
                <a:latin typeface="Calibri"/>
                <a:ea typeface="Calibri"/>
                <a:cs typeface="Calibri"/>
                <a:sym typeface="Calibri"/>
              </a:endParaRPr>
            </a:p>
          </p:txBody>
        </p:sp>
        <p:sp>
          <p:nvSpPr>
            <p:cNvPr id="220" name="Google Shape;220;p4"/>
            <p:cNvSpPr txBox="1"/>
            <p:nvPr/>
          </p:nvSpPr>
          <p:spPr>
            <a:xfrm>
              <a:off x="2989434" y="3982891"/>
              <a:ext cx="2345635"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Lara Miguel, ACS, FLMI, FALU </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3</a:t>
              </a:r>
              <a:endParaRPr/>
            </a:p>
            <a:p>
              <a:pPr indent="0" lvl="0" marL="0" marR="0" rtl="0" algn="l">
                <a:lnSpc>
                  <a:spcPct val="100000"/>
                </a:lnSpc>
                <a:spcBef>
                  <a:spcPts val="0"/>
                </a:spcBef>
                <a:spcAft>
                  <a:spcPts val="0"/>
                </a:spcAft>
                <a:buClr>
                  <a:srgbClr val="548135"/>
                </a:buClr>
                <a:buSzPts val="1400"/>
                <a:buFont typeface="Calibri"/>
                <a:buNone/>
              </a:pPr>
              <a:r>
                <a:rPr b="1" i="0" lang="en-US" sz="1400" u="none" cap="none" strike="noStrike">
                  <a:solidFill>
                    <a:srgbClr val="548135"/>
                  </a:solidFill>
                  <a:latin typeface="Calibri"/>
                  <a:ea typeface="Calibri"/>
                  <a:cs typeface="Calibri"/>
                  <a:sym typeface="Calibri"/>
                </a:rPr>
                <a:t>SLOCPI Territory 1</a:t>
              </a:r>
              <a:endParaRPr/>
            </a:p>
            <a:p>
              <a:pPr indent="0" lvl="0" marL="0" marR="0" rtl="0" algn="l">
                <a:lnSpc>
                  <a:spcPct val="100000"/>
                </a:lnSpc>
                <a:spcBef>
                  <a:spcPts val="0"/>
                </a:spcBef>
                <a:spcAft>
                  <a:spcPts val="0"/>
                </a:spcAft>
                <a:buClr>
                  <a:srgbClr val="548135"/>
                </a:buClr>
                <a:buSzPts val="1200"/>
                <a:buFont typeface="Calibri"/>
                <a:buNone/>
              </a:pPr>
              <a:r>
                <a:rPr b="0" i="0" lang="en-US" sz="1200" u="none" cap="none" strike="noStrike">
                  <a:solidFill>
                    <a:srgbClr val="548135"/>
                  </a:solidFill>
                  <a:latin typeface="Calibri"/>
                  <a:ea typeface="Calibri"/>
                  <a:cs typeface="Calibri"/>
                  <a:sym typeface="Calibri"/>
                </a:rPr>
                <a:t>Date of Entry: Feb 1997</a:t>
              </a:r>
              <a:endParaRPr b="0" i="0" sz="1200" u="none" cap="none" strike="noStrike">
                <a:solidFill>
                  <a:srgbClr val="54813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1" i="0" lang="en-US" sz="1200" u="none" cap="none" strike="noStrike">
                  <a:solidFill>
                    <a:srgbClr val="000000"/>
                  </a:solidFill>
                  <a:latin typeface="Calibri"/>
                  <a:ea typeface="Calibri"/>
                  <a:cs typeface="Calibri"/>
                  <a:sym typeface="Calibri"/>
                </a:rPr>
                <a:t>Territory 1 Head Partner – Al Quitangon (30 Branches)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548135"/>
                </a:solidFill>
                <a:latin typeface="Calibri"/>
                <a:ea typeface="Calibri"/>
                <a:cs typeface="Calibri"/>
                <a:sym typeface="Calibri"/>
              </a:endParaRPr>
            </a:p>
          </p:txBody>
        </p:sp>
        <p:sp>
          <p:nvSpPr>
            <p:cNvPr id="221" name="Google Shape;221;p4"/>
            <p:cNvSpPr txBox="1"/>
            <p:nvPr/>
          </p:nvSpPr>
          <p:spPr>
            <a:xfrm>
              <a:off x="5527226" y="3985435"/>
              <a:ext cx="2643890"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Malou Ramos, ACS, FLMI, FALU</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3</a:t>
              </a:r>
              <a:endParaRPr/>
            </a:p>
            <a:p>
              <a:pPr indent="0" lvl="0" marL="0" marR="0" rtl="0" algn="l">
                <a:lnSpc>
                  <a:spcPct val="100000"/>
                </a:lnSpc>
                <a:spcBef>
                  <a:spcPts val="0"/>
                </a:spcBef>
                <a:spcAft>
                  <a:spcPts val="0"/>
                </a:spcAft>
                <a:buClr>
                  <a:srgbClr val="2F5496"/>
                </a:buClr>
                <a:buSzPts val="1400"/>
                <a:buFont typeface="Calibri"/>
                <a:buNone/>
              </a:pPr>
              <a:r>
                <a:rPr b="1" i="0" lang="en-US" sz="1400" u="none" cap="none" strike="noStrike">
                  <a:solidFill>
                    <a:srgbClr val="2F5496"/>
                  </a:solidFill>
                  <a:latin typeface="Calibri"/>
                  <a:ea typeface="Calibri"/>
                  <a:cs typeface="Calibri"/>
                  <a:sym typeface="Calibri"/>
                </a:rPr>
                <a:t>SLOCPI Territory 2</a:t>
              </a:r>
              <a:endParaRPr/>
            </a:p>
            <a:p>
              <a:pPr indent="0" lvl="0" marL="0" marR="0" rtl="0" algn="l">
                <a:lnSpc>
                  <a:spcPct val="100000"/>
                </a:lnSpc>
                <a:spcBef>
                  <a:spcPts val="0"/>
                </a:spcBef>
                <a:spcAft>
                  <a:spcPts val="0"/>
                </a:spcAft>
                <a:buClr>
                  <a:srgbClr val="2F5496"/>
                </a:buClr>
                <a:buSzPts val="1200"/>
                <a:buFont typeface="Calibri"/>
                <a:buNone/>
              </a:pPr>
              <a:r>
                <a:rPr b="0" i="0" lang="en-US" sz="1200" u="none" cap="none" strike="noStrike">
                  <a:solidFill>
                    <a:srgbClr val="2F5496"/>
                  </a:solidFill>
                  <a:latin typeface="Calibri"/>
                  <a:ea typeface="Calibri"/>
                  <a:cs typeface="Calibri"/>
                  <a:sym typeface="Calibri"/>
                </a:rPr>
                <a:t>Date of Entry: Aug 1989</a:t>
              </a:r>
              <a:endParaRPr/>
            </a:p>
            <a:p>
              <a:pPr indent="0" lvl="0" marL="0" marR="0" rtl="0" algn="l">
                <a:lnSpc>
                  <a:spcPct val="100000"/>
                </a:lnSpc>
                <a:spcBef>
                  <a:spcPts val="0"/>
                </a:spcBef>
                <a:spcAft>
                  <a:spcPts val="0"/>
                </a:spcAft>
                <a:buClr>
                  <a:srgbClr val="000000"/>
                </a:buClr>
                <a:buSzPts val="1200"/>
                <a:buFont typeface="Calibri"/>
                <a:buNone/>
              </a:pPr>
              <a:r>
                <a:rPr b="1" i="0" lang="en-US" sz="1200" u="none" cap="none" strike="noStrike">
                  <a:solidFill>
                    <a:srgbClr val="000000"/>
                  </a:solidFill>
                  <a:latin typeface="Calibri"/>
                  <a:ea typeface="Calibri"/>
                  <a:cs typeface="Calibri"/>
                  <a:sym typeface="Calibri"/>
                </a:rPr>
                <a:t>Territory 2 Head Partner – Tim Crisologo  (33 branches</a:t>
              </a:r>
              <a:r>
                <a:rPr b="0" i="0" lang="en-US" sz="1200" u="none" cap="none" strike="noStrike">
                  <a:solidFill>
                    <a:srgbClr val="000000"/>
                  </a:solidFill>
                  <a:latin typeface="Calibri"/>
                  <a:ea typeface="Calibri"/>
                  <a:cs typeface="Calibri"/>
                  <a:sym typeface="Calibri"/>
                </a:rPr>
                <a:t>)</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2F5496"/>
                </a:solidFill>
                <a:latin typeface="Calibri"/>
                <a:ea typeface="Calibri"/>
                <a:cs typeface="Calibri"/>
                <a:sym typeface="Calibri"/>
              </a:endParaRPr>
            </a:p>
          </p:txBody>
        </p:sp>
        <p:sp>
          <p:nvSpPr>
            <p:cNvPr id="222" name="Google Shape;222;p4"/>
            <p:cNvSpPr txBox="1"/>
            <p:nvPr/>
          </p:nvSpPr>
          <p:spPr>
            <a:xfrm>
              <a:off x="8171116" y="3982891"/>
              <a:ext cx="2322362" cy="13542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Dalla Labisto, PCS, FLMI, FALU</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2</a:t>
              </a:r>
              <a:endParaRPr/>
            </a:p>
            <a:p>
              <a:pPr indent="0" lvl="0" marL="0" marR="0" rtl="0" algn="l">
                <a:lnSpc>
                  <a:spcPct val="100000"/>
                </a:lnSpc>
                <a:spcBef>
                  <a:spcPts val="0"/>
                </a:spcBef>
                <a:spcAft>
                  <a:spcPts val="0"/>
                </a:spcAft>
                <a:buClr>
                  <a:srgbClr val="800000"/>
                </a:buClr>
                <a:buSzPts val="1400"/>
                <a:buFont typeface="Calibri"/>
                <a:buNone/>
              </a:pPr>
              <a:r>
                <a:rPr b="1" i="0" lang="en-US" sz="1400" u="none" cap="none" strike="noStrike">
                  <a:solidFill>
                    <a:srgbClr val="800000"/>
                  </a:solidFill>
                  <a:latin typeface="Calibri"/>
                  <a:ea typeface="Calibri"/>
                  <a:cs typeface="Calibri"/>
                  <a:sym typeface="Calibri"/>
                </a:rPr>
                <a:t>SLGFI, Post Issue, Group and Technical Support for SLOCPI and SLGFI</a:t>
              </a:r>
              <a:endParaRPr/>
            </a:p>
            <a:p>
              <a:pPr indent="0" lvl="0" marL="0" marR="0" rtl="0" algn="l">
                <a:lnSpc>
                  <a:spcPct val="100000"/>
                </a:lnSpc>
                <a:spcBef>
                  <a:spcPts val="0"/>
                </a:spcBef>
                <a:spcAft>
                  <a:spcPts val="0"/>
                </a:spcAft>
                <a:buClr>
                  <a:srgbClr val="800000"/>
                </a:buClr>
                <a:buSzPts val="1200"/>
                <a:buFont typeface="Calibri"/>
                <a:buNone/>
              </a:pPr>
              <a:r>
                <a:rPr b="0" i="0" lang="en-US" sz="1200" u="none" cap="none" strike="noStrike">
                  <a:solidFill>
                    <a:srgbClr val="800000"/>
                  </a:solidFill>
                  <a:latin typeface="Calibri"/>
                  <a:ea typeface="Calibri"/>
                  <a:cs typeface="Calibri"/>
                  <a:sym typeface="Calibri"/>
                </a:rPr>
                <a:t>Date of Entry: Jan 2011</a:t>
              </a:r>
              <a:endParaRPr b="0" i="0" sz="1200" u="none" cap="none" strike="noStrike">
                <a:solidFill>
                  <a:srgbClr val="800000"/>
                </a:solidFill>
                <a:latin typeface="Calibri"/>
                <a:ea typeface="Calibri"/>
                <a:cs typeface="Calibri"/>
                <a:sym typeface="Calibri"/>
              </a:endParaRPr>
            </a:p>
          </p:txBody>
        </p:sp>
        <p:sp>
          <p:nvSpPr>
            <p:cNvPr id="223" name="Google Shape;223;p4"/>
            <p:cNvSpPr txBox="1"/>
            <p:nvPr/>
          </p:nvSpPr>
          <p:spPr>
            <a:xfrm>
              <a:off x="10671394" y="3982891"/>
              <a:ext cx="1414589" cy="11079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Grace Repuyan,</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ACS, FLMI, FALU</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Consultant</a:t>
              </a:r>
              <a:endParaRPr b="1"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Date of Entry: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Oct 1985</a:t>
              </a:r>
              <a:endParaRPr/>
            </a:p>
          </p:txBody>
        </p:sp>
        <p:cxnSp>
          <p:nvCxnSpPr>
            <p:cNvPr id="224" name="Google Shape;224;p4"/>
            <p:cNvCxnSpPr/>
            <p:nvPr/>
          </p:nvCxnSpPr>
          <p:spPr>
            <a:xfrm flipH="1" rot="10800000">
              <a:off x="957202" y="2723322"/>
              <a:ext cx="10421486" cy="4482"/>
            </a:xfrm>
            <a:prstGeom prst="straightConnector1">
              <a:avLst/>
            </a:prstGeom>
            <a:noFill/>
            <a:ln cap="flat" cmpd="sng" w="9525">
              <a:solidFill>
                <a:schemeClr val="dk1"/>
              </a:solidFill>
              <a:prstDash val="solid"/>
              <a:miter lim="800000"/>
              <a:headEnd len="sm" w="sm" type="none"/>
              <a:tailEnd len="sm" w="sm" type="none"/>
            </a:ln>
          </p:spPr>
        </p:cxnSp>
      </p:grpSp>
      <p:pic>
        <p:nvPicPr>
          <p:cNvPr id="225" name="Google Shape;225;p4"/>
          <p:cNvPicPr preferRelativeResize="0"/>
          <p:nvPr/>
        </p:nvPicPr>
        <p:blipFill rotWithShape="1">
          <a:blip r:embed="rId14">
            <a:alphaModFix/>
          </a:blip>
          <a:srcRect b="48442" l="0" r="0" t="0"/>
          <a:stretch/>
        </p:blipFill>
        <p:spPr>
          <a:xfrm flipH="1" rot="10800000">
            <a:off x="2399626" y="5240195"/>
            <a:ext cx="4171210" cy="1611209"/>
          </a:xfrm>
          <a:prstGeom prst="rect">
            <a:avLst/>
          </a:prstGeom>
          <a:noFill/>
          <a:ln>
            <a:noFill/>
          </a:ln>
        </p:spPr>
      </p:pic>
      <p:sp>
        <p:nvSpPr>
          <p:cNvPr id="226" name="Google Shape;226;p4"/>
          <p:cNvSpPr/>
          <p:nvPr/>
        </p:nvSpPr>
        <p:spPr>
          <a:xfrm>
            <a:off x="183731" y="436803"/>
            <a:ext cx="863192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A3838"/>
              </a:buClr>
              <a:buSzPts val="2400"/>
              <a:buFont typeface="Calibri"/>
              <a:buNone/>
            </a:pPr>
            <a:r>
              <a:rPr b="1" i="0" lang="en-US" sz="2400" u="none" cap="none" strike="noStrike">
                <a:solidFill>
                  <a:srgbClr val="3A3838"/>
                </a:solidFill>
                <a:latin typeface="Calibri"/>
                <a:ea typeface="Calibri"/>
                <a:cs typeface="Calibri"/>
                <a:sym typeface="Calibri"/>
              </a:rPr>
              <a:t>New Business and Underwriting Services</a:t>
            </a:r>
            <a:endParaRPr b="1" i="0" sz="18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5"/>
          <p:cNvSpPr/>
          <p:nvPr/>
        </p:nvSpPr>
        <p:spPr>
          <a:xfrm>
            <a:off x="5544789" y="0"/>
            <a:ext cx="3642157" cy="1269047"/>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33" name="Google Shape;233;p5"/>
          <p:cNvSpPr/>
          <p:nvPr/>
        </p:nvSpPr>
        <p:spPr>
          <a:xfrm>
            <a:off x="3178277" y="1306541"/>
            <a:ext cx="3642157" cy="1213076"/>
          </a:xfrm>
          <a:prstGeom prst="rect">
            <a:avLst/>
          </a:prstGeom>
          <a:solidFill>
            <a:srgbClr val="66CCFF">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34" name="Google Shape;234;p5"/>
          <p:cNvGrpSpPr/>
          <p:nvPr/>
        </p:nvGrpSpPr>
        <p:grpSpPr>
          <a:xfrm>
            <a:off x="64411" y="5029200"/>
            <a:ext cx="12127589" cy="1852020"/>
            <a:chOff x="64411" y="5029200"/>
            <a:chExt cx="12127589" cy="1852020"/>
          </a:xfrm>
        </p:grpSpPr>
        <p:pic>
          <p:nvPicPr>
            <p:cNvPr id="235" name="Google Shape;235;p5"/>
            <p:cNvPicPr preferRelativeResize="0"/>
            <p:nvPr/>
          </p:nvPicPr>
          <p:blipFill rotWithShape="1">
            <a:blip r:embed="rId3">
              <a:alphaModFix/>
            </a:blip>
            <a:srcRect b="48442" l="0" r="0" t="0"/>
            <a:stretch/>
          </p:blipFill>
          <p:spPr>
            <a:xfrm flipH="1" rot="10800000">
              <a:off x="64411" y="5270011"/>
              <a:ext cx="4171210" cy="1611209"/>
            </a:xfrm>
            <a:prstGeom prst="rect">
              <a:avLst/>
            </a:prstGeom>
            <a:noFill/>
            <a:ln>
              <a:noFill/>
            </a:ln>
          </p:spPr>
        </p:pic>
        <p:pic>
          <p:nvPicPr>
            <p:cNvPr id="236" name="Google Shape;236;p5"/>
            <p:cNvPicPr preferRelativeResize="0"/>
            <p:nvPr/>
          </p:nvPicPr>
          <p:blipFill rotWithShape="1">
            <a:blip r:embed="rId3">
              <a:alphaModFix/>
            </a:blip>
            <a:srcRect b="48442" l="0" r="0" t="0"/>
            <a:stretch/>
          </p:blipFill>
          <p:spPr>
            <a:xfrm flipH="1" rot="10800000">
              <a:off x="8293562" y="5361982"/>
              <a:ext cx="3898438" cy="1496018"/>
            </a:xfrm>
            <a:prstGeom prst="rect">
              <a:avLst/>
            </a:prstGeom>
            <a:noFill/>
            <a:ln>
              <a:noFill/>
            </a:ln>
          </p:spPr>
        </p:pic>
        <p:pic>
          <p:nvPicPr>
            <p:cNvPr id="237" name="Google Shape;237;p5"/>
            <p:cNvPicPr preferRelativeResize="0"/>
            <p:nvPr/>
          </p:nvPicPr>
          <p:blipFill rotWithShape="1">
            <a:blip r:embed="rId3">
              <a:alphaModFix/>
            </a:blip>
            <a:srcRect b="48442" l="0" r="0" t="0"/>
            <a:stretch/>
          </p:blipFill>
          <p:spPr>
            <a:xfrm flipH="1" rot="10800000">
              <a:off x="4413537" y="5246791"/>
              <a:ext cx="4171210" cy="1611209"/>
            </a:xfrm>
            <a:prstGeom prst="rect">
              <a:avLst/>
            </a:prstGeom>
            <a:noFill/>
            <a:ln>
              <a:noFill/>
            </a:ln>
          </p:spPr>
        </p:pic>
        <p:pic>
          <p:nvPicPr>
            <p:cNvPr id="238" name="Google Shape;238;p5"/>
            <p:cNvPicPr preferRelativeResize="0"/>
            <p:nvPr/>
          </p:nvPicPr>
          <p:blipFill rotWithShape="1">
            <a:blip r:embed="rId3">
              <a:alphaModFix/>
            </a:blip>
            <a:srcRect b="48442" l="0" r="0" t="0"/>
            <a:stretch/>
          </p:blipFill>
          <p:spPr>
            <a:xfrm flipH="1" rot="10800000">
              <a:off x="2399626" y="5240195"/>
              <a:ext cx="4171210" cy="1611209"/>
            </a:xfrm>
            <a:prstGeom prst="rect">
              <a:avLst/>
            </a:prstGeom>
            <a:noFill/>
            <a:ln>
              <a:noFill/>
            </a:ln>
          </p:spPr>
        </p:pic>
        <p:pic>
          <p:nvPicPr>
            <p:cNvPr id="239" name="Google Shape;239;p5"/>
            <p:cNvPicPr preferRelativeResize="0"/>
            <p:nvPr/>
          </p:nvPicPr>
          <p:blipFill rotWithShape="1">
            <a:blip r:embed="rId4">
              <a:alphaModFix/>
            </a:blip>
            <a:srcRect b="0" l="0" r="0" t="0"/>
            <a:stretch/>
          </p:blipFill>
          <p:spPr>
            <a:xfrm>
              <a:off x="1401171" y="5552551"/>
              <a:ext cx="917965" cy="914400"/>
            </a:xfrm>
            <a:prstGeom prst="rect">
              <a:avLst/>
            </a:prstGeom>
            <a:noFill/>
            <a:ln>
              <a:noFill/>
            </a:ln>
          </p:spPr>
        </p:pic>
        <p:sp>
          <p:nvSpPr>
            <p:cNvPr id="240" name="Google Shape;240;p5"/>
            <p:cNvSpPr txBox="1"/>
            <p:nvPr/>
          </p:nvSpPr>
          <p:spPr>
            <a:xfrm>
              <a:off x="327910" y="5943665"/>
              <a:ext cx="4781119" cy="52322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Underwriting Services</a:t>
              </a:r>
              <a:endParaRPr b="1" i="0" sz="2800" u="none" cap="none" strike="noStrike">
                <a:solidFill>
                  <a:srgbClr val="000000"/>
                </a:solidFill>
                <a:latin typeface="Calibri"/>
                <a:ea typeface="Calibri"/>
                <a:cs typeface="Calibri"/>
                <a:sym typeface="Calibri"/>
              </a:endParaRPr>
            </a:p>
          </p:txBody>
        </p:sp>
        <p:sp>
          <p:nvSpPr>
            <p:cNvPr id="241" name="Google Shape;241;p5"/>
            <p:cNvSpPr/>
            <p:nvPr/>
          </p:nvSpPr>
          <p:spPr>
            <a:xfrm>
              <a:off x="162665" y="5029200"/>
              <a:ext cx="182880" cy="1828800"/>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242" name="Google Shape;242;p5"/>
          <p:cNvGrpSpPr/>
          <p:nvPr/>
        </p:nvGrpSpPr>
        <p:grpSpPr>
          <a:xfrm>
            <a:off x="2989434" y="134772"/>
            <a:ext cx="9096549" cy="5329944"/>
            <a:chOff x="2989434" y="222607"/>
            <a:chExt cx="9096549" cy="5329944"/>
          </a:xfrm>
        </p:grpSpPr>
        <p:cxnSp>
          <p:nvCxnSpPr>
            <p:cNvPr id="243" name="Google Shape;243;p5"/>
            <p:cNvCxnSpPr/>
            <p:nvPr/>
          </p:nvCxnSpPr>
          <p:spPr>
            <a:xfrm>
              <a:off x="3544120" y="2723322"/>
              <a:ext cx="17635" cy="914400"/>
            </a:xfrm>
            <a:prstGeom prst="straightConnector1">
              <a:avLst/>
            </a:prstGeom>
            <a:noFill/>
            <a:ln cap="flat" cmpd="sng" w="9525">
              <a:solidFill>
                <a:schemeClr val="dk1"/>
              </a:solidFill>
              <a:prstDash val="solid"/>
              <a:miter lim="800000"/>
              <a:headEnd len="sm" w="sm" type="none"/>
              <a:tailEnd len="sm" w="sm" type="none"/>
            </a:ln>
          </p:spPr>
        </p:cxnSp>
        <p:cxnSp>
          <p:nvCxnSpPr>
            <p:cNvPr id="244" name="Google Shape;244;p5"/>
            <p:cNvCxnSpPr/>
            <p:nvPr/>
          </p:nvCxnSpPr>
          <p:spPr>
            <a:xfrm>
              <a:off x="8752440" y="2723322"/>
              <a:ext cx="17635" cy="914400"/>
            </a:xfrm>
            <a:prstGeom prst="straightConnector1">
              <a:avLst/>
            </a:prstGeom>
            <a:noFill/>
            <a:ln cap="flat" cmpd="sng" w="9525">
              <a:solidFill>
                <a:schemeClr val="dk1"/>
              </a:solidFill>
              <a:prstDash val="solid"/>
              <a:miter lim="800000"/>
              <a:headEnd len="sm" w="sm" type="none"/>
              <a:tailEnd len="sm" w="sm" type="none"/>
            </a:ln>
          </p:spPr>
        </p:cxnSp>
        <p:cxnSp>
          <p:nvCxnSpPr>
            <p:cNvPr id="245" name="Google Shape;245;p5"/>
            <p:cNvCxnSpPr/>
            <p:nvPr/>
          </p:nvCxnSpPr>
          <p:spPr>
            <a:xfrm>
              <a:off x="11369870" y="2723322"/>
              <a:ext cx="17635" cy="914400"/>
            </a:xfrm>
            <a:prstGeom prst="straightConnector1">
              <a:avLst/>
            </a:prstGeom>
            <a:noFill/>
            <a:ln cap="flat" cmpd="sng" w="9525">
              <a:solidFill>
                <a:schemeClr val="dk1"/>
              </a:solidFill>
              <a:prstDash val="solid"/>
              <a:miter lim="800000"/>
              <a:headEnd len="sm" w="sm" type="none"/>
              <a:tailEnd len="sm" w="sm" type="none"/>
            </a:ln>
          </p:spPr>
        </p:cxnSp>
        <p:cxnSp>
          <p:nvCxnSpPr>
            <p:cNvPr id="246" name="Google Shape;246;p5"/>
            <p:cNvCxnSpPr>
              <a:stCxn id="247" idx="0"/>
              <a:endCxn id="248" idx="2"/>
            </p:cNvCxnSpPr>
            <p:nvPr/>
          </p:nvCxnSpPr>
          <p:spPr>
            <a:xfrm>
              <a:off x="6125817" y="222607"/>
              <a:ext cx="17700" cy="3697200"/>
            </a:xfrm>
            <a:prstGeom prst="straightConnector1">
              <a:avLst/>
            </a:prstGeom>
            <a:noFill/>
            <a:ln cap="flat" cmpd="sng" w="9525">
              <a:solidFill>
                <a:schemeClr val="dk1"/>
              </a:solidFill>
              <a:prstDash val="solid"/>
              <a:miter lim="800000"/>
              <a:headEnd len="sm" w="sm" type="none"/>
              <a:tailEnd len="sm" w="sm" type="none"/>
            </a:ln>
          </p:spPr>
        </p:cxnSp>
        <p:pic>
          <p:nvPicPr>
            <p:cNvPr id="247" name="Google Shape;247;p5"/>
            <p:cNvPicPr preferRelativeResize="0"/>
            <p:nvPr/>
          </p:nvPicPr>
          <p:blipFill rotWithShape="1">
            <a:blip r:embed="rId5">
              <a:alphaModFix/>
            </a:blip>
            <a:srcRect b="0" l="0" r="0" t="0"/>
            <a:stretch/>
          </p:blipFill>
          <p:spPr>
            <a:xfrm>
              <a:off x="5668617" y="222607"/>
              <a:ext cx="914400" cy="829244"/>
            </a:xfrm>
            <a:prstGeom prst="rect">
              <a:avLst/>
            </a:prstGeom>
            <a:noFill/>
            <a:ln cap="flat" cmpd="sng" w="9525">
              <a:solidFill>
                <a:srgbClr val="000000"/>
              </a:solidFill>
              <a:prstDash val="solid"/>
              <a:miter lim="800000"/>
              <a:headEnd len="sm" w="sm" type="none"/>
              <a:tailEnd len="sm" w="sm" type="none"/>
            </a:ln>
          </p:spPr>
        </p:pic>
        <p:sp>
          <p:nvSpPr>
            <p:cNvPr id="249" name="Google Shape;249;p5"/>
            <p:cNvSpPr txBox="1"/>
            <p:nvPr/>
          </p:nvSpPr>
          <p:spPr>
            <a:xfrm>
              <a:off x="6583017" y="222607"/>
              <a:ext cx="236551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A3838"/>
                </a:buClr>
                <a:buSzPts val="1400"/>
                <a:buFont typeface="Calibri"/>
                <a:buNone/>
              </a:pPr>
              <a:r>
                <a:rPr b="1" i="0" lang="en-US" sz="1400" u="none" cap="none" strike="noStrike">
                  <a:solidFill>
                    <a:srgbClr val="3A3838"/>
                  </a:solidFill>
                  <a:latin typeface="Calibri"/>
                  <a:ea typeface="Calibri"/>
                  <a:cs typeface="Calibri"/>
                  <a:sym typeface="Calibri"/>
                </a:rPr>
                <a:t>Karen Casas</a:t>
              </a:r>
              <a:endParaRPr/>
            </a:p>
            <a:p>
              <a:pPr indent="0" lvl="0" marL="0" marR="0" rtl="0" algn="l">
                <a:lnSpc>
                  <a:spcPct val="100000"/>
                </a:lnSpc>
                <a:spcBef>
                  <a:spcPts val="0"/>
                </a:spcBef>
                <a:spcAft>
                  <a:spcPts val="0"/>
                </a:spcAft>
                <a:buClr>
                  <a:srgbClr val="3A3838"/>
                </a:buClr>
                <a:buSzPts val="1400"/>
                <a:buFont typeface="Calibri"/>
                <a:buNone/>
              </a:pPr>
              <a:r>
                <a:rPr b="1" i="0" lang="en-US" sz="1400" u="none" cap="none" strike="noStrike">
                  <a:solidFill>
                    <a:srgbClr val="3A3838"/>
                  </a:solidFill>
                  <a:latin typeface="Calibri"/>
                  <a:ea typeface="Calibri"/>
                  <a:cs typeface="Calibri"/>
                  <a:sym typeface="Calibri"/>
                </a:rPr>
                <a:t>Chief Operations Officer</a:t>
              </a:r>
              <a:endParaRPr b="1" i="0" sz="1400" u="none" cap="none" strike="noStrike">
                <a:solidFill>
                  <a:srgbClr val="3A3838"/>
                </a:solidFill>
                <a:latin typeface="Calibri"/>
                <a:ea typeface="Calibri"/>
                <a:cs typeface="Calibri"/>
                <a:sym typeface="Calibri"/>
              </a:endParaRPr>
            </a:p>
          </p:txBody>
        </p:sp>
        <p:pic>
          <p:nvPicPr>
            <p:cNvPr id="250" name="Google Shape;250;p5">
              <a:hlinkClick action="ppaction://hlinkshowjump?jump=lastslide"/>
            </p:cNvPr>
            <p:cNvPicPr preferRelativeResize="0"/>
            <p:nvPr/>
          </p:nvPicPr>
          <p:blipFill rotWithShape="1">
            <a:blip r:embed="rId6">
              <a:alphaModFix/>
            </a:blip>
            <a:srcRect b="0" l="0" r="0" t="0"/>
            <a:stretch/>
          </p:blipFill>
          <p:spPr>
            <a:xfrm>
              <a:off x="5657824" y="1514285"/>
              <a:ext cx="971253" cy="926756"/>
            </a:xfrm>
            <a:prstGeom prst="rect">
              <a:avLst/>
            </a:prstGeom>
            <a:noFill/>
            <a:ln cap="flat" cmpd="sng" w="9525">
              <a:solidFill>
                <a:schemeClr val="dk1"/>
              </a:solidFill>
              <a:prstDash val="solid"/>
              <a:round/>
              <a:headEnd len="sm" w="sm" type="none"/>
              <a:tailEnd len="sm" w="sm" type="none"/>
            </a:ln>
          </p:spPr>
        </p:pic>
        <p:sp>
          <p:nvSpPr>
            <p:cNvPr id="251" name="Google Shape;251;p5"/>
            <p:cNvSpPr txBox="1"/>
            <p:nvPr/>
          </p:nvSpPr>
          <p:spPr>
            <a:xfrm>
              <a:off x="3178277" y="1514285"/>
              <a:ext cx="2507974"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2060"/>
                </a:buClr>
                <a:buSzPts val="1400"/>
                <a:buFont typeface="Calibri"/>
                <a:buNone/>
              </a:pPr>
              <a:r>
                <a:rPr b="1" i="0" lang="en-US" sz="1400" u="none" cap="none" strike="noStrike">
                  <a:solidFill>
                    <a:srgbClr val="002060"/>
                  </a:solidFill>
                  <a:latin typeface="Calibri"/>
                  <a:ea typeface="Calibri"/>
                  <a:cs typeface="Calibri"/>
                  <a:sym typeface="Calibri"/>
                </a:rPr>
                <a:t>Tina Dizon, PCS, FLMI, FALU</a:t>
              </a:r>
              <a:endParaRPr/>
            </a:p>
            <a:p>
              <a:pPr indent="0" lvl="0" marL="0" marR="0" rtl="0" algn="r">
                <a:lnSpc>
                  <a:spcPct val="100000"/>
                </a:lnSpc>
                <a:spcBef>
                  <a:spcPts val="0"/>
                </a:spcBef>
                <a:spcAft>
                  <a:spcPts val="0"/>
                </a:spcAft>
                <a:buClr>
                  <a:srgbClr val="0070C0"/>
                </a:buClr>
                <a:buSzPts val="1400"/>
                <a:buFont typeface="Calibri"/>
                <a:buNone/>
              </a:pPr>
              <a:r>
                <a:rPr b="1" i="0" lang="en-US" sz="1400" u="none" cap="none" strike="noStrike">
                  <a:solidFill>
                    <a:srgbClr val="0070C0"/>
                  </a:solidFill>
                  <a:latin typeface="Calibri"/>
                  <a:ea typeface="Calibri"/>
                  <a:cs typeface="Calibri"/>
                  <a:sym typeface="Calibri"/>
                </a:rPr>
                <a:t>Head, NB &amp; UW</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Date of Entry: April 1995</a:t>
              </a:r>
              <a:endParaRPr b="0" i="0" sz="1200" u="none" cap="none" strike="noStrike">
                <a:solidFill>
                  <a:srgbClr val="0070C0"/>
                </a:solidFill>
                <a:latin typeface="Calibri"/>
                <a:ea typeface="Calibri"/>
                <a:cs typeface="Calibri"/>
                <a:sym typeface="Calibri"/>
              </a:endParaRPr>
            </a:p>
          </p:txBody>
        </p:sp>
        <p:cxnSp>
          <p:nvCxnSpPr>
            <p:cNvPr id="252" name="Google Shape;252;p5"/>
            <p:cNvCxnSpPr/>
            <p:nvPr/>
          </p:nvCxnSpPr>
          <p:spPr>
            <a:xfrm>
              <a:off x="6583017" y="745827"/>
              <a:ext cx="2004392" cy="0"/>
            </a:xfrm>
            <a:prstGeom prst="straightConnector1">
              <a:avLst/>
            </a:prstGeom>
            <a:noFill/>
            <a:ln cap="flat" cmpd="sng" w="9525">
              <a:solidFill>
                <a:schemeClr val="dk1"/>
              </a:solidFill>
              <a:prstDash val="solid"/>
              <a:miter lim="800000"/>
              <a:headEnd len="sm" w="sm" type="none"/>
              <a:tailEnd len="sm" w="sm" type="none"/>
            </a:ln>
          </p:spPr>
        </p:cxnSp>
        <p:cxnSp>
          <p:nvCxnSpPr>
            <p:cNvPr id="253" name="Google Shape;253;p5"/>
            <p:cNvCxnSpPr/>
            <p:nvPr/>
          </p:nvCxnSpPr>
          <p:spPr>
            <a:xfrm>
              <a:off x="3224154" y="2259693"/>
              <a:ext cx="2378765" cy="0"/>
            </a:xfrm>
            <a:prstGeom prst="straightConnector1">
              <a:avLst/>
            </a:prstGeom>
            <a:noFill/>
            <a:ln cap="flat" cmpd="sng" w="9525">
              <a:solidFill>
                <a:schemeClr val="accent5"/>
              </a:solidFill>
              <a:prstDash val="solid"/>
              <a:miter lim="800000"/>
              <a:headEnd len="sm" w="sm" type="none"/>
              <a:tailEnd len="sm" w="sm" type="none"/>
            </a:ln>
          </p:spPr>
        </p:cxnSp>
        <p:pic>
          <p:nvPicPr>
            <p:cNvPr id="254" name="Google Shape;254;p5"/>
            <p:cNvPicPr preferRelativeResize="0"/>
            <p:nvPr/>
          </p:nvPicPr>
          <p:blipFill rotWithShape="1">
            <a:blip r:embed="rId7">
              <a:alphaModFix/>
            </a:blip>
            <a:srcRect b="0" l="0" r="0" t="0"/>
            <a:stretch/>
          </p:blipFill>
          <p:spPr>
            <a:xfrm>
              <a:off x="3078886" y="2903477"/>
              <a:ext cx="919969" cy="1016432"/>
            </a:xfrm>
            <a:prstGeom prst="rect">
              <a:avLst/>
            </a:prstGeom>
            <a:noFill/>
            <a:ln cap="flat" cmpd="sng" w="9525">
              <a:solidFill>
                <a:schemeClr val="dk1"/>
              </a:solidFill>
              <a:prstDash val="solid"/>
              <a:round/>
              <a:headEnd len="sm" w="sm" type="none"/>
              <a:tailEnd len="sm" w="sm" type="none"/>
            </a:ln>
          </p:spPr>
        </p:pic>
        <p:pic>
          <p:nvPicPr>
            <p:cNvPr id="248" name="Google Shape;248;p5"/>
            <p:cNvPicPr preferRelativeResize="0"/>
            <p:nvPr/>
          </p:nvPicPr>
          <p:blipFill rotWithShape="1">
            <a:blip r:embed="rId8">
              <a:alphaModFix/>
            </a:blip>
            <a:srcRect b="43986" l="40701" r="34026" t="12025"/>
            <a:stretch/>
          </p:blipFill>
          <p:spPr>
            <a:xfrm>
              <a:off x="5657825" y="2903476"/>
              <a:ext cx="971253" cy="1016432"/>
            </a:xfrm>
            <a:prstGeom prst="rect">
              <a:avLst/>
            </a:prstGeom>
            <a:noFill/>
            <a:ln cap="flat" cmpd="sng" w="9525">
              <a:solidFill>
                <a:schemeClr val="dk1"/>
              </a:solidFill>
              <a:prstDash val="solid"/>
              <a:round/>
              <a:headEnd len="sm" w="sm" type="none"/>
              <a:tailEnd len="sm" w="sm" type="none"/>
            </a:ln>
          </p:spPr>
        </p:pic>
        <p:pic>
          <p:nvPicPr>
            <p:cNvPr id="255" name="Google Shape;255;p5"/>
            <p:cNvPicPr preferRelativeResize="0"/>
            <p:nvPr/>
          </p:nvPicPr>
          <p:blipFill rotWithShape="1">
            <a:blip r:embed="rId9">
              <a:alphaModFix/>
            </a:blip>
            <a:srcRect b="36142" l="40776" r="26501" t="11490"/>
            <a:stretch/>
          </p:blipFill>
          <p:spPr>
            <a:xfrm>
              <a:off x="8293562" y="2903475"/>
              <a:ext cx="885689" cy="1016433"/>
            </a:xfrm>
            <a:prstGeom prst="rect">
              <a:avLst/>
            </a:prstGeom>
            <a:noFill/>
            <a:ln cap="flat" cmpd="sng" w="9525">
              <a:solidFill>
                <a:schemeClr val="dk1"/>
              </a:solidFill>
              <a:prstDash val="solid"/>
              <a:round/>
              <a:headEnd len="sm" w="sm" type="none"/>
              <a:tailEnd len="sm" w="sm" type="none"/>
            </a:ln>
          </p:spPr>
        </p:pic>
        <p:pic>
          <p:nvPicPr>
            <p:cNvPr descr="C:\Users\pj66\Pictures\other - event\mam grace1.jpg" id="256" name="Google Shape;256;p5"/>
            <p:cNvPicPr preferRelativeResize="0"/>
            <p:nvPr/>
          </p:nvPicPr>
          <p:blipFill rotWithShape="1">
            <a:blip r:embed="rId10">
              <a:alphaModFix/>
            </a:blip>
            <a:srcRect b="37040" l="43881" r="42836" t="40742"/>
            <a:stretch/>
          </p:blipFill>
          <p:spPr>
            <a:xfrm>
              <a:off x="10843735" y="2903475"/>
              <a:ext cx="914400" cy="1016433"/>
            </a:xfrm>
            <a:prstGeom prst="rect">
              <a:avLst/>
            </a:prstGeom>
            <a:noFill/>
            <a:ln cap="flat" cmpd="sng" w="9525">
              <a:solidFill>
                <a:schemeClr val="dk1"/>
              </a:solidFill>
              <a:prstDash val="solid"/>
              <a:miter lim="800000"/>
              <a:headEnd len="sm" w="sm" type="none"/>
              <a:tailEnd len="sm" w="sm" type="none"/>
            </a:ln>
          </p:spPr>
        </p:pic>
        <p:sp>
          <p:nvSpPr>
            <p:cNvPr id="257" name="Google Shape;257;p5"/>
            <p:cNvSpPr txBox="1"/>
            <p:nvPr/>
          </p:nvSpPr>
          <p:spPr>
            <a:xfrm>
              <a:off x="2989434" y="3982891"/>
              <a:ext cx="2345635"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Lara Miguel, ACS, FLMI, FALU </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3</a:t>
              </a:r>
              <a:endParaRPr/>
            </a:p>
            <a:p>
              <a:pPr indent="0" lvl="0" marL="0" marR="0" rtl="0" algn="l">
                <a:lnSpc>
                  <a:spcPct val="100000"/>
                </a:lnSpc>
                <a:spcBef>
                  <a:spcPts val="0"/>
                </a:spcBef>
                <a:spcAft>
                  <a:spcPts val="0"/>
                </a:spcAft>
                <a:buClr>
                  <a:srgbClr val="548135"/>
                </a:buClr>
                <a:buSzPts val="1400"/>
                <a:buFont typeface="Calibri"/>
                <a:buNone/>
              </a:pPr>
              <a:r>
                <a:rPr b="1" i="0" lang="en-US" sz="1400" u="none" cap="none" strike="noStrike">
                  <a:solidFill>
                    <a:srgbClr val="548135"/>
                  </a:solidFill>
                  <a:latin typeface="Calibri"/>
                  <a:ea typeface="Calibri"/>
                  <a:cs typeface="Calibri"/>
                  <a:sym typeface="Calibri"/>
                </a:rPr>
                <a:t>SLOCPI Territory 1</a:t>
              </a:r>
              <a:endParaRPr/>
            </a:p>
            <a:p>
              <a:pPr indent="0" lvl="0" marL="0" marR="0" rtl="0" algn="l">
                <a:lnSpc>
                  <a:spcPct val="100000"/>
                </a:lnSpc>
                <a:spcBef>
                  <a:spcPts val="0"/>
                </a:spcBef>
                <a:spcAft>
                  <a:spcPts val="0"/>
                </a:spcAft>
                <a:buClr>
                  <a:srgbClr val="548135"/>
                </a:buClr>
                <a:buSzPts val="1200"/>
                <a:buFont typeface="Calibri"/>
                <a:buNone/>
              </a:pPr>
              <a:r>
                <a:rPr b="0" i="0" lang="en-US" sz="1200" u="none" cap="none" strike="noStrike">
                  <a:solidFill>
                    <a:srgbClr val="548135"/>
                  </a:solidFill>
                  <a:latin typeface="Calibri"/>
                  <a:ea typeface="Calibri"/>
                  <a:cs typeface="Calibri"/>
                  <a:sym typeface="Calibri"/>
                </a:rPr>
                <a:t>Date of Entry: Feb 1997</a:t>
              </a:r>
              <a:endParaRPr b="0" i="0" sz="1200" u="none" cap="none" strike="noStrike">
                <a:solidFill>
                  <a:srgbClr val="548135"/>
                </a:solidFill>
                <a:latin typeface="Calibri"/>
                <a:ea typeface="Calibri"/>
                <a:cs typeface="Calibri"/>
                <a:sym typeface="Calibri"/>
              </a:endParaRPr>
            </a:p>
          </p:txBody>
        </p:sp>
        <p:sp>
          <p:nvSpPr>
            <p:cNvPr id="258" name="Google Shape;258;p5"/>
            <p:cNvSpPr txBox="1"/>
            <p:nvPr/>
          </p:nvSpPr>
          <p:spPr>
            <a:xfrm>
              <a:off x="5527226" y="3985435"/>
              <a:ext cx="264389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Malou Ramos, ACS, FLMI, FALU</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3</a:t>
              </a:r>
              <a:endParaRPr/>
            </a:p>
            <a:p>
              <a:pPr indent="0" lvl="0" marL="0" marR="0" rtl="0" algn="l">
                <a:lnSpc>
                  <a:spcPct val="100000"/>
                </a:lnSpc>
                <a:spcBef>
                  <a:spcPts val="0"/>
                </a:spcBef>
                <a:spcAft>
                  <a:spcPts val="0"/>
                </a:spcAft>
                <a:buClr>
                  <a:srgbClr val="2F5496"/>
                </a:buClr>
                <a:buSzPts val="1400"/>
                <a:buFont typeface="Calibri"/>
                <a:buNone/>
              </a:pPr>
              <a:r>
                <a:rPr b="1" i="0" lang="en-US" sz="1400" u="none" cap="none" strike="noStrike">
                  <a:solidFill>
                    <a:srgbClr val="2F5496"/>
                  </a:solidFill>
                  <a:latin typeface="Calibri"/>
                  <a:ea typeface="Calibri"/>
                  <a:cs typeface="Calibri"/>
                  <a:sym typeface="Calibri"/>
                </a:rPr>
                <a:t>SLOCPI Territory 2</a:t>
              </a:r>
              <a:endParaRPr/>
            </a:p>
            <a:p>
              <a:pPr indent="0" lvl="0" marL="0" marR="0" rtl="0" algn="l">
                <a:lnSpc>
                  <a:spcPct val="100000"/>
                </a:lnSpc>
                <a:spcBef>
                  <a:spcPts val="0"/>
                </a:spcBef>
                <a:spcAft>
                  <a:spcPts val="0"/>
                </a:spcAft>
                <a:buClr>
                  <a:srgbClr val="2F5496"/>
                </a:buClr>
                <a:buSzPts val="1200"/>
                <a:buFont typeface="Calibri"/>
                <a:buNone/>
              </a:pPr>
              <a:r>
                <a:rPr b="0" i="0" lang="en-US" sz="1200" u="none" cap="none" strike="noStrike">
                  <a:solidFill>
                    <a:srgbClr val="2F5496"/>
                  </a:solidFill>
                  <a:latin typeface="Calibri"/>
                  <a:ea typeface="Calibri"/>
                  <a:cs typeface="Calibri"/>
                  <a:sym typeface="Calibri"/>
                </a:rPr>
                <a:t>Date of Entry: Aug 1989</a:t>
              </a:r>
              <a:endParaRPr b="0" i="0" sz="1200" u="none" cap="none" strike="noStrike">
                <a:solidFill>
                  <a:srgbClr val="2F5496"/>
                </a:solidFill>
                <a:latin typeface="Calibri"/>
                <a:ea typeface="Calibri"/>
                <a:cs typeface="Calibri"/>
                <a:sym typeface="Calibri"/>
              </a:endParaRPr>
            </a:p>
          </p:txBody>
        </p:sp>
        <p:sp>
          <p:nvSpPr>
            <p:cNvPr id="259" name="Google Shape;259;p5"/>
            <p:cNvSpPr txBox="1"/>
            <p:nvPr/>
          </p:nvSpPr>
          <p:spPr>
            <a:xfrm>
              <a:off x="8171116" y="3982891"/>
              <a:ext cx="2322362"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Dalla Labisto, ACS, PCS, ALMI, FLMI, FALU</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2</a:t>
              </a:r>
              <a:endParaRPr/>
            </a:p>
            <a:p>
              <a:pPr indent="0" lvl="0" marL="0" marR="0" rtl="0" algn="l">
                <a:lnSpc>
                  <a:spcPct val="100000"/>
                </a:lnSpc>
                <a:spcBef>
                  <a:spcPts val="0"/>
                </a:spcBef>
                <a:spcAft>
                  <a:spcPts val="0"/>
                </a:spcAft>
                <a:buClr>
                  <a:srgbClr val="800000"/>
                </a:buClr>
                <a:buSzPts val="1400"/>
                <a:buFont typeface="Calibri"/>
                <a:buNone/>
              </a:pPr>
              <a:r>
                <a:rPr b="1" i="0" lang="en-US" sz="1400" u="none" cap="none" strike="noStrike">
                  <a:solidFill>
                    <a:srgbClr val="800000"/>
                  </a:solidFill>
                  <a:latin typeface="Calibri"/>
                  <a:ea typeface="Calibri"/>
                  <a:cs typeface="Calibri"/>
                  <a:sym typeface="Calibri"/>
                </a:rPr>
                <a:t>SLGFI, Post Issue, Group and Technical Support for SLOCPI and SLGFI</a:t>
              </a:r>
              <a:endParaRPr/>
            </a:p>
            <a:p>
              <a:pPr indent="0" lvl="0" marL="0" marR="0" rtl="0" algn="l">
                <a:lnSpc>
                  <a:spcPct val="100000"/>
                </a:lnSpc>
                <a:spcBef>
                  <a:spcPts val="0"/>
                </a:spcBef>
                <a:spcAft>
                  <a:spcPts val="0"/>
                </a:spcAft>
                <a:buClr>
                  <a:srgbClr val="800000"/>
                </a:buClr>
                <a:buSzPts val="1200"/>
                <a:buFont typeface="Calibri"/>
                <a:buNone/>
              </a:pPr>
              <a:r>
                <a:rPr b="0" i="0" lang="en-US" sz="1200" u="none" cap="none" strike="noStrike">
                  <a:solidFill>
                    <a:srgbClr val="800000"/>
                  </a:solidFill>
                  <a:latin typeface="Calibri"/>
                  <a:ea typeface="Calibri"/>
                  <a:cs typeface="Calibri"/>
                  <a:sym typeface="Calibri"/>
                </a:rPr>
                <a:t>Date of Entry: Jan 2011</a:t>
              </a:r>
              <a:endParaRPr b="0" i="0" sz="1200" u="none" cap="none" strike="noStrike">
                <a:solidFill>
                  <a:srgbClr val="800000"/>
                </a:solidFill>
                <a:latin typeface="Calibri"/>
                <a:ea typeface="Calibri"/>
                <a:cs typeface="Calibri"/>
                <a:sym typeface="Calibri"/>
              </a:endParaRPr>
            </a:p>
          </p:txBody>
        </p:sp>
        <p:sp>
          <p:nvSpPr>
            <p:cNvPr id="260" name="Google Shape;260;p5"/>
            <p:cNvSpPr txBox="1"/>
            <p:nvPr/>
          </p:nvSpPr>
          <p:spPr>
            <a:xfrm>
              <a:off x="10671394" y="3982891"/>
              <a:ext cx="1414589" cy="11079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Grace Repuyan,</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ACS, FLMI, FALU</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Consultant</a:t>
              </a:r>
              <a:endParaRPr b="1"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Date of Entry: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Oct 1985</a:t>
              </a:r>
              <a:endParaRPr/>
            </a:p>
          </p:txBody>
        </p:sp>
        <p:cxnSp>
          <p:nvCxnSpPr>
            <p:cNvPr id="261" name="Google Shape;261;p5"/>
            <p:cNvCxnSpPr/>
            <p:nvPr/>
          </p:nvCxnSpPr>
          <p:spPr>
            <a:xfrm>
              <a:off x="3552937" y="2712058"/>
              <a:ext cx="7825751" cy="11264"/>
            </a:xfrm>
            <a:prstGeom prst="straightConnector1">
              <a:avLst/>
            </a:prstGeom>
            <a:noFill/>
            <a:ln cap="flat" cmpd="sng" w="9525">
              <a:solidFill>
                <a:schemeClr val="dk1"/>
              </a:solidFill>
              <a:prstDash val="solid"/>
              <a:miter lim="800000"/>
              <a:headEnd len="sm" w="sm" type="none"/>
              <a:tailEnd len="sm" w="sm" type="none"/>
            </a:ln>
          </p:spPr>
        </p:cxnSp>
      </p:grpSp>
      <p:sp>
        <p:nvSpPr>
          <p:cNvPr id="262" name="Google Shape;262;p5"/>
          <p:cNvSpPr txBox="1"/>
          <p:nvPr/>
        </p:nvSpPr>
        <p:spPr>
          <a:xfrm>
            <a:off x="180660" y="1293167"/>
            <a:ext cx="2806260" cy="1972254"/>
          </a:xfrm>
          <a:prstGeom prst="rect">
            <a:avLst/>
          </a:prstGeom>
          <a:noFill/>
          <a:ln cap="flat" cmpd="sng" w="9525">
            <a:solidFill>
              <a:schemeClr val="accent6"/>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l">
              <a:lnSpc>
                <a:spcPct val="100000"/>
              </a:lnSpc>
              <a:spcBef>
                <a:spcPts val="0"/>
              </a:spcBef>
              <a:spcAft>
                <a:spcPts val="0"/>
              </a:spcAft>
              <a:buClr>
                <a:srgbClr val="000000"/>
              </a:buClr>
              <a:buSzPts val="800"/>
              <a:buFont typeface="Calibri"/>
              <a:buNone/>
            </a:pPr>
            <a:r>
              <a:rPr b="1" i="0" lang="en-US" sz="800" u="none" cap="none" strike="noStrike">
                <a:solidFill>
                  <a:srgbClr val="000000"/>
                </a:solidFill>
                <a:latin typeface="Calibri"/>
                <a:ea typeface="Calibri"/>
                <a:cs typeface="Calibri"/>
                <a:sym typeface="Calibri"/>
              </a:rPr>
              <a:t>Territory 1 Head Partner – Al Quitangon (30 Branches)</a:t>
            </a:r>
            <a:endParaRPr b="0" i="0" sz="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BAOBAB 	HYPERION TREE	OSMANTHUS</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BIRCH 	IRONWOOD	PHOENIX PALM</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CEDAR 	JOSHUA TREE	REAP ISO</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CYPRESS 	KARRI	RED SPRUCE</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DIAMOND TREE	LAURELWOOD	RED SYCAMORE</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DURIAN 	MAJESTY	REDWOOD</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EMPRESS	MANGO	ROYAL POINCIANA</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EUCALYPTUS	MANGROVE	SAKURA</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GOLDENRAIN 	MULBERRY	TINDALO     </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GREEN FIR	NARRA	TJIKKO</a:t>
            </a:r>
            <a:endParaRPr/>
          </a:p>
        </p:txBody>
      </p:sp>
      <p:sp>
        <p:nvSpPr>
          <p:cNvPr id="263" name="Google Shape;263;p5"/>
          <p:cNvSpPr txBox="1"/>
          <p:nvPr/>
        </p:nvSpPr>
        <p:spPr>
          <a:xfrm>
            <a:off x="180660" y="3669165"/>
            <a:ext cx="2806260" cy="1971222"/>
          </a:xfrm>
          <a:prstGeom prst="rect">
            <a:avLst/>
          </a:prstGeom>
          <a:noFill/>
          <a:ln cap="flat" cmpd="sng" w="9525">
            <a:solidFill>
              <a:schemeClr val="accent5"/>
            </a:solidFill>
            <a:prstDash val="solid"/>
            <a:round/>
            <a:headEnd len="sm" w="sm" type="none"/>
            <a:tailEnd len="sm" w="sm" type="none"/>
          </a:ln>
        </p:spPr>
        <p:txBody>
          <a:bodyPr anchorCtr="0" anchor="ctr" bIns="34275" lIns="68550" spcFirstLastPara="1" rIns="68550" wrap="square" tIns="34275">
            <a:noAutofit/>
          </a:bodyPr>
          <a:lstStyle/>
          <a:p>
            <a:pPr indent="0" lvl="0" marL="0" marR="0" rtl="0" algn="l">
              <a:lnSpc>
                <a:spcPct val="100000"/>
              </a:lnSpc>
              <a:spcBef>
                <a:spcPts val="0"/>
              </a:spcBef>
              <a:spcAft>
                <a:spcPts val="0"/>
              </a:spcAft>
              <a:buClr>
                <a:srgbClr val="000000"/>
              </a:buClr>
              <a:buSzPts val="800"/>
              <a:buFont typeface="Calibri"/>
              <a:buNone/>
            </a:pPr>
            <a:r>
              <a:rPr b="1" i="0" lang="en-US" sz="800" u="none" cap="none" strike="noStrike">
                <a:solidFill>
                  <a:srgbClr val="000000"/>
                </a:solidFill>
                <a:latin typeface="Calibri"/>
                <a:ea typeface="Calibri"/>
                <a:cs typeface="Calibri"/>
                <a:sym typeface="Calibri"/>
              </a:rPr>
              <a:t>Territory 2 Head Partner – Mon Sto. Domingo (33 branches</a:t>
            </a:r>
            <a:r>
              <a:rPr b="0" i="0" lang="en-US" sz="800" u="none" cap="none" strike="noStrike">
                <a:solidFill>
                  <a:srgbClr val="000000"/>
                </a:solidFill>
                <a:latin typeface="Calibri"/>
                <a:ea typeface="Calibri"/>
                <a:cs typeface="Calibri"/>
                <a:sym typeface="Calibri"/>
              </a:rPr>
              <a:t>)</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ACACIA	COPAIBA	JARRAH </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ALMOND	CORINTHIAN	MAGNOLIA WOODS</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ANGEL OAK	COTTONWOOD         	MIRACLE TREE</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BAMBOO	DAU	MOLAVE</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BAYWOOD 	DRAGONWOOD   	MULAWIN</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BLUEWOOD	EVERGREEN	OLIVE</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BRISTLECONE	GENUS PINE	PALM</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CANONBALL	HEATHER TREE	QUEBRACHO</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CHESTNUT	IRON OAK	ROSEWOOD</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COACHWOOD          	IVY	SEQUOIA </a:t>
            </a:r>
            <a:endParaRPr/>
          </a:p>
          <a:p>
            <a:pPr indent="0" lvl="0" marL="0" marR="0" rtl="0" algn="l">
              <a:lnSpc>
                <a:spcPct val="100000"/>
              </a:lnSpc>
              <a:spcBef>
                <a:spcPts val="0"/>
              </a:spcBef>
              <a:spcAft>
                <a:spcPts val="0"/>
              </a:spcAft>
              <a:buClr>
                <a:srgbClr val="000000"/>
              </a:buClr>
              <a:buSzPts val="800"/>
              <a:buFont typeface="Calibri"/>
              <a:buNone/>
            </a:pPr>
            <a:r>
              <a:rPr b="0" i="0" lang="en-US" sz="800" u="none" cap="none" strike="noStrike">
                <a:solidFill>
                  <a:srgbClr val="000000"/>
                </a:solidFill>
                <a:latin typeface="Calibri"/>
                <a:ea typeface="Calibri"/>
                <a:cs typeface="Calibri"/>
                <a:sym typeface="Calibri"/>
              </a:rPr>
              <a:t>COCONUT	JACARANDA	TREE OF LIFE 	   </a:t>
            </a:r>
            <a:endParaRPr b="0" i="0" sz="800" u="none" cap="none" strike="noStrike">
              <a:solidFill>
                <a:srgbClr val="000000"/>
              </a:solidFill>
              <a:latin typeface="Calibri"/>
              <a:ea typeface="Calibri"/>
              <a:cs typeface="Calibri"/>
              <a:sym typeface="Calibri"/>
            </a:endParaRPr>
          </a:p>
        </p:txBody>
      </p:sp>
      <p:sp>
        <p:nvSpPr>
          <p:cNvPr id="264" name="Google Shape;264;p5"/>
          <p:cNvSpPr txBox="1"/>
          <p:nvPr/>
        </p:nvSpPr>
        <p:spPr>
          <a:xfrm>
            <a:off x="119200" y="963970"/>
            <a:ext cx="18833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1" i="0" lang="en-US" sz="1800" u="none" cap="none" strike="noStrike">
                <a:solidFill>
                  <a:srgbClr val="000000"/>
                </a:solidFill>
                <a:latin typeface="Calibri"/>
                <a:ea typeface="Calibri"/>
                <a:cs typeface="Calibri"/>
                <a:sym typeface="Calibri"/>
              </a:rPr>
              <a:t>Territory 1</a:t>
            </a:r>
            <a:endParaRPr b="1" i="0" sz="1800" u="none" cap="none" strike="noStrike">
              <a:solidFill>
                <a:srgbClr val="000000"/>
              </a:solidFill>
              <a:latin typeface="Calibri"/>
              <a:ea typeface="Calibri"/>
              <a:cs typeface="Calibri"/>
              <a:sym typeface="Calibri"/>
            </a:endParaRPr>
          </a:p>
        </p:txBody>
      </p:sp>
      <p:sp>
        <p:nvSpPr>
          <p:cNvPr id="265" name="Google Shape;265;p5"/>
          <p:cNvSpPr txBox="1"/>
          <p:nvPr/>
        </p:nvSpPr>
        <p:spPr>
          <a:xfrm>
            <a:off x="163097" y="3294973"/>
            <a:ext cx="18833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1" i="0" lang="en-US" sz="1800" u="none" cap="none" strike="noStrike">
                <a:solidFill>
                  <a:srgbClr val="000000"/>
                </a:solidFill>
                <a:latin typeface="Calibri"/>
                <a:ea typeface="Calibri"/>
                <a:cs typeface="Calibri"/>
                <a:sym typeface="Calibri"/>
              </a:rPr>
              <a:t>Territory 2</a:t>
            </a:r>
            <a:endParaRPr b="1" i="0" sz="1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1000"/>
                                        <p:tgtEl>
                                          <p:spTgt spid="262"/>
                                        </p:tgtEl>
                                      </p:cBhvr>
                                    </p:animEffect>
                                  </p:childTnLst>
                                </p:cTn>
                              </p:par>
                              <p:par>
                                <p:cTn fill="hold" nodeType="with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10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1000"/>
                                        <p:tgtEl>
                                          <p:spTgt spid="263"/>
                                        </p:tgtEl>
                                      </p:cBhvr>
                                    </p:animEffect>
                                  </p:childTnLst>
                                </p:cTn>
                              </p:par>
                              <p:par>
                                <p:cTn fill="hold" nodeType="with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000"/>
                                        <p:tgtEl>
                                          <p:spTgt spid="2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p6"/>
          <p:cNvPicPr preferRelativeResize="0"/>
          <p:nvPr/>
        </p:nvPicPr>
        <p:blipFill rotWithShape="1">
          <a:blip r:embed="rId3">
            <a:alphaModFix/>
          </a:blip>
          <a:srcRect b="48442" l="0" r="0" t="0"/>
          <a:stretch/>
        </p:blipFill>
        <p:spPr>
          <a:xfrm flipH="1" rot="10800000">
            <a:off x="64411" y="5270011"/>
            <a:ext cx="4171210" cy="1611209"/>
          </a:xfrm>
          <a:prstGeom prst="rect">
            <a:avLst/>
          </a:prstGeom>
          <a:noFill/>
          <a:ln>
            <a:noFill/>
          </a:ln>
        </p:spPr>
      </p:pic>
      <p:pic>
        <p:nvPicPr>
          <p:cNvPr id="272" name="Google Shape;272;p6"/>
          <p:cNvPicPr preferRelativeResize="0"/>
          <p:nvPr/>
        </p:nvPicPr>
        <p:blipFill rotWithShape="1">
          <a:blip r:embed="rId3">
            <a:alphaModFix/>
          </a:blip>
          <a:srcRect b="48442" l="0" r="0" t="0"/>
          <a:stretch/>
        </p:blipFill>
        <p:spPr>
          <a:xfrm flipH="1" rot="10800000">
            <a:off x="8293562" y="5361982"/>
            <a:ext cx="3898438" cy="1496018"/>
          </a:xfrm>
          <a:prstGeom prst="rect">
            <a:avLst/>
          </a:prstGeom>
          <a:noFill/>
          <a:ln>
            <a:noFill/>
          </a:ln>
        </p:spPr>
      </p:pic>
      <p:pic>
        <p:nvPicPr>
          <p:cNvPr id="273" name="Google Shape;273;p6"/>
          <p:cNvPicPr preferRelativeResize="0"/>
          <p:nvPr/>
        </p:nvPicPr>
        <p:blipFill rotWithShape="1">
          <a:blip r:embed="rId3">
            <a:alphaModFix/>
          </a:blip>
          <a:srcRect b="48442" l="0" r="0" t="0"/>
          <a:stretch/>
        </p:blipFill>
        <p:spPr>
          <a:xfrm flipH="1" rot="10800000">
            <a:off x="4413537" y="5246791"/>
            <a:ext cx="4171210" cy="1611209"/>
          </a:xfrm>
          <a:prstGeom prst="rect">
            <a:avLst/>
          </a:prstGeom>
          <a:noFill/>
          <a:ln>
            <a:noFill/>
          </a:ln>
        </p:spPr>
      </p:pic>
      <p:pic>
        <p:nvPicPr>
          <p:cNvPr id="274" name="Google Shape;274;p6"/>
          <p:cNvPicPr preferRelativeResize="0"/>
          <p:nvPr/>
        </p:nvPicPr>
        <p:blipFill rotWithShape="1">
          <a:blip r:embed="rId3">
            <a:alphaModFix/>
          </a:blip>
          <a:srcRect b="48442" l="0" r="0" t="0"/>
          <a:stretch/>
        </p:blipFill>
        <p:spPr>
          <a:xfrm flipH="1" rot="10800000">
            <a:off x="2399626" y="5240195"/>
            <a:ext cx="4171210" cy="1611209"/>
          </a:xfrm>
          <a:prstGeom prst="rect">
            <a:avLst/>
          </a:prstGeom>
          <a:noFill/>
          <a:ln>
            <a:noFill/>
          </a:ln>
        </p:spPr>
      </p:pic>
      <p:sp>
        <p:nvSpPr>
          <p:cNvPr id="275" name="Google Shape;275;p6"/>
          <p:cNvSpPr txBox="1"/>
          <p:nvPr/>
        </p:nvSpPr>
        <p:spPr>
          <a:xfrm>
            <a:off x="7745221" y="215820"/>
            <a:ext cx="4144699" cy="95410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SLOCPI</a:t>
            </a:r>
            <a:endParaRPr/>
          </a:p>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Territory 1 - Underwriters </a:t>
            </a:r>
            <a:endParaRPr b="1" i="0" sz="2800" u="none" cap="none" strike="noStrike">
              <a:solidFill>
                <a:srgbClr val="000000"/>
              </a:solidFill>
              <a:latin typeface="Calibri"/>
              <a:ea typeface="Calibri"/>
              <a:cs typeface="Calibri"/>
              <a:sym typeface="Calibri"/>
            </a:endParaRPr>
          </a:p>
        </p:txBody>
      </p:sp>
      <p:sp>
        <p:nvSpPr>
          <p:cNvPr id="276" name="Google Shape;276;p6"/>
          <p:cNvSpPr/>
          <p:nvPr/>
        </p:nvSpPr>
        <p:spPr>
          <a:xfrm>
            <a:off x="162665" y="5029200"/>
            <a:ext cx="182880" cy="1828800"/>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77" name="Google Shape;277;p6"/>
          <p:cNvGrpSpPr/>
          <p:nvPr/>
        </p:nvGrpSpPr>
        <p:grpSpPr>
          <a:xfrm>
            <a:off x="115543" y="41198"/>
            <a:ext cx="11888917" cy="6652457"/>
            <a:chOff x="115543" y="41198"/>
            <a:chExt cx="11888917" cy="6652457"/>
          </a:xfrm>
        </p:grpSpPr>
        <p:cxnSp>
          <p:nvCxnSpPr>
            <p:cNvPr id="278" name="Google Shape;278;p6"/>
            <p:cNvCxnSpPr/>
            <p:nvPr/>
          </p:nvCxnSpPr>
          <p:spPr>
            <a:xfrm flipH="1" rot="10800000">
              <a:off x="6090673" y="4963066"/>
              <a:ext cx="542123" cy="8819"/>
            </a:xfrm>
            <a:prstGeom prst="straightConnector1">
              <a:avLst/>
            </a:prstGeom>
            <a:noFill/>
            <a:ln cap="flat" cmpd="sng" w="9525">
              <a:solidFill>
                <a:schemeClr val="dk1"/>
              </a:solidFill>
              <a:prstDash val="solid"/>
              <a:miter lim="800000"/>
              <a:headEnd len="sm" w="sm" type="none"/>
              <a:tailEnd len="sm" w="sm" type="none"/>
            </a:ln>
          </p:spPr>
        </p:cxnSp>
        <p:cxnSp>
          <p:nvCxnSpPr>
            <p:cNvPr id="279" name="Google Shape;279;p6"/>
            <p:cNvCxnSpPr/>
            <p:nvPr/>
          </p:nvCxnSpPr>
          <p:spPr>
            <a:xfrm flipH="1" rot="10800000">
              <a:off x="6090672" y="5728222"/>
              <a:ext cx="542124" cy="2610"/>
            </a:xfrm>
            <a:prstGeom prst="straightConnector1">
              <a:avLst/>
            </a:prstGeom>
            <a:noFill/>
            <a:ln cap="flat" cmpd="sng" w="9525">
              <a:solidFill>
                <a:schemeClr val="dk1"/>
              </a:solidFill>
              <a:prstDash val="solid"/>
              <a:miter lim="800000"/>
              <a:headEnd len="sm" w="sm" type="none"/>
              <a:tailEnd len="sm" w="sm" type="none"/>
            </a:ln>
          </p:spPr>
        </p:cxnSp>
        <p:cxnSp>
          <p:nvCxnSpPr>
            <p:cNvPr id="280" name="Google Shape;280;p6"/>
            <p:cNvCxnSpPr/>
            <p:nvPr/>
          </p:nvCxnSpPr>
          <p:spPr>
            <a:xfrm flipH="1">
              <a:off x="6077812" y="4855000"/>
              <a:ext cx="18714" cy="1827329"/>
            </a:xfrm>
            <a:prstGeom prst="straightConnector1">
              <a:avLst/>
            </a:prstGeom>
            <a:noFill/>
            <a:ln cap="flat" cmpd="sng" w="9525">
              <a:solidFill>
                <a:schemeClr val="dk1"/>
              </a:solidFill>
              <a:prstDash val="solid"/>
              <a:miter lim="800000"/>
              <a:headEnd len="sm" w="sm" type="none"/>
              <a:tailEnd len="sm" w="sm" type="none"/>
            </a:ln>
          </p:spPr>
        </p:cxnSp>
        <p:cxnSp>
          <p:nvCxnSpPr>
            <p:cNvPr id="281" name="Google Shape;281;p6"/>
            <p:cNvCxnSpPr/>
            <p:nvPr/>
          </p:nvCxnSpPr>
          <p:spPr>
            <a:xfrm flipH="1" rot="10800000">
              <a:off x="1950126" y="4855000"/>
              <a:ext cx="767591" cy="962"/>
            </a:xfrm>
            <a:prstGeom prst="straightConnector1">
              <a:avLst/>
            </a:prstGeom>
            <a:noFill/>
            <a:ln cap="flat" cmpd="sng" w="9525">
              <a:solidFill>
                <a:schemeClr val="dk1"/>
              </a:solidFill>
              <a:prstDash val="solid"/>
              <a:miter lim="800000"/>
              <a:headEnd len="sm" w="sm" type="none"/>
              <a:tailEnd len="sm" w="sm" type="none"/>
            </a:ln>
          </p:spPr>
        </p:cxnSp>
        <p:cxnSp>
          <p:nvCxnSpPr>
            <p:cNvPr id="282" name="Google Shape;282;p6"/>
            <p:cNvCxnSpPr/>
            <p:nvPr/>
          </p:nvCxnSpPr>
          <p:spPr>
            <a:xfrm flipH="1" rot="10800000">
              <a:off x="1950125" y="5613947"/>
              <a:ext cx="767591" cy="962"/>
            </a:xfrm>
            <a:prstGeom prst="straightConnector1">
              <a:avLst/>
            </a:prstGeom>
            <a:noFill/>
            <a:ln cap="flat" cmpd="sng" w="9525">
              <a:solidFill>
                <a:schemeClr val="dk1"/>
              </a:solidFill>
              <a:prstDash val="solid"/>
              <a:miter lim="800000"/>
              <a:headEnd len="sm" w="sm" type="none"/>
              <a:tailEnd len="sm" w="sm" type="none"/>
            </a:ln>
          </p:spPr>
        </p:cxnSp>
        <p:cxnSp>
          <p:nvCxnSpPr>
            <p:cNvPr id="283" name="Google Shape;283;p6"/>
            <p:cNvCxnSpPr/>
            <p:nvPr/>
          </p:nvCxnSpPr>
          <p:spPr>
            <a:xfrm>
              <a:off x="9624381" y="2537529"/>
              <a:ext cx="17635" cy="914400"/>
            </a:xfrm>
            <a:prstGeom prst="straightConnector1">
              <a:avLst/>
            </a:prstGeom>
            <a:noFill/>
            <a:ln cap="flat" cmpd="sng" w="9525">
              <a:solidFill>
                <a:schemeClr val="dk1"/>
              </a:solidFill>
              <a:prstDash val="solid"/>
              <a:miter lim="800000"/>
              <a:headEnd len="sm" w="sm" type="none"/>
              <a:tailEnd len="sm" w="sm" type="none"/>
            </a:ln>
          </p:spPr>
        </p:cxnSp>
        <p:cxnSp>
          <p:nvCxnSpPr>
            <p:cNvPr id="284" name="Google Shape;284;p6"/>
            <p:cNvCxnSpPr/>
            <p:nvPr/>
          </p:nvCxnSpPr>
          <p:spPr>
            <a:xfrm flipH="1">
              <a:off x="2012066" y="2537529"/>
              <a:ext cx="11956" cy="880126"/>
            </a:xfrm>
            <a:prstGeom prst="straightConnector1">
              <a:avLst/>
            </a:prstGeom>
            <a:noFill/>
            <a:ln cap="flat" cmpd="sng" w="9525">
              <a:solidFill>
                <a:schemeClr val="dk1"/>
              </a:solidFill>
              <a:prstDash val="solid"/>
              <a:miter lim="800000"/>
              <a:headEnd len="sm" w="sm" type="none"/>
              <a:tailEnd len="sm" w="sm" type="none"/>
            </a:ln>
          </p:spPr>
        </p:cxnSp>
        <p:cxnSp>
          <p:nvCxnSpPr>
            <p:cNvPr id="285" name="Google Shape;285;p6"/>
            <p:cNvCxnSpPr/>
            <p:nvPr/>
          </p:nvCxnSpPr>
          <p:spPr>
            <a:xfrm>
              <a:off x="2027083" y="2530882"/>
              <a:ext cx="7606115" cy="6646"/>
            </a:xfrm>
            <a:prstGeom prst="straightConnector1">
              <a:avLst/>
            </a:prstGeom>
            <a:noFill/>
            <a:ln cap="flat" cmpd="sng" w="9525">
              <a:solidFill>
                <a:schemeClr val="dk1"/>
              </a:solidFill>
              <a:prstDash val="solid"/>
              <a:miter lim="800000"/>
              <a:headEnd len="sm" w="sm" type="none"/>
              <a:tailEnd len="sm" w="sm" type="none"/>
            </a:ln>
          </p:spPr>
        </p:cxnSp>
        <p:cxnSp>
          <p:nvCxnSpPr>
            <p:cNvPr id="286" name="Google Shape;286;p6"/>
            <p:cNvCxnSpPr/>
            <p:nvPr/>
          </p:nvCxnSpPr>
          <p:spPr>
            <a:xfrm>
              <a:off x="6125817" y="134772"/>
              <a:ext cx="6626" cy="3282883"/>
            </a:xfrm>
            <a:prstGeom prst="straightConnector1">
              <a:avLst/>
            </a:prstGeom>
            <a:noFill/>
            <a:ln cap="flat" cmpd="sng" w="9525">
              <a:solidFill>
                <a:schemeClr val="dk1"/>
              </a:solidFill>
              <a:prstDash val="solid"/>
              <a:miter lim="800000"/>
              <a:headEnd len="sm" w="sm" type="none"/>
              <a:tailEnd len="sm" w="sm" type="none"/>
            </a:ln>
          </p:spPr>
        </p:cxnSp>
        <p:sp>
          <p:nvSpPr>
            <p:cNvPr id="287" name="Google Shape;287;p6"/>
            <p:cNvSpPr/>
            <p:nvPr/>
          </p:nvSpPr>
          <p:spPr>
            <a:xfrm>
              <a:off x="8547875" y="2683455"/>
              <a:ext cx="1688840" cy="2573320"/>
            </a:xfrm>
            <a:prstGeom prst="rect">
              <a:avLst/>
            </a:prstGeom>
            <a:solidFill>
              <a:srgbClr val="7030A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8" name="Google Shape;288;p6"/>
            <p:cNvSpPr/>
            <p:nvPr/>
          </p:nvSpPr>
          <p:spPr>
            <a:xfrm>
              <a:off x="4436561" y="2730860"/>
              <a:ext cx="2121693" cy="2155669"/>
            </a:xfrm>
            <a:prstGeom prst="rect">
              <a:avLst/>
            </a:prstGeom>
            <a:solidFill>
              <a:srgbClr val="C0000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9" name="Google Shape;289;p6"/>
            <p:cNvSpPr/>
            <p:nvPr/>
          </p:nvSpPr>
          <p:spPr>
            <a:xfrm>
              <a:off x="115543" y="2675344"/>
              <a:ext cx="2453852" cy="2248539"/>
            </a:xfrm>
            <a:prstGeom prst="rect">
              <a:avLst/>
            </a:prstGeom>
            <a:solidFill>
              <a:schemeClr val="accent2">
                <a:alpha val="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90" name="Google Shape;290;p6"/>
            <p:cNvSpPr/>
            <p:nvPr/>
          </p:nvSpPr>
          <p:spPr>
            <a:xfrm>
              <a:off x="2920024" y="41198"/>
              <a:ext cx="3642157" cy="1213076"/>
            </a:xfrm>
            <a:prstGeom prst="rect">
              <a:avLst/>
            </a:prstGeom>
            <a:solidFill>
              <a:srgbClr val="66CCFF">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91" name="Google Shape;291;p6"/>
            <p:cNvGrpSpPr/>
            <p:nvPr/>
          </p:nvGrpSpPr>
          <p:grpSpPr>
            <a:xfrm>
              <a:off x="2989434" y="128837"/>
              <a:ext cx="3450800" cy="926756"/>
              <a:chOff x="2989434" y="128837"/>
              <a:chExt cx="3450800" cy="926756"/>
            </a:xfrm>
          </p:grpSpPr>
          <p:pic>
            <p:nvPicPr>
              <p:cNvPr id="292" name="Google Shape;292;p6">
                <a:hlinkClick action="ppaction://hlinkshowjump?jump=lastslide"/>
              </p:cNvPr>
              <p:cNvPicPr preferRelativeResize="0"/>
              <p:nvPr/>
            </p:nvPicPr>
            <p:blipFill rotWithShape="1">
              <a:blip r:embed="rId4">
                <a:alphaModFix/>
              </a:blip>
              <a:srcRect b="0" l="0" r="0" t="0"/>
              <a:stretch/>
            </p:blipFill>
            <p:spPr>
              <a:xfrm>
                <a:off x="5468981" y="128837"/>
                <a:ext cx="971253" cy="926756"/>
              </a:xfrm>
              <a:prstGeom prst="rect">
                <a:avLst/>
              </a:prstGeom>
              <a:noFill/>
              <a:ln cap="flat" cmpd="sng" w="9525">
                <a:solidFill>
                  <a:schemeClr val="dk1"/>
                </a:solidFill>
                <a:prstDash val="solid"/>
                <a:round/>
                <a:headEnd len="sm" w="sm" type="none"/>
                <a:tailEnd len="sm" w="sm" type="none"/>
              </a:ln>
            </p:spPr>
          </p:pic>
          <p:sp>
            <p:nvSpPr>
              <p:cNvPr id="293" name="Google Shape;293;p6"/>
              <p:cNvSpPr txBox="1"/>
              <p:nvPr/>
            </p:nvSpPr>
            <p:spPr>
              <a:xfrm>
                <a:off x="2989434" y="223816"/>
                <a:ext cx="2507974"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2060"/>
                  </a:buClr>
                  <a:buSzPts val="1400"/>
                  <a:buFont typeface="Calibri"/>
                  <a:buNone/>
                </a:pPr>
                <a:r>
                  <a:rPr b="1" i="0" lang="en-US" sz="1400" u="none" cap="none" strike="noStrike">
                    <a:solidFill>
                      <a:srgbClr val="002060"/>
                    </a:solidFill>
                    <a:latin typeface="Calibri"/>
                    <a:ea typeface="Calibri"/>
                    <a:cs typeface="Calibri"/>
                    <a:sym typeface="Calibri"/>
                  </a:rPr>
                  <a:t>Tina Dizon, PCS, FLMI, FALU</a:t>
                </a:r>
                <a:endParaRPr/>
              </a:p>
              <a:p>
                <a:pPr indent="0" lvl="0" marL="0" marR="0" rtl="0" algn="r">
                  <a:lnSpc>
                    <a:spcPct val="100000"/>
                  </a:lnSpc>
                  <a:spcBef>
                    <a:spcPts val="0"/>
                  </a:spcBef>
                  <a:spcAft>
                    <a:spcPts val="0"/>
                  </a:spcAft>
                  <a:buClr>
                    <a:srgbClr val="0070C0"/>
                  </a:buClr>
                  <a:buSzPts val="1400"/>
                  <a:buFont typeface="Calibri"/>
                  <a:buNone/>
                </a:pPr>
                <a:r>
                  <a:rPr b="1" i="0" lang="en-US" sz="1400" u="none" cap="none" strike="noStrike">
                    <a:solidFill>
                      <a:srgbClr val="0070C0"/>
                    </a:solidFill>
                    <a:latin typeface="Calibri"/>
                    <a:ea typeface="Calibri"/>
                    <a:cs typeface="Calibri"/>
                    <a:sym typeface="Calibri"/>
                  </a:rPr>
                  <a:t>Head, NB &amp; UW</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Date of Entry: April 1995</a:t>
                </a:r>
                <a:endParaRPr b="0" i="0" sz="1200" u="none" cap="none" strike="noStrike">
                  <a:solidFill>
                    <a:srgbClr val="0070C0"/>
                  </a:solidFill>
                  <a:latin typeface="Calibri"/>
                  <a:ea typeface="Calibri"/>
                  <a:cs typeface="Calibri"/>
                  <a:sym typeface="Calibri"/>
                </a:endParaRPr>
              </a:p>
            </p:txBody>
          </p:sp>
          <p:cxnSp>
            <p:nvCxnSpPr>
              <p:cNvPr id="294" name="Google Shape;294;p6"/>
              <p:cNvCxnSpPr/>
              <p:nvPr/>
            </p:nvCxnSpPr>
            <p:spPr>
              <a:xfrm>
                <a:off x="3118643" y="931702"/>
                <a:ext cx="2378765" cy="0"/>
              </a:xfrm>
              <a:prstGeom prst="straightConnector1">
                <a:avLst/>
              </a:prstGeom>
              <a:noFill/>
              <a:ln cap="flat" cmpd="sng" w="9525">
                <a:solidFill>
                  <a:schemeClr val="accent5"/>
                </a:solidFill>
                <a:prstDash val="solid"/>
                <a:miter lim="800000"/>
                <a:headEnd len="sm" w="sm" type="none"/>
                <a:tailEnd len="sm" w="sm" type="none"/>
              </a:ln>
            </p:spPr>
          </p:cxnSp>
        </p:grpSp>
        <p:grpSp>
          <p:nvGrpSpPr>
            <p:cNvPr id="295" name="Google Shape;295;p6"/>
            <p:cNvGrpSpPr/>
            <p:nvPr/>
          </p:nvGrpSpPr>
          <p:grpSpPr>
            <a:xfrm>
              <a:off x="5318503" y="1284838"/>
              <a:ext cx="3642157" cy="1213076"/>
              <a:chOff x="5318503" y="1363310"/>
              <a:chExt cx="3642157" cy="1213076"/>
            </a:xfrm>
          </p:grpSpPr>
          <p:sp>
            <p:nvSpPr>
              <p:cNvPr id="296" name="Google Shape;296;p6"/>
              <p:cNvSpPr/>
              <p:nvPr/>
            </p:nvSpPr>
            <p:spPr>
              <a:xfrm>
                <a:off x="5318503" y="1363310"/>
                <a:ext cx="3642157" cy="1213076"/>
              </a:xfrm>
              <a:prstGeom prst="rect">
                <a:avLst/>
              </a:prstGeom>
              <a:solidFill>
                <a:srgbClr val="548135">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297" name="Google Shape;297;p6"/>
              <p:cNvPicPr preferRelativeResize="0"/>
              <p:nvPr/>
            </p:nvPicPr>
            <p:blipFill rotWithShape="1">
              <a:blip r:embed="rId5">
                <a:alphaModFix/>
              </a:blip>
              <a:srcRect b="0" l="0" r="0" t="0"/>
              <a:stretch/>
            </p:blipFill>
            <p:spPr>
              <a:xfrm>
                <a:off x="5497408" y="1436892"/>
                <a:ext cx="919969" cy="1016432"/>
              </a:xfrm>
              <a:prstGeom prst="rect">
                <a:avLst/>
              </a:prstGeom>
              <a:noFill/>
              <a:ln cap="flat" cmpd="sng" w="9525">
                <a:solidFill>
                  <a:schemeClr val="dk1"/>
                </a:solidFill>
                <a:prstDash val="solid"/>
                <a:round/>
                <a:headEnd len="sm" w="sm" type="none"/>
                <a:tailEnd len="sm" w="sm" type="none"/>
              </a:ln>
            </p:spPr>
          </p:pic>
          <p:sp>
            <p:nvSpPr>
              <p:cNvPr id="298" name="Google Shape;298;p6"/>
              <p:cNvSpPr txBox="1"/>
              <p:nvPr/>
            </p:nvSpPr>
            <p:spPr>
              <a:xfrm>
                <a:off x="6440234" y="1385555"/>
                <a:ext cx="2345635"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Lara Miguel, ACS, FLMI, FALU </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3</a:t>
                </a:r>
                <a:endParaRPr/>
              </a:p>
              <a:p>
                <a:pPr indent="0" lvl="0" marL="0" marR="0" rtl="0" algn="l">
                  <a:lnSpc>
                    <a:spcPct val="100000"/>
                  </a:lnSpc>
                  <a:spcBef>
                    <a:spcPts val="0"/>
                  </a:spcBef>
                  <a:spcAft>
                    <a:spcPts val="0"/>
                  </a:spcAft>
                  <a:buClr>
                    <a:srgbClr val="548135"/>
                  </a:buClr>
                  <a:buSzPts val="1400"/>
                  <a:buFont typeface="Calibri"/>
                  <a:buNone/>
                </a:pPr>
                <a:r>
                  <a:rPr b="1" i="0" lang="en-US" sz="1400" u="none" cap="none" strike="noStrike">
                    <a:solidFill>
                      <a:srgbClr val="548135"/>
                    </a:solidFill>
                    <a:latin typeface="Calibri"/>
                    <a:ea typeface="Calibri"/>
                    <a:cs typeface="Calibri"/>
                    <a:sym typeface="Calibri"/>
                  </a:rPr>
                  <a:t>SLOCPI Territory 1</a:t>
                </a:r>
                <a:endParaRPr/>
              </a:p>
              <a:p>
                <a:pPr indent="0" lvl="0" marL="0" marR="0" rtl="0" algn="l">
                  <a:lnSpc>
                    <a:spcPct val="100000"/>
                  </a:lnSpc>
                  <a:spcBef>
                    <a:spcPts val="0"/>
                  </a:spcBef>
                  <a:spcAft>
                    <a:spcPts val="0"/>
                  </a:spcAft>
                  <a:buClr>
                    <a:srgbClr val="548135"/>
                  </a:buClr>
                  <a:buSzPts val="1200"/>
                  <a:buFont typeface="Calibri"/>
                  <a:buNone/>
                </a:pPr>
                <a:r>
                  <a:rPr b="0" i="0" lang="en-US" sz="1200" u="none" cap="none" strike="noStrike">
                    <a:solidFill>
                      <a:srgbClr val="548135"/>
                    </a:solidFill>
                    <a:latin typeface="Calibri"/>
                    <a:ea typeface="Calibri"/>
                    <a:cs typeface="Calibri"/>
                    <a:sym typeface="Calibri"/>
                  </a:rPr>
                  <a:t>Date of Entry: Feb 1997</a:t>
                </a:r>
                <a:endParaRPr b="0" i="0" sz="1200" u="none" cap="none" strike="noStrike">
                  <a:solidFill>
                    <a:srgbClr val="548135"/>
                  </a:solidFill>
                  <a:latin typeface="Calibri"/>
                  <a:ea typeface="Calibri"/>
                  <a:cs typeface="Calibri"/>
                  <a:sym typeface="Calibri"/>
                </a:endParaRPr>
              </a:p>
            </p:txBody>
          </p:sp>
          <p:cxnSp>
            <p:nvCxnSpPr>
              <p:cNvPr id="299" name="Google Shape;299;p6"/>
              <p:cNvCxnSpPr/>
              <p:nvPr/>
            </p:nvCxnSpPr>
            <p:spPr>
              <a:xfrm>
                <a:off x="6407104" y="2308885"/>
                <a:ext cx="2378765" cy="0"/>
              </a:xfrm>
              <a:prstGeom prst="straightConnector1">
                <a:avLst/>
              </a:prstGeom>
              <a:noFill/>
              <a:ln cap="flat" cmpd="sng" w="9525">
                <a:solidFill>
                  <a:schemeClr val="accent6"/>
                </a:solidFill>
                <a:prstDash val="solid"/>
                <a:miter lim="800000"/>
                <a:headEnd len="sm" w="sm" type="none"/>
                <a:tailEnd len="sm" w="sm" type="none"/>
              </a:ln>
            </p:spPr>
          </p:cxnSp>
        </p:grpSp>
        <p:pic>
          <p:nvPicPr>
            <p:cNvPr id="300" name="Google Shape;300;p6"/>
            <p:cNvPicPr preferRelativeResize="0"/>
            <p:nvPr/>
          </p:nvPicPr>
          <p:blipFill rotWithShape="1">
            <a:blip r:embed="rId6">
              <a:alphaModFix/>
            </a:blip>
            <a:srcRect b="36471" l="38470" r="30141" t="14587"/>
            <a:stretch/>
          </p:blipFill>
          <p:spPr>
            <a:xfrm>
              <a:off x="1525785" y="2833506"/>
              <a:ext cx="914400" cy="918731"/>
            </a:xfrm>
            <a:prstGeom prst="rect">
              <a:avLst/>
            </a:prstGeom>
            <a:solidFill>
              <a:srgbClr val="FFFF99"/>
            </a:solidFill>
            <a:ln>
              <a:noFill/>
            </a:ln>
          </p:spPr>
        </p:pic>
        <p:pic>
          <p:nvPicPr>
            <p:cNvPr id="301" name="Google Shape;301;p6"/>
            <p:cNvPicPr preferRelativeResize="0"/>
            <p:nvPr/>
          </p:nvPicPr>
          <p:blipFill rotWithShape="1">
            <a:blip r:embed="rId7">
              <a:alphaModFix/>
            </a:blip>
            <a:srcRect b="22700" l="16936" r="18510" t="20601"/>
            <a:stretch/>
          </p:blipFill>
          <p:spPr>
            <a:xfrm>
              <a:off x="5489150" y="2811501"/>
              <a:ext cx="971253" cy="914400"/>
            </a:xfrm>
            <a:prstGeom prst="rect">
              <a:avLst/>
            </a:prstGeom>
            <a:noFill/>
            <a:ln>
              <a:noFill/>
            </a:ln>
          </p:spPr>
        </p:pic>
        <p:pic>
          <p:nvPicPr>
            <p:cNvPr id="302" name="Google Shape;302;p6"/>
            <p:cNvPicPr preferRelativeResize="0"/>
            <p:nvPr/>
          </p:nvPicPr>
          <p:blipFill rotWithShape="1">
            <a:blip r:embed="rId8">
              <a:alphaModFix/>
            </a:blip>
            <a:srcRect b="15680" l="9812" r="9246" t="0"/>
            <a:stretch/>
          </p:blipFill>
          <p:spPr>
            <a:xfrm>
              <a:off x="9117817" y="2781877"/>
              <a:ext cx="939953" cy="908255"/>
            </a:xfrm>
            <a:prstGeom prst="rect">
              <a:avLst/>
            </a:prstGeom>
            <a:solidFill>
              <a:srgbClr val="FFFF99"/>
            </a:solidFill>
            <a:ln>
              <a:noFill/>
            </a:ln>
          </p:spPr>
        </p:pic>
        <p:grpSp>
          <p:nvGrpSpPr>
            <p:cNvPr id="303" name="Google Shape;303;p6"/>
            <p:cNvGrpSpPr/>
            <p:nvPr/>
          </p:nvGrpSpPr>
          <p:grpSpPr>
            <a:xfrm>
              <a:off x="2637378" y="2706426"/>
              <a:ext cx="1671979" cy="3349399"/>
              <a:chOff x="2627718" y="2515053"/>
              <a:chExt cx="1671979" cy="3349399"/>
            </a:xfrm>
          </p:grpSpPr>
          <p:sp>
            <p:nvSpPr>
              <p:cNvPr id="304" name="Google Shape;304;p6"/>
              <p:cNvSpPr/>
              <p:nvPr/>
            </p:nvSpPr>
            <p:spPr>
              <a:xfrm>
                <a:off x="2657717" y="2515053"/>
                <a:ext cx="1641980" cy="78817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Anne Baello</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FALU, 4B</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Nov 2012</a:t>
                </a:r>
                <a:endParaRPr/>
              </a:p>
            </p:txBody>
          </p:sp>
          <p:pic>
            <p:nvPicPr>
              <p:cNvPr id="305" name="Google Shape;305;p6"/>
              <p:cNvPicPr preferRelativeResize="0"/>
              <p:nvPr/>
            </p:nvPicPr>
            <p:blipFill rotWithShape="1">
              <a:blip r:embed="rId9">
                <a:alphaModFix/>
              </a:blip>
              <a:srcRect b="8339" l="13249" r="13648" t="0"/>
              <a:stretch/>
            </p:blipFill>
            <p:spPr>
              <a:xfrm>
                <a:off x="3655933" y="2631587"/>
                <a:ext cx="563767" cy="685800"/>
              </a:xfrm>
              <a:prstGeom prst="rect">
                <a:avLst/>
              </a:prstGeom>
              <a:noFill/>
              <a:ln>
                <a:noFill/>
              </a:ln>
            </p:spPr>
          </p:pic>
          <p:sp>
            <p:nvSpPr>
              <p:cNvPr id="306" name="Google Shape;306;p6"/>
              <p:cNvSpPr/>
              <p:nvPr/>
            </p:nvSpPr>
            <p:spPr>
              <a:xfrm>
                <a:off x="2627718" y="3398894"/>
                <a:ext cx="1652154" cy="800209"/>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Dianne Carmela</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San Agustin, 5A</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June 2014</a:t>
                </a:r>
                <a:endParaRPr/>
              </a:p>
            </p:txBody>
          </p:sp>
          <p:pic>
            <p:nvPicPr>
              <p:cNvPr id="307" name="Google Shape;307;p6"/>
              <p:cNvPicPr preferRelativeResize="0"/>
              <p:nvPr/>
            </p:nvPicPr>
            <p:blipFill rotWithShape="1">
              <a:blip r:embed="rId10">
                <a:alphaModFix/>
              </a:blip>
              <a:srcRect b="0" l="10677" r="10061" t="2954"/>
              <a:stretch/>
            </p:blipFill>
            <p:spPr>
              <a:xfrm>
                <a:off x="3666003" y="3483926"/>
                <a:ext cx="539574" cy="685800"/>
              </a:xfrm>
              <a:prstGeom prst="rect">
                <a:avLst/>
              </a:prstGeom>
              <a:noFill/>
              <a:ln>
                <a:noFill/>
              </a:ln>
            </p:spPr>
          </p:pic>
          <p:sp>
            <p:nvSpPr>
              <p:cNvPr id="308" name="Google Shape;308;p6"/>
              <p:cNvSpPr/>
              <p:nvPr/>
            </p:nvSpPr>
            <p:spPr>
              <a:xfrm>
                <a:off x="2660537" y="4262986"/>
                <a:ext cx="1597812" cy="802416"/>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Kathleen Gae</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Arandia, 4A</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June 2014</a:t>
                </a:r>
                <a:endParaRPr/>
              </a:p>
            </p:txBody>
          </p:sp>
          <p:pic>
            <p:nvPicPr>
              <p:cNvPr id="309" name="Google Shape;309;p6"/>
              <p:cNvPicPr preferRelativeResize="0"/>
              <p:nvPr/>
            </p:nvPicPr>
            <p:blipFill rotWithShape="1">
              <a:blip r:embed="rId11">
                <a:alphaModFix/>
              </a:blip>
              <a:srcRect b="10295" l="14390" r="14972" t="2760"/>
              <a:stretch/>
            </p:blipFill>
            <p:spPr>
              <a:xfrm>
                <a:off x="3655933" y="4279593"/>
                <a:ext cx="543329" cy="685800"/>
              </a:xfrm>
              <a:prstGeom prst="rect">
                <a:avLst/>
              </a:prstGeom>
              <a:noFill/>
              <a:ln>
                <a:noFill/>
              </a:ln>
            </p:spPr>
          </p:pic>
          <p:sp>
            <p:nvSpPr>
              <p:cNvPr id="310" name="Google Shape;310;p6"/>
              <p:cNvSpPr/>
              <p:nvPr/>
            </p:nvSpPr>
            <p:spPr>
              <a:xfrm>
                <a:off x="2657717" y="5150224"/>
                <a:ext cx="1578767" cy="714228"/>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Marc Conrad</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Sison, ACS, 4A </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Apr 2017</a:t>
                </a:r>
                <a:endParaRPr/>
              </a:p>
            </p:txBody>
          </p:sp>
          <p:pic>
            <p:nvPicPr>
              <p:cNvPr id="311" name="Google Shape;311;p6"/>
              <p:cNvPicPr preferRelativeResize="0"/>
              <p:nvPr/>
            </p:nvPicPr>
            <p:blipFill rotWithShape="1">
              <a:blip r:embed="rId12">
                <a:alphaModFix/>
              </a:blip>
              <a:srcRect b="20599" l="29000" r="28999" t="32151"/>
              <a:stretch/>
            </p:blipFill>
            <p:spPr>
              <a:xfrm>
                <a:off x="3655933" y="5144323"/>
                <a:ext cx="543329" cy="685800"/>
              </a:xfrm>
              <a:prstGeom prst="rect">
                <a:avLst/>
              </a:prstGeom>
              <a:noFill/>
              <a:ln>
                <a:noFill/>
              </a:ln>
            </p:spPr>
          </p:pic>
        </p:grpSp>
        <p:grpSp>
          <p:nvGrpSpPr>
            <p:cNvPr id="312" name="Google Shape;312;p6"/>
            <p:cNvGrpSpPr/>
            <p:nvPr/>
          </p:nvGrpSpPr>
          <p:grpSpPr>
            <a:xfrm>
              <a:off x="10167483" y="2897856"/>
              <a:ext cx="1836977" cy="1579752"/>
              <a:chOff x="10157774" y="2725847"/>
              <a:chExt cx="1836977" cy="1579752"/>
            </a:xfrm>
          </p:grpSpPr>
          <p:sp>
            <p:nvSpPr>
              <p:cNvPr id="313" name="Google Shape;313;p6"/>
              <p:cNvSpPr/>
              <p:nvPr/>
            </p:nvSpPr>
            <p:spPr>
              <a:xfrm>
                <a:off x="10157774" y="2725847"/>
                <a:ext cx="1622826" cy="765666"/>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John Vincent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Escalante, 4B</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Entry in NB &amp;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UW: Feb 2016</a:t>
                </a:r>
                <a:endParaRPr/>
              </a:p>
            </p:txBody>
          </p:sp>
          <p:pic>
            <p:nvPicPr>
              <p:cNvPr descr="C:\Users\pj66\Pictures\2015\IMG_5369.JPG" id="314" name="Google Shape;314;p6"/>
              <p:cNvPicPr preferRelativeResize="0"/>
              <p:nvPr/>
            </p:nvPicPr>
            <p:blipFill rotWithShape="1">
              <a:blip r:embed="rId13">
                <a:alphaModFix/>
              </a:blip>
              <a:srcRect b="33310" l="29588" r="33896" t="35833"/>
              <a:stretch/>
            </p:blipFill>
            <p:spPr>
              <a:xfrm>
                <a:off x="11386385" y="2731855"/>
                <a:ext cx="593438" cy="685800"/>
              </a:xfrm>
              <a:prstGeom prst="rect">
                <a:avLst/>
              </a:prstGeom>
              <a:noFill/>
              <a:ln>
                <a:noFill/>
              </a:ln>
            </p:spPr>
          </p:pic>
          <p:sp>
            <p:nvSpPr>
              <p:cNvPr id="315" name="Google Shape;315;p6"/>
              <p:cNvSpPr/>
              <p:nvPr/>
            </p:nvSpPr>
            <p:spPr>
              <a:xfrm>
                <a:off x="10157774" y="3484861"/>
                <a:ext cx="1722437" cy="820738"/>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Erwin U. Imperio</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4B (T)</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Entry in NB &amp;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UW: June 2018</a:t>
                </a:r>
                <a:endParaRPr/>
              </a:p>
            </p:txBody>
          </p:sp>
          <p:pic>
            <p:nvPicPr>
              <p:cNvPr id="316" name="Google Shape;316;p6"/>
              <p:cNvPicPr preferRelativeResize="0"/>
              <p:nvPr/>
            </p:nvPicPr>
            <p:blipFill rotWithShape="1">
              <a:blip r:embed="rId14">
                <a:alphaModFix/>
              </a:blip>
              <a:srcRect b="46850" l="26202" r="31798" t="12201"/>
              <a:stretch/>
            </p:blipFill>
            <p:spPr>
              <a:xfrm>
                <a:off x="11401313" y="3547747"/>
                <a:ext cx="593438" cy="685800"/>
              </a:xfrm>
              <a:prstGeom prst="rect">
                <a:avLst/>
              </a:prstGeom>
              <a:noFill/>
              <a:ln>
                <a:noFill/>
              </a:ln>
            </p:spPr>
          </p:pic>
        </p:grpSp>
        <p:grpSp>
          <p:nvGrpSpPr>
            <p:cNvPr id="317" name="Google Shape;317;p6"/>
            <p:cNvGrpSpPr/>
            <p:nvPr/>
          </p:nvGrpSpPr>
          <p:grpSpPr>
            <a:xfrm>
              <a:off x="6539423" y="2907539"/>
              <a:ext cx="1750456" cy="3318149"/>
              <a:chOff x="6529714" y="2735530"/>
              <a:chExt cx="1750456" cy="3318149"/>
            </a:xfrm>
          </p:grpSpPr>
          <p:sp>
            <p:nvSpPr>
              <p:cNvPr id="318" name="Google Shape;318;p6"/>
              <p:cNvSpPr/>
              <p:nvPr/>
            </p:nvSpPr>
            <p:spPr>
              <a:xfrm>
                <a:off x="6536265" y="2735530"/>
                <a:ext cx="1503273" cy="723901"/>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Ayn Ramirez</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ACS, ALMI, </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AALU,4B</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 July 2011</a:t>
                </a:r>
                <a:endParaRPr/>
              </a:p>
            </p:txBody>
          </p:sp>
          <p:pic>
            <p:nvPicPr>
              <p:cNvPr id="319" name="Google Shape;319;p6"/>
              <p:cNvPicPr preferRelativeResize="0"/>
              <p:nvPr/>
            </p:nvPicPr>
            <p:blipFill rotWithShape="1">
              <a:blip r:embed="rId15">
                <a:alphaModFix/>
              </a:blip>
              <a:srcRect b="38709" l="34986" r="30026" t="4546"/>
              <a:stretch/>
            </p:blipFill>
            <p:spPr>
              <a:xfrm>
                <a:off x="7702755" y="2772911"/>
                <a:ext cx="577415" cy="685800"/>
              </a:xfrm>
              <a:prstGeom prst="rect">
                <a:avLst/>
              </a:prstGeom>
              <a:solidFill>
                <a:srgbClr val="FAF9F9"/>
              </a:solidFill>
              <a:ln>
                <a:noFill/>
              </a:ln>
            </p:spPr>
          </p:pic>
          <p:sp>
            <p:nvSpPr>
              <p:cNvPr id="320" name="Google Shape;320;p6"/>
              <p:cNvSpPr/>
              <p:nvPr/>
            </p:nvSpPr>
            <p:spPr>
              <a:xfrm>
                <a:off x="6529714" y="3648627"/>
                <a:ext cx="1649672" cy="663154"/>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Mark Angelo</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Suarez, 4A</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Apr 2016</a:t>
                </a:r>
                <a:endParaRPr/>
              </a:p>
            </p:txBody>
          </p:sp>
          <p:pic>
            <p:nvPicPr>
              <p:cNvPr id="321" name="Google Shape;321;p6"/>
              <p:cNvPicPr preferRelativeResize="0"/>
              <p:nvPr/>
            </p:nvPicPr>
            <p:blipFill rotWithShape="1">
              <a:blip r:embed="rId16">
                <a:alphaModFix/>
              </a:blip>
              <a:srcRect b="18547" l="19005" r="18791" t="8901"/>
              <a:stretch/>
            </p:blipFill>
            <p:spPr>
              <a:xfrm>
                <a:off x="7689484" y="3592318"/>
                <a:ext cx="578835" cy="685800"/>
              </a:xfrm>
              <a:prstGeom prst="rect">
                <a:avLst/>
              </a:prstGeom>
              <a:solidFill>
                <a:srgbClr val="FAF9F9"/>
              </a:solidFill>
              <a:ln>
                <a:noFill/>
              </a:ln>
            </p:spPr>
          </p:pic>
          <p:sp>
            <p:nvSpPr>
              <p:cNvPr id="322" name="Google Shape;322;p6"/>
              <p:cNvSpPr/>
              <p:nvPr/>
            </p:nvSpPr>
            <p:spPr>
              <a:xfrm>
                <a:off x="6542835" y="4426418"/>
                <a:ext cx="1636551" cy="798004"/>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Precious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Bandoquillo, 4A</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Apr 2017</a:t>
                </a:r>
                <a:endParaRPr/>
              </a:p>
            </p:txBody>
          </p:sp>
          <p:pic>
            <p:nvPicPr>
              <p:cNvPr id="323" name="Google Shape;323;p6"/>
              <p:cNvPicPr preferRelativeResize="0"/>
              <p:nvPr/>
            </p:nvPicPr>
            <p:blipFill rotWithShape="1">
              <a:blip r:embed="rId17">
                <a:alphaModFix/>
              </a:blip>
              <a:srcRect b="19550" l="20601" r="20600" t="29000"/>
              <a:stretch/>
            </p:blipFill>
            <p:spPr>
              <a:xfrm>
                <a:off x="7689484" y="4417702"/>
                <a:ext cx="581457" cy="685800"/>
              </a:xfrm>
              <a:prstGeom prst="rect">
                <a:avLst/>
              </a:prstGeom>
              <a:solidFill>
                <a:srgbClr val="FAF9F9"/>
              </a:solidFill>
              <a:ln>
                <a:noFill/>
              </a:ln>
            </p:spPr>
          </p:pic>
          <p:sp>
            <p:nvSpPr>
              <p:cNvPr id="324" name="Google Shape;324;p6"/>
              <p:cNvSpPr/>
              <p:nvPr/>
            </p:nvSpPr>
            <p:spPr>
              <a:xfrm>
                <a:off x="6562017" y="5255166"/>
                <a:ext cx="1636712" cy="798513"/>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Marcela S. Doligon</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4A (T)</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Entry in NB &amp;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UW: May 2019</a:t>
                </a:r>
                <a:endParaRPr/>
              </a:p>
            </p:txBody>
          </p:sp>
        </p:grpSp>
        <p:sp>
          <p:nvSpPr>
            <p:cNvPr id="325" name="Google Shape;325;p6"/>
            <p:cNvSpPr txBox="1"/>
            <p:nvPr/>
          </p:nvSpPr>
          <p:spPr>
            <a:xfrm>
              <a:off x="223759" y="3832659"/>
              <a:ext cx="2345635" cy="92333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Tere Gravador, PCS, AALU</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1</a:t>
              </a:r>
              <a:endParaRPr/>
            </a:p>
            <a:p>
              <a:pPr indent="0" lvl="0" marL="0" marR="0" rtl="0" algn="r">
                <a:lnSpc>
                  <a:spcPct val="100000"/>
                </a:lnSpc>
                <a:spcBef>
                  <a:spcPts val="0"/>
                </a:spcBef>
                <a:spcAft>
                  <a:spcPts val="0"/>
                </a:spcAft>
                <a:buClr>
                  <a:srgbClr val="ED7D31"/>
                </a:buClr>
                <a:buSzPts val="1400"/>
                <a:buFont typeface="Calibri"/>
                <a:buNone/>
              </a:pPr>
              <a:r>
                <a:rPr b="1" i="0" lang="en-US" sz="1400" u="none" cap="none" strike="noStrike">
                  <a:solidFill>
                    <a:srgbClr val="ED7D31"/>
                  </a:solidFill>
                  <a:latin typeface="Calibri"/>
                  <a:ea typeface="Calibri"/>
                  <a:cs typeface="Calibri"/>
                  <a:sym typeface="Calibri"/>
                </a:rPr>
                <a:t>Team 1</a:t>
              </a:r>
              <a:endParaRPr b="1" i="0" sz="1400" u="none" cap="none" strike="noStrike">
                <a:solidFill>
                  <a:srgbClr val="ED7D31"/>
                </a:solidFill>
                <a:latin typeface="Calibri"/>
                <a:ea typeface="Calibri"/>
                <a:cs typeface="Calibri"/>
                <a:sym typeface="Calibri"/>
              </a:endParaRPr>
            </a:p>
            <a:p>
              <a:pPr indent="0" lvl="0" marL="0" marR="0" rtl="0" algn="r">
                <a:lnSpc>
                  <a:spcPct val="100000"/>
                </a:lnSpc>
                <a:spcBef>
                  <a:spcPts val="0"/>
                </a:spcBef>
                <a:spcAft>
                  <a:spcPts val="0"/>
                </a:spcAft>
                <a:buClr>
                  <a:srgbClr val="ED7D31"/>
                </a:buClr>
                <a:buSzPts val="1200"/>
                <a:buFont typeface="Calibri"/>
                <a:buNone/>
              </a:pPr>
              <a:r>
                <a:rPr b="0" i="0" lang="en-US" sz="1200" u="none" cap="none" strike="noStrike">
                  <a:solidFill>
                    <a:srgbClr val="ED7D31"/>
                  </a:solidFill>
                  <a:latin typeface="Calibri"/>
                  <a:ea typeface="Calibri"/>
                  <a:cs typeface="Calibri"/>
                  <a:sym typeface="Calibri"/>
                </a:rPr>
                <a:t>Date of Entry: Oct 2011</a:t>
              </a:r>
              <a:endParaRPr b="0" i="0" sz="1200" u="none" cap="none" strike="noStrike">
                <a:solidFill>
                  <a:srgbClr val="ED7D31"/>
                </a:solidFill>
                <a:latin typeface="Calibri"/>
                <a:ea typeface="Calibri"/>
                <a:cs typeface="Calibri"/>
                <a:sym typeface="Calibri"/>
              </a:endParaRPr>
            </a:p>
          </p:txBody>
        </p:sp>
        <p:sp>
          <p:nvSpPr>
            <p:cNvPr id="326" name="Google Shape;326;p6"/>
            <p:cNvSpPr txBox="1"/>
            <p:nvPr/>
          </p:nvSpPr>
          <p:spPr>
            <a:xfrm>
              <a:off x="4402897" y="3750067"/>
              <a:ext cx="2149647" cy="95410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Sha Tejero, ACS, ALMI, FALU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1</a:t>
              </a:r>
              <a:endParaRPr/>
            </a:p>
            <a:p>
              <a:pPr indent="0" lvl="0" marL="0" marR="0" rtl="0" algn="r">
                <a:lnSpc>
                  <a:spcPct val="100000"/>
                </a:lnSpc>
                <a:spcBef>
                  <a:spcPts val="0"/>
                </a:spcBef>
                <a:spcAft>
                  <a:spcPts val="0"/>
                </a:spcAft>
                <a:buClr>
                  <a:srgbClr val="C00000"/>
                </a:buClr>
                <a:buSzPts val="1400"/>
                <a:buFont typeface="Calibri"/>
                <a:buNone/>
              </a:pPr>
              <a:r>
                <a:rPr b="1" i="0" lang="en-US" sz="1400" u="none" cap="none" strike="noStrike">
                  <a:solidFill>
                    <a:srgbClr val="C00000"/>
                  </a:solidFill>
                  <a:latin typeface="Calibri"/>
                  <a:ea typeface="Calibri"/>
                  <a:cs typeface="Calibri"/>
                  <a:sym typeface="Calibri"/>
                </a:rPr>
                <a:t>Team 2</a:t>
              </a:r>
              <a:endParaRPr b="1" i="0" sz="1400" u="none" cap="none" strike="noStrike">
                <a:solidFill>
                  <a:srgbClr val="C00000"/>
                </a:solidFill>
                <a:latin typeface="Calibri"/>
                <a:ea typeface="Calibri"/>
                <a:cs typeface="Calibri"/>
                <a:sym typeface="Calibri"/>
              </a:endParaRPr>
            </a:p>
            <a:p>
              <a:pPr indent="0" lvl="0" marL="0" marR="0" rtl="0" algn="r">
                <a:lnSpc>
                  <a:spcPct val="100000"/>
                </a:lnSpc>
                <a:spcBef>
                  <a:spcPts val="0"/>
                </a:spcBef>
                <a:spcAft>
                  <a:spcPts val="0"/>
                </a:spcAft>
                <a:buClr>
                  <a:srgbClr val="C00000"/>
                </a:buClr>
                <a:buSzPts val="1200"/>
                <a:buFont typeface="Calibri"/>
                <a:buNone/>
              </a:pPr>
              <a:r>
                <a:rPr b="0" i="0" lang="en-US" sz="1200" u="none" cap="none" strike="noStrike">
                  <a:solidFill>
                    <a:srgbClr val="C00000"/>
                  </a:solidFill>
                  <a:latin typeface="Calibri"/>
                  <a:ea typeface="Calibri"/>
                  <a:cs typeface="Calibri"/>
                  <a:sym typeface="Calibri"/>
                </a:rPr>
                <a:t>Date of Entry: Jun 2007</a:t>
              </a:r>
              <a:endParaRPr b="0" i="0" sz="1200" u="none" cap="none" strike="noStrike">
                <a:solidFill>
                  <a:srgbClr val="C00000"/>
                </a:solidFill>
                <a:latin typeface="Calibri"/>
                <a:ea typeface="Calibri"/>
                <a:cs typeface="Calibri"/>
                <a:sym typeface="Calibri"/>
              </a:endParaRPr>
            </a:p>
          </p:txBody>
        </p:sp>
        <p:sp>
          <p:nvSpPr>
            <p:cNvPr id="327" name="Google Shape;327;p6"/>
            <p:cNvSpPr txBox="1"/>
            <p:nvPr/>
          </p:nvSpPr>
          <p:spPr>
            <a:xfrm>
              <a:off x="8534111" y="3785111"/>
              <a:ext cx="1614123" cy="132343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Minette Marquez,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ACS, AALU</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Supervisor</a:t>
              </a:r>
              <a:endParaRPr/>
            </a:p>
            <a:p>
              <a:pPr indent="0" lvl="0" marL="0" marR="0" rtl="0" algn="r">
                <a:lnSpc>
                  <a:spcPct val="100000"/>
                </a:lnSpc>
                <a:spcBef>
                  <a:spcPts val="0"/>
                </a:spcBef>
                <a:spcAft>
                  <a:spcPts val="0"/>
                </a:spcAft>
                <a:buClr>
                  <a:srgbClr val="7030A0"/>
                </a:buClr>
                <a:buSzPts val="1400"/>
                <a:buFont typeface="Calibri"/>
                <a:buNone/>
              </a:pPr>
              <a:r>
                <a:rPr b="1" i="0" lang="en-US" sz="1400" u="none" cap="none" strike="noStrike">
                  <a:solidFill>
                    <a:srgbClr val="7030A0"/>
                  </a:solidFill>
                  <a:latin typeface="Calibri"/>
                  <a:ea typeface="Calibri"/>
                  <a:cs typeface="Calibri"/>
                  <a:sym typeface="Calibri"/>
                </a:rPr>
                <a:t>Team 3</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Date of Entry: </a:t>
              </a:r>
              <a:endParaRPr b="0" i="0" sz="1200" u="none" cap="none" strike="noStrike">
                <a:solidFill>
                  <a:srgbClr val="7030A0"/>
                </a:solidFill>
                <a:latin typeface="Calibri"/>
                <a:ea typeface="Calibri"/>
                <a:cs typeface="Calibri"/>
                <a:sym typeface="Calibri"/>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Jun 2013</a:t>
              </a:r>
              <a:endParaRPr b="0" i="0" sz="1200" u="none" cap="none" strike="noStrike">
                <a:solidFill>
                  <a:srgbClr val="7030A0"/>
                </a:solidFill>
                <a:latin typeface="Calibri"/>
                <a:ea typeface="Calibri"/>
                <a:cs typeface="Calibri"/>
                <a:sym typeface="Calibri"/>
              </a:endParaRPr>
            </a:p>
          </p:txBody>
        </p:sp>
        <p:cxnSp>
          <p:nvCxnSpPr>
            <p:cNvPr id="328" name="Google Shape;328;p6"/>
            <p:cNvCxnSpPr/>
            <p:nvPr/>
          </p:nvCxnSpPr>
          <p:spPr>
            <a:xfrm>
              <a:off x="190629" y="4755989"/>
              <a:ext cx="2378765" cy="0"/>
            </a:xfrm>
            <a:prstGeom prst="straightConnector1">
              <a:avLst/>
            </a:prstGeom>
            <a:noFill/>
            <a:ln cap="flat" cmpd="sng" w="9525">
              <a:solidFill>
                <a:schemeClr val="accent2"/>
              </a:solidFill>
              <a:prstDash val="solid"/>
              <a:miter lim="800000"/>
              <a:headEnd len="sm" w="sm" type="none"/>
              <a:tailEnd len="sm" w="sm" type="none"/>
            </a:ln>
          </p:spPr>
        </p:cxnSp>
        <p:cxnSp>
          <p:nvCxnSpPr>
            <p:cNvPr id="329" name="Google Shape;329;p6"/>
            <p:cNvCxnSpPr/>
            <p:nvPr/>
          </p:nvCxnSpPr>
          <p:spPr>
            <a:xfrm>
              <a:off x="4450137" y="4742601"/>
              <a:ext cx="2057106" cy="777"/>
            </a:xfrm>
            <a:prstGeom prst="straightConnector1">
              <a:avLst/>
            </a:prstGeom>
            <a:noFill/>
            <a:ln cap="flat" cmpd="sng" w="9525">
              <a:solidFill>
                <a:srgbClr val="C00000"/>
              </a:solidFill>
              <a:prstDash val="solid"/>
              <a:miter lim="800000"/>
              <a:headEnd len="sm" w="sm" type="none"/>
              <a:tailEnd len="sm" w="sm" type="none"/>
            </a:ln>
          </p:spPr>
        </p:cxnSp>
        <p:cxnSp>
          <p:nvCxnSpPr>
            <p:cNvPr id="330" name="Google Shape;330;p6"/>
            <p:cNvCxnSpPr/>
            <p:nvPr/>
          </p:nvCxnSpPr>
          <p:spPr>
            <a:xfrm>
              <a:off x="8587489" y="5152370"/>
              <a:ext cx="1644421" cy="777"/>
            </a:xfrm>
            <a:prstGeom prst="straightConnector1">
              <a:avLst/>
            </a:prstGeom>
            <a:noFill/>
            <a:ln cap="flat" cmpd="sng" w="9525">
              <a:solidFill>
                <a:srgbClr val="7030A0"/>
              </a:solidFill>
              <a:prstDash val="solid"/>
              <a:miter lim="800000"/>
              <a:headEnd len="sm" w="sm" type="none"/>
              <a:tailEnd len="sm" w="sm" type="none"/>
            </a:ln>
          </p:spPr>
        </p:cxnSp>
        <p:cxnSp>
          <p:nvCxnSpPr>
            <p:cNvPr id="331" name="Google Shape;331;p6"/>
            <p:cNvCxnSpPr/>
            <p:nvPr/>
          </p:nvCxnSpPr>
          <p:spPr>
            <a:xfrm>
              <a:off x="1955980" y="4739077"/>
              <a:ext cx="749" cy="1633060"/>
            </a:xfrm>
            <a:prstGeom prst="straightConnector1">
              <a:avLst/>
            </a:prstGeom>
            <a:noFill/>
            <a:ln cap="flat" cmpd="sng" w="9525">
              <a:solidFill>
                <a:schemeClr val="dk1"/>
              </a:solidFill>
              <a:prstDash val="solid"/>
              <a:miter lim="800000"/>
              <a:headEnd len="sm" w="sm" type="none"/>
              <a:tailEnd len="sm" w="sm" type="none"/>
            </a:ln>
          </p:spPr>
        </p:cxnSp>
        <p:cxnSp>
          <p:nvCxnSpPr>
            <p:cNvPr id="332" name="Google Shape;332;p6"/>
            <p:cNvCxnSpPr/>
            <p:nvPr/>
          </p:nvCxnSpPr>
          <p:spPr>
            <a:xfrm flipH="1" rot="10800000">
              <a:off x="6063064" y="6691045"/>
              <a:ext cx="542124" cy="2610"/>
            </a:xfrm>
            <a:prstGeom prst="straightConnector1">
              <a:avLst/>
            </a:prstGeom>
            <a:noFill/>
            <a:ln cap="flat" cmpd="sng" w="9525">
              <a:solidFill>
                <a:schemeClr val="dk1"/>
              </a:solidFill>
              <a:prstDash val="solid"/>
              <a:miter lim="800000"/>
              <a:headEnd len="sm" w="sm" type="none"/>
              <a:tailEnd len="sm" w="sm" type="none"/>
            </a:ln>
          </p:spPr>
        </p:cxnSp>
      </p:grpSp>
      <p:sp>
        <p:nvSpPr>
          <p:cNvPr id="333" name="Google Shape;333;p6"/>
          <p:cNvSpPr txBox="1"/>
          <p:nvPr/>
        </p:nvSpPr>
        <p:spPr>
          <a:xfrm>
            <a:off x="455131" y="1584538"/>
            <a:ext cx="916814"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9933"/>
              </a:buClr>
              <a:buSzPts val="5400"/>
              <a:buFont typeface="Impact"/>
              <a:buNone/>
            </a:pPr>
            <a:r>
              <a:rPr b="0" i="0" lang="en-US" sz="5400" u="none" cap="none" strike="noStrike">
                <a:solidFill>
                  <a:srgbClr val="FF9933"/>
                </a:solidFill>
                <a:latin typeface="Impact"/>
                <a:ea typeface="Impact"/>
                <a:cs typeface="Impact"/>
                <a:sym typeface="Impact"/>
              </a:rPr>
              <a:t>15</a:t>
            </a:r>
            <a:endParaRPr b="0" i="0" sz="5400" u="none" cap="none" strike="noStrike">
              <a:solidFill>
                <a:srgbClr val="FF9933"/>
              </a:solidFill>
              <a:latin typeface="Impact"/>
              <a:ea typeface="Impact"/>
              <a:cs typeface="Impact"/>
              <a:sym typeface="Impact"/>
            </a:endParaRPr>
          </a:p>
        </p:txBody>
      </p:sp>
      <p:sp>
        <p:nvSpPr>
          <p:cNvPr id="334" name="Google Shape;334;p6"/>
          <p:cNvSpPr txBox="1"/>
          <p:nvPr/>
        </p:nvSpPr>
        <p:spPr>
          <a:xfrm>
            <a:off x="1210314" y="1697713"/>
            <a:ext cx="127997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Warm </a:t>
            </a:r>
            <a:endParaRPr/>
          </a:p>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Bodies</a:t>
            </a:r>
            <a:endParaRPr b="1" i="0" sz="2000" u="none" cap="none" strike="noStrike">
              <a:solidFill>
                <a:srgbClr val="3A3838"/>
              </a:solidFill>
              <a:latin typeface="Calibri"/>
              <a:ea typeface="Calibri"/>
              <a:cs typeface="Calibri"/>
              <a:sym typeface="Calibri"/>
            </a:endParaRPr>
          </a:p>
        </p:txBody>
      </p:sp>
      <p:cxnSp>
        <p:nvCxnSpPr>
          <p:cNvPr id="335" name="Google Shape;335;p6"/>
          <p:cNvCxnSpPr/>
          <p:nvPr/>
        </p:nvCxnSpPr>
        <p:spPr>
          <a:xfrm>
            <a:off x="10127785" y="2942260"/>
            <a:ext cx="274320" cy="0"/>
          </a:xfrm>
          <a:prstGeom prst="straightConnector1">
            <a:avLst/>
          </a:prstGeom>
          <a:noFill/>
          <a:ln cap="flat" cmpd="sng" w="9525">
            <a:solidFill>
              <a:schemeClr val="accent3"/>
            </a:solidFill>
            <a:prstDash val="solid"/>
            <a:miter lim="800000"/>
            <a:headEnd len="sm" w="sm" type="none"/>
            <a:tailEnd len="sm" w="sm" type="none"/>
          </a:ln>
        </p:spPr>
      </p:cxnSp>
      <p:cxnSp>
        <p:nvCxnSpPr>
          <p:cNvPr id="336" name="Google Shape;336;p6"/>
          <p:cNvCxnSpPr/>
          <p:nvPr/>
        </p:nvCxnSpPr>
        <p:spPr>
          <a:xfrm>
            <a:off x="10151254" y="3675538"/>
            <a:ext cx="274320" cy="0"/>
          </a:xfrm>
          <a:prstGeom prst="straightConnector1">
            <a:avLst/>
          </a:prstGeom>
          <a:noFill/>
          <a:ln cap="flat" cmpd="sng" w="9525">
            <a:solidFill>
              <a:schemeClr val="accent3"/>
            </a:solidFill>
            <a:prstDash val="solid"/>
            <a:miter lim="800000"/>
            <a:headEnd len="sm" w="sm" type="none"/>
            <a:tailEnd len="sm" w="sm" type="none"/>
          </a:ln>
        </p:spPr>
      </p:cxnSp>
      <p:cxnSp>
        <p:nvCxnSpPr>
          <p:cNvPr id="337" name="Google Shape;337;p6"/>
          <p:cNvCxnSpPr/>
          <p:nvPr/>
        </p:nvCxnSpPr>
        <p:spPr>
          <a:xfrm>
            <a:off x="2542321" y="2907539"/>
            <a:ext cx="274320" cy="0"/>
          </a:xfrm>
          <a:prstGeom prst="straightConnector1">
            <a:avLst/>
          </a:prstGeom>
          <a:noFill/>
          <a:ln cap="flat" cmpd="sng" w="9525">
            <a:solidFill>
              <a:schemeClr val="accent3"/>
            </a:solidFill>
            <a:prstDash val="solid"/>
            <a:miter lim="800000"/>
            <a:headEnd len="sm" w="sm" type="none"/>
            <a:tailEnd len="sm" w="sm" type="none"/>
          </a:ln>
        </p:spPr>
      </p:cxnSp>
      <p:cxnSp>
        <p:nvCxnSpPr>
          <p:cNvPr id="338" name="Google Shape;338;p6"/>
          <p:cNvCxnSpPr/>
          <p:nvPr/>
        </p:nvCxnSpPr>
        <p:spPr>
          <a:xfrm>
            <a:off x="2537264" y="3832659"/>
            <a:ext cx="274320" cy="0"/>
          </a:xfrm>
          <a:prstGeom prst="straightConnector1">
            <a:avLst/>
          </a:prstGeom>
          <a:noFill/>
          <a:ln cap="flat" cmpd="sng" w="9525">
            <a:solidFill>
              <a:schemeClr val="accent3"/>
            </a:solidFill>
            <a:prstDash val="solid"/>
            <a:miter lim="800000"/>
            <a:headEnd len="sm" w="sm" type="none"/>
            <a:tailEnd len="sm" w="sm" type="none"/>
          </a:ln>
        </p:spPr>
      </p:cxnSp>
      <p:cxnSp>
        <p:nvCxnSpPr>
          <p:cNvPr id="339" name="Google Shape;339;p6"/>
          <p:cNvCxnSpPr/>
          <p:nvPr/>
        </p:nvCxnSpPr>
        <p:spPr>
          <a:xfrm>
            <a:off x="6460403" y="2767540"/>
            <a:ext cx="274320" cy="0"/>
          </a:xfrm>
          <a:prstGeom prst="straightConnector1">
            <a:avLst/>
          </a:prstGeom>
          <a:noFill/>
          <a:ln cap="flat" cmpd="sng" w="9525">
            <a:solidFill>
              <a:schemeClr val="accent3"/>
            </a:solidFill>
            <a:prstDash val="solid"/>
            <a:miter lim="800000"/>
            <a:headEnd len="sm" w="sm" type="none"/>
            <a:tailEnd len="sm" w="sm" type="none"/>
          </a:ln>
        </p:spPr>
      </p:cxnSp>
      <p:cxnSp>
        <p:nvCxnSpPr>
          <p:cNvPr id="340" name="Google Shape;340;p6"/>
          <p:cNvCxnSpPr/>
          <p:nvPr/>
        </p:nvCxnSpPr>
        <p:spPr>
          <a:xfrm>
            <a:off x="6455346" y="3692660"/>
            <a:ext cx="274320" cy="0"/>
          </a:xfrm>
          <a:prstGeom prst="straightConnector1">
            <a:avLst/>
          </a:prstGeom>
          <a:noFill/>
          <a:ln cap="flat" cmpd="sng" w="9525">
            <a:solidFill>
              <a:schemeClr val="accent3"/>
            </a:solidFill>
            <a:prstDash val="solid"/>
            <a:miter lim="800000"/>
            <a:headEnd len="sm" w="sm" type="none"/>
            <a:tailEnd len="sm" w="sm" type="none"/>
          </a:ln>
        </p:spPr>
      </p:cxnSp>
      <p:cxnSp>
        <p:nvCxnSpPr>
          <p:cNvPr id="341" name="Google Shape;341;p6"/>
          <p:cNvCxnSpPr/>
          <p:nvPr/>
        </p:nvCxnSpPr>
        <p:spPr>
          <a:xfrm flipH="1" rot="10800000">
            <a:off x="1949756" y="6372137"/>
            <a:ext cx="767591" cy="962"/>
          </a:xfrm>
          <a:prstGeom prst="straightConnector1">
            <a:avLst/>
          </a:prstGeom>
          <a:noFill/>
          <a:ln cap="flat" cmpd="sng" w="9525">
            <a:solidFill>
              <a:schemeClr val="dk1"/>
            </a:solidFill>
            <a:prstDash val="solid"/>
            <a:miter lim="800000"/>
            <a:headEnd len="sm" w="sm" type="none"/>
            <a:tailEnd len="sm" w="sm" type="none"/>
          </a:ln>
        </p:spPr>
      </p:cxnSp>
      <p:sp>
        <p:nvSpPr>
          <p:cNvPr id="342" name="Google Shape;342;p6"/>
          <p:cNvSpPr/>
          <p:nvPr/>
        </p:nvSpPr>
        <p:spPr>
          <a:xfrm>
            <a:off x="2723173" y="6126430"/>
            <a:ext cx="1578767" cy="714228"/>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Ruzelle Dacles</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4A (T)</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Entry in NB &amp;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UW: May 2019</a:t>
            </a:r>
            <a:endParaRPr b="0" i="0" sz="1000" u="none" cap="none" strike="noStrike">
              <a:solidFill>
                <a:srgbClr val="000000"/>
              </a:solidFill>
              <a:latin typeface="Calibri"/>
              <a:ea typeface="Calibri"/>
              <a:cs typeface="Calibri"/>
              <a:sym typeface="Calibri"/>
            </a:endParaRPr>
          </a:p>
        </p:txBody>
      </p:sp>
      <p:pic>
        <p:nvPicPr>
          <p:cNvPr id="343" name="Google Shape;343;p6"/>
          <p:cNvPicPr preferRelativeResize="0"/>
          <p:nvPr/>
        </p:nvPicPr>
        <p:blipFill rotWithShape="1">
          <a:blip r:embed="rId18">
            <a:alphaModFix/>
          </a:blip>
          <a:srcRect b="35299" l="28139" r="27432" t="24802"/>
          <a:stretch/>
        </p:blipFill>
        <p:spPr>
          <a:xfrm>
            <a:off x="3713158" y="6175714"/>
            <a:ext cx="506412" cy="611187"/>
          </a:xfrm>
          <a:prstGeom prst="rect">
            <a:avLst/>
          </a:prstGeom>
          <a:noFill/>
          <a:ln>
            <a:noFill/>
          </a:ln>
        </p:spPr>
      </p:pic>
      <p:pic>
        <p:nvPicPr>
          <p:cNvPr descr="C:\Users\pj66\Pictures\2015\IMG_5374.JPG" id="344" name="Google Shape;344;p6"/>
          <p:cNvPicPr preferRelativeResize="0"/>
          <p:nvPr/>
        </p:nvPicPr>
        <p:blipFill rotWithShape="1">
          <a:blip r:embed="rId19">
            <a:alphaModFix/>
          </a:blip>
          <a:srcRect b="42058" l="23836" r="29676" t="20926"/>
          <a:stretch/>
        </p:blipFill>
        <p:spPr>
          <a:xfrm>
            <a:off x="7709960" y="5494096"/>
            <a:ext cx="574675" cy="604837"/>
          </a:xfrm>
          <a:prstGeom prst="rect">
            <a:avLst/>
          </a:prstGeom>
          <a:solidFill>
            <a:srgbClr val="FAF9F9"/>
          </a:solidFill>
          <a:ln>
            <a:noFill/>
          </a:ln>
        </p:spPr>
      </p:pic>
      <p:pic>
        <p:nvPicPr>
          <p:cNvPr id="345" name="Google Shape;345;p6"/>
          <p:cNvPicPr preferRelativeResize="0"/>
          <p:nvPr/>
        </p:nvPicPr>
        <p:blipFill rotWithShape="1">
          <a:blip r:embed="rId20">
            <a:alphaModFix/>
          </a:blip>
          <a:srcRect b="0" l="0" r="0" t="0"/>
          <a:stretch/>
        </p:blipFill>
        <p:spPr>
          <a:xfrm>
            <a:off x="8831589" y="-23232"/>
            <a:ext cx="917965" cy="914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pic>
        <p:nvPicPr>
          <p:cNvPr id="351" name="Google Shape;351;p7"/>
          <p:cNvPicPr preferRelativeResize="0"/>
          <p:nvPr/>
        </p:nvPicPr>
        <p:blipFill rotWithShape="1">
          <a:blip r:embed="rId3">
            <a:alphaModFix/>
          </a:blip>
          <a:srcRect b="48442" l="0" r="0" t="0"/>
          <a:stretch/>
        </p:blipFill>
        <p:spPr>
          <a:xfrm flipH="1" rot="10800000">
            <a:off x="64411" y="5270011"/>
            <a:ext cx="4171210" cy="1611209"/>
          </a:xfrm>
          <a:prstGeom prst="rect">
            <a:avLst/>
          </a:prstGeom>
          <a:noFill/>
          <a:ln>
            <a:noFill/>
          </a:ln>
        </p:spPr>
      </p:pic>
      <p:pic>
        <p:nvPicPr>
          <p:cNvPr id="352" name="Google Shape;352;p7"/>
          <p:cNvPicPr preferRelativeResize="0"/>
          <p:nvPr/>
        </p:nvPicPr>
        <p:blipFill rotWithShape="1">
          <a:blip r:embed="rId3">
            <a:alphaModFix/>
          </a:blip>
          <a:srcRect b="48442" l="0" r="0" t="0"/>
          <a:stretch/>
        </p:blipFill>
        <p:spPr>
          <a:xfrm flipH="1" rot="10800000">
            <a:off x="8293562" y="5361982"/>
            <a:ext cx="3898438" cy="1496018"/>
          </a:xfrm>
          <a:prstGeom prst="rect">
            <a:avLst/>
          </a:prstGeom>
          <a:noFill/>
          <a:ln>
            <a:noFill/>
          </a:ln>
        </p:spPr>
      </p:pic>
      <p:pic>
        <p:nvPicPr>
          <p:cNvPr id="353" name="Google Shape;353;p7"/>
          <p:cNvPicPr preferRelativeResize="0"/>
          <p:nvPr/>
        </p:nvPicPr>
        <p:blipFill rotWithShape="1">
          <a:blip r:embed="rId3">
            <a:alphaModFix/>
          </a:blip>
          <a:srcRect b="48442" l="0" r="0" t="0"/>
          <a:stretch/>
        </p:blipFill>
        <p:spPr>
          <a:xfrm flipH="1" rot="10800000">
            <a:off x="4413537" y="5246791"/>
            <a:ext cx="4171210" cy="1611209"/>
          </a:xfrm>
          <a:prstGeom prst="rect">
            <a:avLst/>
          </a:prstGeom>
          <a:noFill/>
          <a:ln>
            <a:noFill/>
          </a:ln>
        </p:spPr>
      </p:pic>
      <p:pic>
        <p:nvPicPr>
          <p:cNvPr id="354" name="Google Shape;354;p7"/>
          <p:cNvPicPr preferRelativeResize="0"/>
          <p:nvPr/>
        </p:nvPicPr>
        <p:blipFill rotWithShape="1">
          <a:blip r:embed="rId3">
            <a:alphaModFix/>
          </a:blip>
          <a:srcRect b="48442" l="0" r="0" t="0"/>
          <a:stretch/>
        </p:blipFill>
        <p:spPr>
          <a:xfrm flipH="1" rot="10800000">
            <a:off x="2399626" y="5240195"/>
            <a:ext cx="4171210" cy="1611209"/>
          </a:xfrm>
          <a:prstGeom prst="rect">
            <a:avLst/>
          </a:prstGeom>
          <a:noFill/>
          <a:ln>
            <a:noFill/>
          </a:ln>
        </p:spPr>
      </p:pic>
      <p:sp>
        <p:nvSpPr>
          <p:cNvPr id="355" name="Google Shape;355;p7"/>
          <p:cNvSpPr txBox="1"/>
          <p:nvPr/>
        </p:nvSpPr>
        <p:spPr>
          <a:xfrm>
            <a:off x="7619346" y="242814"/>
            <a:ext cx="4144699" cy="95410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SLOCPI</a:t>
            </a:r>
            <a:endParaRPr/>
          </a:p>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Territory 2 - Underwriters </a:t>
            </a:r>
            <a:endParaRPr b="1" i="0" sz="2800" u="none" cap="none" strike="noStrike">
              <a:solidFill>
                <a:srgbClr val="000000"/>
              </a:solidFill>
              <a:latin typeface="Calibri"/>
              <a:ea typeface="Calibri"/>
              <a:cs typeface="Calibri"/>
              <a:sym typeface="Calibri"/>
            </a:endParaRPr>
          </a:p>
        </p:txBody>
      </p:sp>
      <p:sp>
        <p:nvSpPr>
          <p:cNvPr id="356" name="Google Shape;356;p7"/>
          <p:cNvSpPr/>
          <p:nvPr/>
        </p:nvSpPr>
        <p:spPr>
          <a:xfrm>
            <a:off x="162665" y="5029200"/>
            <a:ext cx="182880" cy="1828800"/>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57" name="Google Shape;357;p7"/>
          <p:cNvGrpSpPr/>
          <p:nvPr/>
        </p:nvGrpSpPr>
        <p:grpSpPr>
          <a:xfrm>
            <a:off x="455131" y="46263"/>
            <a:ext cx="11360685" cy="6811737"/>
            <a:chOff x="455131" y="46263"/>
            <a:chExt cx="11360685" cy="6811737"/>
          </a:xfrm>
        </p:grpSpPr>
        <p:cxnSp>
          <p:nvCxnSpPr>
            <p:cNvPr id="358" name="Google Shape;358;p7"/>
            <p:cNvCxnSpPr/>
            <p:nvPr/>
          </p:nvCxnSpPr>
          <p:spPr>
            <a:xfrm>
              <a:off x="1671145" y="2618173"/>
              <a:ext cx="0" cy="376643"/>
            </a:xfrm>
            <a:prstGeom prst="straightConnector1">
              <a:avLst/>
            </a:prstGeom>
            <a:noFill/>
            <a:ln cap="flat" cmpd="sng" w="9525">
              <a:solidFill>
                <a:schemeClr val="dk1"/>
              </a:solidFill>
              <a:prstDash val="solid"/>
              <a:miter lim="800000"/>
              <a:headEnd len="sm" w="sm" type="none"/>
              <a:tailEnd len="sm" w="sm" type="none"/>
            </a:ln>
          </p:spPr>
        </p:cxnSp>
        <p:cxnSp>
          <p:nvCxnSpPr>
            <p:cNvPr id="359" name="Google Shape;359;p7"/>
            <p:cNvCxnSpPr/>
            <p:nvPr/>
          </p:nvCxnSpPr>
          <p:spPr>
            <a:xfrm>
              <a:off x="3482594" y="2622115"/>
              <a:ext cx="0" cy="376643"/>
            </a:xfrm>
            <a:prstGeom prst="straightConnector1">
              <a:avLst/>
            </a:prstGeom>
            <a:noFill/>
            <a:ln cap="flat" cmpd="sng" w="9525">
              <a:solidFill>
                <a:schemeClr val="dk1"/>
              </a:solidFill>
              <a:prstDash val="solid"/>
              <a:miter lim="800000"/>
              <a:headEnd len="sm" w="sm" type="none"/>
              <a:tailEnd len="sm" w="sm" type="none"/>
            </a:ln>
          </p:spPr>
        </p:cxnSp>
        <p:cxnSp>
          <p:nvCxnSpPr>
            <p:cNvPr id="360" name="Google Shape;360;p7"/>
            <p:cNvCxnSpPr/>
            <p:nvPr/>
          </p:nvCxnSpPr>
          <p:spPr>
            <a:xfrm>
              <a:off x="6125817" y="134772"/>
              <a:ext cx="80460" cy="2483401"/>
            </a:xfrm>
            <a:prstGeom prst="straightConnector1">
              <a:avLst/>
            </a:prstGeom>
            <a:noFill/>
            <a:ln cap="flat" cmpd="sng" w="9525">
              <a:solidFill>
                <a:schemeClr val="dk1"/>
              </a:solidFill>
              <a:prstDash val="solid"/>
              <a:miter lim="800000"/>
              <a:headEnd len="sm" w="sm" type="none"/>
              <a:tailEnd len="sm" w="sm" type="none"/>
            </a:ln>
          </p:spPr>
        </p:cxnSp>
        <p:sp>
          <p:nvSpPr>
            <p:cNvPr id="361" name="Google Shape;361;p7"/>
            <p:cNvSpPr/>
            <p:nvPr/>
          </p:nvSpPr>
          <p:spPr>
            <a:xfrm>
              <a:off x="646770" y="2779090"/>
              <a:ext cx="1646693" cy="2682165"/>
            </a:xfrm>
            <a:prstGeom prst="rect">
              <a:avLst/>
            </a:prstGeom>
            <a:solidFill>
              <a:schemeClr val="accent2">
                <a:alpha val="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2" name="Google Shape;362;p7"/>
            <p:cNvSpPr/>
            <p:nvPr/>
          </p:nvSpPr>
          <p:spPr>
            <a:xfrm>
              <a:off x="2406225" y="2810437"/>
              <a:ext cx="1704698" cy="2248539"/>
            </a:xfrm>
            <a:prstGeom prst="rect">
              <a:avLst/>
            </a:prstGeom>
            <a:solidFill>
              <a:schemeClr val="accent6">
                <a:alpha val="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3" name="Google Shape;363;p7"/>
            <p:cNvSpPr/>
            <p:nvPr/>
          </p:nvSpPr>
          <p:spPr>
            <a:xfrm>
              <a:off x="8461168" y="2921638"/>
              <a:ext cx="1797038" cy="2430254"/>
            </a:xfrm>
            <a:prstGeom prst="rect">
              <a:avLst/>
            </a:prstGeom>
            <a:solidFill>
              <a:srgbClr val="7030A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364" name="Google Shape;364;p7"/>
            <p:cNvCxnSpPr/>
            <p:nvPr/>
          </p:nvCxnSpPr>
          <p:spPr>
            <a:xfrm>
              <a:off x="1671145" y="2618173"/>
              <a:ext cx="8213834" cy="0"/>
            </a:xfrm>
            <a:prstGeom prst="straightConnector1">
              <a:avLst/>
            </a:prstGeom>
            <a:noFill/>
            <a:ln cap="flat" cmpd="sng" w="9525">
              <a:solidFill>
                <a:schemeClr val="dk1"/>
              </a:solidFill>
              <a:prstDash val="solid"/>
              <a:miter lim="800000"/>
              <a:headEnd len="sm" w="sm" type="none"/>
              <a:tailEnd len="sm" w="sm" type="none"/>
            </a:ln>
          </p:spPr>
        </p:cxnSp>
        <p:sp>
          <p:nvSpPr>
            <p:cNvPr id="365" name="Google Shape;365;p7"/>
            <p:cNvSpPr/>
            <p:nvPr/>
          </p:nvSpPr>
          <p:spPr>
            <a:xfrm>
              <a:off x="6212665" y="2878261"/>
              <a:ext cx="1656106" cy="2290312"/>
            </a:xfrm>
            <a:prstGeom prst="rect">
              <a:avLst/>
            </a:prstGeom>
            <a:solidFill>
              <a:srgbClr val="C0000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6" name="Google Shape;366;p7"/>
            <p:cNvSpPr/>
            <p:nvPr/>
          </p:nvSpPr>
          <p:spPr>
            <a:xfrm>
              <a:off x="2897558" y="46263"/>
              <a:ext cx="3642157" cy="1213076"/>
            </a:xfrm>
            <a:prstGeom prst="rect">
              <a:avLst/>
            </a:prstGeom>
            <a:solidFill>
              <a:srgbClr val="66CCFF">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367" name="Google Shape;367;p7"/>
            <p:cNvGrpSpPr/>
            <p:nvPr/>
          </p:nvGrpSpPr>
          <p:grpSpPr>
            <a:xfrm>
              <a:off x="2989434" y="127653"/>
              <a:ext cx="3417670" cy="926756"/>
              <a:chOff x="2989434" y="159185"/>
              <a:chExt cx="3417670" cy="926756"/>
            </a:xfrm>
          </p:grpSpPr>
          <p:pic>
            <p:nvPicPr>
              <p:cNvPr id="368" name="Google Shape;368;p7">
                <a:hlinkClick action="ppaction://hlinkshowjump?jump=lastslide"/>
              </p:cNvPr>
              <p:cNvPicPr preferRelativeResize="0"/>
              <p:nvPr/>
            </p:nvPicPr>
            <p:blipFill rotWithShape="1">
              <a:blip r:embed="rId4">
                <a:alphaModFix/>
              </a:blip>
              <a:srcRect b="0" l="0" r="0" t="0"/>
              <a:stretch/>
            </p:blipFill>
            <p:spPr>
              <a:xfrm>
                <a:off x="5435851" y="159185"/>
                <a:ext cx="971253" cy="926756"/>
              </a:xfrm>
              <a:prstGeom prst="rect">
                <a:avLst/>
              </a:prstGeom>
              <a:noFill/>
              <a:ln cap="flat" cmpd="sng" w="9525">
                <a:solidFill>
                  <a:schemeClr val="dk1"/>
                </a:solidFill>
                <a:prstDash val="solid"/>
                <a:round/>
                <a:headEnd len="sm" w="sm" type="none"/>
                <a:tailEnd len="sm" w="sm" type="none"/>
              </a:ln>
            </p:spPr>
          </p:pic>
          <p:sp>
            <p:nvSpPr>
              <p:cNvPr id="369" name="Google Shape;369;p7"/>
              <p:cNvSpPr txBox="1"/>
              <p:nvPr/>
            </p:nvSpPr>
            <p:spPr>
              <a:xfrm>
                <a:off x="2989434" y="223816"/>
                <a:ext cx="2507974"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2060"/>
                  </a:buClr>
                  <a:buSzPts val="1400"/>
                  <a:buFont typeface="Calibri"/>
                  <a:buNone/>
                </a:pPr>
                <a:r>
                  <a:rPr b="1" i="0" lang="en-US" sz="1400" u="none" cap="none" strike="noStrike">
                    <a:solidFill>
                      <a:srgbClr val="002060"/>
                    </a:solidFill>
                    <a:latin typeface="Calibri"/>
                    <a:ea typeface="Calibri"/>
                    <a:cs typeface="Calibri"/>
                    <a:sym typeface="Calibri"/>
                  </a:rPr>
                  <a:t>Tina Dizon, PCS, FLMI, FALU</a:t>
                </a:r>
                <a:endParaRPr/>
              </a:p>
              <a:p>
                <a:pPr indent="0" lvl="0" marL="0" marR="0" rtl="0" algn="r">
                  <a:lnSpc>
                    <a:spcPct val="100000"/>
                  </a:lnSpc>
                  <a:spcBef>
                    <a:spcPts val="0"/>
                  </a:spcBef>
                  <a:spcAft>
                    <a:spcPts val="0"/>
                  </a:spcAft>
                  <a:buClr>
                    <a:srgbClr val="0070C0"/>
                  </a:buClr>
                  <a:buSzPts val="1400"/>
                  <a:buFont typeface="Calibri"/>
                  <a:buNone/>
                </a:pPr>
                <a:r>
                  <a:rPr b="1" i="0" lang="en-US" sz="1400" u="none" cap="none" strike="noStrike">
                    <a:solidFill>
                      <a:srgbClr val="0070C0"/>
                    </a:solidFill>
                    <a:latin typeface="Calibri"/>
                    <a:ea typeface="Calibri"/>
                    <a:cs typeface="Calibri"/>
                    <a:sym typeface="Calibri"/>
                  </a:rPr>
                  <a:t>Head, NB &amp; UW</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Date of Entry: April 1995</a:t>
                </a:r>
                <a:endParaRPr b="0" i="0" sz="1200" u="none" cap="none" strike="noStrike">
                  <a:solidFill>
                    <a:srgbClr val="0070C0"/>
                  </a:solidFill>
                  <a:latin typeface="Calibri"/>
                  <a:ea typeface="Calibri"/>
                  <a:cs typeface="Calibri"/>
                  <a:sym typeface="Calibri"/>
                </a:endParaRPr>
              </a:p>
            </p:txBody>
          </p:sp>
          <p:cxnSp>
            <p:nvCxnSpPr>
              <p:cNvPr id="370" name="Google Shape;370;p7"/>
              <p:cNvCxnSpPr/>
              <p:nvPr/>
            </p:nvCxnSpPr>
            <p:spPr>
              <a:xfrm>
                <a:off x="3057086" y="964769"/>
                <a:ext cx="2378765" cy="0"/>
              </a:xfrm>
              <a:prstGeom prst="straightConnector1">
                <a:avLst/>
              </a:prstGeom>
              <a:noFill/>
              <a:ln cap="flat" cmpd="sng" w="9525">
                <a:solidFill>
                  <a:schemeClr val="accent5"/>
                </a:solidFill>
                <a:prstDash val="solid"/>
                <a:miter lim="800000"/>
                <a:headEnd len="sm" w="sm" type="none"/>
                <a:tailEnd len="sm" w="sm" type="none"/>
              </a:ln>
            </p:spPr>
          </p:cxnSp>
        </p:grpSp>
        <p:grpSp>
          <p:nvGrpSpPr>
            <p:cNvPr id="371" name="Google Shape;371;p7"/>
            <p:cNvGrpSpPr/>
            <p:nvPr/>
          </p:nvGrpSpPr>
          <p:grpSpPr>
            <a:xfrm>
              <a:off x="5318503" y="1324184"/>
              <a:ext cx="3642157" cy="1213076"/>
              <a:chOff x="5318503" y="1402656"/>
              <a:chExt cx="3642157" cy="1213076"/>
            </a:xfrm>
          </p:grpSpPr>
          <p:sp>
            <p:nvSpPr>
              <p:cNvPr id="372" name="Google Shape;372;p7"/>
              <p:cNvSpPr/>
              <p:nvPr/>
            </p:nvSpPr>
            <p:spPr>
              <a:xfrm>
                <a:off x="5318503" y="1402656"/>
                <a:ext cx="3642157" cy="1213076"/>
              </a:xfrm>
              <a:prstGeom prst="rect">
                <a:avLst/>
              </a:prstGeom>
              <a:solidFill>
                <a:srgbClr val="2F5496">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373" name="Google Shape;373;p7"/>
              <p:cNvCxnSpPr/>
              <p:nvPr/>
            </p:nvCxnSpPr>
            <p:spPr>
              <a:xfrm>
                <a:off x="6407104" y="2308885"/>
                <a:ext cx="2378765" cy="0"/>
              </a:xfrm>
              <a:prstGeom prst="straightConnector1">
                <a:avLst/>
              </a:prstGeom>
              <a:noFill/>
              <a:ln cap="flat" cmpd="sng" w="9525">
                <a:solidFill>
                  <a:schemeClr val="accent5"/>
                </a:solidFill>
                <a:prstDash val="solid"/>
                <a:miter lim="800000"/>
                <a:headEnd len="sm" w="sm" type="none"/>
                <a:tailEnd len="sm" w="sm" type="none"/>
              </a:ln>
            </p:spPr>
          </p:cxnSp>
        </p:grpSp>
        <p:sp>
          <p:nvSpPr>
            <p:cNvPr id="374" name="Google Shape;374;p7"/>
            <p:cNvSpPr txBox="1"/>
            <p:nvPr/>
          </p:nvSpPr>
          <p:spPr>
            <a:xfrm>
              <a:off x="2406224" y="3967752"/>
              <a:ext cx="1710341" cy="92333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Nina Argallon, AALU</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1</a:t>
              </a:r>
              <a:endParaRPr/>
            </a:p>
            <a:p>
              <a:pPr indent="0" lvl="0" marL="0" marR="0" rtl="0" algn="r">
                <a:lnSpc>
                  <a:spcPct val="100000"/>
                </a:lnSpc>
                <a:spcBef>
                  <a:spcPts val="0"/>
                </a:spcBef>
                <a:spcAft>
                  <a:spcPts val="0"/>
                </a:spcAft>
                <a:buClr>
                  <a:srgbClr val="385623"/>
                </a:buClr>
                <a:buSzPts val="1400"/>
                <a:buFont typeface="Calibri"/>
                <a:buNone/>
              </a:pPr>
              <a:r>
                <a:rPr b="1" i="0" lang="en-US" sz="1400" u="none" cap="none" strike="noStrike">
                  <a:solidFill>
                    <a:srgbClr val="385623"/>
                  </a:solidFill>
                  <a:latin typeface="Calibri"/>
                  <a:ea typeface="Calibri"/>
                  <a:cs typeface="Calibri"/>
                  <a:sym typeface="Calibri"/>
                </a:rPr>
                <a:t>Team 1</a:t>
              </a:r>
              <a:endParaRPr b="1" i="0" sz="1400" u="none" cap="none" strike="noStrike">
                <a:solidFill>
                  <a:srgbClr val="385623"/>
                </a:solidFill>
                <a:latin typeface="Calibri"/>
                <a:ea typeface="Calibri"/>
                <a:cs typeface="Calibri"/>
                <a:sym typeface="Calibri"/>
              </a:endParaRPr>
            </a:p>
            <a:p>
              <a:pPr indent="0" lvl="0" marL="0" marR="0" rtl="0" algn="r">
                <a:lnSpc>
                  <a:spcPct val="100000"/>
                </a:lnSpc>
                <a:spcBef>
                  <a:spcPts val="0"/>
                </a:spcBef>
                <a:spcAft>
                  <a:spcPts val="0"/>
                </a:spcAft>
                <a:buClr>
                  <a:srgbClr val="385623"/>
                </a:buClr>
                <a:buSzPts val="1200"/>
                <a:buFont typeface="Calibri"/>
                <a:buNone/>
              </a:pPr>
              <a:r>
                <a:rPr b="0" i="0" lang="en-US" sz="1200" u="none" cap="none" strike="noStrike">
                  <a:solidFill>
                    <a:srgbClr val="385623"/>
                  </a:solidFill>
                  <a:latin typeface="Calibri"/>
                  <a:ea typeface="Calibri"/>
                  <a:cs typeface="Calibri"/>
                  <a:sym typeface="Calibri"/>
                </a:rPr>
                <a:t>Date of Entry: Apr 2013</a:t>
              </a:r>
              <a:endParaRPr b="0" i="0" sz="1200" u="none" cap="none" strike="noStrike">
                <a:solidFill>
                  <a:srgbClr val="385623"/>
                </a:solidFill>
                <a:latin typeface="Calibri"/>
                <a:ea typeface="Calibri"/>
                <a:cs typeface="Calibri"/>
                <a:sym typeface="Calibri"/>
              </a:endParaRPr>
            </a:p>
          </p:txBody>
        </p:sp>
        <p:sp>
          <p:nvSpPr>
            <p:cNvPr id="375" name="Google Shape;375;p7"/>
            <p:cNvSpPr txBox="1"/>
            <p:nvPr/>
          </p:nvSpPr>
          <p:spPr>
            <a:xfrm>
              <a:off x="6206277" y="3897467"/>
              <a:ext cx="1660077" cy="110799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Gene Bayan, FLMI</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Supervisor</a:t>
              </a:r>
              <a:endParaRPr/>
            </a:p>
            <a:p>
              <a:pPr indent="0" lvl="0" marL="0" marR="0" rtl="0" algn="r">
                <a:lnSpc>
                  <a:spcPct val="100000"/>
                </a:lnSpc>
                <a:spcBef>
                  <a:spcPts val="0"/>
                </a:spcBef>
                <a:spcAft>
                  <a:spcPts val="0"/>
                </a:spcAft>
                <a:buClr>
                  <a:srgbClr val="C00000"/>
                </a:buClr>
                <a:buSzPts val="1400"/>
                <a:buFont typeface="Calibri"/>
                <a:buNone/>
              </a:pPr>
              <a:r>
                <a:rPr b="1" i="0" lang="en-US" sz="1400" u="none" cap="none" strike="noStrike">
                  <a:solidFill>
                    <a:srgbClr val="C00000"/>
                  </a:solidFill>
                  <a:latin typeface="Calibri"/>
                  <a:ea typeface="Calibri"/>
                  <a:cs typeface="Calibri"/>
                  <a:sym typeface="Calibri"/>
                </a:rPr>
                <a:t>Team 2</a:t>
              </a:r>
              <a:endParaRPr b="1" i="0" sz="1400" u="none" cap="none" strike="noStrike">
                <a:solidFill>
                  <a:srgbClr val="C00000"/>
                </a:solidFill>
                <a:latin typeface="Calibri"/>
                <a:ea typeface="Calibri"/>
                <a:cs typeface="Calibri"/>
                <a:sym typeface="Calibri"/>
              </a:endParaRPr>
            </a:p>
            <a:p>
              <a:pPr indent="0" lvl="0" marL="0" marR="0" rtl="0" algn="r">
                <a:lnSpc>
                  <a:spcPct val="100000"/>
                </a:lnSpc>
                <a:spcBef>
                  <a:spcPts val="0"/>
                </a:spcBef>
                <a:spcAft>
                  <a:spcPts val="0"/>
                </a:spcAft>
                <a:buClr>
                  <a:srgbClr val="C00000"/>
                </a:buClr>
                <a:buSzPts val="1200"/>
                <a:buFont typeface="Calibri"/>
                <a:buNone/>
              </a:pPr>
              <a:r>
                <a:rPr b="0" i="0" lang="en-US" sz="1200" u="none" cap="none" strike="noStrike">
                  <a:solidFill>
                    <a:srgbClr val="C00000"/>
                  </a:solidFill>
                  <a:latin typeface="Calibri"/>
                  <a:ea typeface="Calibri"/>
                  <a:cs typeface="Calibri"/>
                  <a:sym typeface="Calibri"/>
                </a:rPr>
                <a:t>Date of Entry: May 2017</a:t>
              </a:r>
              <a:endParaRPr b="0" i="0" sz="1200" u="none" cap="none" strike="noStrike">
                <a:solidFill>
                  <a:srgbClr val="C00000"/>
                </a:solidFill>
                <a:latin typeface="Calibri"/>
                <a:ea typeface="Calibri"/>
                <a:cs typeface="Calibri"/>
                <a:sym typeface="Calibri"/>
              </a:endParaRPr>
            </a:p>
          </p:txBody>
        </p:sp>
        <p:sp>
          <p:nvSpPr>
            <p:cNvPr id="376" name="Google Shape;376;p7"/>
            <p:cNvSpPr txBox="1"/>
            <p:nvPr/>
          </p:nvSpPr>
          <p:spPr>
            <a:xfrm>
              <a:off x="8555485" y="3948582"/>
              <a:ext cx="1608404" cy="132343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Madel Petalcorin-San Roman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Supervisor</a:t>
              </a:r>
              <a:endParaRPr/>
            </a:p>
            <a:p>
              <a:pPr indent="0" lvl="0" marL="0" marR="0" rtl="0" algn="r">
                <a:lnSpc>
                  <a:spcPct val="100000"/>
                </a:lnSpc>
                <a:spcBef>
                  <a:spcPts val="0"/>
                </a:spcBef>
                <a:spcAft>
                  <a:spcPts val="0"/>
                </a:spcAft>
                <a:buClr>
                  <a:srgbClr val="7030A0"/>
                </a:buClr>
                <a:buSzPts val="1400"/>
                <a:buFont typeface="Calibri"/>
                <a:buNone/>
              </a:pPr>
              <a:r>
                <a:rPr b="1" i="0" lang="en-US" sz="1400" u="none" cap="none" strike="noStrike">
                  <a:solidFill>
                    <a:srgbClr val="7030A0"/>
                  </a:solidFill>
                  <a:latin typeface="Calibri"/>
                  <a:ea typeface="Calibri"/>
                  <a:cs typeface="Calibri"/>
                  <a:sym typeface="Calibri"/>
                </a:rPr>
                <a:t>Team 3</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Date of Entry: </a:t>
              </a:r>
              <a:endParaRPr b="0" i="0" sz="1200" u="none" cap="none" strike="noStrike">
                <a:solidFill>
                  <a:srgbClr val="7030A0"/>
                </a:solidFill>
                <a:latin typeface="Calibri"/>
                <a:ea typeface="Calibri"/>
                <a:cs typeface="Calibri"/>
                <a:sym typeface="Calibri"/>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Jun 2013</a:t>
              </a:r>
              <a:endParaRPr b="0" i="0" sz="1200" u="none" cap="none" strike="noStrike">
                <a:solidFill>
                  <a:srgbClr val="7030A0"/>
                </a:solidFill>
                <a:latin typeface="Calibri"/>
                <a:ea typeface="Calibri"/>
                <a:cs typeface="Calibri"/>
                <a:sym typeface="Calibri"/>
              </a:endParaRPr>
            </a:p>
          </p:txBody>
        </p:sp>
        <p:cxnSp>
          <p:nvCxnSpPr>
            <p:cNvPr id="377" name="Google Shape;377;p7"/>
            <p:cNvCxnSpPr/>
            <p:nvPr/>
          </p:nvCxnSpPr>
          <p:spPr>
            <a:xfrm>
              <a:off x="2520074" y="4891082"/>
              <a:ext cx="1578730" cy="0"/>
            </a:xfrm>
            <a:prstGeom prst="straightConnector1">
              <a:avLst/>
            </a:prstGeom>
            <a:noFill/>
            <a:ln cap="flat" cmpd="sng" w="9525">
              <a:solidFill>
                <a:schemeClr val="accent6"/>
              </a:solidFill>
              <a:prstDash val="solid"/>
              <a:miter lim="800000"/>
              <a:headEnd len="sm" w="sm" type="none"/>
              <a:tailEnd len="sm" w="sm" type="none"/>
            </a:ln>
          </p:spPr>
        </p:cxnSp>
        <p:cxnSp>
          <p:nvCxnSpPr>
            <p:cNvPr id="378" name="Google Shape;378;p7"/>
            <p:cNvCxnSpPr/>
            <p:nvPr/>
          </p:nvCxnSpPr>
          <p:spPr>
            <a:xfrm>
              <a:off x="6223887" y="5002129"/>
              <a:ext cx="1598007" cy="11264"/>
            </a:xfrm>
            <a:prstGeom prst="straightConnector1">
              <a:avLst/>
            </a:prstGeom>
            <a:noFill/>
            <a:ln cap="flat" cmpd="sng" w="9525">
              <a:solidFill>
                <a:srgbClr val="C00000"/>
              </a:solidFill>
              <a:prstDash val="solid"/>
              <a:miter lim="800000"/>
              <a:headEnd len="sm" w="sm" type="none"/>
              <a:tailEnd len="sm" w="sm" type="none"/>
            </a:ln>
          </p:spPr>
        </p:cxnSp>
        <p:cxnSp>
          <p:nvCxnSpPr>
            <p:cNvPr id="379" name="Google Shape;379;p7"/>
            <p:cNvCxnSpPr/>
            <p:nvPr/>
          </p:nvCxnSpPr>
          <p:spPr>
            <a:xfrm>
              <a:off x="8522381" y="5221038"/>
              <a:ext cx="1641508" cy="196"/>
            </a:xfrm>
            <a:prstGeom prst="straightConnector1">
              <a:avLst/>
            </a:prstGeom>
            <a:noFill/>
            <a:ln cap="flat" cmpd="sng" w="9525">
              <a:solidFill>
                <a:srgbClr val="7030A0"/>
              </a:solidFill>
              <a:prstDash val="solid"/>
              <a:miter lim="800000"/>
              <a:headEnd len="sm" w="sm" type="none"/>
              <a:tailEnd len="sm" w="sm" type="none"/>
            </a:ln>
          </p:spPr>
        </p:cxnSp>
        <p:pic>
          <p:nvPicPr>
            <p:cNvPr id="380" name="Google Shape;380;p7"/>
            <p:cNvPicPr preferRelativeResize="0"/>
            <p:nvPr/>
          </p:nvPicPr>
          <p:blipFill rotWithShape="1">
            <a:blip r:embed="rId5">
              <a:alphaModFix/>
            </a:blip>
            <a:srcRect b="43986" l="40701" r="34026" t="12025"/>
            <a:stretch/>
          </p:blipFill>
          <p:spPr>
            <a:xfrm>
              <a:off x="5435851" y="1378699"/>
              <a:ext cx="971253" cy="1016432"/>
            </a:xfrm>
            <a:prstGeom prst="rect">
              <a:avLst/>
            </a:prstGeom>
            <a:noFill/>
            <a:ln cap="flat" cmpd="sng" w="9525">
              <a:solidFill>
                <a:schemeClr val="dk1"/>
              </a:solidFill>
              <a:prstDash val="solid"/>
              <a:round/>
              <a:headEnd len="sm" w="sm" type="none"/>
              <a:tailEnd len="sm" w="sm" type="none"/>
            </a:ln>
          </p:spPr>
        </p:pic>
        <p:sp>
          <p:nvSpPr>
            <p:cNvPr id="381" name="Google Shape;381;p7"/>
            <p:cNvSpPr txBox="1"/>
            <p:nvPr/>
          </p:nvSpPr>
          <p:spPr>
            <a:xfrm>
              <a:off x="6460726" y="1352406"/>
              <a:ext cx="264389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Malou Ramos, ACS, FLMI, FALU</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3</a:t>
              </a:r>
              <a:endParaRPr/>
            </a:p>
            <a:p>
              <a:pPr indent="0" lvl="0" marL="0" marR="0" rtl="0" algn="l">
                <a:lnSpc>
                  <a:spcPct val="100000"/>
                </a:lnSpc>
                <a:spcBef>
                  <a:spcPts val="0"/>
                </a:spcBef>
                <a:spcAft>
                  <a:spcPts val="0"/>
                </a:spcAft>
                <a:buClr>
                  <a:srgbClr val="2F5496"/>
                </a:buClr>
                <a:buSzPts val="1400"/>
                <a:buFont typeface="Calibri"/>
                <a:buNone/>
              </a:pPr>
              <a:r>
                <a:rPr b="1" i="0" lang="en-US" sz="1400" u="none" cap="none" strike="noStrike">
                  <a:solidFill>
                    <a:srgbClr val="2F5496"/>
                  </a:solidFill>
                  <a:latin typeface="Calibri"/>
                  <a:ea typeface="Calibri"/>
                  <a:cs typeface="Calibri"/>
                  <a:sym typeface="Calibri"/>
                </a:rPr>
                <a:t>SLOCPI Territory 2</a:t>
              </a:r>
              <a:endParaRPr/>
            </a:p>
            <a:p>
              <a:pPr indent="0" lvl="0" marL="0" marR="0" rtl="0" algn="l">
                <a:lnSpc>
                  <a:spcPct val="100000"/>
                </a:lnSpc>
                <a:spcBef>
                  <a:spcPts val="0"/>
                </a:spcBef>
                <a:spcAft>
                  <a:spcPts val="0"/>
                </a:spcAft>
                <a:buClr>
                  <a:srgbClr val="2F5496"/>
                </a:buClr>
                <a:buSzPts val="1200"/>
                <a:buFont typeface="Calibri"/>
                <a:buNone/>
              </a:pPr>
              <a:r>
                <a:rPr b="0" i="0" lang="en-US" sz="1200" u="none" cap="none" strike="noStrike">
                  <a:solidFill>
                    <a:srgbClr val="2F5496"/>
                  </a:solidFill>
                  <a:latin typeface="Calibri"/>
                  <a:ea typeface="Calibri"/>
                  <a:cs typeface="Calibri"/>
                  <a:sym typeface="Calibri"/>
                </a:rPr>
                <a:t>Date of Entry: Aug 1989</a:t>
              </a:r>
              <a:endParaRPr b="0" i="0" sz="1200" u="none" cap="none" strike="noStrike">
                <a:solidFill>
                  <a:srgbClr val="2F5496"/>
                </a:solidFill>
                <a:latin typeface="Calibri"/>
                <a:ea typeface="Calibri"/>
                <a:cs typeface="Calibri"/>
                <a:sym typeface="Calibri"/>
              </a:endParaRPr>
            </a:p>
          </p:txBody>
        </p:sp>
        <p:pic>
          <p:nvPicPr>
            <p:cNvPr id="382" name="Google Shape;382;p7"/>
            <p:cNvPicPr preferRelativeResize="0"/>
            <p:nvPr/>
          </p:nvPicPr>
          <p:blipFill rotWithShape="1">
            <a:blip r:embed="rId6">
              <a:alphaModFix/>
            </a:blip>
            <a:srcRect b="18121" l="9804" r="14176" t="6117"/>
            <a:stretch/>
          </p:blipFill>
          <p:spPr>
            <a:xfrm>
              <a:off x="3088027" y="2916622"/>
              <a:ext cx="896467" cy="972278"/>
            </a:xfrm>
            <a:prstGeom prst="rect">
              <a:avLst/>
            </a:prstGeom>
            <a:solidFill>
              <a:srgbClr val="FFFF99"/>
            </a:solidFill>
            <a:ln>
              <a:noFill/>
            </a:ln>
          </p:spPr>
        </p:pic>
        <p:pic>
          <p:nvPicPr>
            <p:cNvPr id="383" name="Google Shape;383;p7"/>
            <p:cNvPicPr preferRelativeResize="0"/>
            <p:nvPr/>
          </p:nvPicPr>
          <p:blipFill rotWithShape="1">
            <a:blip r:embed="rId7">
              <a:alphaModFix/>
            </a:blip>
            <a:srcRect b="23748" l="30400" r="27600" t="33202"/>
            <a:stretch/>
          </p:blipFill>
          <p:spPr>
            <a:xfrm>
              <a:off x="6777377" y="2985128"/>
              <a:ext cx="943537" cy="914400"/>
            </a:xfrm>
            <a:prstGeom prst="rect">
              <a:avLst/>
            </a:prstGeom>
            <a:solidFill>
              <a:srgbClr val="FFFF99"/>
            </a:solidFill>
            <a:ln>
              <a:noFill/>
            </a:ln>
          </p:spPr>
        </p:pic>
        <p:pic>
          <p:nvPicPr>
            <p:cNvPr id="384" name="Google Shape;384;p7"/>
            <p:cNvPicPr preferRelativeResize="0"/>
            <p:nvPr/>
          </p:nvPicPr>
          <p:blipFill rotWithShape="1">
            <a:blip r:embed="rId8">
              <a:alphaModFix/>
            </a:blip>
            <a:srcRect b="12813" l="18318" r="14057" t="0"/>
            <a:stretch/>
          </p:blipFill>
          <p:spPr>
            <a:xfrm>
              <a:off x="9218921" y="2985128"/>
              <a:ext cx="944968" cy="912339"/>
            </a:xfrm>
            <a:prstGeom prst="rect">
              <a:avLst/>
            </a:prstGeom>
            <a:solidFill>
              <a:srgbClr val="FFFF99"/>
            </a:solidFill>
            <a:ln>
              <a:noFill/>
            </a:ln>
          </p:spPr>
        </p:pic>
        <p:sp>
          <p:nvSpPr>
            <p:cNvPr id="385" name="Google Shape;385;p7"/>
            <p:cNvSpPr txBox="1"/>
            <p:nvPr/>
          </p:nvSpPr>
          <p:spPr>
            <a:xfrm>
              <a:off x="646770" y="3936405"/>
              <a:ext cx="1661216" cy="113877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Jeff Leido,</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ACS, FLMI, ARA, AIRC, FALU</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Underwriter 4</a:t>
              </a:r>
              <a:endParaRPr/>
            </a:p>
            <a:p>
              <a:pPr indent="0" lvl="0" marL="0" marR="0" rtl="0" algn="r">
                <a:lnSpc>
                  <a:spcPct val="100000"/>
                </a:lnSpc>
                <a:spcBef>
                  <a:spcPts val="0"/>
                </a:spcBef>
                <a:spcAft>
                  <a:spcPts val="0"/>
                </a:spcAft>
                <a:buClr>
                  <a:srgbClr val="ED7D31"/>
                </a:buClr>
                <a:buSzPts val="1200"/>
                <a:buFont typeface="Calibri"/>
                <a:buNone/>
              </a:pPr>
              <a:r>
                <a:rPr b="0" i="0" lang="en-US" sz="1200" u="none" cap="none" strike="noStrike">
                  <a:solidFill>
                    <a:srgbClr val="ED7D31"/>
                  </a:solidFill>
                  <a:latin typeface="Calibri"/>
                  <a:ea typeface="Calibri"/>
                  <a:cs typeface="Calibri"/>
                  <a:sym typeface="Calibri"/>
                </a:rPr>
                <a:t>Date of Entry: Jan 2011</a:t>
              </a:r>
              <a:endParaRPr b="0" i="0" sz="1200" u="none" cap="none" strike="noStrike">
                <a:solidFill>
                  <a:srgbClr val="ED7D31"/>
                </a:solidFill>
                <a:latin typeface="Calibri"/>
                <a:ea typeface="Calibri"/>
                <a:cs typeface="Calibri"/>
                <a:sym typeface="Calibri"/>
              </a:endParaRPr>
            </a:p>
          </p:txBody>
        </p:sp>
        <p:cxnSp>
          <p:nvCxnSpPr>
            <p:cNvPr id="386" name="Google Shape;386;p7"/>
            <p:cNvCxnSpPr/>
            <p:nvPr/>
          </p:nvCxnSpPr>
          <p:spPr>
            <a:xfrm>
              <a:off x="646770" y="5268275"/>
              <a:ext cx="1630525" cy="0"/>
            </a:xfrm>
            <a:prstGeom prst="straightConnector1">
              <a:avLst/>
            </a:prstGeom>
            <a:noFill/>
            <a:ln cap="flat" cmpd="sng" w="9525">
              <a:solidFill>
                <a:schemeClr val="accent2"/>
              </a:solidFill>
              <a:prstDash val="solid"/>
              <a:miter lim="800000"/>
              <a:headEnd len="sm" w="sm" type="none"/>
              <a:tailEnd len="sm" w="sm" type="none"/>
            </a:ln>
          </p:spPr>
        </p:cxnSp>
        <p:pic>
          <p:nvPicPr>
            <p:cNvPr id="387" name="Google Shape;387;p7"/>
            <p:cNvPicPr preferRelativeResize="0"/>
            <p:nvPr/>
          </p:nvPicPr>
          <p:blipFill rotWithShape="1">
            <a:blip r:embed="rId9">
              <a:alphaModFix/>
            </a:blip>
            <a:srcRect b="41647" l="33598" r="42824" t="18423"/>
            <a:stretch/>
          </p:blipFill>
          <p:spPr>
            <a:xfrm>
              <a:off x="1390020" y="2974499"/>
              <a:ext cx="773981" cy="914400"/>
            </a:xfrm>
            <a:prstGeom prst="rect">
              <a:avLst/>
            </a:prstGeom>
            <a:solidFill>
              <a:srgbClr val="FFFF99"/>
            </a:solidFill>
            <a:ln>
              <a:noFill/>
            </a:ln>
          </p:spPr>
        </p:pic>
        <p:sp>
          <p:nvSpPr>
            <p:cNvPr id="388" name="Google Shape;388;p7"/>
            <p:cNvSpPr/>
            <p:nvPr/>
          </p:nvSpPr>
          <p:spPr>
            <a:xfrm>
              <a:off x="4151875" y="2779705"/>
              <a:ext cx="1667309" cy="66075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Joanna Audrey</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Zarcal, 5A</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Nov 2013</a:t>
              </a:r>
              <a:endParaRPr/>
            </a:p>
          </p:txBody>
        </p:sp>
        <p:pic>
          <p:nvPicPr>
            <p:cNvPr id="389" name="Google Shape;389;p7"/>
            <p:cNvPicPr preferRelativeResize="0"/>
            <p:nvPr/>
          </p:nvPicPr>
          <p:blipFill rotWithShape="1">
            <a:blip r:embed="rId10">
              <a:alphaModFix/>
            </a:blip>
            <a:srcRect b="31889" l="53868" r="16230" t="43982"/>
            <a:stretch/>
          </p:blipFill>
          <p:spPr>
            <a:xfrm>
              <a:off x="5293058" y="2764571"/>
              <a:ext cx="723556" cy="685800"/>
            </a:xfrm>
            <a:prstGeom prst="rect">
              <a:avLst/>
            </a:prstGeom>
            <a:solidFill>
              <a:srgbClr val="FAF9F9"/>
            </a:solidFill>
            <a:ln>
              <a:noFill/>
            </a:ln>
          </p:spPr>
        </p:pic>
        <p:sp>
          <p:nvSpPr>
            <p:cNvPr id="390" name="Google Shape;390;p7"/>
            <p:cNvSpPr/>
            <p:nvPr/>
          </p:nvSpPr>
          <p:spPr>
            <a:xfrm>
              <a:off x="4168724" y="3605349"/>
              <a:ext cx="1620380" cy="666097"/>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Hanie Jill</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Mercado, 4B</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Sep 2015</a:t>
              </a:r>
              <a:endParaRPr/>
            </a:p>
          </p:txBody>
        </p:sp>
        <p:pic>
          <p:nvPicPr>
            <p:cNvPr descr="C:\Users\pj66\Pictures\nb &amp; uw 2011\IMG_2471.JPG" id="391" name="Google Shape;391;p7"/>
            <p:cNvPicPr preferRelativeResize="0"/>
            <p:nvPr/>
          </p:nvPicPr>
          <p:blipFill rotWithShape="1">
            <a:blip r:embed="rId11">
              <a:alphaModFix/>
            </a:blip>
            <a:srcRect b="28992" l="27721" r="35033" t="14948"/>
            <a:stretch/>
          </p:blipFill>
          <p:spPr>
            <a:xfrm>
              <a:off x="5313049" y="3545214"/>
              <a:ext cx="700158" cy="685800"/>
            </a:xfrm>
            <a:prstGeom prst="rect">
              <a:avLst/>
            </a:prstGeom>
            <a:solidFill>
              <a:srgbClr val="FAF9F9"/>
            </a:solidFill>
            <a:ln>
              <a:noFill/>
            </a:ln>
          </p:spPr>
        </p:pic>
        <p:sp>
          <p:nvSpPr>
            <p:cNvPr id="392" name="Google Shape;392;p7"/>
            <p:cNvSpPr/>
            <p:nvPr/>
          </p:nvSpPr>
          <p:spPr>
            <a:xfrm>
              <a:off x="4180658" y="4253715"/>
              <a:ext cx="1670050" cy="766763"/>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Paula Rogan, 4A (T)</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Aug 2018</a:t>
              </a:r>
              <a:endParaRPr b="0" i="0" sz="800" u="none" cap="none" strike="noStrike">
                <a:solidFill>
                  <a:srgbClr val="000000"/>
                </a:solidFill>
                <a:latin typeface="Calibri"/>
                <a:ea typeface="Calibri"/>
                <a:cs typeface="Calibri"/>
                <a:sym typeface="Calibri"/>
              </a:endParaRPr>
            </a:p>
          </p:txBody>
        </p:sp>
        <p:pic>
          <p:nvPicPr>
            <p:cNvPr id="393" name="Google Shape;393;p7"/>
            <p:cNvPicPr preferRelativeResize="0"/>
            <p:nvPr/>
          </p:nvPicPr>
          <p:blipFill rotWithShape="1">
            <a:blip r:embed="rId12">
              <a:alphaModFix/>
            </a:blip>
            <a:srcRect b="37400" l="24801" r="33200" t="22701"/>
            <a:stretch/>
          </p:blipFill>
          <p:spPr>
            <a:xfrm>
              <a:off x="5331227" y="4326566"/>
              <a:ext cx="675670" cy="685800"/>
            </a:xfrm>
            <a:prstGeom prst="rect">
              <a:avLst/>
            </a:prstGeom>
            <a:noFill/>
            <a:ln>
              <a:noFill/>
            </a:ln>
          </p:spPr>
        </p:pic>
        <p:sp>
          <p:nvSpPr>
            <p:cNvPr id="394" name="Google Shape;394;p7"/>
            <p:cNvSpPr/>
            <p:nvPr/>
          </p:nvSpPr>
          <p:spPr>
            <a:xfrm>
              <a:off x="6206277" y="5296120"/>
              <a:ext cx="1820987" cy="799204"/>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Angie Maladaga</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ACS, PCS, AFSI, FLMI</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Underwriter 4</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Mar 2011</a:t>
              </a:r>
              <a:endParaRPr/>
            </a:p>
          </p:txBody>
        </p:sp>
        <p:pic>
          <p:nvPicPr>
            <p:cNvPr id="395" name="Google Shape;395;p7"/>
            <p:cNvPicPr preferRelativeResize="0"/>
            <p:nvPr/>
          </p:nvPicPr>
          <p:blipFill rotWithShape="1">
            <a:blip r:embed="rId13">
              <a:alphaModFix/>
            </a:blip>
            <a:srcRect b="43759" l="30284" r="39432" t="4475"/>
            <a:stretch/>
          </p:blipFill>
          <p:spPr>
            <a:xfrm>
              <a:off x="7476414" y="5307408"/>
              <a:ext cx="583953" cy="685800"/>
            </a:xfrm>
            <a:prstGeom prst="rect">
              <a:avLst/>
            </a:prstGeom>
            <a:solidFill>
              <a:srgbClr val="FAF9F9"/>
            </a:solidFill>
            <a:ln>
              <a:noFill/>
            </a:ln>
          </p:spPr>
        </p:pic>
        <p:sp>
          <p:nvSpPr>
            <p:cNvPr id="396" name="Google Shape;396;p7"/>
            <p:cNvSpPr/>
            <p:nvPr/>
          </p:nvSpPr>
          <p:spPr>
            <a:xfrm>
              <a:off x="6207433" y="6128531"/>
              <a:ext cx="1819830" cy="729469"/>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Emmanuel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Canonigo, 4B</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Jun 2016</a:t>
              </a:r>
              <a:endParaRPr/>
            </a:p>
          </p:txBody>
        </p:sp>
        <p:pic>
          <p:nvPicPr>
            <p:cNvPr descr="C:\Users\pj66\Pictures\2015\IMG_5654.JPG" id="397" name="Google Shape;397;p7"/>
            <p:cNvPicPr preferRelativeResize="0"/>
            <p:nvPr/>
          </p:nvPicPr>
          <p:blipFill rotWithShape="1">
            <a:blip r:embed="rId14">
              <a:alphaModFix/>
            </a:blip>
            <a:srcRect b="26238" l="28358" r="27769" t="33650"/>
            <a:stretch/>
          </p:blipFill>
          <p:spPr>
            <a:xfrm>
              <a:off x="7484742" y="6120755"/>
              <a:ext cx="563479" cy="685800"/>
            </a:xfrm>
            <a:prstGeom prst="rect">
              <a:avLst/>
            </a:prstGeom>
            <a:solidFill>
              <a:srgbClr val="FAF9F9"/>
            </a:solidFill>
            <a:ln>
              <a:noFill/>
            </a:ln>
          </p:spPr>
        </p:pic>
        <p:sp>
          <p:nvSpPr>
            <p:cNvPr id="398" name="Google Shape;398;p7"/>
            <p:cNvSpPr/>
            <p:nvPr/>
          </p:nvSpPr>
          <p:spPr>
            <a:xfrm>
              <a:off x="10309643" y="4692202"/>
              <a:ext cx="1401812" cy="63817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Scarlet Bielza,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4A</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Entry:</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 May 2017</a:t>
              </a:r>
              <a:endParaRPr/>
            </a:p>
          </p:txBody>
        </p:sp>
        <p:sp>
          <p:nvSpPr>
            <p:cNvPr id="399" name="Google Shape;399;p7"/>
            <p:cNvSpPr/>
            <p:nvPr/>
          </p:nvSpPr>
          <p:spPr>
            <a:xfrm>
              <a:off x="10305931" y="3903898"/>
              <a:ext cx="1456513" cy="772501"/>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Jazzelle </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Del Rosario,4B</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Entry: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Sep 2015</a:t>
              </a:r>
              <a:endParaRPr/>
            </a:p>
          </p:txBody>
        </p:sp>
        <p:pic>
          <p:nvPicPr>
            <p:cNvPr descr="C:\Users\pj66\Pictures\nb &amp; uw 2011\IMG_4667.JPG" id="400" name="Google Shape;400;p7"/>
            <p:cNvPicPr preferRelativeResize="0"/>
            <p:nvPr/>
          </p:nvPicPr>
          <p:blipFill rotWithShape="1">
            <a:blip r:embed="rId15">
              <a:alphaModFix/>
            </a:blip>
            <a:srcRect b="27778" l="22306" r="20347" t="11093"/>
            <a:stretch/>
          </p:blipFill>
          <p:spPr>
            <a:xfrm>
              <a:off x="11269835" y="3934706"/>
              <a:ext cx="545239" cy="685800"/>
            </a:xfrm>
            <a:prstGeom prst="rect">
              <a:avLst/>
            </a:prstGeom>
            <a:solidFill>
              <a:srgbClr val="FAF9F9"/>
            </a:solidFill>
            <a:ln>
              <a:noFill/>
            </a:ln>
          </p:spPr>
        </p:pic>
        <p:sp>
          <p:nvSpPr>
            <p:cNvPr id="401" name="Google Shape;401;p7"/>
            <p:cNvSpPr/>
            <p:nvPr/>
          </p:nvSpPr>
          <p:spPr>
            <a:xfrm>
              <a:off x="10300871" y="3042006"/>
              <a:ext cx="1419357" cy="784221"/>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Maria Teresa</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Fundano, 4B</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July 2014</a:t>
              </a:r>
              <a:endParaRPr/>
            </a:p>
          </p:txBody>
        </p:sp>
        <p:pic>
          <p:nvPicPr>
            <p:cNvPr id="402" name="Google Shape;402;p7"/>
            <p:cNvPicPr preferRelativeResize="0"/>
            <p:nvPr/>
          </p:nvPicPr>
          <p:blipFill rotWithShape="1">
            <a:blip r:embed="rId16">
              <a:alphaModFix/>
            </a:blip>
            <a:srcRect b="26900" l="16725" r="43067" t="29222"/>
            <a:stretch/>
          </p:blipFill>
          <p:spPr>
            <a:xfrm rot="5400000">
              <a:off x="11117626" y="3128040"/>
              <a:ext cx="831414" cy="564966"/>
            </a:xfrm>
            <a:prstGeom prst="rect">
              <a:avLst/>
            </a:prstGeom>
            <a:solidFill>
              <a:srgbClr val="FAF9F9"/>
            </a:solidFill>
            <a:ln>
              <a:noFill/>
            </a:ln>
          </p:spPr>
        </p:pic>
        <p:pic>
          <p:nvPicPr>
            <p:cNvPr id="403" name="Google Shape;403;p7"/>
            <p:cNvPicPr preferRelativeResize="0"/>
            <p:nvPr/>
          </p:nvPicPr>
          <p:blipFill rotWithShape="1">
            <a:blip r:embed="rId17">
              <a:alphaModFix/>
            </a:blip>
            <a:srcRect b="38451" l="36000" r="37399" t="32149"/>
            <a:stretch/>
          </p:blipFill>
          <p:spPr>
            <a:xfrm>
              <a:off x="11269835" y="4676964"/>
              <a:ext cx="540334" cy="685800"/>
            </a:xfrm>
            <a:prstGeom prst="rect">
              <a:avLst/>
            </a:prstGeom>
            <a:noFill/>
            <a:ln>
              <a:noFill/>
            </a:ln>
          </p:spPr>
        </p:pic>
        <p:sp>
          <p:nvSpPr>
            <p:cNvPr id="404" name="Google Shape;404;p7"/>
            <p:cNvSpPr txBox="1"/>
            <p:nvPr/>
          </p:nvSpPr>
          <p:spPr>
            <a:xfrm>
              <a:off x="455131" y="1584538"/>
              <a:ext cx="916814"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4472C4"/>
                </a:buClr>
                <a:buSzPts val="5400"/>
                <a:buFont typeface="Impact"/>
                <a:buNone/>
              </a:pPr>
              <a:r>
                <a:rPr b="0" i="0" lang="en-US" sz="5400" u="none" cap="none" strike="noStrike">
                  <a:solidFill>
                    <a:srgbClr val="4472C4"/>
                  </a:solidFill>
                  <a:latin typeface="Impact"/>
                  <a:ea typeface="Impact"/>
                  <a:cs typeface="Impact"/>
                  <a:sym typeface="Impact"/>
                </a:rPr>
                <a:t>16</a:t>
              </a:r>
              <a:endParaRPr b="0" i="0" sz="5400" u="none" cap="none" strike="noStrike">
                <a:solidFill>
                  <a:srgbClr val="4472C4"/>
                </a:solidFill>
                <a:latin typeface="Impact"/>
                <a:ea typeface="Impact"/>
                <a:cs typeface="Impact"/>
                <a:sym typeface="Impact"/>
              </a:endParaRPr>
            </a:p>
          </p:txBody>
        </p:sp>
        <p:cxnSp>
          <p:nvCxnSpPr>
            <p:cNvPr id="405" name="Google Shape;405;p7"/>
            <p:cNvCxnSpPr/>
            <p:nvPr/>
          </p:nvCxnSpPr>
          <p:spPr>
            <a:xfrm>
              <a:off x="3984494" y="2994816"/>
              <a:ext cx="274320" cy="0"/>
            </a:xfrm>
            <a:prstGeom prst="straightConnector1">
              <a:avLst/>
            </a:prstGeom>
            <a:noFill/>
            <a:ln cap="flat" cmpd="sng" w="9525">
              <a:solidFill>
                <a:schemeClr val="accent3"/>
              </a:solidFill>
              <a:prstDash val="solid"/>
              <a:miter lim="800000"/>
              <a:headEnd len="sm" w="sm" type="none"/>
              <a:tailEnd len="sm" w="sm" type="none"/>
            </a:ln>
          </p:spPr>
        </p:cxnSp>
        <p:sp>
          <p:nvSpPr>
            <p:cNvPr id="406" name="Google Shape;406;p7"/>
            <p:cNvSpPr txBox="1"/>
            <p:nvPr/>
          </p:nvSpPr>
          <p:spPr>
            <a:xfrm>
              <a:off x="1210314" y="1697713"/>
              <a:ext cx="127997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Warm </a:t>
              </a:r>
              <a:endParaRPr/>
            </a:p>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Bodies</a:t>
              </a:r>
              <a:endParaRPr b="1" i="0" sz="2000" u="none" cap="none" strike="noStrike">
                <a:solidFill>
                  <a:srgbClr val="3A3838"/>
                </a:solidFill>
                <a:latin typeface="Calibri"/>
                <a:ea typeface="Calibri"/>
                <a:cs typeface="Calibri"/>
                <a:sym typeface="Calibri"/>
              </a:endParaRPr>
            </a:p>
          </p:txBody>
        </p:sp>
        <p:sp>
          <p:nvSpPr>
            <p:cNvPr id="407" name="Google Shape;407;p7"/>
            <p:cNvSpPr/>
            <p:nvPr/>
          </p:nvSpPr>
          <p:spPr>
            <a:xfrm>
              <a:off x="483375" y="1275241"/>
              <a:ext cx="299921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A3838"/>
                </a:buClr>
                <a:buSzPts val="2400"/>
                <a:buFont typeface="Calibri"/>
                <a:buNone/>
              </a:pPr>
              <a:r>
                <a:rPr b="1" i="0" lang="en-US" sz="2400" u="none" cap="none" strike="noStrike">
                  <a:solidFill>
                    <a:srgbClr val="3A3838"/>
                  </a:solidFill>
                  <a:latin typeface="Calibri"/>
                  <a:ea typeface="Calibri"/>
                  <a:cs typeface="Calibri"/>
                  <a:sym typeface="Calibri"/>
                </a:rPr>
                <a:t>Underwriting Services</a:t>
              </a:r>
              <a:endParaRPr b="0" i="0" sz="1800" u="none" cap="none" strike="noStrike">
                <a:solidFill>
                  <a:srgbClr val="000000"/>
                </a:solidFill>
                <a:latin typeface="Calibri"/>
                <a:ea typeface="Calibri"/>
                <a:cs typeface="Calibri"/>
                <a:sym typeface="Calibri"/>
              </a:endParaRPr>
            </a:p>
          </p:txBody>
        </p:sp>
        <p:cxnSp>
          <p:nvCxnSpPr>
            <p:cNvPr id="408" name="Google Shape;408;p7"/>
            <p:cNvCxnSpPr/>
            <p:nvPr/>
          </p:nvCxnSpPr>
          <p:spPr>
            <a:xfrm>
              <a:off x="7104994" y="2622115"/>
              <a:ext cx="0" cy="376643"/>
            </a:xfrm>
            <a:prstGeom prst="straightConnector1">
              <a:avLst/>
            </a:prstGeom>
            <a:noFill/>
            <a:ln cap="flat" cmpd="sng" w="9525">
              <a:solidFill>
                <a:schemeClr val="dk1"/>
              </a:solidFill>
              <a:prstDash val="solid"/>
              <a:miter lim="800000"/>
              <a:headEnd len="sm" w="sm" type="none"/>
              <a:tailEnd len="sm" w="sm" type="none"/>
            </a:ln>
          </p:spPr>
        </p:cxnSp>
        <p:cxnSp>
          <p:nvCxnSpPr>
            <p:cNvPr id="409" name="Google Shape;409;p7"/>
            <p:cNvCxnSpPr/>
            <p:nvPr/>
          </p:nvCxnSpPr>
          <p:spPr>
            <a:xfrm>
              <a:off x="9884979" y="2636984"/>
              <a:ext cx="0" cy="376643"/>
            </a:xfrm>
            <a:prstGeom prst="straightConnector1">
              <a:avLst/>
            </a:prstGeom>
            <a:noFill/>
            <a:ln cap="flat" cmpd="sng" w="9525">
              <a:solidFill>
                <a:schemeClr val="dk1"/>
              </a:solidFill>
              <a:prstDash val="solid"/>
              <a:miter lim="800000"/>
              <a:headEnd len="sm" w="sm" type="none"/>
              <a:tailEnd len="sm" w="sm" type="none"/>
            </a:ln>
          </p:spPr>
        </p:cxnSp>
        <p:cxnSp>
          <p:nvCxnSpPr>
            <p:cNvPr id="410" name="Google Shape;410;p7"/>
            <p:cNvCxnSpPr>
              <a:stCxn id="388" idx="1"/>
              <a:endCxn id="388" idx="1"/>
            </p:cNvCxnSpPr>
            <p:nvPr/>
          </p:nvCxnSpPr>
          <p:spPr>
            <a:xfrm>
              <a:off x="4151875" y="3110083"/>
              <a:ext cx="0" cy="0"/>
            </a:xfrm>
            <a:prstGeom prst="straightConnector1">
              <a:avLst/>
            </a:prstGeom>
            <a:noFill/>
            <a:ln cap="flat" cmpd="sng" w="9525">
              <a:solidFill>
                <a:schemeClr val="dk1"/>
              </a:solidFill>
              <a:prstDash val="solid"/>
              <a:miter lim="800000"/>
              <a:headEnd len="sm" w="sm" type="none"/>
              <a:tailEnd len="sm" w="sm" type="none"/>
            </a:ln>
          </p:spPr>
        </p:cxnSp>
        <p:cxnSp>
          <p:nvCxnSpPr>
            <p:cNvPr id="411" name="Google Shape;411;p7"/>
            <p:cNvCxnSpPr/>
            <p:nvPr/>
          </p:nvCxnSpPr>
          <p:spPr>
            <a:xfrm>
              <a:off x="4007963" y="3728094"/>
              <a:ext cx="274320" cy="0"/>
            </a:xfrm>
            <a:prstGeom prst="straightConnector1">
              <a:avLst/>
            </a:prstGeom>
            <a:noFill/>
            <a:ln cap="flat" cmpd="sng" w="9525">
              <a:solidFill>
                <a:schemeClr val="accent3"/>
              </a:solidFill>
              <a:prstDash val="solid"/>
              <a:miter lim="800000"/>
              <a:headEnd len="sm" w="sm" type="none"/>
              <a:tailEnd len="sm" w="sm" type="none"/>
            </a:ln>
          </p:spPr>
        </p:cxnSp>
        <p:cxnSp>
          <p:nvCxnSpPr>
            <p:cNvPr id="412" name="Google Shape;412;p7"/>
            <p:cNvCxnSpPr/>
            <p:nvPr/>
          </p:nvCxnSpPr>
          <p:spPr>
            <a:xfrm>
              <a:off x="4031564" y="4575386"/>
              <a:ext cx="274320" cy="0"/>
            </a:xfrm>
            <a:prstGeom prst="straightConnector1">
              <a:avLst/>
            </a:prstGeom>
            <a:noFill/>
            <a:ln cap="flat" cmpd="sng" w="9525">
              <a:solidFill>
                <a:schemeClr val="accent3"/>
              </a:solidFill>
              <a:prstDash val="solid"/>
              <a:miter lim="800000"/>
              <a:headEnd len="sm" w="sm" type="none"/>
              <a:tailEnd len="sm" w="sm" type="none"/>
            </a:ln>
          </p:spPr>
        </p:cxnSp>
        <p:cxnSp>
          <p:nvCxnSpPr>
            <p:cNvPr id="413" name="Google Shape;413;p7"/>
            <p:cNvCxnSpPr/>
            <p:nvPr/>
          </p:nvCxnSpPr>
          <p:spPr>
            <a:xfrm flipH="1" rot="10800000">
              <a:off x="3477660" y="5307408"/>
              <a:ext cx="733148" cy="1351"/>
            </a:xfrm>
            <a:prstGeom prst="straightConnector1">
              <a:avLst/>
            </a:prstGeom>
            <a:noFill/>
            <a:ln cap="flat" cmpd="sng" w="9525">
              <a:solidFill>
                <a:schemeClr val="accent3"/>
              </a:solidFill>
              <a:prstDash val="solid"/>
              <a:miter lim="800000"/>
              <a:headEnd len="sm" w="sm" type="none"/>
              <a:tailEnd len="sm" w="sm" type="none"/>
            </a:ln>
          </p:spPr>
        </p:cxnSp>
        <p:cxnSp>
          <p:nvCxnSpPr>
            <p:cNvPr id="414" name="Google Shape;414;p7"/>
            <p:cNvCxnSpPr/>
            <p:nvPr/>
          </p:nvCxnSpPr>
          <p:spPr>
            <a:xfrm flipH="1">
              <a:off x="3477660" y="4930765"/>
              <a:ext cx="4934" cy="764957"/>
            </a:xfrm>
            <a:prstGeom prst="straightConnector1">
              <a:avLst/>
            </a:prstGeom>
            <a:noFill/>
            <a:ln cap="flat" cmpd="sng" w="9525">
              <a:solidFill>
                <a:schemeClr val="dk1"/>
              </a:solidFill>
              <a:prstDash val="solid"/>
              <a:miter lim="800000"/>
              <a:headEnd len="sm" w="sm" type="none"/>
              <a:tailEnd len="sm" w="sm" type="none"/>
            </a:ln>
          </p:spPr>
        </p:cxnSp>
        <p:cxnSp>
          <p:nvCxnSpPr>
            <p:cNvPr id="415" name="Google Shape;415;p7"/>
            <p:cNvCxnSpPr/>
            <p:nvPr/>
          </p:nvCxnSpPr>
          <p:spPr>
            <a:xfrm>
              <a:off x="7116770" y="5044074"/>
              <a:ext cx="0" cy="182880"/>
            </a:xfrm>
            <a:prstGeom prst="straightConnector1">
              <a:avLst/>
            </a:prstGeom>
            <a:noFill/>
            <a:ln cap="flat" cmpd="sng" w="9525">
              <a:solidFill>
                <a:schemeClr val="dk1"/>
              </a:solidFill>
              <a:prstDash val="solid"/>
              <a:miter lim="800000"/>
              <a:headEnd len="sm" w="sm" type="none"/>
              <a:tailEnd len="sm" w="sm" type="none"/>
            </a:ln>
          </p:spPr>
        </p:cxnSp>
        <p:cxnSp>
          <p:nvCxnSpPr>
            <p:cNvPr id="416" name="Google Shape;416;p7"/>
            <p:cNvCxnSpPr/>
            <p:nvPr/>
          </p:nvCxnSpPr>
          <p:spPr>
            <a:xfrm>
              <a:off x="10175083" y="3178748"/>
              <a:ext cx="274320" cy="0"/>
            </a:xfrm>
            <a:prstGeom prst="straightConnector1">
              <a:avLst/>
            </a:prstGeom>
            <a:noFill/>
            <a:ln cap="flat" cmpd="sng" w="9525">
              <a:solidFill>
                <a:schemeClr val="accent3"/>
              </a:solidFill>
              <a:prstDash val="solid"/>
              <a:miter lim="800000"/>
              <a:headEnd len="sm" w="sm" type="none"/>
              <a:tailEnd len="sm" w="sm" type="none"/>
            </a:ln>
          </p:spPr>
        </p:cxnSp>
        <p:cxnSp>
          <p:nvCxnSpPr>
            <p:cNvPr id="417" name="Google Shape;417;p7"/>
            <p:cNvCxnSpPr/>
            <p:nvPr/>
          </p:nvCxnSpPr>
          <p:spPr>
            <a:xfrm>
              <a:off x="10198552" y="3912026"/>
              <a:ext cx="274320" cy="0"/>
            </a:xfrm>
            <a:prstGeom prst="straightConnector1">
              <a:avLst/>
            </a:prstGeom>
            <a:noFill/>
            <a:ln cap="flat" cmpd="sng" w="9525">
              <a:solidFill>
                <a:schemeClr val="accent3"/>
              </a:solidFill>
              <a:prstDash val="solid"/>
              <a:miter lim="800000"/>
              <a:headEnd len="sm" w="sm" type="none"/>
              <a:tailEnd len="sm" w="sm" type="none"/>
            </a:ln>
          </p:spPr>
        </p:cxnSp>
        <p:cxnSp>
          <p:nvCxnSpPr>
            <p:cNvPr id="418" name="Google Shape;418;p7"/>
            <p:cNvCxnSpPr/>
            <p:nvPr/>
          </p:nvCxnSpPr>
          <p:spPr>
            <a:xfrm>
              <a:off x="10222153" y="4759318"/>
              <a:ext cx="274320" cy="0"/>
            </a:xfrm>
            <a:prstGeom prst="straightConnector1">
              <a:avLst/>
            </a:prstGeom>
            <a:noFill/>
            <a:ln cap="flat" cmpd="sng" w="9525">
              <a:solidFill>
                <a:schemeClr val="accent3"/>
              </a:solidFill>
              <a:prstDash val="solid"/>
              <a:miter lim="800000"/>
              <a:headEnd len="sm" w="sm" type="none"/>
              <a:tailEnd len="sm" w="sm" type="none"/>
            </a:ln>
          </p:spPr>
        </p:cxnSp>
      </p:grpSp>
      <p:sp>
        <p:nvSpPr>
          <p:cNvPr id="419" name="Google Shape;419;p7"/>
          <p:cNvSpPr/>
          <p:nvPr/>
        </p:nvSpPr>
        <p:spPr>
          <a:xfrm>
            <a:off x="4175814" y="5114068"/>
            <a:ext cx="1670050" cy="766763"/>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Janxent B. Tumbagahon</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4A (T)</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Entry in NB &amp;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UW: Apr 2017</a:t>
            </a:r>
            <a:endParaRPr b="0" i="0" sz="800" u="none" cap="none" strike="noStrike">
              <a:solidFill>
                <a:srgbClr val="000000"/>
              </a:solidFill>
              <a:latin typeface="Calibri"/>
              <a:ea typeface="Calibri"/>
              <a:cs typeface="Calibri"/>
              <a:sym typeface="Calibri"/>
            </a:endParaRPr>
          </a:p>
        </p:txBody>
      </p:sp>
      <p:pic>
        <p:nvPicPr>
          <p:cNvPr id="420" name="Google Shape;420;p7"/>
          <p:cNvPicPr preferRelativeResize="0"/>
          <p:nvPr/>
        </p:nvPicPr>
        <p:blipFill rotWithShape="1">
          <a:blip r:embed="rId18">
            <a:alphaModFix/>
          </a:blip>
          <a:srcRect b="13251" l="31800" r="40199" t="58399"/>
          <a:stretch/>
        </p:blipFill>
        <p:spPr>
          <a:xfrm>
            <a:off x="5365070" y="5083988"/>
            <a:ext cx="597392" cy="674226"/>
          </a:xfrm>
          <a:prstGeom prst="rect">
            <a:avLst/>
          </a:prstGeom>
          <a:solidFill>
            <a:srgbClr val="FAF9F9"/>
          </a:solidFill>
          <a:ln>
            <a:noFill/>
          </a:ln>
        </p:spPr>
      </p:pic>
      <p:sp>
        <p:nvSpPr>
          <p:cNvPr id="421" name="Google Shape;421;p7"/>
          <p:cNvSpPr/>
          <p:nvPr/>
        </p:nvSpPr>
        <p:spPr>
          <a:xfrm>
            <a:off x="4168724" y="5919551"/>
            <a:ext cx="1670050" cy="766763"/>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Mark Joseph M. Grimaldo</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4A (T)</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Entry in NB &amp;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UW: May 2019</a:t>
            </a:r>
            <a:endParaRPr b="0" i="0" sz="800" u="none" cap="none" strike="noStrike">
              <a:solidFill>
                <a:srgbClr val="000000"/>
              </a:solidFill>
              <a:latin typeface="Calibri"/>
              <a:ea typeface="Calibri"/>
              <a:cs typeface="Calibri"/>
              <a:sym typeface="Calibri"/>
            </a:endParaRPr>
          </a:p>
        </p:txBody>
      </p:sp>
      <p:pic>
        <p:nvPicPr>
          <p:cNvPr id="422" name="Google Shape;422;p7"/>
          <p:cNvPicPr preferRelativeResize="0"/>
          <p:nvPr/>
        </p:nvPicPr>
        <p:blipFill rotWithShape="1">
          <a:blip r:embed="rId19">
            <a:alphaModFix/>
          </a:blip>
          <a:srcRect b="25850" l="21075" r="26430" t="4851"/>
          <a:stretch/>
        </p:blipFill>
        <p:spPr>
          <a:xfrm>
            <a:off x="5383162" y="5877079"/>
            <a:ext cx="559936" cy="705730"/>
          </a:xfrm>
          <a:prstGeom prst="rect">
            <a:avLst/>
          </a:prstGeom>
          <a:noFill/>
          <a:ln>
            <a:noFill/>
          </a:ln>
        </p:spPr>
      </p:pic>
      <p:sp>
        <p:nvSpPr>
          <p:cNvPr id="423" name="Google Shape;423;p7"/>
          <p:cNvSpPr/>
          <p:nvPr/>
        </p:nvSpPr>
        <p:spPr>
          <a:xfrm>
            <a:off x="2151022" y="5819416"/>
            <a:ext cx="1670050" cy="766763"/>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Raymond Bucao</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4A (T)</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Entry in NB &amp;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UW: May 2019</a:t>
            </a:r>
            <a:endParaRPr/>
          </a:p>
        </p:txBody>
      </p:sp>
      <p:pic>
        <p:nvPicPr>
          <p:cNvPr id="424" name="Google Shape;424;p7"/>
          <p:cNvPicPr preferRelativeResize="0"/>
          <p:nvPr/>
        </p:nvPicPr>
        <p:blipFill rotWithShape="1">
          <a:blip r:embed="rId20">
            <a:alphaModFix/>
          </a:blip>
          <a:srcRect b="0" l="0" r="0" t="0"/>
          <a:stretch/>
        </p:blipFill>
        <p:spPr>
          <a:xfrm>
            <a:off x="8797199" y="-74261"/>
            <a:ext cx="917965" cy="914400"/>
          </a:xfrm>
          <a:prstGeom prst="rect">
            <a:avLst/>
          </a:prstGeom>
          <a:noFill/>
          <a:ln>
            <a:noFill/>
          </a:ln>
        </p:spPr>
      </p:pic>
      <p:pic>
        <p:nvPicPr>
          <p:cNvPr id="425" name="Google Shape;425;p7"/>
          <p:cNvPicPr preferRelativeResize="0"/>
          <p:nvPr/>
        </p:nvPicPr>
        <p:blipFill rotWithShape="1">
          <a:blip r:embed="rId21">
            <a:alphaModFix/>
          </a:blip>
          <a:srcRect b="43700" l="28523" r="31386" t="19551"/>
          <a:stretch/>
        </p:blipFill>
        <p:spPr>
          <a:xfrm>
            <a:off x="3239782" y="5864017"/>
            <a:ext cx="585867" cy="72993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pic>
        <p:nvPicPr>
          <p:cNvPr id="431" name="Google Shape;431;p8"/>
          <p:cNvPicPr preferRelativeResize="0"/>
          <p:nvPr/>
        </p:nvPicPr>
        <p:blipFill rotWithShape="1">
          <a:blip r:embed="rId3">
            <a:alphaModFix/>
          </a:blip>
          <a:srcRect b="48442" l="0" r="0" t="0"/>
          <a:stretch/>
        </p:blipFill>
        <p:spPr>
          <a:xfrm flipH="1" rot="10800000">
            <a:off x="64411" y="5270011"/>
            <a:ext cx="4171210" cy="1611209"/>
          </a:xfrm>
          <a:prstGeom prst="rect">
            <a:avLst/>
          </a:prstGeom>
          <a:noFill/>
          <a:ln>
            <a:noFill/>
          </a:ln>
        </p:spPr>
      </p:pic>
      <p:pic>
        <p:nvPicPr>
          <p:cNvPr id="432" name="Google Shape;432;p8"/>
          <p:cNvPicPr preferRelativeResize="0"/>
          <p:nvPr/>
        </p:nvPicPr>
        <p:blipFill rotWithShape="1">
          <a:blip r:embed="rId3">
            <a:alphaModFix/>
          </a:blip>
          <a:srcRect b="48442" l="0" r="0" t="0"/>
          <a:stretch/>
        </p:blipFill>
        <p:spPr>
          <a:xfrm flipH="1" rot="10800000">
            <a:off x="4413537" y="5246791"/>
            <a:ext cx="4171210" cy="1611209"/>
          </a:xfrm>
          <a:prstGeom prst="rect">
            <a:avLst/>
          </a:prstGeom>
          <a:noFill/>
          <a:ln>
            <a:noFill/>
          </a:ln>
        </p:spPr>
      </p:pic>
      <p:pic>
        <p:nvPicPr>
          <p:cNvPr id="433" name="Google Shape;433;p8"/>
          <p:cNvPicPr preferRelativeResize="0"/>
          <p:nvPr/>
        </p:nvPicPr>
        <p:blipFill rotWithShape="1">
          <a:blip r:embed="rId3">
            <a:alphaModFix/>
          </a:blip>
          <a:srcRect b="48442" l="0" r="0" t="0"/>
          <a:stretch/>
        </p:blipFill>
        <p:spPr>
          <a:xfrm flipH="1" rot="10800000">
            <a:off x="2399626" y="5240195"/>
            <a:ext cx="4171210" cy="1611209"/>
          </a:xfrm>
          <a:prstGeom prst="rect">
            <a:avLst/>
          </a:prstGeom>
          <a:noFill/>
          <a:ln>
            <a:noFill/>
          </a:ln>
        </p:spPr>
      </p:pic>
      <p:pic>
        <p:nvPicPr>
          <p:cNvPr id="434" name="Google Shape;434;p8"/>
          <p:cNvPicPr preferRelativeResize="0"/>
          <p:nvPr/>
        </p:nvPicPr>
        <p:blipFill rotWithShape="1">
          <a:blip r:embed="rId4">
            <a:alphaModFix/>
          </a:blip>
          <a:srcRect b="0" l="0" r="0" t="0"/>
          <a:stretch/>
        </p:blipFill>
        <p:spPr>
          <a:xfrm>
            <a:off x="1401171" y="5552551"/>
            <a:ext cx="917965" cy="914400"/>
          </a:xfrm>
          <a:prstGeom prst="rect">
            <a:avLst/>
          </a:prstGeom>
          <a:noFill/>
          <a:ln>
            <a:noFill/>
          </a:ln>
        </p:spPr>
      </p:pic>
      <p:sp>
        <p:nvSpPr>
          <p:cNvPr id="435" name="Google Shape;435;p8"/>
          <p:cNvSpPr txBox="1"/>
          <p:nvPr/>
        </p:nvSpPr>
        <p:spPr>
          <a:xfrm>
            <a:off x="327909" y="5512779"/>
            <a:ext cx="5779654" cy="138499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SLGFI,</a:t>
            </a:r>
            <a:endParaRPr/>
          </a:p>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Post Issue, Group and Technical Support for SLOCPI and SLGFI</a:t>
            </a:r>
            <a:endParaRPr b="1" i="0" sz="2800" u="none" cap="none" strike="noStrike">
              <a:solidFill>
                <a:srgbClr val="000000"/>
              </a:solidFill>
              <a:latin typeface="Calibri"/>
              <a:ea typeface="Calibri"/>
              <a:cs typeface="Calibri"/>
              <a:sym typeface="Calibri"/>
            </a:endParaRPr>
          </a:p>
        </p:txBody>
      </p:sp>
      <p:sp>
        <p:nvSpPr>
          <p:cNvPr id="436" name="Google Shape;436;p8"/>
          <p:cNvSpPr/>
          <p:nvPr/>
        </p:nvSpPr>
        <p:spPr>
          <a:xfrm>
            <a:off x="162665" y="5029200"/>
            <a:ext cx="182880" cy="1828800"/>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437" name="Google Shape;437;p8"/>
          <p:cNvPicPr preferRelativeResize="0"/>
          <p:nvPr/>
        </p:nvPicPr>
        <p:blipFill rotWithShape="1">
          <a:blip r:embed="rId3">
            <a:alphaModFix/>
          </a:blip>
          <a:srcRect b="48442" l="0" r="0" t="0"/>
          <a:stretch/>
        </p:blipFill>
        <p:spPr>
          <a:xfrm flipH="1" rot="10800000">
            <a:off x="8293562" y="5361982"/>
            <a:ext cx="3898438" cy="1496018"/>
          </a:xfrm>
          <a:prstGeom prst="rect">
            <a:avLst/>
          </a:prstGeom>
          <a:noFill/>
          <a:ln>
            <a:noFill/>
          </a:ln>
        </p:spPr>
      </p:pic>
      <p:grpSp>
        <p:nvGrpSpPr>
          <p:cNvPr id="438" name="Google Shape;438;p8"/>
          <p:cNvGrpSpPr/>
          <p:nvPr/>
        </p:nvGrpSpPr>
        <p:grpSpPr>
          <a:xfrm>
            <a:off x="455131" y="46263"/>
            <a:ext cx="11046974" cy="5414992"/>
            <a:chOff x="455131" y="46263"/>
            <a:chExt cx="11046974" cy="5414992"/>
          </a:xfrm>
        </p:grpSpPr>
        <p:grpSp>
          <p:nvGrpSpPr>
            <p:cNvPr id="439" name="Google Shape;439;p8"/>
            <p:cNvGrpSpPr/>
            <p:nvPr/>
          </p:nvGrpSpPr>
          <p:grpSpPr>
            <a:xfrm>
              <a:off x="455131" y="46263"/>
              <a:ext cx="9743421" cy="5414992"/>
              <a:chOff x="455131" y="46263"/>
              <a:chExt cx="9743421" cy="5414992"/>
            </a:xfrm>
          </p:grpSpPr>
          <p:cxnSp>
            <p:nvCxnSpPr>
              <p:cNvPr id="440" name="Google Shape;440;p8"/>
              <p:cNvCxnSpPr/>
              <p:nvPr/>
            </p:nvCxnSpPr>
            <p:spPr>
              <a:xfrm>
                <a:off x="1671145" y="2618173"/>
                <a:ext cx="0" cy="376643"/>
              </a:xfrm>
              <a:prstGeom prst="straightConnector1">
                <a:avLst/>
              </a:prstGeom>
              <a:noFill/>
              <a:ln cap="flat" cmpd="sng" w="9525">
                <a:solidFill>
                  <a:schemeClr val="dk1"/>
                </a:solidFill>
                <a:prstDash val="solid"/>
                <a:miter lim="800000"/>
                <a:headEnd len="sm" w="sm" type="none"/>
                <a:tailEnd len="sm" w="sm" type="none"/>
              </a:ln>
            </p:spPr>
          </p:cxnSp>
          <p:cxnSp>
            <p:nvCxnSpPr>
              <p:cNvPr id="441" name="Google Shape;441;p8"/>
              <p:cNvCxnSpPr/>
              <p:nvPr/>
            </p:nvCxnSpPr>
            <p:spPr>
              <a:xfrm>
                <a:off x="3482594" y="2622115"/>
                <a:ext cx="0" cy="376643"/>
              </a:xfrm>
              <a:prstGeom prst="straightConnector1">
                <a:avLst/>
              </a:prstGeom>
              <a:noFill/>
              <a:ln cap="flat" cmpd="sng" w="9525">
                <a:solidFill>
                  <a:schemeClr val="dk1"/>
                </a:solidFill>
                <a:prstDash val="solid"/>
                <a:miter lim="800000"/>
                <a:headEnd len="sm" w="sm" type="none"/>
                <a:tailEnd len="sm" w="sm" type="none"/>
              </a:ln>
            </p:spPr>
          </p:cxnSp>
          <p:cxnSp>
            <p:nvCxnSpPr>
              <p:cNvPr id="442" name="Google Shape;442;p8"/>
              <p:cNvCxnSpPr/>
              <p:nvPr/>
            </p:nvCxnSpPr>
            <p:spPr>
              <a:xfrm>
                <a:off x="6125817" y="134772"/>
                <a:ext cx="5196" cy="4719139"/>
              </a:xfrm>
              <a:prstGeom prst="straightConnector1">
                <a:avLst/>
              </a:prstGeom>
              <a:noFill/>
              <a:ln cap="flat" cmpd="sng" w="9525">
                <a:solidFill>
                  <a:schemeClr val="dk1"/>
                </a:solidFill>
                <a:prstDash val="solid"/>
                <a:miter lim="800000"/>
                <a:headEnd len="sm" w="sm" type="none"/>
                <a:tailEnd len="sm" w="sm" type="none"/>
              </a:ln>
            </p:spPr>
          </p:cxnSp>
          <p:sp>
            <p:nvSpPr>
              <p:cNvPr id="443" name="Google Shape;443;p8"/>
              <p:cNvSpPr/>
              <p:nvPr/>
            </p:nvSpPr>
            <p:spPr>
              <a:xfrm>
                <a:off x="646770" y="2779090"/>
                <a:ext cx="1646693" cy="2682165"/>
              </a:xfrm>
              <a:prstGeom prst="rect">
                <a:avLst/>
              </a:prstGeom>
              <a:solidFill>
                <a:schemeClr val="accent2">
                  <a:alpha val="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44" name="Google Shape;444;p8"/>
              <p:cNvSpPr/>
              <p:nvPr/>
            </p:nvSpPr>
            <p:spPr>
              <a:xfrm>
                <a:off x="2406225" y="2810437"/>
                <a:ext cx="1704698" cy="2248539"/>
              </a:xfrm>
              <a:prstGeom prst="rect">
                <a:avLst/>
              </a:prstGeom>
              <a:solidFill>
                <a:schemeClr val="accent6">
                  <a:alpha val="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445" name="Google Shape;445;p8"/>
              <p:cNvCxnSpPr/>
              <p:nvPr/>
            </p:nvCxnSpPr>
            <p:spPr>
              <a:xfrm>
                <a:off x="1671145" y="2618173"/>
                <a:ext cx="7394027" cy="0"/>
              </a:xfrm>
              <a:prstGeom prst="straightConnector1">
                <a:avLst/>
              </a:prstGeom>
              <a:noFill/>
              <a:ln cap="flat" cmpd="sng" w="9525">
                <a:solidFill>
                  <a:schemeClr val="dk1"/>
                </a:solidFill>
                <a:prstDash val="solid"/>
                <a:miter lim="800000"/>
                <a:headEnd len="sm" w="sm" type="none"/>
                <a:tailEnd len="sm" w="sm" type="none"/>
              </a:ln>
            </p:spPr>
          </p:cxnSp>
          <p:sp>
            <p:nvSpPr>
              <p:cNvPr id="446" name="Google Shape;446;p8"/>
              <p:cNvSpPr/>
              <p:nvPr/>
            </p:nvSpPr>
            <p:spPr>
              <a:xfrm>
                <a:off x="2897558" y="46263"/>
                <a:ext cx="3642157" cy="1213076"/>
              </a:xfrm>
              <a:prstGeom prst="rect">
                <a:avLst/>
              </a:prstGeom>
              <a:solidFill>
                <a:srgbClr val="66CCFF">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447" name="Google Shape;447;p8"/>
              <p:cNvGrpSpPr/>
              <p:nvPr/>
            </p:nvGrpSpPr>
            <p:grpSpPr>
              <a:xfrm>
                <a:off x="2989434" y="127653"/>
                <a:ext cx="3417670" cy="926756"/>
                <a:chOff x="2989434" y="159185"/>
                <a:chExt cx="3417670" cy="926756"/>
              </a:xfrm>
            </p:grpSpPr>
            <p:pic>
              <p:nvPicPr>
                <p:cNvPr id="448" name="Google Shape;448;p8">
                  <a:hlinkClick action="ppaction://hlinkshowjump?jump=lastslide"/>
                </p:cNvPr>
                <p:cNvPicPr preferRelativeResize="0"/>
                <p:nvPr/>
              </p:nvPicPr>
              <p:blipFill rotWithShape="1">
                <a:blip r:embed="rId5">
                  <a:alphaModFix/>
                </a:blip>
                <a:srcRect b="0" l="0" r="0" t="0"/>
                <a:stretch/>
              </p:blipFill>
              <p:spPr>
                <a:xfrm>
                  <a:off x="5435851" y="159185"/>
                  <a:ext cx="971253" cy="926756"/>
                </a:xfrm>
                <a:prstGeom prst="rect">
                  <a:avLst/>
                </a:prstGeom>
                <a:noFill/>
                <a:ln cap="flat" cmpd="sng" w="9525">
                  <a:solidFill>
                    <a:schemeClr val="dk1"/>
                  </a:solidFill>
                  <a:prstDash val="solid"/>
                  <a:round/>
                  <a:headEnd len="sm" w="sm" type="none"/>
                  <a:tailEnd len="sm" w="sm" type="none"/>
                </a:ln>
              </p:spPr>
            </p:pic>
            <p:sp>
              <p:nvSpPr>
                <p:cNvPr id="449" name="Google Shape;449;p8"/>
                <p:cNvSpPr txBox="1"/>
                <p:nvPr/>
              </p:nvSpPr>
              <p:spPr>
                <a:xfrm>
                  <a:off x="2989434" y="223816"/>
                  <a:ext cx="2507974"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2060"/>
                    </a:buClr>
                    <a:buSzPts val="1400"/>
                    <a:buFont typeface="Calibri"/>
                    <a:buNone/>
                  </a:pPr>
                  <a:r>
                    <a:rPr b="1" i="0" lang="en-US" sz="1400" u="none" cap="none" strike="noStrike">
                      <a:solidFill>
                        <a:srgbClr val="002060"/>
                      </a:solidFill>
                      <a:latin typeface="Calibri"/>
                      <a:ea typeface="Calibri"/>
                      <a:cs typeface="Calibri"/>
                      <a:sym typeface="Calibri"/>
                    </a:rPr>
                    <a:t>Tina Dizon, PCS, FLMI, FALU</a:t>
                  </a:r>
                  <a:endParaRPr/>
                </a:p>
                <a:p>
                  <a:pPr indent="0" lvl="0" marL="0" marR="0" rtl="0" algn="r">
                    <a:lnSpc>
                      <a:spcPct val="100000"/>
                    </a:lnSpc>
                    <a:spcBef>
                      <a:spcPts val="0"/>
                    </a:spcBef>
                    <a:spcAft>
                      <a:spcPts val="0"/>
                    </a:spcAft>
                    <a:buClr>
                      <a:srgbClr val="0070C0"/>
                    </a:buClr>
                    <a:buSzPts val="1400"/>
                    <a:buFont typeface="Calibri"/>
                    <a:buNone/>
                  </a:pPr>
                  <a:r>
                    <a:rPr b="1" i="0" lang="en-US" sz="1400" u="none" cap="none" strike="noStrike">
                      <a:solidFill>
                        <a:srgbClr val="0070C0"/>
                      </a:solidFill>
                      <a:latin typeface="Calibri"/>
                      <a:ea typeface="Calibri"/>
                      <a:cs typeface="Calibri"/>
                      <a:sym typeface="Calibri"/>
                    </a:rPr>
                    <a:t>Head, NB &amp; UW</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Date of Entry: April 1995</a:t>
                  </a:r>
                  <a:endParaRPr b="0" i="0" sz="1200" u="none" cap="none" strike="noStrike">
                    <a:solidFill>
                      <a:srgbClr val="0070C0"/>
                    </a:solidFill>
                    <a:latin typeface="Calibri"/>
                    <a:ea typeface="Calibri"/>
                    <a:cs typeface="Calibri"/>
                    <a:sym typeface="Calibri"/>
                  </a:endParaRPr>
                </a:p>
              </p:txBody>
            </p:sp>
            <p:cxnSp>
              <p:nvCxnSpPr>
                <p:cNvPr id="450" name="Google Shape;450;p8"/>
                <p:cNvCxnSpPr/>
                <p:nvPr/>
              </p:nvCxnSpPr>
              <p:spPr>
                <a:xfrm>
                  <a:off x="3057086" y="964769"/>
                  <a:ext cx="2378765" cy="0"/>
                </a:xfrm>
                <a:prstGeom prst="straightConnector1">
                  <a:avLst/>
                </a:prstGeom>
                <a:noFill/>
                <a:ln cap="flat" cmpd="sng" w="9525">
                  <a:solidFill>
                    <a:schemeClr val="accent5"/>
                  </a:solidFill>
                  <a:prstDash val="solid"/>
                  <a:miter lim="800000"/>
                  <a:headEnd len="sm" w="sm" type="none"/>
                  <a:tailEnd len="sm" w="sm" type="none"/>
                </a:ln>
              </p:spPr>
            </p:cxnSp>
          </p:grpSp>
          <p:grpSp>
            <p:nvGrpSpPr>
              <p:cNvPr id="451" name="Google Shape;451;p8"/>
              <p:cNvGrpSpPr/>
              <p:nvPr/>
            </p:nvGrpSpPr>
            <p:grpSpPr>
              <a:xfrm>
                <a:off x="5318503" y="1324184"/>
                <a:ext cx="4880049" cy="1213076"/>
                <a:chOff x="5318503" y="1402656"/>
                <a:chExt cx="4880049" cy="1213076"/>
              </a:xfrm>
            </p:grpSpPr>
            <p:sp>
              <p:nvSpPr>
                <p:cNvPr id="452" name="Google Shape;452;p8"/>
                <p:cNvSpPr/>
                <p:nvPr/>
              </p:nvSpPr>
              <p:spPr>
                <a:xfrm>
                  <a:off x="5318503" y="1402656"/>
                  <a:ext cx="4880049" cy="1213076"/>
                </a:xfrm>
                <a:prstGeom prst="rect">
                  <a:avLst/>
                </a:prstGeom>
                <a:solidFill>
                  <a:srgbClr val="80000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453" name="Google Shape;453;p8"/>
                <p:cNvCxnSpPr/>
                <p:nvPr/>
              </p:nvCxnSpPr>
              <p:spPr>
                <a:xfrm>
                  <a:off x="6413626" y="2475781"/>
                  <a:ext cx="2378765" cy="0"/>
                </a:xfrm>
                <a:prstGeom prst="straightConnector1">
                  <a:avLst/>
                </a:prstGeom>
                <a:noFill/>
                <a:ln cap="flat" cmpd="sng" w="9525">
                  <a:solidFill>
                    <a:srgbClr val="800000"/>
                  </a:solidFill>
                  <a:prstDash val="solid"/>
                  <a:miter lim="800000"/>
                  <a:headEnd len="sm" w="sm" type="none"/>
                  <a:tailEnd len="sm" w="sm" type="none"/>
                </a:ln>
              </p:spPr>
            </p:cxnSp>
          </p:grpSp>
          <p:sp>
            <p:nvSpPr>
              <p:cNvPr id="454" name="Google Shape;454;p8"/>
              <p:cNvSpPr txBox="1"/>
              <p:nvPr/>
            </p:nvSpPr>
            <p:spPr>
              <a:xfrm>
                <a:off x="2406224" y="3967752"/>
                <a:ext cx="1710341" cy="92333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Paula Sevilla, ACS</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ALMI, Manager 1</a:t>
                </a:r>
                <a:endParaRPr/>
              </a:p>
              <a:p>
                <a:pPr indent="0" lvl="0" marL="0" marR="0" rtl="0" algn="r">
                  <a:lnSpc>
                    <a:spcPct val="100000"/>
                  </a:lnSpc>
                  <a:spcBef>
                    <a:spcPts val="0"/>
                  </a:spcBef>
                  <a:spcAft>
                    <a:spcPts val="0"/>
                  </a:spcAft>
                  <a:buClr>
                    <a:srgbClr val="385623"/>
                  </a:buClr>
                  <a:buSzPts val="1400"/>
                  <a:buFont typeface="Calibri"/>
                  <a:buNone/>
                </a:pPr>
                <a:r>
                  <a:rPr b="1" i="0" lang="en-US" sz="1400" u="none" cap="none" strike="noStrike">
                    <a:solidFill>
                      <a:srgbClr val="385623"/>
                    </a:solidFill>
                    <a:latin typeface="Calibri"/>
                    <a:ea typeface="Calibri"/>
                    <a:cs typeface="Calibri"/>
                    <a:sym typeface="Calibri"/>
                  </a:rPr>
                  <a:t>Team 1</a:t>
                </a:r>
                <a:endParaRPr b="1" i="0" sz="1400" u="none" cap="none" strike="noStrike">
                  <a:solidFill>
                    <a:srgbClr val="385623"/>
                  </a:solidFill>
                  <a:latin typeface="Calibri"/>
                  <a:ea typeface="Calibri"/>
                  <a:cs typeface="Calibri"/>
                  <a:sym typeface="Calibri"/>
                </a:endParaRPr>
              </a:p>
              <a:p>
                <a:pPr indent="0" lvl="0" marL="0" marR="0" rtl="0" algn="r">
                  <a:lnSpc>
                    <a:spcPct val="100000"/>
                  </a:lnSpc>
                  <a:spcBef>
                    <a:spcPts val="0"/>
                  </a:spcBef>
                  <a:spcAft>
                    <a:spcPts val="0"/>
                  </a:spcAft>
                  <a:buClr>
                    <a:srgbClr val="385623"/>
                  </a:buClr>
                  <a:buSzPts val="1200"/>
                  <a:buFont typeface="Calibri"/>
                  <a:buNone/>
                </a:pPr>
                <a:r>
                  <a:rPr b="0" i="0" lang="en-US" sz="1200" u="none" cap="none" strike="noStrike">
                    <a:solidFill>
                      <a:srgbClr val="385623"/>
                    </a:solidFill>
                    <a:latin typeface="Calibri"/>
                    <a:ea typeface="Calibri"/>
                    <a:cs typeface="Calibri"/>
                    <a:sym typeface="Calibri"/>
                  </a:rPr>
                  <a:t>Date of Entry: Feb 2011</a:t>
                </a:r>
                <a:endParaRPr b="0" i="0" sz="1200" u="none" cap="none" strike="noStrike">
                  <a:solidFill>
                    <a:srgbClr val="385623"/>
                  </a:solidFill>
                  <a:latin typeface="Calibri"/>
                  <a:ea typeface="Calibri"/>
                  <a:cs typeface="Calibri"/>
                  <a:sym typeface="Calibri"/>
                </a:endParaRPr>
              </a:p>
            </p:txBody>
          </p:sp>
          <p:cxnSp>
            <p:nvCxnSpPr>
              <p:cNvPr id="455" name="Google Shape;455;p8"/>
              <p:cNvCxnSpPr/>
              <p:nvPr/>
            </p:nvCxnSpPr>
            <p:spPr>
              <a:xfrm>
                <a:off x="2520074" y="4891082"/>
                <a:ext cx="1578730" cy="0"/>
              </a:xfrm>
              <a:prstGeom prst="straightConnector1">
                <a:avLst/>
              </a:prstGeom>
              <a:noFill/>
              <a:ln cap="flat" cmpd="sng" w="9525">
                <a:solidFill>
                  <a:schemeClr val="accent6"/>
                </a:solidFill>
                <a:prstDash val="solid"/>
                <a:miter lim="800000"/>
                <a:headEnd len="sm" w="sm" type="none"/>
                <a:tailEnd len="sm" w="sm" type="none"/>
              </a:ln>
            </p:spPr>
          </p:cxnSp>
          <p:sp>
            <p:nvSpPr>
              <p:cNvPr id="456" name="Google Shape;456;p8"/>
              <p:cNvSpPr txBox="1"/>
              <p:nvPr/>
            </p:nvSpPr>
            <p:spPr>
              <a:xfrm>
                <a:off x="646770" y="3936405"/>
                <a:ext cx="1661216"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Vacant – </a:t>
                </a:r>
                <a:endParaRPr b="0" i="0" sz="1200" u="none" cap="none" strike="noStrike">
                  <a:solidFill>
                    <a:srgbClr val="ED7D31"/>
                  </a:solidFill>
                  <a:latin typeface="Calibri"/>
                  <a:ea typeface="Calibri"/>
                  <a:cs typeface="Calibri"/>
                  <a:sym typeface="Calibri"/>
                </a:endParaRPr>
              </a:p>
            </p:txBody>
          </p:sp>
          <p:cxnSp>
            <p:nvCxnSpPr>
              <p:cNvPr id="457" name="Google Shape;457;p8"/>
              <p:cNvCxnSpPr/>
              <p:nvPr/>
            </p:nvCxnSpPr>
            <p:spPr>
              <a:xfrm>
                <a:off x="646770" y="5268275"/>
                <a:ext cx="1630525" cy="0"/>
              </a:xfrm>
              <a:prstGeom prst="straightConnector1">
                <a:avLst/>
              </a:prstGeom>
              <a:noFill/>
              <a:ln cap="flat" cmpd="sng" w="9525">
                <a:solidFill>
                  <a:schemeClr val="accent2"/>
                </a:solidFill>
                <a:prstDash val="solid"/>
                <a:miter lim="800000"/>
                <a:headEnd len="sm" w="sm" type="none"/>
                <a:tailEnd len="sm" w="sm" type="none"/>
              </a:ln>
            </p:spPr>
          </p:cxnSp>
          <p:sp>
            <p:nvSpPr>
              <p:cNvPr id="458" name="Google Shape;458;p8"/>
              <p:cNvSpPr/>
              <p:nvPr/>
            </p:nvSpPr>
            <p:spPr>
              <a:xfrm>
                <a:off x="4151875" y="2962585"/>
                <a:ext cx="1667309" cy="66075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Eunice Davie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Mendoza, 4B </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Nov 2013</a:t>
                </a:r>
                <a:endParaRPr/>
              </a:p>
            </p:txBody>
          </p:sp>
          <p:sp>
            <p:nvSpPr>
              <p:cNvPr id="459" name="Google Shape;459;p8"/>
              <p:cNvSpPr/>
              <p:nvPr/>
            </p:nvSpPr>
            <p:spPr>
              <a:xfrm>
                <a:off x="4168696" y="3773749"/>
                <a:ext cx="1620380" cy="666097"/>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Joemar Adel</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4B</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Jun 2016</a:t>
                </a:r>
                <a:endParaRPr b="0" i="0" sz="1000" u="none" cap="none" strike="noStrike">
                  <a:solidFill>
                    <a:srgbClr val="000000"/>
                  </a:solidFill>
                  <a:latin typeface="Calibri"/>
                  <a:ea typeface="Calibri"/>
                  <a:cs typeface="Calibri"/>
                  <a:sym typeface="Calibri"/>
                </a:endParaRPr>
              </a:p>
            </p:txBody>
          </p:sp>
          <p:sp>
            <p:nvSpPr>
              <p:cNvPr id="460" name="Google Shape;460;p8"/>
              <p:cNvSpPr/>
              <p:nvPr/>
            </p:nvSpPr>
            <p:spPr>
              <a:xfrm>
                <a:off x="4212653" y="4595224"/>
                <a:ext cx="1670050" cy="766763"/>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Angela Marie</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Cajudo, 4B</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Nov 203</a:t>
                </a:r>
                <a:endParaRPr b="0" i="0" sz="800" u="none" cap="none" strike="noStrike">
                  <a:solidFill>
                    <a:srgbClr val="000000"/>
                  </a:solidFill>
                  <a:latin typeface="Calibri"/>
                  <a:ea typeface="Calibri"/>
                  <a:cs typeface="Calibri"/>
                  <a:sym typeface="Calibri"/>
                </a:endParaRPr>
              </a:p>
            </p:txBody>
          </p:sp>
          <p:sp>
            <p:nvSpPr>
              <p:cNvPr id="461" name="Google Shape;461;p8"/>
              <p:cNvSpPr txBox="1"/>
              <p:nvPr/>
            </p:nvSpPr>
            <p:spPr>
              <a:xfrm>
                <a:off x="455131" y="1584538"/>
                <a:ext cx="916814"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3A3838"/>
                  </a:buClr>
                  <a:buSzPts val="5400"/>
                  <a:buFont typeface="Impact"/>
                  <a:buNone/>
                </a:pPr>
                <a:r>
                  <a:rPr b="0" i="0" lang="en-US" sz="5400" u="none" cap="none" strike="noStrike">
                    <a:solidFill>
                      <a:srgbClr val="3A3838"/>
                    </a:solidFill>
                    <a:latin typeface="Impact"/>
                    <a:ea typeface="Impact"/>
                    <a:cs typeface="Impact"/>
                    <a:sym typeface="Impact"/>
                  </a:rPr>
                  <a:t>10</a:t>
                </a:r>
                <a:endParaRPr b="0" i="0" sz="5400" u="none" cap="none" strike="noStrike">
                  <a:solidFill>
                    <a:srgbClr val="3A3838"/>
                  </a:solidFill>
                  <a:latin typeface="Impact"/>
                  <a:ea typeface="Impact"/>
                  <a:cs typeface="Impact"/>
                  <a:sym typeface="Impact"/>
                </a:endParaRPr>
              </a:p>
            </p:txBody>
          </p:sp>
          <p:cxnSp>
            <p:nvCxnSpPr>
              <p:cNvPr id="462" name="Google Shape;462;p8"/>
              <p:cNvCxnSpPr/>
              <p:nvPr/>
            </p:nvCxnSpPr>
            <p:spPr>
              <a:xfrm>
                <a:off x="3984494" y="2994816"/>
                <a:ext cx="274320" cy="0"/>
              </a:xfrm>
              <a:prstGeom prst="straightConnector1">
                <a:avLst/>
              </a:prstGeom>
              <a:noFill/>
              <a:ln cap="flat" cmpd="sng" w="9525">
                <a:solidFill>
                  <a:schemeClr val="accent3"/>
                </a:solidFill>
                <a:prstDash val="solid"/>
                <a:miter lim="800000"/>
                <a:headEnd len="sm" w="sm" type="none"/>
                <a:tailEnd len="sm" w="sm" type="none"/>
              </a:ln>
            </p:spPr>
          </p:cxnSp>
          <p:sp>
            <p:nvSpPr>
              <p:cNvPr id="463" name="Google Shape;463;p8"/>
              <p:cNvSpPr txBox="1"/>
              <p:nvPr/>
            </p:nvSpPr>
            <p:spPr>
              <a:xfrm>
                <a:off x="1210314" y="1697713"/>
                <a:ext cx="127997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Warm </a:t>
                </a:r>
                <a:endParaRPr/>
              </a:p>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Bodies</a:t>
                </a:r>
                <a:endParaRPr b="1" i="0" sz="2000" u="none" cap="none" strike="noStrike">
                  <a:solidFill>
                    <a:srgbClr val="3A3838"/>
                  </a:solidFill>
                  <a:latin typeface="Calibri"/>
                  <a:ea typeface="Calibri"/>
                  <a:cs typeface="Calibri"/>
                  <a:sym typeface="Calibri"/>
                </a:endParaRPr>
              </a:p>
            </p:txBody>
          </p:sp>
          <p:sp>
            <p:nvSpPr>
              <p:cNvPr id="464" name="Google Shape;464;p8"/>
              <p:cNvSpPr/>
              <p:nvPr/>
            </p:nvSpPr>
            <p:spPr>
              <a:xfrm>
                <a:off x="483375" y="1275241"/>
                <a:ext cx="299921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A3838"/>
                  </a:buClr>
                  <a:buSzPts val="2400"/>
                  <a:buFont typeface="Calibri"/>
                  <a:buNone/>
                </a:pPr>
                <a:r>
                  <a:rPr b="1" i="0" lang="en-US" sz="2400" u="none" cap="none" strike="noStrike">
                    <a:solidFill>
                      <a:srgbClr val="3A3838"/>
                    </a:solidFill>
                    <a:latin typeface="Calibri"/>
                    <a:ea typeface="Calibri"/>
                    <a:cs typeface="Calibri"/>
                    <a:sym typeface="Calibri"/>
                  </a:rPr>
                  <a:t>Underwriting Services</a:t>
                </a:r>
                <a:endParaRPr b="0" i="0" sz="1800" u="none" cap="none" strike="noStrike">
                  <a:solidFill>
                    <a:srgbClr val="000000"/>
                  </a:solidFill>
                  <a:latin typeface="Calibri"/>
                  <a:ea typeface="Calibri"/>
                  <a:cs typeface="Calibri"/>
                  <a:sym typeface="Calibri"/>
                </a:endParaRPr>
              </a:p>
            </p:txBody>
          </p:sp>
          <p:cxnSp>
            <p:nvCxnSpPr>
              <p:cNvPr id="465" name="Google Shape;465;p8"/>
              <p:cNvCxnSpPr/>
              <p:nvPr/>
            </p:nvCxnSpPr>
            <p:spPr>
              <a:xfrm>
                <a:off x="9065172" y="2622115"/>
                <a:ext cx="0" cy="1239734"/>
              </a:xfrm>
              <a:prstGeom prst="straightConnector1">
                <a:avLst/>
              </a:prstGeom>
              <a:noFill/>
              <a:ln cap="flat" cmpd="sng" w="9525">
                <a:solidFill>
                  <a:schemeClr val="dk1"/>
                </a:solidFill>
                <a:prstDash val="solid"/>
                <a:miter lim="800000"/>
                <a:headEnd len="sm" w="sm" type="none"/>
                <a:tailEnd len="sm" w="sm" type="none"/>
              </a:ln>
            </p:spPr>
          </p:cxnSp>
          <p:cxnSp>
            <p:nvCxnSpPr>
              <p:cNvPr id="466" name="Google Shape;466;p8"/>
              <p:cNvCxnSpPr>
                <a:stCxn id="458" idx="1"/>
                <a:endCxn id="458" idx="1"/>
              </p:cNvCxnSpPr>
              <p:nvPr/>
            </p:nvCxnSpPr>
            <p:spPr>
              <a:xfrm>
                <a:off x="4151875" y="3292962"/>
                <a:ext cx="0" cy="0"/>
              </a:xfrm>
              <a:prstGeom prst="straightConnector1">
                <a:avLst/>
              </a:prstGeom>
              <a:noFill/>
              <a:ln cap="flat" cmpd="sng" w="9525">
                <a:solidFill>
                  <a:schemeClr val="dk1"/>
                </a:solidFill>
                <a:prstDash val="solid"/>
                <a:miter lim="800000"/>
                <a:headEnd len="sm" w="sm" type="none"/>
                <a:tailEnd len="sm" w="sm" type="none"/>
              </a:ln>
            </p:spPr>
          </p:cxnSp>
          <p:cxnSp>
            <p:nvCxnSpPr>
              <p:cNvPr id="467" name="Google Shape;467;p8"/>
              <p:cNvCxnSpPr/>
              <p:nvPr/>
            </p:nvCxnSpPr>
            <p:spPr>
              <a:xfrm>
                <a:off x="4007963" y="3728094"/>
                <a:ext cx="274320" cy="0"/>
              </a:xfrm>
              <a:prstGeom prst="straightConnector1">
                <a:avLst/>
              </a:prstGeom>
              <a:noFill/>
              <a:ln cap="flat" cmpd="sng" w="9525">
                <a:solidFill>
                  <a:schemeClr val="accent3"/>
                </a:solidFill>
                <a:prstDash val="solid"/>
                <a:miter lim="800000"/>
                <a:headEnd len="sm" w="sm" type="none"/>
                <a:tailEnd len="sm" w="sm" type="none"/>
              </a:ln>
            </p:spPr>
          </p:cxnSp>
          <p:cxnSp>
            <p:nvCxnSpPr>
              <p:cNvPr id="468" name="Google Shape;468;p8"/>
              <p:cNvCxnSpPr/>
              <p:nvPr/>
            </p:nvCxnSpPr>
            <p:spPr>
              <a:xfrm>
                <a:off x="4031564" y="4575386"/>
                <a:ext cx="274320" cy="0"/>
              </a:xfrm>
              <a:prstGeom prst="straightConnector1">
                <a:avLst/>
              </a:prstGeom>
              <a:noFill/>
              <a:ln cap="flat" cmpd="sng" w="9525">
                <a:solidFill>
                  <a:schemeClr val="accent3"/>
                </a:solidFill>
                <a:prstDash val="solid"/>
                <a:miter lim="800000"/>
                <a:headEnd len="sm" w="sm" type="none"/>
                <a:tailEnd len="sm" w="sm" type="none"/>
              </a:ln>
            </p:spPr>
          </p:cxnSp>
        </p:grpSp>
        <p:sp>
          <p:nvSpPr>
            <p:cNvPr id="469" name="Google Shape;469;p8"/>
            <p:cNvSpPr txBox="1"/>
            <p:nvPr/>
          </p:nvSpPr>
          <p:spPr>
            <a:xfrm>
              <a:off x="6439041" y="1324354"/>
              <a:ext cx="3752796" cy="11387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Dalla Labisto,  PCS,  FLMI, FALU</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2</a:t>
              </a:r>
              <a:endParaRPr/>
            </a:p>
            <a:p>
              <a:pPr indent="0" lvl="0" marL="0" marR="0" rtl="0" algn="l">
                <a:lnSpc>
                  <a:spcPct val="100000"/>
                </a:lnSpc>
                <a:spcBef>
                  <a:spcPts val="0"/>
                </a:spcBef>
                <a:spcAft>
                  <a:spcPts val="0"/>
                </a:spcAft>
                <a:buClr>
                  <a:srgbClr val="800000"/>
                </a:buClr>
                <a:buSzPts val="1400"/>
                <a:buFont typeface="Calibri"/>
                <a:buNone/>
              </a:pPr>
              <a:r>
                <a:rPr b="1" i="0" lang="en-US" sz="1400" u="none" cap="none" strike="noStrike">
                  <a:solidFill>
                    <a:srgbClr val="800000"/>
                  </a:solidFill>
                  <a:latin typeface="Calibri"/>
                  <a:ea typeface="Calibri"/>
                  <a:cs typeface="Calibri"/>
                  <a:sym typeface="Calibri"/>
                </a:rPr>
                <a:t>SLGFI, Post Issue, Group and Technical Support for SLOCPI and SLGFI</a:t>
              </a:r>
              <a:endParaRPr/>
            </a:p>
            <a:p>
              <a:pPr indent="0" lvl="0" marL="0" marR="0" rtl="0" algn="l">
                <a:lnSpc>
                  <a:spcPct val="100000"/>
                </a:lnSpc>
                <a:spcBef>
                  <a:spcPts val="0"/>
                </a:spcBef>
                <a:spcAft>
                  <a:spcPts val="0"/>
                </a:spcAft>
                <a:buClr>
                  <a:srgbClr val="800000"/>
                </a:buClr>
                <a:buSzPts val="1200"/>
                <a:buFont typeface="Calibri"/>
                <a:buNone/>
              </a:pPr>
              <a:r>
                <a:rPr b="0" i="0" lang="en-US" sz="1200" u="none" cap="none" strike="noStrike">
                  <a:solidFill>
                    <a:srgbClr val="800000"/>
                  </a:solidFill>
                  <a:latin typeface="Calibri"/>
                  <a:ea typeface="Calibri"/>
                  <a:cs typeface="Calibri"/>
                  <a:sym typeface="Calibri"/>
                </a:rPr>
                <a:t>Date of Entry: Jan 2011</a:t>
              </a:r>
              <a:endParaRPr b="0" i="0" sz="1200" u="none" cap="none" strike="noStrike">
                <a:solidFill>
                  <a:srgbClr val="800000"/>
                </a:solidFill>
                <a:latin typeface="Calibri"/>
                <a:ea typeface="Calibri"/>
                <a:cs typeface="Calibri"/>
                <a:sym typeface="Calibri"/>
              </a:endParaRPr>
            </a:p>
          </p:txBody>
        </p:sp>
        <p:pic>
          <p:nvPicPr>
            <p:cNvPr id="470" name="Google Shape;470;p8"/>
            <p:cNvPicPr preferRelativeResize="0"/>
            <p:nvPr/>
          </p:nvPicPr>
          <p:blipFill rotWithShape="1">
            <a:blip r:embed="rId6">
              <a:alphaModFix/>
            </a:blip>
            <a:srcRect b="36142" l="40776" r="26501" t="11490"/>
            <a:stretch/>
          </p:blipFill>
          <p:spPr>
            <a:xfrm>
              <a:off x="5435851" y="1398633"/>
              <a:ext cx="971253" cy="1016433"/>
            </a:xfrm>
            <a:prstGeom prst="rect">
              <a:avLst/>
            </a:prstGeom>
            <a:noFill/>
            <a:ln cap="flat" cmpd="sng" w="9525">
              <a:solidFill>
                <a:schemeClr val="dk1"/>
              </a:solidFill>
              <a:prstDash val="solid"/>
              <a:round/>
              <a:headEnd len="sm" w="sm" type="none"/>
              <a:tailEnd len="sm" w="sm" type="none"/>
            </a:ln>
          </p:spPr>
        </p:pic>
        <p:pic>
          <p:nvPicPr>
            <p:cNvPr id="471" name="Google Shape;471;p8"/>
            <p:cNvPicPr preferRelativeResize="0"/>
            <p:nvPr/>
          </p:nvPicPr>
          <p:blipFill rotWithShape="1">
            <a:blip r:embed="rId7">
              <a:alphaModFix/>
            </a:blip>
            <a:srcRect b="43113" l="30882" r="38234" t="5399"/>
            <a:stretch/>
          </p:blipFill>
          <p:spPr>
            <a:xfrm>
              <a:off x="3140246" y="2947449"/>
              <a:ext cx="888393" cy="914400"/>
            </a:xfrm>
            <a:prstGeom prst="rect">
              <a:avLst/>
            </a:prstGeom>
            <a:solidFill>
              <a:srgbClr val="FFFF99"/>
            </a:solidFill>
            <a:ln>
              <a:noFill/>
            </a:ln>
          </p:spPr>
        </p:pic>
        <p:pic>
          <p:nvPicPr>
            <p:cNvPr id="472" name="Google Shape;472;p8"/>
            <p:cNvPicPr preferRelativeResize="0"/>
            <p:nvPr/>
          </p:nvPicPr>
          <p:blipFill rotWithShape="1">
            <a:blip r:embed="rId8">
              <a:alphaModFix/>
            </a:blip>
            <a:srcRect b="26909" l="9509" r="59499" t="43981"/>
            <a:stretch/>
          </p:blipFill>
          <p:spPr>
            <a:xfrm>
              <a:off x="5261242" y="2978968"/>
              <a:ext cx="676191" cy="704058"/>
            </a:xfrm>
            <a:prstGeom prst="rect">
              <a:avLst/>
            </a:prstGeom>
            <a:solidFill>
              <a:srgbClr val="FAF9F9"/>
            </a:solidFill>
            <a:ln>
              <a:noFill/>
            </a:ln>
          </p:spPr>
        </p:pic>
        <p:pic>
          <p:nvPicPr>
            <p:cNvPr descr="C:\Users\pj66\Pictures\nb &amp; uw 2011\IMG_4668.JPG" id="473" name="Google Shape;473;p8"/>
            <p:cNvPicPr preferRelativeResize="0"/>
            <p:nvPr/>
          </p:nvPicPr>
          <p:blipFill rotWithShape="1">
            <a:blip r:embed="rId9">
              <a:alphaModFix/>
            </a:blip>
            <a:srcRect b="23552" l="32834" r="36666" t="36805"/>
            <a:stretch/>
          </p:blipFill>
          <p:spPr>
            <a:xfrm>
              <a:off x="5261242" y="3780672"/>
              <a:ext cx="666003" cy="649256"/>
            </a:xfrm>
            <a:prstGeom prst="rect">
              <a:avLst/>
            </a:prstGeom>
            <a:solidFill>
              <a:srgbClr val="FAF9F9"/>
            </a:solidFill>
            <a:ln>
              <a:noFill/>
            </a:ln>
          </p:spPr>
        </p:pic>
        <p:pic>
          <p:nvPicPr>
            <p:cNvPr id="474" name="Google Shape;474;p8"/>
            <p:cNvPicPr preferRelativeResize="0"/>
            <p:nvPr/>
          </p:nvPicPr>
          <p:blipFill rotWithShape="1">
            <a:blip r:embed="rId10">
              <a:alphaModFix/>
            </a:blip>
            <a:srcRect b="58149" l="49692" r="10124" t="11118"/>
            <a:stretch/>
          </p:blipFill>
          <p:spPr>
            <a:xfrm>
              <a:off x="5313655" y="4538477"/>
              <a:ext cx="595317" cy="769328"/>
            </a:xfrm>
            <a:prstGeom prst="rect">
              <a:avLst/>
            </a:prstGeom>
            <a:solidFill>
              <a:srgbClr val="FAF9F9"/>
            </a:solidFill>
            <a:ln>
              <a:noFill/>
            </a:ln>
          </p:spPr>
        </p:pic>
        <p:grpSp>
          <p:nvGrpSpPr>
            <p:cNvPr id="475" name="Google Shape;475;p8"/>
            <p:cNvGrpSpPr/>
            <p:nvPr/>
          </p:nvGrpSpPr>
          <p:grpSpPr>
            <a:xfrm>
              <a:off x="6453168" y="3774003"/>
              <a:ext cx="2250144" cy="690306"/>
              <a:chOff x="7769953" y="5451144"/>
              <a:chExt cx="1456787" cy="396922"/>
            </a:xfrm>
          </p:grpSpPr>
          <p:sp>
            <p:nvSpPr>
              <p:cNvPr id="476" name="Google Shape;476;p8"/>
              <p:cNvSpPr/>
              <p:nvPr/>
            </p:nvSpPr>
            <p:spPr>
              <a:xfrm>
                <a:off x="7769953" y="5451144"/>
                <a:ext cx="1279820" cy="396922"/>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Melai Barrera</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4A - Technical Support</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July 2012</a:t>
                </a:r>
                <a:endParaRPr/>
              </a:p>
            </p:txBody>
          </p:sp>
          <p:pic>
            <p:nvPicPr>
              <p:cNvPr id="477" name="Google Shape;477;p8"/>
              <p:cNvPicPr preferRelativeResize="0"/>
              <p:nvPr/>
            </p:nvPicPr>
            <p:blipFill rotWithShape="1">
              <a:blip r:embed="rId11">
                <a:alphaModFix/>
              </a:blip>
              <a:srcRect b="21635" l="8485" r="57008" t="3398"/>
              <a:stretch/>
            </p:blipFill>
            <p:spPr>
              <a:xfrm>
                <a:off x="8710231" y="5454979"/>
                <a:ext cx="516509" cy="342093"/>
              </a:xfrm>
              <a:prstGeom prst="rect">
                <a:avLst/>
              </a:prstGeom>
              <a:noFill/>
              <a:ln>
                <a:noFill/>
              </a:ln>
            </p:spPr>
          </p:pic>
        </p:grpSp>
        <p:sp>
          <p:nvSpPr>
            <p:cNvPr id="478" name="Google Shape;478;p8"/>
            <p:cNvSpPr/>
            <p:nvPr/>
          </p:nvSpPr>
          <p:spPr>
            <a:xfrm>
              <a:off x="6477249" y="4507110"/>
              <a:ext cx="1962150" cy="847725"/>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Liezl A. Silverio</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ACS</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4A - Technical Support</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Nov 2017</a:t>
              </a:r>
              <a:endParaRPr/>
            </a:p>
          </p:txBody>
        </p:sp>
        <p:grpSp>
          <p:nvGrpSpPr>
            <p:cNvPr id="479" name="Google Shape;479;p8"/>
            <p:cNvGrpSpPr/>
            <p:nvPr/>
          </p:nvGrpSpPr>
          <p:grpSpPr>
            <a:xfrm>
              <a:off x="6458355" y="2933971"/>
              <a:ext cx="2244956" cy="755476"/>
              <a:chOff x="7921839" y="4828971"/>
              <a:chExt cx="1704582" cy="543674"/>
            </a:xfrm>
          </p:grpSpPr>
          <p:sp>
            <p:nvSpPr>
              <p:cNvPr id="480" name="Google Shape;480;p8"/>
              <p:cNvSpPr/>
              <p:nvPr/>
            </p:nvSpPr>
            <p:spPr>
              <a:xfrm>
                <a:off x="7921839" y="4828971"/>
                <a:ext cx="1411421" cy="543674"/>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Agnes Javier-Jones</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ACS, FLMI</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Consultant</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Mar 2011</a:t>
                </a:r>
                <a:endParaRPr/>
              </a:p>
            </p:txBody>
          </p:sp>
          <p:pic>
            <p:nvPicPr>
              <p:cNvPr id="481" name="Google Shape;481;p8"/>
              <p:cNvPicPr preferRelativeResize="0"/>
              <p:nvPr/>
            </p:nvPicPr>
            <p:blipFill rotWithShape="1">
              <a:blip r:embed="rId12">
                <a:alphaModFix/>
              </a:blip>
              <a:srcRect b="38383" l="38922" r="28313" t="4643"/>
              <a:stretch/>
            </p:blipFill>
            <p:spPr>
              <a:xfrm>
                <a:off x="9027054" y="4857478"/>
                <a:ext cx="599367" cy="493532"/>
              </a:xfrm>
              <a:prstGeom prst="rect">
                <a:avLst/>
              </a:prstGeom>
              <a:noFill/>
              <a:ln>
                <a:noFill/>
              </a:ln>
            </p:spPr>
          </p:pic>
        </p:grpSp>
        <p:sp>
          <p:nvSpPr>
            <p:cNvPr id="482" name="Google Shape;482;p8"/>
            <p:cNvSpPr/>
            <p:nvPr/>
          </p:nvSpPr>
          <p:spPr>
            <a:xfrm>
              <a:off x="9297760" y="2929602"/>
              <a:ext cx="1982787" cy="693738"/>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000"/>
                <a:buFont typeface="Calibri"/>
                <a:buNone/>
              </a:pPr>
              <a:r>
                <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Whena Salagsag</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4A - Technical Support</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Jun 2008</a:t>
              </a:r>
              <a:endParaRPr/>
            </a:p>
            <a:p>
              <a:pPr indent="0" lvl="0" marL="0" marR="0" rtl="0" algn="l">
                <a:lnSpc>
                  <a:spcPct val="100000"/>
                </a:lnSpc>
                <a:spcBef>
                  <a:spcPts val="0"/>
                </a:spcBef>
                <a:spcAft>
                  <a:spcPts val="0"/>
                </a:spcAft>
                <a:buClr>
                  <a:schemeClr val="lt1"/>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483" name="Google Shape;483;p8"/>
            <p:cNvGrpSpPr/>
            <p:nvPr/>
          </p:nvGrpSpPr>
          <p:grpSpPr>
            <a:xfrm>
              <a:off x="9252658" y="3695125"/>
              <a:ext cx="2249447" cy="716694"/>
              <a:chOff x="6084168" y="4305857"/>
              <a:chExt cx="1859048" cy="716694"/>
            </a:xfrm>
          </p:grpSpPr>
          <p:sp>
            <p:nvSpPr>
              <p:cNvPr id="484" name="Google Shape;484;p8"/>
              <p:cNvSpPr/>
              <p:nvPr/>
            </p:nvSpPr>
            <p:spPr>
              <a:xfrm>
                <a:off x="6084168" y="4305857"/>
                <a:ext cx="1637354" cy="692727"/>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1000"/>
                  <a:buFont typeface="Calibri"/>
                  <a:buNone/>
                </a:pPr>
                <a:r>
                  <a:t/>
                </a:r>
                <a:endParaRPr b="0"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Rosalie Pabon</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4A - NB &amp; UW Support</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Date of Entry: </a:t>
                </a:r>
                <a:endParaRPr/>
              </a:p>
              <a:p>
                <a:pPr indent="0" lvl="0" marL="0" marR="0" rtl="0" algn="l">
                  <a:lnSpc>
                    <a:spcPct val="100000"/>
                  </a:lnSpc>
                  <a:spcBef>
                    <a:spcPts val="0"/>
                  </a:spcBef>
                  <a:spcAft>
                    <a:spcPts val="0"/>
                  </a:spcAft>
                  <a:buClr>
                    <a:srgbClr val="000000"/>
                  </a:buClr>
                  <a:buSzPts val="1000"/>
                  <a:buFont typeface="Calibri"/>
                  <a:buNone/>
                </a:pPr>
                <a:r>
                  <a:rPr b="0" i="0" lang="en-US" sz="1000" u="none" cap="none" strike="noStrike">
                    <a:solidFill>
                      <a:srgbClr val="000000"/>
                    </a:solidFill>
                    <a:latin typeface="Calibri"/>
                    <a:ea typeface="Calibri"/>
                    <a:cs typeface="Calibri"/>
                    <a:sym typeface="Calibri"/>
                  </a:rPr>
                  <a:t>Apr 2011   </a:t>
                </a:r>
                <a:endParaRPr/>
              </a:p>
              <a:p>
                <a:pPr indent="0" lvl="0" marL="0" marR="0" rtl="0" algn="l">
                  <a:lnSpc>
                    <a:spcPct val="100000"/>
                  </a:lnSpc>
                  <a:spcBef>
                    <a:spcPts val="0"/>
                  </a:spcBef>
                  <a:spcAft>
                    <a:spcPts val="0"/>
                  </a:spcAft>
                  <a:buClr>
                    <a:schemeClr val="lt1"/>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id="485" name="Google Shape;485;p8"/>
              <p:cNvPicPr preferRelativeResize="0"/>
              <p:nvPr/>
            </p:nvPicPr>
            <p:blipFill rotWithShape="1">
              <a:blip r:embed="rId13">
                <a:alphaModFix/>
              </a:blip>
              <a:srcRect b="31158" l="19473" r="21075" t="14648"/>
              <a:stretch/>
            </p:blipFill>
            <p:spPr>
              <a:xfrm>
                <a:off x="7349841" y="4336751"/>
                <a:ext cx="593375" cy="685800"/>
              </a:xfrm>
              <a:prstGeom prst="rect">
                <a:avLst/>
              </a:prstGeom>
              <a:noFill/>
              <a:ln>
                <a:noFill/>
              </a:ln>
            </p:spPr>
          </p:pic>
        </p:grpSp>
        <p:cxnSp>
          <p:nvCxnSpPr>
            <p:cNvPr id="486" name="Google Shape;486;p8"/>
            <p:cNvCxnSpPr/>
            <p:nvPr/>
          </p:nvCxnSpPr>
          <p:spPr>
            <a:xfrm>
              <a:off x="6125817" y="3273341"/>
              <a:ext cx="274320" cy="0"/>
            </a:xfrm>
            <a:prstGeom prst="straightConnector1">
              <a:avLst/>
            </a:prstGeom>
            <a:noFill/>
            <a:ln cap="flat" cmpd="sng" w="9525">
              <a:solidFill>
                <a:schemeClr val="accent3"/>
              </a:solidFill>
              <a:prstDash val="solid"/>
              <a:miter lim="800000"/>
              <a:headEnd len="sm" w="sm" type="none"/>
              <a:tailEnd len="sm" w="sm" type="none"/>
            </a:ln>
          </p:spPr>
        </p:cxnSp>
        <p:cxnSp>
          <p:nvCxnSpPr>
            <p:cNvPr id="487" name="Google Shape;487;p8"/>
            <p:cNvCxnSpPr/>
            <p:nvPr/>
          </p:nvCxnSpPr>
          <p:spPr>
            <a:xfrm>
              <a:off x="6149286" y="4006619"/>
              <a:ext cx="274320" cy="0"/>
            </a:xfrm>
            <a:prstGeom prst="straightConnector1">
              <a:avLst/>
            </a:prstGeom>
            <a:noFill/>
            <a:ln cap="flat" cmpd="sng" w="9525">
              <a:solidFill>
                <a:schemeClr val="accent3"/>
              </a:solidFill>
              <a:prstDash val="solid"/>
              <a:miter lim="800000"/>
              <a:headEnd len="sm" w="sm" type="none"/>
              <a:tailEnd len="sm" w="sm" type="none"/>
            </a:ln>
          </p:spPr>
        </p:cxnSp>
        <p:cxnSp>
          <p:nvCxnSpPr>
            <p:cNvPr id="488" name="Google Shape;488;p8"/>
            <p:cNvCxnSpPr/>
            <p:nvPr/>
          </p:nvCxnSpPr>
          <p:spPr>
            <a:xfrm>
              <a:off x="6172887" y="4853911"/>
              <a:ext cx="274320" cy="0"/>
            </a:xfrm>
            <a:prstGeom prst="straightConnector1">
              <a:avLst/>
            </a:prstGeom>
            <a:noFill/>
            <a:ln cap="flat" cmpd="sng" w="9525">
              <a:solidFill>
                <a:schemeClr val="accent3"/>
              </a:solidFill>
              <a:prstDash val="solid"/>
              <a:miter lim="800000"/>
              <a:headEnd len="sm" w="sm" type="none"/>
              <a:tailEnd len="sm" w="sm" type="none"/>
            </a:ln>
          </p:spPr>
        </p:cxnSp>
        <p:pic>
          <p:nvPicPr>
            <p:cNvPr id="489" name="Google Shape;489;p8"/>
            <p:cNvPicPr preferRelativeResize="0"/>
            <p:nvPr/>
          </p:nvPicPr>
          <p:blipFill rotWithShape="1">
            <a:blip r:embed="rId14">
              <a:alphaModFix/>
            </a:blip>
            <a:srcRect b="27267" l="8929" r="22920" t="12072"/>
            <a:stretch/>
          </p:blipFill>
          <p:spPr>
            <a:xfrm>
              <a:off x="7913936" y="4522811"/>
              <a:ext cx="789374" cy="660400"/>
            </a:xfrm>
            <a:prstGeom prst="rect">
              <a:avLst/>
            </a:prstGeom>
            <a:noFill/>
            <a:ln>
              <a:noFill/>
            </a:ln>
          </p:spPr>
        </p:pic>
        <p:pic>
          <p:nvPicPr>
            <p:cNvPr id="490" name="Google Shape;490;p8"/>
            <p:cNvPicPr preferRelativeResize="0"/>
            <p:nvPr/>
          </p:nvPicPr>
          <p:blipFill rotWithShape="1">
            <a:blip r:embed="rId15">
              <a:alphaModFix/>
            </a:blip>
            <a:srcRect b="45934" l="41228" r="28145" t="8133"/>
            <a:stretch/>
          </p:blipFill>
          <p:spPr>
            <a:xfrm>
              <a:off x="10784121" y="3005012"/>
              <a:ext cx="717983" cy="625475"/>
            </a:xfrm>
            <a:prstGeom prst="rect">
              <a:avLst/>
            </a:prstGeom>
            <a:solidFill>
              <a:srgbClr val="FFFF99"/>
            </a:solidFill>
            <a:ln>
              <a:noFill/>
            </a:ln>
          </p:spPr>
        </p:pic>
        <p:cxnSp>
          <p:nvCxnSpPr>
            <p:cNvPr id="491" name="Google Shape;491;p8"/>
            <p:cNvCxnSpPr/>
            <p:nvPr/>
          </p:nvCxnSpPr>
          <p:spPr>
            <a:xfrm>
              <a:off x="9065172" y="3273341"/>
              <a:ext cx="274320" cy="0"/>
            </a:xfrm>
            <a:prstGeom prst="straightConnector1">
              <a:avLst/>
            </a:prstGeom>
            <a:noFill/>
            <a:ln cap="flat" cmpd="sng" w="9525">
              <a:solidFill>
                <a:schemeClr val="accent3"/>
              </a:solidFill>
              <a:prstDash val="solid"/>
              <a:miter lim="800000"/>
              <a:headEnd len="sm" w="sm" type="none"/>
              <a:tailEnd len="sm" w="sm" type="none"/>
            </a:ln>
          </p:spPr>
        </p:cxnSp>
        <p:cxnSp>
          <p:nvCxnSpPr>
            <p:cNvPr id="492" name="Google Shape;492;p8"/>
            <p:cNvCxnSpPr/>
            <p:nvPr/>
          </p:nvCxnSpPr>
          <p:spPr>
            <a:xfrm>
              <a:off x="9046909" y="3859474"/>
              <a:ext cx="274320" cy="0"/>
            </a:xfrm>
            <a:prstGeom prst="straightConnector1">
              <a:avLst/>
            </a:prstGeom>
            <a:noFill/>
            <a:ln cap="flat" cmpd="sng" w="9525">
              <a:solidFill>
                <a:schemeClr val="accent3"/>
              </a:solidFill>
              <a:prstDash val="solid"/>
              <a:miter lim="800000"/>
              <a:headEnd len="sm" w="sm" type="none"/>
              <a:tailEnd len="sm" w="sm" type="none"/>
            </a:ln>
          </p:spPr>
        </p:cxn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7" name="Shape 497"/>
        <p:cNvGrpSpPr/>
        <p:nvPr/>
      </p:nvGrpSpPr>
      <p:grpSpPr>
        <a:xfrm>
          <a:off x="0" y="0"/>
          <a:ext cx="0" cy="0"/>
          <a:chOff x="0" y="0"/>
          <a:chExt cx="0" cy="0"/>
        </a:xfrm>
      </p:grpSpPr>
      <p:grpSp>
        <p:nvGrpSpPr>
          <p:cNvPr id="498" name="Google Shape;498;p9"/>
          <p:cNvGrpSpPr/>
          <p:nvPr/>
        </p:nvGrpSpPr>
        <p:grpSpPr>
          <a:xfrm>
            <a:off x="64411" y="5029200"/>
            <a:ext cx="12127589" cy="1852020"/>
            <a:chOff x="64411" y="5029200"/>
            <a:chExt cx="12127589" cy="1852020"/>
          </a:xfrm>
        </p:grpSpPr>
        <p:pic>
          <p:nvPicPr>
            <p:cNvPr id="499" name="Google Shape;499;p9"/>
            <p:cNvPicPr preferRelativeResize="0"/>
            <p:nvPr/>
          </p:nvPicPr>
          <p:blipFill rotWithShape="1">
            <a:blip r:embed="rId3">
              <a:alphaModFix/>
            </a:blip>
            <a:srcRect b="48442" l="0" r="0" t="0"/>
            <a:stretch/>
          </p:blipFill>
          <p:spPr>
            <a:xfrm flipH="1" rot="10800000">
              <a:off x="2399626" y="5240195"/>
              <a:ext cx="4171210" cy="1611209"/>
            </a:xfrm>
            <a:prstGeom prst="rect">
              <a:avLst/>
            </a:prstGeom>
            <a:noFill/>
            <a:ln>
              <a:noFill/>
            </a:ln>
          </p:spPr>
        </p:pic>
        <p:pic>
          <p:nvPicPr>
            <p:cNvPr id="500" name="Google Shape;500;p9"/>
            <p:cNvPicPr preferRelativeResize="0"/>
            <p:nvPr/>
          </p:nvPicPr>
          <p:blipFill rotWithShape="1">
            <a:blip r:embed="rId3">
              <a:alphaModFix/>
            </a:blip>
            <a:srcRect b="48442" l="0" r="0" t="0"/>
            <a:stretch/>
          </p:blipFill>
          <p:spPr>
            <a:xfrm flipH="1" rot="10800000">
              <a:off x="64411" y="5270011"/>
              <a:ext cx="4171210" cy="1611209"/>
            </a:xfrm>
            <a:prstGeom prst="rect">
              <a:avLst/>
            </a:prstGeom>
            <a:noFill/>
            <a:ln>
              <a:noFill/>
            </a:ln>
          </p:spPr>
        </p:pic>
        <p:pic>
          <p:nvPicPr>
            <p:cNvPr id="501" name="Google Shape;501;p9"/>
            <p:cNvPicPr preferRelativeResize="0"/>
            <p:nvPr/>
          </p:nvPicPr>
          <p:blipFill rotWithShape="1">
            <a:blip r:embed="rId3">
              <a:alphaModFix/>
            </a:blip>
            <a:srcRect b="48442" l="0" r="0" t="0"/>
            <a:stretch/>
          </p:blipFill>
          <p:spPr>
            <a:xfrm flipH="1" rot="10800000">
              <a:off x="4413537" y="5246791"/>
              <a:ext cx="4171210" cy="1611209"/>
            </a:xfrm>
            <a:prstGeom prst="rect">
              <a:avLst/>
            </a:prstGeom>
            <a:noFill/>
            <a:ln>
              <a:noFill/>
            </a:ln>
          </p:spPr>
        </p:pic>
        <p:pic>
          <p:nvPicPr>
            <p:cNvPr id="502" name="Google Shape;502;p9"/>
            <p:cNvPicPr preferRelativeResize="0"/>
            <p:nvPr/>
          </p:nvPicPr>
          <p:blipFill rotWithShape="1">
            <a:blip r:embed="rId4">
              <a:alphaModFix/>
            </a:blip>
            <a:srcRect b="0" l="0" r="0" t="0"/>
            <a:stretch/>
          </p:blipFill>
          <p:spPr>
            <a:xfrm>
              <a:off x="1401171" y="5552551"/>
              <a:ext cx="917965" cy="914400"/>
            </a:xfrm>
            <a:prstGeom prst="rect">
              <a:avLst/>
            </a:prstGeom>
            <a:noFill/>
            <a:ln>
              <a:noFill/>
            </a:ln>
          </p:spPr>
        </p:pic>
        <p:sp>
          <p:nvSpPr>
            <p:cNvPr id="503" name="Google Shape;503;p9"/>
            <p:cNvSpPr/>
            <p:nvPr/>
          </p:nvSpPr>
          <p:spPr>
            <a:xfrm>
              <a:off x="162665" y="5029200"/>
              <a:ext cx="182880" cy="1828800"/>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504" name="Google Shape;504;p9"/>
            <p:cNvPicPr preferRelativeResize="0"/>
            <p:nvPr/>
          </p:nvPicPr>
          <p:blipFill rotWithShape="1">
            <a:blip r:embed="rId3">
              <a:alphaModFix/>
            </a:blip>
            <a:srcRect b="48442" l="0" r="0" t="0"/>
            <a:stretch/>
          </p:blipFill>
          <p:spPr>
            <a:xfrm flipH="1" rot="10800000">
              <a:off x="8293562" y="5361982"/>
              <a:ext cx="3898438" cy="1496018"/>
            </a:xfrm>
            <a:prstGeom prst="rect">
              <a:avLst/>
            </a:prstGeom>
            <a:noFill/>
            <a:ln>
              <a:noFill/>
            </a:ln>
          </p:spPr>
        </p:pic>
        <p:sp>
          <p:nvSpPr>
            <p:cNvPr id="505" name="Google Shape;505;p9"/>
            <p:cNvSpPr txBox="1"/>
            <p:nvPr/>
          </p:nvSpPr>
          <p:spPr>
            <a:xfrm>
              <a:off x="327909" y="5943665"/>
              <a:ext cx="4144699" cy="52322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New Business Services </a:t>
              </a:r>
              <a:endParaRPr/>
            </a:p>
          </p:txBody>
        </p:sp>
      </p:grpSp>
      <p:grpSp>
        <p:nvGrpSpPr>
          <p:cNvPr id="506" name="Google Shape;506;p9"/>
          <p:cNvGrpSpPr/>
          <p:nvPr/>
        </p:nvGrpSpPr>
        <p:grpSpPr>
          <a:xfrm>
            <a:off x="443799" y="46263"/>
            <a:ext cx="11299767" cy="5763299"/>
            <a:chOff x="443799" y="46263"/>
            <a:chExt cx="11299767" cy="5763299"/>
          </a:xfrm>
        </p:grpSpPr>
        <p:sp>
          <p:nvSpPr>
            <p:cNvPr id="507" name="Google Shape;507;p9"/>
            <p:cNvSpPr/>
            <p:nvPr/>
          </p:nvSpPr>
          <p:spPr>
            <a:xfrm>
              <a:off x="2096014" y="2796964"/>
              <a:ext cx="1523349" cy="2652303"/>
            </a:xfrm>
            <a:prstGeom prst="rect">
              <a:avLst/>
            </a:prstGeom>
            <a:solidFill>
              <a:srgbClr val="0070C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08" name="Google Shape;508;p9"/>
            <p:cNvCxnSpPr/>
            <p:nvPr/>
          </p:nvCxnSpPr>
          <p:spPr>
            <a:xfrm>
              <a:off x="6122504" y="506896"/>
              <a:ext cx="47072" cy="2517501"/>
            </a:xfrm>
            <a:prstGeom prst="straightConnector1">
              <a:avLst/>
            </a:prstGeom>
            <a:noFill/>
            <a:ln cap="flat" cmpd="sng" w="9525">
              <a:solidFill>
                <a:schemeClr val="dk1"/>
              </a:solidFill>
              <a:prstDash val="solid"/>
              <a:miter lim="800000"/>
              <a:headEnd len="sm" w="sm" type="none"/>
              <a:tailEnd len="sm" w="sm" type="none"/>
            </a:ln>
          </p:spPr>
        </p:cxnSp>
        <p:cxnSp>
          <p:nvCxnSpPr>
            <p:cNvPr id="509" name="Google Shape;509;p9"/>
            <p:cNvCxnSpPr/>
            <p:nvPr/>
          </p:nvCxnSpPr>
          <p:spPr>
            <a:xfrm>
              <a:off x="2948354" y="2598468"/>
              <a:ext cx="0" cy="417305"/>
            </a:xfrm>
            <a:prstGeom prst="straightConnector1">
              <a:avLst/>
            </a:prstGeom>
            <a:noFill/>
            <a:ln cap="flat" cmpd="sng" w="9525">
              <a:solidFill>
                <a:schemeClr val="dk1"/>
              </a:solidFill>
              <a:prstDash val="solid"/>
              <a:miter lim="800000"/>
              <a:headEnd len="sm" w="sm" type="none"/>
              <a:tailEnd len="sm" w="sm" type="none"/>
            </a:ln>
          </p:spPr>
        </p:cxnSp>
        <p:sp>
          <p:nvSpPr>
            <p:cNvPr id="510" name="Google Shape;510;p9"/>
            <p:cNvSpPr/>
            <p:nvPr/>
          </p:nvSpPr>
          <p:spPr>
            <a:xfrm>
              <a:off x="2897558" y="46263"/>
              <a:ext cx="3642157" cy="1213076"/>
            </a:xfrm>
            <a:prstGeom prst="rect">
              <a:avLst/>
            </a:prstGeom>
            <a:solidFill>
              <a:srgbClr val="66CCFF">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11" name="Google Shape;511;p9"/>
            <p:cNvCxnSpPr/>
            <p:nvPr/>
          </p:nvCxnSpPr>
          <p:spPr>
            <a:xfrm>
              <a:off x="3408603" y="3230555"/>
              <a:ext cx="0" cy="0"/>
            </a:xfrm>
            <a:prstGeom prst="straightConnector1">
              <a:avLst/>
            </a:prstGeom>
            <a:noFill/>
            <a:ln cap="flat" cmpd="sng" w="9525">
              <a:solidFill>
                <a:schemeClr val="dk1"/>
              </a:solidFill>
              <a:prstDash val="solid"/>
              <a:miter lim="800000"/>
              <a:headEnd len="sm" w="sm" type="none"/>
              <a:tailEnd len="sm" w="sm" type="none"/>
            </a:ln>
          </p:spPr>
        </p:cxnSp>
        <p:grpSp>
          <p:nvGrpSpPr>
            <p:cNvPr id="512" name="Google Shape;512;p9"/>
            <p:cNvGrpSpPr/>
            <p:nvPr/>
          </p:nvGrpSpPr>
          <p:grpSpPr>
            <a:xfrm>
              <a:off x="2989434" y="80357"/>
              <a:ext cx="6388130" cy="2409607"/>
              <a:chOff x="2989434" y="127653"/>
              <a:chExt cx="6388130" cy="2409607"/>
            </a:xfrm>
          </p:grpSpPr>
          <p:grpSp>
            <p:nvGrpSpPr>
              <p:cNvPr id="513" name="Google Shape;513;p9"/>
              <p:cNvGrpSpPr/>
              <p:nvPr/>
            </p:nvGrpSpPr>
            <p:grpSpPr>
              <a:xfrm>
                <a:off x="2989434" y="127653"/>
                <a:ext cx="3417670" cy="926756"/>
                <a:chOff x="2989434" y="159185"/>
                <a:chExt cx="3417670" cy="926756"/>
              </a:xfrm>
            </p:grpSpPr>
            <p:pic>
              <p:nvPicPr>
                <p:cNvPr id="514" name="Google Shape;514;p9">
                  <a:hlinkClick action="ppaction://hlinkshowjump?jump=lastslide"/>
                </p:cNvPr>
                <p:cNvPicPr preferRelativeResize="0"/>
                <p:nvPr/>
              </p:nvPicPr>
              <p:blipFill rotWithShape="1">
                <a:blip r:embed="rId5">
                  <a:alphaModFix/>
                </a:blip>
                <a:srcRect b="0" l="0" r="0" t="0"/>
                <a:stretch/>
              </p:blipFill>
              <p:spPr>
                <a:xfrm>
                  <a:off x="5435851" y="159185"/>
                  <a:ext cx="971253" cy="926756"/>
                </a:xfrm>
                <a:prstGeom prst="rect">
                  <a:avLst/>
                </a:prstGeom>
                <a:noFill/>
                <a:ln cap="flat" cmpd="sng" w="9525">
                  <a:solidFill>
                    <a:schemeClr val="dk1"/>
                  </a:solidFill>
                  <a:prstDash val="solid"/>
                  <a:round/>
                  <a:headEnd len="sm" w="sm" type="none"/>
                  <a:tailEnd len="sm" w="sm" type="none"/>
                </a:ln>
              </p:spPr>
            </p:pic>
            <p:sp>
              <p:nvSpPr>
                <p:cNvPr id="515" name="Google Shape;515;p9"/>
                <p:cNvSpPr txBox="1"/>
                <p:nvPr/>
              </p:nvSpPr>
              <p:spPr>
                <a:xfrm>
                  <a:off x="2989434" y="223816"/>
                  <a:ext cx="2507974" cy="70788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2060"/>
                    </a:buClr>
                    <a:buSzPts val="1400"/>
                    <a:buFont typeface="Calibri"/>
                    <a:buNone/>
                  </a:pPr>
                  <a:r>
                    <a:rPr b="1" i="0" lang="en-US" sz="1400" u="none" cap="none" strike="noStrike">
                      <a:solidFill>
                        <a:srgbClr val="002060"/>
                      </a:solidFill>
                      <a:latin typeface="Calibri"/>
                      <a:ea typeface="Calibri"/>
                      <a:cs typeface="Calibri"/>
                      <a:sym typeface="Calibri"/>
                    </a:rPr>
                    <a:t>Tina Dizon, ACS, PCS, FLMI, FALU</a:t>
                  </a:r>
                  <a:endParaRPr/>
                </a:p>
                <a:p>
                  <a:pPr indent="0" lvl="0" marL="0" marR="0" rtl="0" algn="r">
                    <a:lnSpc>
                      <a:spcPct val="100000"/>
                    </a:lnSpc>
                    <a:spcBef>
                      <a:spcPts val="0"/>
                    </a:spcBef>
                    <a:spcAft>
                      <a:spcPts val="0"/>
                    </a:spcAft>
                    <a:buClr>
                      <a:srgbClr val="0070C0"/>
                    </a:buClr>
                    <a:buSzPts val="1400"/>
                    <a:buFont typeface="Calibri"/>
                    <a:buNone/>
                  </a:pPr>
                  <a:r>
                    <a:rPr b="1" i="0" lang="en-US" sz="1400" u="none" cap="none" strike="noStrike">
                      <a:solidFill>
                        <a:srgbClr val="0070C0"/>
                      </a:solidFill>
                      <a:latin typeface="Calibri"/>
                      <a:ea typeface="Calibri"/>
                      <a:cs typeface="Calibri"/>
                      <a:sym typeface="Calibri"/>
                    </a:rPr>
                    <a:t>Head, NB &amp; UW</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Date of Entry: April 1995</a:t>
                  </a:r>
                  <a:endParaRPr b="0" i="0" sz="1200" u="none" cap="none" strike="noStrike">
                    <a:solidFill>
                      <a:srgbClr val="0070C0"/>
                    </a:solidFill>
                    <a:latin typeface="Calibri"/>
                    <a:ea typeface="Calibri"/>
                    <a:cs typeface="Calibri"/>
                    <a:sym typeface="Calibri"/>
                  </a:endParaRPr>
                </a:p>
              </p:txBody>
            </p:sp>
            <p:cxnSp>
              <p:nvCxnSpPr>
                <p:cNvPr id="516" name="Google Shape;516;p9"/>
                <p:cNvCxnSpPr/>
                <p:nvPr/>
              </p:nvCxnSpPr>
              <p:spPr>
                <a:xfrm>
                  <a:off x="3057086" y="964769"/>
                  <a:ext cx="2378765" cy="0"/>
                </a:xfrm>
                <a:prstGeom prst="straightConnector1">
                  <a:avLst/>
                </a:prstGeom>
                <a:noFill/>
                <a:ln cap="flat" cmpd="sng" w="9525">
                  <a:solidFill>
                    <a:schemeClr val="accent5"/>
                  </a:solidFill>
                  <a:prstDash val="solid"/>
                  <a:miter lim="800000"/>
                  <a:headEnd len="sm" w="sm" type="none"/>
                  <a:tailEnd len="sm" w="sm" type="none"/>
                </a:ln>
              </p:spPr>
            </p:cxnSp>
          </p:grpSp>
          <p:grpSp>
            <p:nvGrpSpPr>
              <p:cNvPr id="517" name="Google Shape;517;p9"/>
              <p:cNvGrpSpPr/>
              <p:nvPr/>
            </p:nvGrpSpPr>
            <p:grpSpPr>
              <a:xfrm>
                <a:off x="5318504" y="1324184"/>
                <a:ext cx="4059060" cy="1213076"/>
                <a:chOff x="5318504" y="1402656"/>
                <a:chExt cx="4059060" cy="1213076"/>
              </a:xfrm>
            </p:grpSpPr>
            <p:sp>
              <p:nvSpPr>
                <p:cNvPr id="518" name="Google Shape;518;p9"/>
                <p:cNvSpPr/>
                <p:nvPr/>
              </p:nvSpPr>
              <p:spPr>
                <a:xfrm>
                  <a:off x="5318504" y="1402656"/>
                  <a:ext cx="4059060" cy="1213076"/>
                </a:xfrm>
                <a:prstGeom prst="rect">
                  <a:avLst/>
                </a:prstGeom>
                <a:solidFill>
                  <a:srgbClr val="80000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19" name="Google Shape;519;p9"/>
                <p:cNvCxnSpPr/>
                <p:nvPr/>
              </p:nvCxnSpPr>
              <p:spPr>
                <a:xfrm>
                  <a:off x="6413626" y="2475781"/>
                  <a:ext cx="2378765" cy="0"/>
                </a:xfrm>
                <a:prstGeom prst="straightConnector1">
                  <a:avLst/>
                </a:prstGeom>
                <a:noFill/>
                <a:ln cap="flat" cmpd="sng" w="9525">
                  <a:solidFill>
                    <a:srgbClr val="800000"/>
                  </a:solidFill>
                  <a:prstDash val="solid"/>
                  <a:miter lim="800000"/>
                  <a:headEnd len="sm" w="sm" type="none"/>
                  <a:tailEnd len="sm" w="sm" type="none"/>
                </a:ln>
              </p:spPr>
            </p:cxnSp>
          </p:grpSp>
          <p:pic>
            <p:nvPicPr>
              <p:cNvPr id="520" name="Google Shape;520;p9"/>
              <p:cNvPicPr preferRelativeResize="0"/>
              <p:nvPr/>
            </p:nvPicPr>
            <p:blipFill rotWithShape="1">
              <a:blip r:embed="rId6">
                <a:alphaModFix/>
              </a:blip>
              <a:srcRect b="0" l="0" r="0" t="0"/>
              <a:stretch/>
            </p:blipFill>
            <p:spPr>
              <a:xfrm>
                <a:off x="5498496" y="1410907"/>
                <a:ext cx="914400" cy="1016432"/>
              </a:xfrm>
              <a:prstGeom prst="rect">
                <a:avLst/>
              </a:prstGeom>
              <a:solidFill>
                <a:srgbClr val="FFFF99"/>
              </a:solidFill>
              <a:ln cap="flat" cmpd="sng" w="9525">
                <a:solidFill>
                  <a:schemeClr val="dk1"/>
                </a:solidFill>
                <a:prstDash val="solid"/>
                <a:round/>
                <a:headEnd len="sm" w="sm" type="none"/>
                <a:tailEnd len="sm" w="sm" type="none"/>
              </a:ln>
            </p:spPr>
          </p:pic>
          <p:sp>
            <p:nvSpPr>
              <p:cNvPr id="521" name="Google Shape;521;p9"/>
              <p:cNvSpPr txBox="1"/>
              <p:nvPr/>
            </p:nvSpPr>
            <p:spPr>
              <a:xfrm>
                <a:off x="6486045" y="1401383"/>
                <a:ext cx="2891518"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Vilma Tubig, PCS, FLMI </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3</a:t>
                </a:r>
                <a:endParaRPr/>
              </a:p>
              <a:p>
                <a:pPr indent="0" lvl="0" marL="0" marR="0" rtl="0" algn="l">
                  <a:lnSpc>
                    <a:spcPct val="100000"/>
                  </a:lnSpc>
                  <a:spcBef>
                    <a:spcPts val="0"/>
                  </a:spcBef>
                  <a:spcAft>
                    <a:spcPts val="0"/>
                  </a:spcAft>
                  <a:buClr>
                    <a:srgbClr val="C55A11"/>
                  </a:buClr>
                  <a:buSzPts val="1400"/>
                  <a:buFont typeface="Calibri"/>
                  <a:buNone/>
                </a:pPr>
                <a:r>
                  <a:rPr b="1" i="0" lang="en-US" sz="1400" u="none" cap="none" strike="noStrike">
                    <a:solidFill>
                      <a:srgbClr val="C55A11"/>
                    </a:solidFill>
                    <a:latin typeface="Calibri"/>
                    <a:ea typeface="Calibri"/>
                    <a:cs typeface="Calibri"/>
                    <a:sym typeface="Calibri"/>
                  </a:rPr>
                  <a:t>NB Review, Facilitating and Post-Issue</a:t>
                </a:r>
                <a:endParaRPr/>
              </a:p>
              <a:p>
                <a:pPr indent="0" lvl="0" marL="0" marR="0" rtl="0" algn="l">
                  <a:lnSpc>
                    <a:spcPct val="100000"/>
                  </a:lnSpc>
                  <a:spcBef>
                    <a:spcPts val="0"/>
                  </a:spcBef>
                  <a:spcAft>
                    <a:spcPts val="0"/>
                  </a:spcAft>
                  <a:buClr>
                    <a:srgbClr val="C55A11"/>
                  </a:buClr>
                  <a:buSzPts val="1200"/>
                  <a:buFont typeface="Calibri"/>
                  <a:buNone/>
                </a:pPr>
                <a:r>
                  <a:rPr b="0" i="0" lang="en-US" sz="1200" u="none" cap="none" strike="noStrike">
                    <a:solidFill>
                      <a:srgbClr val="C55A11"/>
                    </a:solidFill>
                    <a:latin typeface="Calibri"/>
                    <a:ea typeface="Calibri"/>
                    <a:cs typeface="Calibri"/>
                    <a:sym typeface="Calibri"/>
                  </a:rPr>
                  <a:t>Date of Entry: Nov 1999</a:t>
                </a:r>
                <a:endParaRPr b="0" i="0" sz="1200" u="none" cap="none" strike="noStrike">
                  <a:solidFill>
                    <a:srgbClr val="C55A11"/>
                  </a:solidFill>
                  <a:latin typeface="Calibri"/>
                  <a:ea typeface="Calibri"/>
                  <a:cs typeface="Calibri"/>
                  <a:sym typeface="Calibri"/>
                </a:endParaRPr>
              </a:p>
            </p:txBody>
          </p:sp>
        </p:grpSp>
        <p:cxnSp>
          <p:nvCxnSpPr>
            <p:cNvPr id="522" name="Google Shape;522;p9"/>
            <p:cNvCxnSpPr/>
            <p:nvPr/>
          </p:nvCxnSpPr>
          <p:spPr>
            <a:xfrm>
              <a:off x="4805114" y="2626302"/>
              <a:ext cx="0" cy="417305"/>
            </a:xfrm>
            <a:prstGeom prst="straightConnector1">
              <a:avLst/>
            </a:prstGeom>
            <a:noFill/>
            <a:ln cap="flat" cmpd="sng" w="9525">
              <a:solidFill>
                <a:schemeClr val="dk1"/>
              </a:solidFill>
              <a:prstDash val="solid"/>
              <a:miter lim="800000"/>
              <a:headEnd len="sm" w="sm" type="none"/>
              <a:tailEnd len="sm" w="sm" type="none"/>
            </a:ln>
          </p:spPr>
        </p:cxnSp>
        <p:sp>
          <p:nvSpPr>
            <p:cNvPr id="523" name="Google Shape;523;p9"/>
            <p:cNvSpPr/>
            <p:nvPr/>
          </p:nvSpPr>
          <p:spPr>
            <a:xfrm>
              <a:off x="3728745" y="2814624"/>
              <a:ext cx="1523349" cy="2634643"/>
            </a:xfrm>
            <a:prstGeom prst="rect">
              <a:avLst/>
            </a:prstGeom>
            <a:solidFill>
              <a:srgbClr val="7030A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4" name="Google Shape;524;p9"/>
            <p:cNvSpPr txBox="1"/>
            <p:nvPr/>
          </p:nvSpPr>
          <p:spPr>
            <a:xfrm>
              <a:off x="3633310" y="3971939"/>
              <a:ext cx="1528392" cy="150810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Beverly Esparas, ACS, Supervisor</a:t>
              </a:r>
              <a:endParaRPr/>
            </a:p>
            <a:p>
              <a:pPr indent="0" lvl="0" marL="0" marR="0" rtl="0" algn="r">
                <a:lnSpc>
                  <a:spcPct val="100000"/>
                </a:lnSpc>
                <a:spcBef>
                  <a:spcPts val="0"/>
                </a:spcBef>
                <a:spcAft>
                  <a:spcPts val="0"/>
                </a:spcAft>
                <a:buClr>
                  <a:srgbClr val="7030A0"/>
                </a:buClr>
                <a:buSzPts val="1400"/>
                <a:buFont typeface="Calibri"/>
                <a:buNone/>
              </a:pPr>
              <a:r>
                <a:rPr b="1" i="0" lang="en-US" sz="1400" u="none" cap="none" strike="noStrike">
                  <a:solidFill>
                    <a:srgbClr val="7030A0"/>
                  </a:solidFill>
                  <a:latin typeface="Calibri"/>
                  <a:ea typeface="Calibri"/>
                  <a:cs typeface="Calibri"/>
                  <a:sym typeface="Calibri"/>
                </a:rPr>
                <a:t>Team 3 - </a:t>
              </a:r>
              <a:r>
                <a:rPr b="1" i="0" lang="en-US" sz="1200" u="none" cap="none" strike="noStrike">
                  <a:solidFill>
                    <a:srgbClr val="7030A0"/>
                  </a:solidFill>
                  <a:latin typeface="Calibri"/>
                  <a:ea typeface="Calibri"/>
                  <a:cs typeface="Calibri"/>
                  <a:sym typeface="Calibri"/>
                </a:rPr>
                <a:t>SLOCPI </a:t>
              </a:r>
              <a:endParaRPr/>
            </a:p>
            <a:p>
              <a:pPr indent="0" lvl="0" marL="0" marR="0" rtl="0" algn="r">
                <a:lnSpc>
                  <a:spcPct val="100000"/>
                </a:lnSpc>
                <a:spcBef>
                  <a:spcPts val="0"/>
                </a:spcBef>
                <a:spcAft>
                  <a:spcPts val="0"/>
                </a:spcAft>
                <a:buClr>
                  <a:srgbClr val="7030A0"/>
                </a:buClr>
                <a:buSzPts val="1200"/>
                <a:buFont typeface="Calibri"/>
                <a:buNone/>
              </a:pPr>
              <a:r>
                <a:rPr b="1" i="0" lang="en-US" sz="1200" u="none" cap="none" strike="noStrike">
                  <a:solidFill>
                    <a:srgbClr val="7030A0"/>
                  </a:solidFill>
                  <a:latin typeface="Calibri"/>
                  <a:ea typeface="Calibri"/>
                  <a:cs typeface="Calibri"/>
                  <a:sym typeface="Calibri"/>
                </a:rPr>
                <a:t>SIO, Sun Fit &amp; Well &amp; Regular App</a:t>
              </a:r>
              <a:r>
                <a:rPr b="1" i="0" lang="en-US" sz="1400" u="none" cap="none" strike="noStrike">
                  <a:solidFill>
                    <a:srgbClr val="7030A0"/>
                  </a:solidFill>
                  <a:latin typeface="Calibri"/>
                  <a:ea typeface="Calibri"/>
                  <a:cs typeface="Calibri"/>
                  <a:sym typeface="Calibri"/>
                </a:rPr>
                <a:t> </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Mar 2003</a:t>
              </a:r>
              <a:endParaRPr/>
            </a:p>
          </p:txBody>
        </p:sp>
        <p:sp>
          <p:nvSpPr>
            <p:cNvPr id="525" name="Google Shape;525;p9"/>
            <p:cNvSpPr/>
            <p:nvPr/>
          </p:nvSpPr>
          <p:spPr>
            <a:xfrm>
              <a:off x="5317236" y="2805588"/>
              <a:ext cx="1523349" cy="2643679"/>
            </a:xfrm>
            <a:prstGeom prst="rect">
              <a:avLst/>
            </a:prstGeom>
            <a:solidFill>
              <a:srgbClr val="FF9933">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6" name="Google Shape;526;p9"/>
            <p:cNvSpPr txBox="1"/>
            <p:nvPr/>
          </p:nvSpPr>
          <p:spPr>
            <a:xfrm>
              <a:off x="5317236" y="3962903"/>
              <a:ext cx="1528392" cy="184665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Crizalyn Rutaquio, Supervisor</a:t>
              </a:r>
              <a:endParaRPr/>
            </a:p>
            <a:p>
              <a:pPr indent="0" lvl="0" marL="0" marR="0" rtl="0" algn="r">
                <a:lnSpc>
                  <a:spcPct val="100000"/>
                </a:lnSpc>
                <a:spcBef>
                  <a:spcPts val="0"/>
                </a:spcBef>
                <a:spcAft>
                  <a:spcPts val="0"/>
                </a:spcAft>
                <a:buClr>
                  <a:srgbClr val="ED7D31"/>
                </a:buClr>
                <a:buSzPts val="1400"/>
                <a:buFont typeface="Calibri"/>
                <a:buNone/>
              </a:pPr>
              <a:r>
                <a:rPr b="1" i="0" lang="en-US" sz="1400" u="none" cap="none" strike="noStrike">
                  <a:solidFill>
                    <a:srgbClr val="ED7D31"/>
                  </a:solidFill>
                  <a:latin typeface="Calibri"/>
                  <a:ea typeface="Calibri"/>
                  <a:cs typeface="Calibri"/>
                  <a:sym typeface="Calibri"/>
                </a:rPr>
                <a:t>Team 4 - </a:t>
              </a:r>
              <a:r>
                <a:rPr b="1" i="0" lang="en-US" sz="1200" u="none" cap="none" strike="noStrike">
                  <a:solidFill>
                    <a:srgbClr val="ED7D31"/>
                  </a:solidFill>
                  <a:latin typeface="Calibri"/>
                  <a:ea typeface="Calibri"/>
                  <a:cs typeface="Calibri"/>
                  <a:sym typeface="Calibri"/>
                </a:rPr>
                <a:t>SLOCPI </a:t>
              </a:r>
              <a:endParaRPr b="1" i="0" sz="1200" u="none" cap="none" strike="noStrike">
                <a:solidFill>
                  <a:srgbClr val="ED7D31"/>
                </a:solidFill>
                <a:latin typeface="Calibri"/>
                <a:ea typeface="Calibri"/>
                <a:cs typeface="Calibri"/>
                <a:sym typeface="Calibri"/>
              </a:endParaRPr>
            </a:p>
            <a:p>
              <a:pPr indent="0" lvl="0" marL="0" marR="0" rtl="0" algn="r">
                <a:lnSpc>
                  <a:spcPct val="100000"/>
                </a:lnSpc>
                <a:spcBef>
                  <a:spcPts val="0"/>
                </a:spcBef>
                <a:spcAft>
                  <a:spcPts val="0"/>
                </a:spcAft>
                <a:buClr>
                  <a:srgbClr val="ED7D31"/>
                </a:buClr>
                <a:buSzPts val="1200"/>
                <a:buFont typeface="Calibri"/>
                <a:buNone/>
              </a:pPr>
              <a:r>
                <a:rPr b="1" i="0" lang="en-US" sz="1200" u="none" cap="none" strike="noStrike">
                  <a:solidFill>
                    <a:srgbClr val="ED7D31"/>
                  </a:solidFill>
                  <a:latin typeface="Calibri"/>
                  <a:ea typeface="Calibri"/>
                  <a:cs typeface="Calibri"/>
                  <a:sym typeface="Calibri"/>
                </a:rPr>
                <a:t>Corp Account &amp; Regular App</a:t>
              </a:r>
              <a:endParaRPr b="1" i="0" sz="1400" u="none" cap="none" strike="noStrike">
                <a:solidFill>
                  <a:srgbClr val="ED7D31"/>
                </a:solidFill>
                <a:latin typeface="Calibri"/>
                <a:ea typeface="Calibri"/>
                <a:cs typeface="Calibri"/>
                <a:sym typeface="Calibri"/>
              </a:endParaRPr>
            </a:p>
            <a:p>
              <a:pPr indent="0" lvl="0" marL="0" marR="0" rtl="0" algn="r">
                <a:lnSpc>
                  <a:spcPct val="100000"/>
                </a:lnSpc>
                <a:spcBef>
                  <a:spcPts val="0"/>
                </a:spcBef>
                <a:spcAft>
                  <a:spcPts val="0"/>
                </a:spcAft>
                <a:buClr>
                  <a:srgbClr val="ED7D31"/>
                </a:buClr>
                <a:buSzPts val="1200"/>
                <a:buFont typeface="Calibri"/>
                <a:buNone/>
              </a:pPr>
              <a:r>
                <a:rPr b="0" i="0" lang="en-US" sz="1200" u="none" cap="none" strike="noStrike">
                  <a:solidFill>
                    <a:srgbClr val="ED7D31"/>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ED7D31"/>
                </a:buClr>
                <a:buSzPts val="1200"/>
                <a:buFont typeface="Calibri"/>
                <a:buNone/>
              </a:pPr>
              <a:r>
                <a:rPr b="0" i="0" lang="en-US" sz="1200" u="none" cap="none" strike="noStrike">
                  <a:solidFill>
                    <a:srgbClr val="ED7D31"/>
                  </a:solidFill>
                  <a:latin typeface="Calibri"/>
                  <a:ea typeface="Calibri"/>
                  <a:cs typeface="Calibri"/>
                  <a:sym typeface="Calibri"/>
                </a:rPr>
                <a:t>Oct 2013</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ED7D31"/>
                </a:solidFill>
                <a:latin typeface="Calibri"/>
                <a:ea typeface="Calibri"/>
                <a:cs typeface="Calibri"/>
                <a:sym typeface="Calibri"/>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ED7D31"/>
                </a:solidFill>
                <a:latin typeface="Calibri"/>
                <a:ea typeface="Calibri"/>
                <a:cs typeface="Calibri"/>
                <a:sym typeface="Calibri"/>
              </a:endParaRPr>
            </a:p>
          </p:txBody>
        </p:sp>
        <p:sp>
          <p:nvSpPr>
            <p:cNvPr id="527" name="Google Shape;527;p9"/>
            <p:cNvSpPr/>
            <p:nvPr/>
          </p:nvSpPr>
          <p:spPr>
            <a:xfrm>
              <a:off x="6936020" y="2810458"/>
              <a:ext cx="1523349" cy="2638809"/>
            </a:xfrm>
            <a:prstGeom prst="rect">
              <a:avLst/>
            </a:prstGeom>
            <a:solidFill>
              <a:srgbClr val="00206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28" name="Google Shape;528;p9"/>
            <p:cNvCxnSpPr/>
            <p:nvPr/>
          </p:nvCxnSpPr>
          <p:spPr>
            <a:xfrm>
              <a:off x="7788360" y="2611962"/>
              <a:ext cx="0" cy="417305"/>
            </a:xfrm>
            <a:prstGeom prst="straightConnector1">
              <a:avLst/>
            </a:prstGeom>
            <a:noFill/>
            <a:ln cap="flat" cmpd="sng" w="9525">
              <a:solidFill>
                <a:schemeClr val="dk1"/>
              </a:solidFill>
              <a:prstDash val="solid"/>
              <a:miter lim="800000"/>
              <a:headEnd len="sm" w="sm" type="none"/>
              <a:tailEnd len="sm" w="sm" type="none"/>
            </a:ln>
          </p:spPr>
        </p:cxnSp>
        <p:sp>
          <p:nvSpPr>
            <p:cNvPr id="529" name="Google Shape;529;p9"/>
            <p:cNvSpPr txBox="1"/>
            <p:nvPr/>
          </p:nvSpPr>
          <p:spPr>
            <a:xfrm>
              <a:off x="6936020" y="3967773"/>
              <a:ext cx="1528392" cy="166199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Noel Santos, Manager 1</a:t>
              </a:r>
              <a:endParaRPr/>
            </a:p>
            <a:p>
              <a:pPr indent="0" lvl="0" marL="0" marR="0" rtl="0" algn="r">
                <a:lnSpc>
                  <a:spcPct val="100000"/>
                </a:lnSpc>
                <a:spcBef>
                  <a:spcPts val="0"/>
                </a:spcBef>
                <a:spcAft>
                  <a:spcPts val="0"/>
                </a:spcAft>
                <a:buClr>
                  <a:srgbClr val="002060"/>
                </a:buClr>
                <a:buSzPts val="1400"/>
                <a:buFont typeface="Calibri"/>
                <a:buNone/>
              </a:pPr>
              <a:r>
                <a:rPr b="1" i="0" lang="en-US" sz="1400" u="none" cap="none" strike="noStrike">
                  <a:solidFill>
                    <a:srgbClr val="002060"/>
                  </a:solidFill>
                  <a:latin typeface="Calibri"/>
                  <a:ea typeface="Calibri"/>
                  <a:cs typeface="Calibri"/>
                  <a:sym typeface="Calibri"/>
                </a:rPr>
                <a:t>Team 5 - </a:t>
              </a:r>
              <a:r>
                <a:rPr b="1" i="0" lang="en-US" sz="1200" u="none" cap="none" strike="noStrike">
                  <a:solidFill>
                    <a:srgbClr val="002060"/>
                  </a:solidFill>
                  <a:latin typeface="Calibri"/>
                  <a:ea typeface="Calibri"/>
                  <a:cs typeface="Calibri"/>
                  <a:sym typeface="Calibri"/>
                </a:rPr>
                <a:t>SLGFI &amp; Policy Issuance</a:t>
              </a:r>
              <a:endParaRPr/>
            </a:p>
            <a:p>
              <a:pPr indent="0" lvl="0" marL="0" marR="0" rtl="0" algn="r">
                <a:lnSpc>
                  <a:spcPct val="100000"/>
                </a:lnSpc>
                <a:spcBef>
                  <a:spcPts val="0"/>
                </a:spcBef>
                <a:spcAft>
                  <a:spcPts val="0"/>
                </a:spcAft>
                <a:buClr>
                  <a:srgbClr val="002060"/>
                </a:buClr>
                <a:buSzPts val="1200"/>
                <a:buFont typeface="Calibri"/>
                <a:buNone/>
              </a:pPr>
              <a:r>
                <a:rPr b="1" i="0" lang="en-US" sz="1200" u="none" cap="none" strike="noStrike">
                  <a:solidFill>
                    <a:srgbClr val="002060"/>
                  </a:solidFill>
                  <a:latin typeface="Calibri"/>
                  <a:ea typeface="Calibri"/>
                  <a:cs typeface="Calibri"/>
                  <a:sym typeface="Calibri"/>
                </a:rPr>
                <a:t>(SLGFI &amp; SLOCPI)</a:t>
              </a:r>
              <a:endParaRPr/>
            </a:p>
            <a:p>
              <a:pPr indent="0" lvl="0" marL="0" marR="0" rtl="0" algn="r">
                <a:lnSpc>
                  <a:spcPct val="100000"/>
                </a:lnSpc>
                <a:spcBef>
                  <a:spcPts val="0"/>
                </a:spcBef>
                <a:spcAft>
                  <a:spcPts val="0"/>
                </a:spcAft>
                <a:buClr>
                  <a:srgbClr val="002060"/>
                </a:buClr>
                <a:buSzPts val="1200"/>
                <a:buFont typeface="Calibri"/>
                <a:buNone/>
              </a:pPr>
              <a:r>
                <a:rPr b="0" i="0" lang="en-US" sz="1200" u="none" cap="none" strike="noStrike">
                  <a:solidFill>
                    <a:srgbClr val="00206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002060"/>
                </a:buClr>
                <a:buSzPts val="1200"/>
                <a:buFont typeface="Calibri"/>
                <a:buNone/>
              </a:pPr>
              <a:r>
                <a:rPr b="0" i="0" lang="en-US" sz="1200" u="none" cap="none" strike="noStrike">
                  <a:solidFill>
                    <a:srgbClr val="002060"/>
                  </a:solidFill>
                  <a:latin typeface="Calibri"/>
                  <a:ea typeface="Calibri"/>
                  <a:cs typeface="Calibri"/>
                  <a:sym typeface="Calibri"/>
                </a:rPr>
                <a:t>Jun 1996</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sp>
          <p:nvSpPr>
            <p:cNvPr id="530" name="Google Shape;530;p9"/>
            <p:cNvSpPr/>
            <p:nvPr/>
          </p:nvSpPr>
          <p:spPr>
            <a:xfrm>
              <a:off x="8583019" y="2790445"/>
              <a:ext cx="1523349" cy="2634643"/>
            </a:xfrm>
            <a:prstGeom prst="rect">
              <a:avLst/>
            </a:prstGeom>
            <a:solidFill>
              <a:srgbClr val="FF000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31" name="Google Shape;531;p9"/>
            <p:cNvCxnSpPr/>
            <p:nvPr/>
          </p:nvCxnSpPr>
          <p:spPr>
            <a:xfrm>
              <a:off x="9435359" y="2591949"/>
              <a:ext cx="0" cy="417305"/>
            </a:xfrm>
            <a:prstGeom prst="straightConnector1">
              <a:avLst/>
            </a:prstGeom>
            <a:noFill/>
            <a:ln cap="flat" cmpd="sng" w="9525">
              <a:solidFill>
                <a:schemeClr val="dk1"/>
              </a:solidFill>
              <a:prstDash val="solid"/>
              <a:miter lim="800000"/>
              <a:headEnd len="sm" w="sm" type="none"/>
              <a:tailEnd len="sm" w="sm" type="none"/>
            </a:ln>
          </p:spPr>
        </p:cxnSp>
        <p:sp>
          <p:nvSpPr>
            <p:cNvPr id="532" name="Google Shape;532;p9"/>
            <p:cNvSpPr txBox="1"/>
            <p:nvPr/>
          </p:nvSpPr>
          <p:spPr>
            <a:xfrm>
              <a:off x="8583019" y="3947760"/>
              <a:ext cx="1528392" cy="147732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Sheila Pascual,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ACS, Manager 1</a:t>
              </a:r>
              <a:endParaRPr/>
            </a:p>
            <a:p>
              <a:pPr indent="0" lvl="0" marL="0" marR="0" rtl="0" algn="r">
                <a:lnSpc>
                  <a:spcPct val="100000"/>
                </a:lnSpc>
                <a:spcBef>
                  <a:spcPts val="0"/>
                </a:spcBef>
                <a:spcAft>
                  <a:spcPts val="0"/>
                </a:spcAft>
                <a:buClr>
                  <a:srgbClr val="FF0000"/>
                </a:buClr>
                <a:buSzPts val="1400"/>
                <a:buFont typeface="Calibri"/>
                <a:buNone/>
              </a:pPr>
              <a:r>
                <a:rPr b="1" i="0" lang="en-US" sz="1400" u="none" cap="none" strike="noStrike">
                  <a:solidFill>
                    <a:srgbClr val="FF0000"/>
                  </a:solidFill>
                  <a:latin typeface="Calibri"/>
                  <a:ea typeface="Calibri"/>
                  <a:cs typeface="Calibri"/>
                  <a:sym typeface="Calibri"/>
                </a:rPr>
                <a:t>Team 6 - </a:t>
              </a:r>
              <a:r>
                <a:rPr b="1" i="0" lang="en-US" sz="1200" u="none" cap="none" strike="noStrike">
                  <a:solidFill>
                    <a:srgbClr val="FF0000"/>
                  </a:solidFill>
                  <a:latin typeface="Calibri"/>
                  <a:ea typeface="Calibri"/>
                  <a:cs typeface="Calibri"/>
                  <a:sym typeface="Calibri"/>
                </a:rPr>
                <a:t>Facilitating   SLOCPI/SLGFI </a:t>
              </a:r>
              <a:endParaRPr b="1" i="0" sz="1400" u="none" cap="none" strike="noStrike">
                <a:solidFill>
                  <a:srgbClr val="FF0000"/>
                </a:solidFill>
                <a:latin typeface="Calibri"/>
                <a:ea typeface="Calibri"/>
                <a:cs typeface="Calibri"/>
                <a:sym typeface="Calibri"/>
              </a:endParaRPr>
            </a:p>
            <a:p>
              <a:pPr indent="0" lvl="0" marL="0" marR="0" rtl="0" algn="r">
                <a:lnSpc>
                  <a:spcPct val="100000"/>
                </a:lnSpc>
                <a:spcBef>
                  <a:spcPts val="0"/>
                </a:spcBef>
                <a:spcAft>
                  <a:spcPts val="0"/>
                </a:spcAft>
                <a:buClr>
                  <a:srgbClr val="FF0000"/>
                </a:buClr>
                <a:buSzPts val="1200"/>
                <a:buFont typeface="Calibri"/>
                <a:buNone/>
              </a:pPr>
              <a:r>
                <a:rPr b="0" i="0" lang="en-US" sz="1200" u="none" cap="none" strike="noStrike">
                  <a:solidFill>
                    <a:srgbClr val="FF000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FF0000"/>
                </a:buClr>
                <a:buSzPts val="1200"/>
                <a:buFont typeface="Calibri"/>
                <a:buNone/>
              </a:pPr>
              <a:r>
                <a:rPr b="0" i="0" lang="en-US" sz="1200" u="none" cap="none" strike="noStrike">
                  <a:solidFill>
                    <a:srgbClr val="FF0000"/>
                  </a:solidFill>
                  <a:latin typeface="Calibri"/>
                  <a:ea typeface="Calibri"/>
                  <a:cs typeface="Calibri"/>
                  <a:sym typeface="Calibri"/>
                </a:rPr>
                <a:t>Feb 2002</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sp>
          <p:nvSpPr>
            <p:cNvPr id="533" name="Google Shape;533;p9"/>
            <p:cNvSpPr/>
            <p:nvPr/>
          </p:nvSpPr>
          <p:spPr>
            <a:xfrm>
              <a:off x="443799" y="2814624"/>
              <a:ext cx="1523349" cy="2610464"/>
            </a:xfrm>
            <a:prstGeom prst="rect">
              <a:avLst/>
            </a:prstGeom>
            <a:solidFill>
              <a:schemeClr val="accent6">
                <a:alpha val="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34" name="Google Shape;534;p9"/>
            <p:cNvCxnSpPr/>
            <p:nvPr/>
          </p:nvCxnSpPr>
          <p:spPr>
            <a:xfrm>
              <a:off x="1296139" y="2616128"/>
              <a:ext cx="0" cy="417305"/>
            </a:xfrm>
            <a:prstGeom prst="straightConnector1">
              <a:avLst/>
            </a:prstGeom>
            <a:noFill/>
            <a:ln cap="flat" cmpd="sng" w="9525">
              <a:solidFill>
                <a:schemeClr val="dk1"/>
              </a:solidFill>
              <a:prstDash val="solid"/>
              <a:miter lim="800000"/>
              <a:headEnd len="sm" w="sm" type="none"/>
              <a:tailEnd len="sm" w="sm" type="none"/>
            </a:ln>
          </p:spPr>
        </p:cxnSp>
        <p:sp>
          <p:nvSpPr>
            <p:cNvPr id="535" name="Google Shape;535;p9"/>
            <p:cNvSpPr txBox="1"/>
            <p:nvPr/>
          </p:nvSpPr>
          <p:spPr>
            <a:xfrm>
              <a:off x="443799" y="3971939"/>
              <a:ext cx="1528392" cy="147732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Novita Fernandez, ACS, Manager 1</a:t>
              </a:r>
              <a:endParaRPr/>
            </a:p>
            <a:p>
              <a:pPr indent="0" lvl="0" marL="0" marR="0" rtl="0" algn="r">
                <a:lnSpc>
                  <a:spcPct val="100000"/>
                </a:lnSpc>
                <a:spcBef>
                  <a:spcPts val="0"/>
                </a:spcBef>
                <a:spcAft>
                  <a:spcPts val="0"/>
                </a:spcAft>
                <a:buClr>
                  <a:srgbClr val="385623"/>
                </a:buClr>
                <a:buSzPts val="1400"/>
                <a:buFont typeface="Calibri"/>
                <a:buNone/>
              </a:pPr>
              <a:r>
                <a:rPr b="1" i="0" lang="en-US" sz="1400" u="none" cap="none" strike="noStrike">
                  <a:solidFill>
                    <a:srgbClr val="385623"/>
                  </a:solidFill>
                  <a:latin typeface="Calibri"/>
                  <a:ea typeface="Calibri"/>
                  <a:cs typeface="Calibri"/>
                  <a:sym typeface="Calibri"/>
                </a:rPr>
                <a:t>Team 1 – </a:t>
              </a:r>
              <a:r>
                <a:rPr b="1" i="0" lang="en-US" sz="1200" u="none" cap="none" strike="noStrike">
                  <a:solidFill>
                    <a:srgbClr val="385623"/>
                  </a:solidFill>
                  <a:latin typeface="Calibri"/>
                  <a:ea typeface="Calibri"/>
                  <a:cs typeface="Calibri"/>
                  <a:sym typeface="Calibri"/>
                </a:rPr>
                <a:t>SLOCPI</a:t>
              </a:r>
              <a:endParaRPr b="1" i="0" sz="1200" u="none" cap="none" strike="noStrike">
                <a:solidFill>
                  <a:srgbClr val="385623"/>
                </a:solidFill>
                <a:latin typeface="Calibri"/>
                <a:ea typeface="Calibri"/>
                <a:cs typeface="Calibri"/>
                <a:sym typeface="Calibri"/>
              </a:endParaRPr>
            </a:p>
            <a:p>
              <a:pPr indent="0" lvl="0" marL="0" marR="0" rtl="0" algn="r">
                <a:lnSpc>
                  <a:spcPct val="100000"/>
                </a:lnSpc>
                <a:spcBef>
                  <a:spcPts val="0"/>
                </a:spcBef>
                <a:spcAft>
                  <a:spcPts val="0"/>
                </a:spcAft>
                <a:buClr>
                  <a:srgbClr val="385623"/>
                </a:buClr>
                <a:buSzPts val="1200"/>
                <a:buFont typeface="Calibri"/>
                <a:buNone/>
              </a:pPr>
              <a:r>
                <a:rPr b="1" i="0" lang="en-US" sz="1200" u="none" cap="none" strike="noStrike">
                  <a:solidFill>
                    <a:srgbClr val="385623"/>
                  </a:solidFill>
                  <a:latin typeface="Calibri"/>
                  <a:ea typeface="Calibri"/>
                  <a:cs typeface="Calibri"/>
                  <a:sym typeface="Calibri"/>
                </a:rPr>
                <a:t>E-App &amp; Regular App</a:t>
              </a:r>
              <a:endParaRPr b="1" i="0" sz="1400" u="none" cap="none" strike="noStrike">
                <a:solidFill>
                  <a:srgbClr val="385623"/>
                </a:solidFill>
                <a:latin typeface="Calibri"/>
                <a:ea typeface="Calibri"/>
                <a:cs typeface="Calibri"/>
                <a:sym typeface="Calibri"/>
              </a:endParaRPr>
            </a:p>
            <a:p>
              <a:pPr indent="0" lvl="0" marL="0" marR="0" rtl="0" algn="r">
                <a:lnSpc>
                  <a:spcPct val="100000"/>
                </a:lnSpc>
                <a:spcBef>
                  <a:spcPts val="0"/>
                </a:spcBef>
                <a:spcAft>
                  <a:spcPts val="0"/>
                </a:spcAft>
                <a:buClr>
                  <a:srgbClr val="385623"/>
                </a:buClr>
                <a:buSzPts val="1200"/>
                <a:buFont typeface="Calibri"/>
                <a:buNone/>
              </a:pPr>
              <a:r>
                <a:rPr b="0" i="0" lang="en-US" sz="1200" u="none" cap="none" strike="noStrike">
                  <a:solidFill>
                    <a:srgbClr val="385623"/>
                  </a:solidFill>
                  <a:latin typeface="Calibri"/>
                  <a:ea typeface="Calibri"/>
                  <a:cs typeface="Calibri"/>
                  <a:sym typeface="Calibri"/>
                </a:rPr>
                <a:t>Date of Entry:</a:t>
              </a:r>
              <a:endParaRPr/>
            </a:p>
            <a:p>
              <a:pPr indent="0" lvl="0" marL="0" marR="0" rtl="0" algn="r">
                <a:lnSpc>
                  <a:spcPct val="100000"/>
                </a:lnSpc>
                <a:spcBef>
                  <a:spcPts val="0"/>
                </a:spcBef>
                <a:spcAft>
                  <a:spcPts val="0"/>
                </a:spcAft>
                <a:buClr>
                  <a:srgbClr val="385623"/>
                </a:buClr>
                <a:buSzPts val="1200"/>
                <a:buFont typeface="Calibri"/>
                <a:buNone/>
              </a:pPr>
              <a:r>
                <a:rPr b="0" i="0" lang="en-US" sz="1200" u="none" cap="none" strike="noStrike">
                  <a:solidFill>
                    <a:srgbClr val="385623"/>
                  </a:solidFill>
                  <a:latin typeface="Calibri"/>
                  <a:ea typeface="Calibri"/>
                  <a:cs typeface="Calibri"/>
                  <a:sym typeface="Calibri"/>
                </a:rPr>
                <a:t>Feb 1997</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sp>
          <p:nvSpPr>
            <p:cNvPr id="536" name="Google Shape;536;p9"/>
            <p:cNvSpPr/>
            <p:nvPr/>
          </p:nvSpPr>
          <p:spPr>
            <a:xfrm>
              <a:off x="10220217" y="2796964"/>
              <a:ext cx="1523349" cy="2628124"/>
            </a:xfrm>
            <a:prstGeom prst="rect">
              <a:avLst/>
            </a:prstGeom>
            <a:solidFill>
              <a:srgbClr val="00B0F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37" name="Google Shape;537;p9"/>
            <p:cNvCxnSpPr/>
            <p:nvPr/>
          </p:nvCxnSpPr>
          <p:spPr>
            <a:xfrm>
              <a:off x="11072557" y="2598468"/>
              <a:ext cx="0" cy="417305"/>
            </a:xfrm>
            <a:prstGeom prst="straightConnector1">
              <a:avLst/>
            </a:prstGeom>
            <a:noFill/>
            <a:ln cap="flat" cmpd="sng" w="9525">
              <a:solidFill>
                <a:schemeClr val="dk1"/>
              </a:solidFill>
              <a:prstDash val="solid"/>
              <a:miter lim="800000"/>
              <a:headEnd len="sm" w="sm" type="none"/>
              <a:tailEnd len="sm" w="sm" type="none"/>
            </a:ln>
          </p:spPr>
        </p:cxnSp>
        <p:pic>
          <p:nvPicPr>
            <p:cNvPr id="538" name="Google Shape;538;p9"/>
            <p:cNvPicPr preferRelativeResize="0"/>
            <p:nvPr/>
          </p:nvPicPr>
          <p:blipFill rotWithShape="1">
            <a:blip r:embed="rId7">
              <a:alphaModFix/>
            </a:blip>
            <a:srcRect b="0" l="0" r="0" t="0"/>
            <a:stretch/>
          </p:blipFill>
          <p:spPr>
            <a:xfrm>
              <a:off x="1091595" y="3009254"/>
              <a:ext cx="761310" cy="914400"/>
            </a:xfrm>
            <a:prstGeom prst="rect">
              <a:avLst/>
            </a:prstGeom>
            <a:solidFill>
              <a:srgbClr val="FFFF99"/>
            </a:solidFill>
            <a:ln>
              <a:noFill/>
            </a:ln>
          </p:spPr>
        </p:pic>
        <p:pic>
          <p:nvPicPr>
            <p:cNvPr id="539" name="Google Shape;539;p9"/>
            <p:cNvPicPr preferRelativeResize="0"/>
            <p:nvPr/>
          </p:nvPicPr>
          <p:blipFill rotWithShape="1">
            <a:blip r:embed="rId8">
              <a:alphaModFix/>
            </a:blip>
            <a:srcRect b="0" l="0" r="0" t="0"/>
            <a:stretch/>
          </p:blipFill>
          <p:spPr>
            <a:xfrm>
              <a:off x="2699402" y="3033433"/>
              <a:ext cx="803793" cy="914400"/>
            </a:xfrm>
            <a:prstGeom prst="rect">
              <a:avLst/>
            </a:prstGeom>
            <a:solidFill>
              <a:srgbClr val="FFFF99"/>
            </a:solidFill>
            <a:ln>
              <a:noFill/>
            </a:ln>
          </p:spPr>
        </p:pic>
        <p:pic>
          <p:nvPicPr>
            <p:cNvPr id="540" name="Google Shape;540;p9"/>
            <p:cNvPicPr preferRelativeResize="0"/>
            <p:nvPr/>
          </p:nvPicPr>
          <p:blipFill rotWithShape="1">
            <a:blip r:embed="rId9">
              <a:alphaModFix/>
            </a:blip>
            <a:srcRect b="38361" l="38551" r="31247" t="14619"/>
            <a:stretch/>
          </p:blipFill>
          <p:spPr>
            <a:xfrm>
              <a:off x="4413537" y="3027723"/>
              <a:ext cx="721107" cy="914400"/>
            </a:xfrm>
            <a:prstGeom prst="rect">
              <a:avLst/>
            </a:prstGeom>
            <a:solidFill>
              <a:srgbClr val="FFFF99"/>
            </a:solidFill>
            <a:ln>
              <a:noFill/>
            </a:ln>
          </p:spPr>
        </p:pic>
        <p:pic>
          <p:nvPicPr>
            <p:cNvPr id="541" name="Google Shape;541;p9"/>
            <p:cNvPicPr preferRelativeResize="0"/>
            <p:nvPr/>
          </p:nvPicPr>
          <p:blipFill rotWithShape="1">
            <a:blip r:embed="rId10">
              <a:alphaModFix/>
            </a:blip>
            <a:srcRect b="45983" l="69958" r="10654" t="30788"/>
            <a:stretch/>
          </p:blipFill>
          <p:spPr>
            <a:xfrm>
              <a:off x="5944204" y="3018687"/>
              <a:ext cx="771264" cy="914400"/>
            </a:xfrm>
            <a:prstGeom prst="rect">
              <a:avLst/>
            </a:prstGeom>
            <a:solidFill>
              <a:srgbClr val="FFFF99"/>
            </a:solidFill>
            <a:ln>
              <a:noFill/>
            </a:ln>
          </p:spPr>
        </p:pic>
        <p:pic>
          <p:nvPicPr>
            <p:cNvPr id="542" name="Google Shape;542;p9"/>
            <p:cNvPicPr preferRelativeResize="0"/>
            <p:nvPr/>
          </p:nvPicPr>
          <p:blipFill rotWithShape="1">
            <a:blip r:embed="rId11">
              <a:alphaModFix/>
            </a:blip>
            <a:srcRect b="0" l="0" r="0" t="0"/>
            <a:stretch/>
          </p:blipFill>
          <p:spPr>
            <a:xfrm>
              <a:off x="10880493" y="3008212"/>
              <a:ext cx="736659" cy="914400"/>
            </a:xfrm>
            <a:prstGeom prst="rect">
              <a:avLst/>
            </a:prstGeom>
            <a:solidFill>
              <a:srgbClr val="FFFF99"/>
            </a:solidFill>
            <a:ln>
              <a:noFill/>
            </a:ln>
          </p:spPr>
        </p:pic>
        <p:pic>
          <p:nvPicPr>
            <p:cNvPr id="543" name="Google Shape;543;p9"/>
            <p:cNvPicPr preferRelativeResize="0"/>
            <p:nvPr/>
          </p:nvPicPr>
          <p:blipFill rotWithShape="1">
            <a:blip r:embed="rId12">
              <a:alphaModFix/>
            </a:blip>
            <a:srcRect b="42607" l="37283" r="40347" t="14912"/>
            <a:stretch/>
          </p:blipFill>
          <p:spPr>
            <a:xfrm>
              <a:off x="7536306" y="3039879"/>
              <a:ext cx="814632" cy="914400"/>
            </a:xfrm>
            <a:prstGeom prst="rect">
              <a:avLst/>
            </a:prstGeom>
            <a:solidFill>
              <a:srgbClr val="FFFF99"/>
            </a:solidFill>
            <a:ln>
              <a:noFill/>
            </a:ln>
          </p:spPr>
        </p:pic>
        <p:pic>
          <p:nvPicPr>
            <p:cNvPr id="544" name="Google Shape;544;p9"/>
            <p:cNvPicPr preferRelativeResize="0"/>
            <p:nvPr/>
          </p:nvPicPr>
          <p:blipFill rotWithShape="1">
            <a:blip r:embed="rId13">
              <a:alphaModFix/>
            </a:blip>
            <a:srcRect b="48817" l="34888" r="40726" t="10838"/>
            <a:stretch/>
          </p:blipFill>
          <p:spPr>
            <a:xfrm>
              <a:off x="9145596" y="3024397"/>
              <a:ext cx="836086" cy="914400"/>
            </a:xfrm>
            <a:prstGeom prst="rect">
              <a:avLst/>
            </a:prstGeom>
            <a:solidFill>
              <a:srgbClr val="FFFF99"/>
            </a:solidFill>
            <a:ln>
              <a:noFill/>
            </a:ln>
          </p:spPr>
        </p:pic>
        <p:sp>
          <p:nvSpPr>
            <p:cNvPr id="545" name="Google Shape;545;p9"/>
            <p:cNvSpPr txBox="1"/>
            <p:nvPr/>
          </p:nvSpPr>
          <p:spPr>
            <a:xfrm>
              <a:off x="2096014" y="3954279"/>
              <a:ext cx="1528392" cy="132343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Jimmy Valdez</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1</a:t>
              </a:r>
              <a:endParaRPr/>
            </a:p>
            <a:p>
              <a:pPr indent="0" lvl="0" marL="0" marR="0" rtl="0" algn="r">
                <a:lnSpc>
                  <a:spcPct val="100000"/>
                </a:lnSpc>
                <a:spcBef>
                  <a:spcPts val="0"/>
                </a:spcBef>
                <a:spcAft>
                  <a:spcPts val="0"/>
                </a:spcAft>
                <a:buClr>
                  <a:srgbClr val="0070C0"/>
                </a:buClr>
                <a:buSzPts val="1400"/>
                <a:buFont typeface="Calibri"/>
                <a:buNone/>
              </a:pPr>
              <a:r>
                <a:rPr b="1" i="0" lang="en-US" sz="1400" u="none" cap="none" strike="noStrike">
                  <a:solidFill>
                    <a:srgbClr val="0070C0"/>
                  </a:solidFill>
                  <a:latin typeface="Calibri"/>
                  <a:ea typeface="Calibri"/>
                  <a:cs typeface="Calibri"/>
                  <a:sym typeface="Calibri"/>
                </a:rPr>
                <a:t>Team 2 - </a:t>
              </a:r>
              <a:r>
                <a:rPr b="1" i="0" lang="en-US" sz="1200" u="none" cap="none" strike="noStrike">
                  <a:solidFill>
                    <a:srgbClr val="0070C0"/>
                  </a:solidFill>
                  <a:latin typeface="Calibri"/>
                  <a:ea typeface="Calibri"/>
                  <a:cs typeface="Calibri"/>
                  <a:sym typeface="Calibri"/>
                </a:rPr>
                <a:t>SLOCPI </a:t>
              </a:r>
              <a:endParaRPr/>
            </a:p>
            <a:p>
              <a:pPr indent="0" lvl="0" marL="0" marR="0" rtl="0" algn="r">
                <a:lnSpc>
                  <a:spcPct val="100000"/>
                </a:lnSpc>
                <a:spcBef>
                  <a:spcPts val="0"/>
                </a:spcBef>
                <a:spcAft>
                  <a:spcPts val="0"/>
                </a:spcAft>
                <a:buClr>
                  <a:srgbClr val="0070C0"/>
                </a:buClr>
                <a:buSzPts val="1200"/>
                <a:buFont typeface="Calibri"/>
                <a:buNone/>
              </a:pPr>
              <a:r>
                <a:rPr b="1" i="0" lang="en-US" sz="1200" u="none" cap="none" strike="noStrike">
                  <a:solidFill>
                    <a:srgbClr val="0070C0"/>
                  </a:solidFill>
                  <a:latin typeface="Calibri"/>
                  <a:ea typeface="Calibri"/>
                  <a:cs typeface="Calibri"/>
                  <a:sym typeface="Calibri"/>
                </a:rPr>
                <a:t>GIO &amp; Regular App</a:t>
              </a:r>
              <a:r>
                <a:rPr b="1" i="0" lang="en-US" sz="1400" u="none" cap="none" strike="noStrike">
                  <a:solidFill>
                    <a:srgbClr val="0070C0"/>
                  </a:solidFill>
                  <a:latin typeface="Calibri"/>
                  <a:ea typeface="Calibri"/>
                  <a:cs typeface="Calibri"/>
                  <a:sym typeface="Calibri"/>
                </a:rPr>
                <a:t> </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Date of Entry:</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June 2004</a:t>
              </a:r>
              <a:endParaRPr/>
            </a:p>
          </p:txBody>
        </p:sp>
        <p:sp>
          <p:nvSpPr>
            <p:cNvPr id="546" name="Google Shape;546;p9"/>
            <p:cNvSpPr txBox="1"/>
            <p:nvPr/>
          </p:nvSpPr>
          <p:spPr>
            <a:xfrm>
              <a:off x="10123629" y="3971939"/>
              <a:ext cx="1528392" cy="169277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Abi Ballena,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ALMI, ACS Supervisor</a:t>
              </a:r>
              <a:endParaRPr/>
            </a:p>
            <a:p>
              <a:pPr indent="0" lvl="0" marL="0" marR="0" rtl="0" algn="r">
                <a:lnSpc>
                  <a:spcPct val="100000"/>
                </a:lnSpc>
                <a:spcBef>
                  <a:spcPts val="0"/>
                </a:spcBef>
                <a:spcAft>
                  <a:spcPts val="0"/>
                </a:spcAft>
                <a:buClr>
                  <a:srgbClr val="2E75B5"/>
                </a:buClr>
                <a:buSzPts val="1400"/>
                <a:buFont typeface="Calibri"/>
                <a:buNone/>
              </a:pPr>
              <a:r>
                <a:rPr b="1" i="0" lang="en-US" sz="1400" u="none" cap="none" strike="noStrike">
                  <a:solidFill>
                    <a:srgbClr val="2E75B5"/>
                  </a:solidFill>
                  <a:latin typeface="Calibri"/>
                  <a:ea typeface="Calibri"/>
                  <a:cs typeface="Calibri"/>
                  <a:sym typeface="Calibri"/>
                </a:rPr>
                <a:t>Team 7 - </a:t>
              </a:r>
              <a:r>
                <a:rPr b="1" i="0" lang="en-US" sz="1200" u="none" cap="none" strike="noStrike">
                  <a:solidFill>
                    <a:srgbClr val="2E75B5"/>
                  </a:solidFill>
                  <a:latin typeface="Calibri"/>
                  <a:ea typeface="Calibri"/>
                  <a:cs typeface="Calibri"/>
                  <a:sym typeface="Calibri"/>
                </a:rPr>
                <a:t>QA &amp; Production Support</a:t>
              </a:r>
              <a:endParaRPr b="1" i="0" sz="1400" u="none" cap="none" strike="noStrike">
                <a:solidFill>
                  <a:srgbClr val="2E75B5"/>
                </a:solidFill>
                <a:latin typeface="Calibri"/>
                <a:ea typeface="Calibri"/>
                <a:cs typeface="Calibri"/>
                <a:sym typeface="Calibri"/>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Mar 2013</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cxnSp>
          <p:nvCxnSpPr>
            <p:cNvPr id="547" name="Google Shape;547;p9"/>
            <p:cNvCxnSpPr/>
            <p:nvPr/>
          </p:nvCxnSpPr>
          <p:spPr>
            <a:xfrm>
              <a:off x="1296139" y="2616128"/>
              <a:ext cx="9776418" cy="10174"/>
            </a:xfrm>
            <a:prstGeom prst="straightConnector1">
              <a:avLst/>
            </a:prstGeom>
            <a:noFill/>
            <a:ln cap="flat" cmpd="sng" w="9525">
              <a:solidFill>
                <a:schemeClr val="dk1"/>
              </a:solidFill>
              <a:prstDash val="solid"/>
              <a:miter lim="800000"/>
              <a:headEnd len="sm" w="sm" type="none"/>
              <a:tailEnd len="sm" w="sm" type="none"/>
            </a:ln>
          </p:spPr>
        </p:cxn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2" name="Shape 552"/>
        <p:cNvGrpSpPr/>
        <p:nvPr/>
      </p:nvGrpSpPr>
      <p:grpSpPr>
        <a:xfrm>
          <a:off x="0" y="0"/>
          <a:ext cx="0" cy="0"/>
          <a:chOff x="0" y="0"/>
          <a:chExt cx="0" cy="0"/>
        </a:xfrm>
      </p:grpSpPr>
      <p:sp>
        <p:nvSpPr>
          <p:cNvPr id="553" name="Google Shape;553;p10"/>
          <p:cNvSpPr/>
          <p:nvPr/>
        </p:nvSpPr>
        <p:spPr>
          <a:xfrm>
            <a:off x="2948355" y="1292317"/>
            <a:ext cx="3621762" cy="1249430"/>
          </a:xfrm>
          <a:prstGeom prst="rect">
            <a:avLst/>
          </a:prstGeom>
          <a:solidFill>
            <a:schemeClr val="accent6">
              <a:alpha val="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54" name="Google Shape;554;p10"/>
          <p:cNvGrpSpPr/>
          <p:nvPr/>
        </p:nvGrpSpPr>
        <p:grpSpPr>
          <a:xfrm>
            <a:off x="64411" y="5029200"/>
            <a:ext cx="12127589" cy="1852020"/>
            <a:chOff x="64411" y="5029200"/>
            <a:chExt cx="12127589" cy="1852020"/>
          </a:xfrm>
        </p:grpSpPr>
        <p:pic>
          <p:nvPicPr>
            <p:cNvPr id="555" name="Google Shape;555;p10"/>
            <p:cNvPicPr preferRelativeResize="0"/>
            <p:nvPr/>
          </p:nvPicPr>
          <p:blipFill rotWithShape="1">
            <a:blip r:embed="rId3">
              <a:alphaModFix/>
            </a:blip>
            <a:srcRect b="48442" l="0" r="0" t="0"/>
            <a:stretch/>
          </p:blipFill>
          <p:spPr>
            <a:xfrm flipH="1" rot="10800000">
              <a:off x="2399626" y="5240195"/>
              <a:ext cx="4171210" cy="1611209"/>
            </a:xfrm>
            <a:prstGeom prst="rect">
              <a:avLst/>
            </a:prstGeom>
            <a:noFill/>
            <a:ln>
              <a:noFill/>
            </a:ln>
          </p:spPr>
        </p:pic>
        <p:pic>
          <p:nvPicPr>
            <p:cNvPr id="556" name="Google Shape;556;p10"/>
            <p:cNvPicPr preferRelativeResize="0"/>
            <p:nvPr/>
          </p:nvPicPr>
          <p:blipFill rotWithShape="1">
            <a:blip r:embed="rId3">
              <a:alphaModFix/>
            </a:blip>
            <a:srcRect b="48442" l="0" r="0" t="0"/>
            <a:stretch/>
          </p:blipFill>
          <p:spPr>
            <a:xfrm flipH="1" rot="10800000">
              <a:off x="64411" y="5270011"/>
              <a:ext cx="4171210" cy="1611209"/>
            </a:xfrm>
            <a:prstGeom prst="rect">
              <a:avLst/>
            </a:prstGeom>
            <a:noFill/>
            <a:ln>
              <a:noFill/>
            </a:ln>
          </p:spPr>
        </p:pic>
        <p:pic>
          <p:nvPicPr>
            <p:cNvPr id="557" name="Google Shape;557;p10"/>
            <p:cNvPicPr preferRelativeResize="0"/>
            <p:nvPr/>
          </p:nvPicPr>
          <p:blipFill rotWithShape="1">
            <a:blip r:embed="rId3">
              <a:alphaModFix/>
            </a:blip>
            <a:srcRect b="48442" l="0" r="0" t="0"/>
            <a:stretch/>
          </p:blipFill>
          <p:spPr>
            <a:xfrm flipH="1" rot="10800000">
              <a:off x="4413537" y="5246791"/>
              <a:ext cx="4171210" cy="1611209"/>
            </a:xfrm>
            <a:prstGeom prst="rect">
              <a:avLst/>
            </a:prstGeom>
            <a:noFill/>
            <a:ln>
              <a:noFill/>
            </a:ln>
          </p:spPr>
        </p:pic>
        <p:pic>
          <p:nvPicPr>
            <p:cNvPr id="558" name="Google Shape;558;p10"/>
            <p:cNvPicPr preferRelativeResize="0"/>
            <p:nvPr/>
          </p:nvPicPr>
          <p:blipFill rotWithShape="1">
            <a:blip r:embed="rId4">
              <a:alphaModFix/>
            </a:blip>
            <a:srcRect b="0" l="0" r="0" t="0"/>
            <a:stretch/>
          </p:blipFill>
          <p:spPr>
            <a:xfrm>
              <a:off x="1401171" y="5552551"/>
              <a:ext cx="917965" cy="914400"/>
            </a:xfrm>
            <a:prstGeom prst="rect">
              <a:avLst/>
            </a:prstGeom>
            <a:noFill/>
            <a:ln>
              <a:noFill/>
            </a:ln>
          </p:spPr>
        </p:pic>
        <p:sp>
          <p:nvSpPr>
            <p:cNvPr id="559" name="Google Shape;559;p10"/>
            <p:cNvSpPr/>
            <p:nvPr/>
          </p:nvSpPr>
          <p:spPr>
            <a:xfrm>
              <a:off x="162665" y="5029200"/>
              <a:ext cx="182880" cy="1828800"/>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560" name="Google Shape;560;p10"/>
            <p:cNvPicPr preferRelativeResize="0"/>
            <p:nvPr/>
          </p:nvPicPr>
          <p:blipFill rotWithShape="1">
            <a:blip r:embed="rId3">
              <a:alphaModFix/>
            </a:blip>
            <a:srcRect b="48442" l="0" r="0" t="0"/>
            <a:stretch/>
          </p:blipFill>
          <p:spPr>
            <a:xfrm flipH="1" rot="10800000">
              <a:off x="8293562" y="5361982"/>
              <a:ext cx="3898438" cy="1496018"/>
            </a:xfrm>
            <a:prstGeom prst="rect">
              <a:avLst/>
            </a:prstGeom>
            <a:noFill/>
            <a:ln>
              <a:noFill/>
            </a:ln>
          </p:spPr>
        </p:pic>
        <p:sp>
          <p:nvSpPr>
            <p:cNvPr id="561" name="Google Shape;561;p10"/>
            <p:cNvSpPr txBox="1"/>
            <p:nvPr/>
          </p:nvSpPr>
          <p:spPr>
            <a:xfrm>
              <a:off x="327909" y="5728222"/>
              <a:ext cx="7097722" cy="95410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New Business Services </a:t>
              </a:r>
              <a:endParaRPr/>
            </a:p>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Team 1 – SLOCPI E-App &amp; Regular App</a:t>
              </a:r>
              <a:endParaRPr b="1" i="0" sz="2800" u="none" cap="none" strike="noStrike">
                <a:solidFill>
                  <a:srgbClr val="000000"/>
                </a:solidFill>
                <a:latin typeface="Calibri"/>
                <a:ea typeface="Calibri"/>
                <a:cs typeface="Calibri"/>
                <a:sym typeface="Calibri"/>
              </a:endParaRPr>
            </a:p>
          </p:txBody>
        </p:sp>
      </p:grpSp>
      <p:cxnSp>
        <p:nvCxnSpPr>
          <p:cNvPr id="562" name="Google Shape;562;p10"/>
          <p:cNvCxnSpPr/>
          <p:nvPr/>
        </p:nvCxnSpPr>
        <p:spPr>
          <a:xfrm>
            <a:off x="6122504" y="506896"/>
            <a:ext cx="50485" cy="2125984"/>
          </a:xfrm>
          <a:prstGeom prst="straightConnector1">
            <a:avLst/>
          </a:prstGeom>
          <a:noFill/>
          <a:ln cap="flat" cmpd="sng" w="9525">
            <a:solidFill>
              <a:schemeClr val="dk1"/>
            </a:solidFill>
            <a:prstDash val="solid"/>
            <a:miter lim="800000"/>
            <a:headEnd len="sm" w="sm" type="none"/>
            <a:tailEnd len="sm" w="sm" type="none"/>
          </a:ln>
        </p:spPr>
      </p:cxnSp>
      <p:cxnSp>
        <p:nvCxnSpPr>
          <p:cNvPr id="563" name="Google Shape;563;p10"/>
          <p:cNvCxnSpPr/>
          <p:nvPr/>
        </p:nvCxnSpPr>
        <p:spPr>
          <a:xfrm>
            <a:off x="2509699" y="2612018"/>
            <a:ext cx="0" cy="417305"/>
          </a:xfrm>
          <a:prstGeom prst="straightConnector1">
            <a:avLst/>
          </a:prstGeom>
          <a:noFill/>
          <a:ln cap="flat" cmpd="sng" w="9525">
            <a:solidFill>
              <a:schemeClr val="dk1"/>
            </a:solidFill>
            <a:prstDash val="solid"/>
            <a:miter lim="800000"/>
            <a:headEnd len="sm" w="sm" type="none"/>
            <a:tailEnd len="sm" w="sm" type="none"/>
          </a:ln>
        </p:spPr>
      </p:cxnSp>
      <p:cxnSp>
        <p:nvCxnSpPr>
          <p:cNvPr id="564" name="Google Shape;564;p10"/>
          <p:cNvCxnSpPr/>
          <p:nvPr/>
        </p:nvCxnSpPr>
        <p:spPr>
          <a:xfrm>
            <a:off x="3408603" y="3230555"/>
            <a:ext cx="0" cy="0"/>
          </a:xfrm>
          <a:prstGeom prst="straightConnector1">
            <a:avLst/>
          </a:prstGeom>
          <a:noFill/>
          <a:ln cap="flat" cmpd="sng" w="9525">
            <a:solidFill>
              <a:schemeClr val="dk1"/>
            </a:solidFill>
            <a:prstDash val="solid"/>
            <a:miter lim="800000"/>
            <a:headEnd len="sm" w="sm" type="none"/>
            <a:tailEnd len="sm" w="sm" type="none"/>
          </a:ln>
        </p:spPr>
      </p:cxnSp>
      <p:grpSp>
        <p:nvGrpSpPr>
          <p:cNvPr id="565" name="Google Shape;565;p10"/>
          <p:cNvGrpSpPr/>
          <p:nvPr/>
        </p:nvGrpSpPr>
        <p:grpSpPr>
          <a:xfrm>
            <a:off x="5307012" y="61581"/>
            <a:ext cx="4059060" cy="1213076"/>
            <a:chOff x="5307012" y="108877"/>
            <a:chExt cx="4059060" cy="1213076"/>
          </a:xfrm>
        </p:grpSpPr>
        <p:grpSp>
          <p:nvGrpSpPr>
            <p:cNvPr id="566" name="Google Shape;566;p10"/>
            <p:cNvGrpSpPr/>
            <p:nvPr/>
          </p:nvGrpSpPr>
          <p:grpSpPr>
            <a:xfrm>
              <a:off x="5307012" y="108877"/>
              <a:ext cx="4059060" cy="1213076"/>
              <a:chOff x="5307012" y="187349"/>
              <a:chExt cx="4059060" cy="1213076"/>
            </a:xfrm>
          </p:grpSpPr>
          <p:sp>
            <p:nvSpPr>
              <p:cNvPr id="567" name="Google Shape;567;p10"/>
              <p:cNvSpPr/>
              <p:nvPr/>
            </p:nvSpPr>
            <p:spPr>
              <a:xfrm>
                <a:off x="5307012" y="187349"/>
                <a:ext cx="4059060" cy="1213076"/>
              </a:xfrm>
              <a:prstGeom prst="rect">
                <a:avLst/>
              </a:prstGeom>
              <a:solidFill>
                <a:srgbClr val="80000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568" name="Google Shape;568;p10"/>
              <p:cNvCxnSpPr/>
              <p:nvPr/>
            </p:nvCxnSpPr>
            <p:spPr>
              <a:xfrm>
                <a:off x="6402134" y="1260474"/>
                <a:ext cx="2378765" cy="0"/>
              </a:xfrm>
              <a:prstGeom prst="straightConnector1">
                <a:avLst/>
              </a:prstGeom>
              <a:noFill/>
              <a:ln cap="flat" cmpd="sng" w="9525">
                <a:solidFill>
                  <a:srgbClr val="800000"/>
                </a:solidFill>
                <a:prstDash val="solid"/>
                <a:miter lim="800000"/>
                <a:headEnd len="sm" w="sm" type="none"/>
                <a:tailEnd len="sm" w="sm" type="none"/>
              </a:ln>
            </p:spPr>
          </p:cxnSp>
        </p:grpSp>
        <p:pic>
          <p:nvPicPr>
            <p:cNvPr id="569" name="Google Shape;569;p10"/>
            <p:cNvPicPr preferRelativeResize="0"/>
            <p:nvPr/>
          </p:nvPicPr>
          <p:blipFill rotWithShape="1">
            <a:blip r:embed="rId5">
              <a:alphaModFix/>
            </a:blip>
            <a:srcRect b="0" l="0" r="0" t="0"/>
            <a:stretch/>
          </p:blipFill>
          <p:spPr>
            <a:xfrm>
              <a:off x="5487004" y="195600"/>
              <a:ext cx="914400" cy="1016432"/>
            </a:xfrm>
            <a:prstGeom prst="rect">
              <a:avLst/>
            </a:prstGeom>
            <a:solidFill>
              <a:srgbClr val="FFFF99"/>
            </a:solidFill>
            <a:ln cap="flat" cmpd="sng" w="9525">
              <a:solidFill>
                <a:schemeClr val="dk1"/>
              </a:solidFill>
              <a:prstDash val="solid"/>
              <a:round/>
              <a:headEnd len="sm" w="sm" type="none"/>
              <a:tailEnd len="sm" w="sm" type="none"/>
            </a:ln>
          </p:spPr>
        </p:pic>
        <p:sp>
          <p:nvSpPr>
            <p:cNvPr id="570" name="Google Shape;570;p10"/>
            <p:cNvSpPr txBox="1"/>
            <p:nvPr/>
          </p:nvSpPr>
          <p:spPr>
            <a:xfrm>
              <a:off x="6474553" y="186076"/>
              <a:ext cx="2891518"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Vilma Tubig, ACS, PCS, FLMI </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3</a:t>
              </a:r>
              <a:endParaRPr/>
            </a:p>
            <a:p>
              <a:pPr indent="0" lvl="0" marL="0" marR="0" rtl="0" algn="l">
                <a:lnSpc>
                  <a:spcPct val="100000"/>
                </a:lnSpc>
                <a:spcBef>
                  <a:spcPts val="0"/>
                </a:spcBef>
                <a:spcAft>
                  <a:spcPts val="0"/>
                </a:spcAft>
                <a:buClr>
                  <a:srgbClr val="C55A11"/>
                </a:buClr>
                <a:buSzPts val="1400"/>
                <a:buFont typeface="Calibri"/>
                <a:buNone/>
              </a:pPr>
              <a:r>
                <a:rPr b="1" i="0" lang="en-US" sz="1400" u="none" cap="none" strike="noStrike">
                  <a:solidFill>
                    <a:srgbClr val="C55A11"/>
                  </a:solidFill>
                  <a:latin typeface="Calibri"/>
                  <a:ea typeface="Calibri"/>
                  <a:cs typeface="Calibri"/>
                  <a:sym typeface="Calibri"/>
                </a:rPr>
                <a:t>NB Review, Facilitating and Post-Issue</a:t>
              </a:r>
              <a:endParaRPr/>
            </a:p>
            <a:p>
              <a:pPr indent="0" lvl="0" marL="0" marR="0" rtl="0" algn="l">
                <a:lnSpc>
                  <a:spcPct val="100000"/>
                </a:lnSpc>
                <a:spcBef>
                  <a:spcPts val="0"/>
                </a:spcBef>
                <a:spcAft>
                  <a:spcPts val="0"/>
                </a:spcAft>
                <a:buClr>
                  <a:srgbClr val="C55A11"/>
                </a:buClr>
                <a:buSzPts val="1200"/>
                <a:buFont typeface="Calibri"/>
                <a:buNone/>
              </a:pPr>
              <a:r>
                <a:rPr b="0" i="0" lang="en-US" sz="1200" u="none" cap="none" strike="noStrike">
                  <a:solidFill>
                    <a:srgbClr val="C55A11"/>
                  </a:solidFill>
                  <a:latin typeface="Calibri"/>
                  <a:ea typeface="Calibri"/>
                  <a:cs typeface="Calibri"/>
                  <a:sym typeface="Calibri"/>
                </a:rPr>
                <a:t>Date of Entry: Nov 1999</a:t>
              </a:r>
              <a:endParaRPr/>
            </a:p>
          </p:txBody>
        </p:sp>
      </p:grpSp>
      <p:cxnSp>
        <p:nvCxnSpPr>
          <p:cNvPr id="571" name="Google Shape;571;p10"/>
          <p:cNvCxnSpPr/>
          <p:nvPr/>
        </p:nvCxnSpPr>
        <p:spPr>
          <a:xfrm>
            <a:off x="4117077" y="2627912"/>
            <a:ext cx="0" cy="417305"/>
          </a:xfrm>
          <a:prstGeom prst="straightConnector1">
            <a:avLst/>
          </a:prstGeom>
          <a:noFill/>
          <a:ln cap="flat" cmpd="sng" w="9525">
            <a:solidFill>
              <a:schemeClr val="dk1"/>
            </a:solidFill>
            <a:prstDash val="solid"/>
            <a:miter lim="800000"/>
            <a:headEnd len="sm" w="sm" type="none"/>
            <a:tailEnd len="sm" w="sm" type="none"/>
          </a:ln>
        </p:spPr>
      </p:cxnSp>
      <p:sp>
        <p:nvSpPr>
          <p:cNvPr id="572" name="Google Shape;572;p10"/>
          <p:cNvSpPr txBox="1"/>
          <p:nvPr/>
        </p:nvSpPr>
        <p:spPr>
          <a:xfrm>
            <a:off x="3194655" y="3985489"/>
            <a:ext cx="1528392" cy="89255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Alexander C. Buncad Jr., 3A</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May 2019</a:t>
            </a:r>
            <a:endParaRPr/>
          </a:p>
        </p:txBody>
      </p:sp>
      <p:sp>
        <p:nvSpPr>
          <p:cNvPr id="573" name="Google Shape;573;p10"/>
          <p:cNvSpPr txBox="1"/>
          <p:nvPr/>
        </p:nvSpPr>
        <p:spPr>
          <a:xfrm>
            <a:off x="4542750" y="3978329"/>
            <a:ext cx="1528392" cy="126188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Livian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Cabarle, 3A</a:t>
            </a:r>
            <a:endParaRPr/>
          </a:p>
          <a:p>
            <a:pPr indent="0" lvl="0" marL="0" marR="0" rtl="0" algn="r">
              <a:lnSpc>
                <a:spcPct val="100000"/>
              </a:lnSpc>
              <a:spcBef>
                <a:spcPts val="0"/>
              </a:spcBef>
              <a:spcAft>
                <a:spcPts val="0"/>
              </a:spcAft>
              <a:buClr>
                <a:srgbClr val="ED7D31"/>
              </a:buClr>
              <a:buSzPts val="1200"/>
              <a:buFont typeface="Calibri"/>
              <a:buNone/>
            </a:pPr>
            <a:r>
              <a:rPr b="0" i="0" lang="en-US" sz="1200" u="none" cap="none" strike="noStrike">
                <a:solidFill>
                  <a:srgbClr val="ED7D31"/>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ED7D31"/>
              </a:buClr>
              <a:buSzPts val="1200"/>
              <a:buFont typeface="Calibri"/>
              <a:buNone/>
            </a:pPr>
            <a:r>
              <a:rPr b="0" i="0" lang="en-US" sz="1200" u="none" cap="none" strike="noStrike">
                <a:solidFill>
                  <a:srgbClr val="ED7D31"/>
                </a:solidFill>
                <a:latin typeface="Calibri"/>
                <a:ea typeface="Calibri"/>
                <a:cs typeface="Calibri"/>
                <a:sym typeface="Calibri"/>
              </a:rPr>
              <a:t>Mar 2017</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ED7D31"/>
              </a:solidFill>
              <a:latin typeface="Calibri"/>
              <a:ea typeface="Calibri"/>
              <a:cs typeface="Calibri"/>
              <a:sym typeface="Calibri"/>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ED7D31"/>
              </a:solidFill>
              <a:latin typeface="Calibri"/>
              <a:ea typeface="Calibri"/>
              <a:cs typeface="Calibri"/>
              <a:sym typeface="Calibri"/>
            </a:endParaRPr>
          </a:p>
        </p:txBody>
      </p:sp>
      <p:cxnSp>
        <p:nvCxnSpPr>
          <p:cNvPr id="574" name="Google Shape;574;p10"/>
          <p:cNvCxnSpPr/>
          <p:nvPr/>
        </p:nvCxnSpPr>
        <p:spPr>
          <a:xfrm>
            <a:off x="8079305" y="2659469"/>
            <a:ext cx="0" cy="417305"/>
          </a:xfrm>
          <a:prstGeom prst="straightConnector1">
            <a:avLst/>
          </a:prstGeom>
          <a:noFill/>
          <a:ln cap="flat" cmpd="sng" w="9525">
            <a:solidFill>
              <a:schemeClr val="dk1"/>
            </a:solidFill>
            <a:prstDash val="solid"/>
            <a:miter lim="800000"/>
            <a:headEnd len="sm" w="sm" type="none"/>
            <a:tailEnd len="sm" w="sm" type="none"/>
          </a:ln>
        </p:spPr>
      </p:cxnSp>
      <p:sp>
        <p:nvSpPr>
          <p:cNvPr id="575" name="Google Shape;575;p10"/>
          <p:cNvSpPr txBox="1"/>
          <p:nvPr/>
        </p:nvSpPr>
        <p:spPr>
          <a:xfrm>
            <a:off x="5835941" y="4017240"/>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Ann Crisbelle Celestial, 3A</a:t>
            </a:r>
            <a:endParaRPr b="1" i="0" sz="1200" u="none" cap="none" strike="noStrike">
              <a:solidFill>
                <a:srgbClr val="002060"/>
              </a:solidFill>
              <a:latin typeface="Calibri"/>
              <a:ea typeface="Calibri"/>
              <a:cs typeface="Calibri"/>
              <a:sym typeface="Calibri"/>
            </a:endParaRPr>
          </a:p>
          <a:p>
            <a:pPr indent="0" lvl="0" marL="0" marR="0" rtl="0" algn="r">
              <a:lnSpc>
                <a:spcPct val="100000"/>
              </a:lnSpc>
              <a:spcBef>
                <a:spcPts val="0"/>
              </a:spcBef>
              <a:spcAft>
                <a:spcPts val="0"/>
              </a:spcAft>
              <a:buClr>
                <a:srgbClr val="002060"/>
              </a:buClr>
              <a:buSzPts val="1200"/>
              <a:buFont typeface="Calibri"/>
              <a:buNone/>
            </a:pPr>
            <a:r>
              <a:rPr b="0" i="0" lang="en-US" sz="1200" u="none" cap="none" strike="noStrike">
                <a:solidFill>
                  <a:srgbClr val="00206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002060"/>
              </a:buClr>
              <a:buSzPts val="1200"/>
              <a:buFont typeface="Calibri"/>
              <a:buNone/>
            </a:pPr>
            <a:r>
              <a:rPr b="0" i="0" lang="en-US" sz="1200" u="none" cap="none" strike="noStrike">
                <a:solidFill>
                  <a:srgbClr val="002060"/>
                </a:solidFill>
                <a:latin typeface="Calibri"/>
                <a:ea typeface="Calibri"/>
                <a:cs typeface="Calibri"/>
                <a:sym typeface="Calibri"/>
              </a:rPr>
              <a:t>Feb 2017</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cxnSp>
        <p:nvCxnSpPr>
          <p:cNvPr id="576" name="Google Shape;576;p10"/>
          <p:cNvCxnSpPr/>
          <p:nvPr/>
        </p:nvCxnSpPr>
        <p:spPr>
          <a:xfrm>
            <a:off x="9059978" y="2628702"/>
            <a:ext cx="0" cy="417305"/>
          </a:xfrm>
          <a:prstGeom prst="straightConnector1">
            <a:avLst/>
          </a:prstGeom>
          <a:noFill/>
          <a:ln cap="flat" cmpd="sng" w="9525">
            <a:solidFill>
              <a:schemeClr val="dk1"/>
            </a:solidFill>
            <a:prstDash val="solid"/>
            <a:miter lim="800000"/>
            <a:headEnd len="sm" w="sm" type="none"/>
            <a:tailEnd len="sm" w="sm" type="none"/>
          </a:ln>
        </p:spPr>
      </p:cxnSp>
      <p:sp>
        <p:nvSpPr>
          <p:cNvPr id="577" name="Google Shape;577;p10"/>
          <p:cNvSpPr txBox="1"/>
          <p:nvPr/>
        </p:nvSpPr>
        <p:spPr>
          <a:xfrm>
            <a:off x="7060968" y="4035527"/>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Richard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Bagwisa, 3A</a:t>
            </a:r>
            <a:endParaRPr/>
          </a:p>
          <a:p>
            <a:pPr indent="0" lvl="0" marL="0" marR="0" rtl="0" algn="r">
              <a:lnSpc>
                <a:spcPct val="100000"/>
              </a:lnSpc>
              <a:spcBef>
                <a:spcPts val="0"/>
              </a:spcBef>
              <a:spcAft>
                <a:spcPts val="0"/>
              </a:spcAft>
              <a:buClr>
                <a:srgbClr val="FF0000"/>
              </a:buClr>
              <a:buSzPts val="1200"/>
              <a:buFont typeface="Calibri"/>
              <a:buNone/>
            </a:pPr>
            <a:r>
              <a:rPr b="0" i="0" lang="en-US" sz="1200" u="none" cap="none" strike="noStrike">
                <a:solidFill>
                  <a:srgbClr val="FF000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FF0000"/>
              </a:buClr>
              <a:buSzPts val="1200"/>
              <a:buFont typeface="Calibri"/>
              <a:buNone/>
            </a:pPr>
            <a:r>
              <a:rPr b="0" i="0" lang="en-US" sz="1200" u="none" cap="none" strike="noStrike">
                <a:solidFill>
                  <a:srgbClr val="FF0000"/>
                </a:solidFill>
                <a:latin typeface="Calibri"/>
                <a:ea typeface="Calibri"/>
                <a:cs typeface="Calibri"/>
                <a:sym typeface="Calibri"/>
              </a:rPr>
              <a:t>May 2018</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cxnSp>
        <p:nvCxnSpPr>
          <p:cNvPr id="578" name="Google Shape;578;p10"/>
          <p:cNvCxnSpPr/>
          <p:nvPr/>
        </p:nvCxnSpPr>
        <p:spPr>
          <a:xfrm>
            <a:off x="1296139" y="2616128"/>
            <a:ext cx="0" cy="417305"/>
          </a:xfrm>
          <a:prstGeom prst="straightConnector1">
            <a:avLst/>
          </a:prstGeom>
          <a:noFill/>
          <a:ln cap="flat" cmpd="sng" w="9525">
            <a:solidFill>
              <a:schemeClr val="dk1"/>
            </a:solidFill>
            <a:prstDash val="solid"/>
            <a:miter lim="800000"/>
            <a:headEnd len="sm" w="sm" type="none"/>
            <a:tailEnd len="sm" w="sm" type="none"/>
          </a:ln>
        </p:spPr>
      </p:cxnSp>
      <p:cxnSp>
        <p:nvCxnSpPr>
          <p:cNvPr id="579" name="Google Shape;579;p10"/>
          <p:cNvCxnSpPr/>
          <p:nvPr/>
        </p:nvCxnSpPr>
        <p:spPr>
          <a:xfrm>
            <a:off x="11072557" y="2612018"/>
            <a:ext cx="0" cy="417305"/>
          </a:xfrm>
          <a:prstGeom prst="straightConnector1">
            <a:avLst/>
          </a:prstGeom>
          <a:noFill/>
          <a:ln cap="flat" cmpd="sng" w="9525">
            <a:solidFill>
              <a:schemeClr val="dk1"/>
            </a:solidFill>
            <a:prstDash val="solid"/>
            <a:miter lim="800000"/>
            <a:headEnd len="sm" w="sm" type="none"/>
            <a:tailEnd len="sm" w="sm" type="none"/>
          </a:ln>
        </p:spPr>
      </p:cxnSp>
      <p:sp>
        <p:nvSpPr>
          <p:cNvPr id="580" name="Google Shape;580;p10"/>
          <p:cNvSpPr txBox="1"/>
          <p:nvPr/>
        </p:nvSpPr>
        <p:spPr>
          <a:xfrm>
            <a:off x="1657359" y="3967829"/>
            <a:ext cx="1528392" cy="89255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Maricel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Buce, 3A</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Date of Entry:</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Oct 2013</a:t>
            </a:r>
            <a:endParaRPr/>
          </a:p>
        </p:txBody>
      </p:sp>
      <p:sp>
        <p:nvSpPr>
          <p:cNvPr id="581" name="Google Shape;581;p10"/>
          <p:cNvSpPr txBox="1"/>
          <p:nvPr/>
        </p:nvSpPr>
        <p:spPr>
          <a:xfrm>
            <a:off x="8184634" y="4028149"/>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Mary Walter Legaspi, 4B</a:t>
            </a:r>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Sep 2018</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cxnSp>
        <p:nvCxnSpPr>
          <p:cNvPr id="582" name="Google Shape;582;p10"/>
          <p:cNvCxnSpPr/>
          <p:nvPr/>
        </p:nvCxnSpPr>
        <p:spPr>
          <a:xfrm>
            <a:off x="1296139" y="2616128"/>
            <a:ext cx="9776418" cy="10174"/>
          </a:xfrm>
          <a:prstGeom prst="straightConnector1">
            <a:avLst/>
          </a:prstGeom>
          <a:noFill/>
          <a:ln cap="flat" cmpd="sng" w="9525">
            <a:solidFill>
              <a:schemeClr val="dk1"/>
            </a:solidFill>
            <a:prstDash val="solid"/>
            <a:miter lim="800000"/>
            <a:headEnd len="sm" w="sm" type="none"/>
            <a:tailEnd len="sm" w="sm" type="none"/>
          </a:ln>
        </p:spPr>
      </p:cxnSp>
      <p:sp>
        <p:nvSpPr>
          <p:cNvPr id="583" name="Google Shape;583;p10"/>
          <p:cNvSpPr txBox="1"/>
          <p:nvPr/>
        </p:nvSpPr>
        <p:spPr>
          <a:xfrm>
            <a:off x="2938395" y="1458820"/>
            <a:ext cx="2594452" cy="92333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Novita Fernandez,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ACS, Manager 1</a:t>
            </a:r>
            <a:endParaRPr/>
          </a:p>
          <a:p>
            <a:pPr indent="0" lvl="0" marL="0" marR="0" rtl="0" algn="r">
              <a:lnSpc>
                <a:spcPct val="100000"/>
              </a:lnSpc>
              <a:spcBef>
                <a:spcPts val="0"/>
              </a:spcBef>
              <a:spcAft>
                <a:spcPts val="0"/>
              </a:spcAft>
              <a:buClr>
                <a:srgbClr val="385623"/>
              </a:buClr>
              <a:buSzPts val="1400"/>
              <a:buFont typeface="Calibri"/>
              <a:buNone/>
            </a:pPr>
            <a:r>
              <a:rPr b="1" i="0" lang="en-US" sz="1400" u="none" cap="none" strike="noStrike">
                <a:solidFill>
                  <a:srgbClr val="385623"/>
                </a:solidFill>
                <a:latin typeface="Calibri"/>
                <a:ea typeface="Calibri"/>
                <a:cs typeface="Calibri"/>
                <a:sym typeface="Calibri"/>
              </a:rPr>
              <a:t>Team 1 – </a:t>
            </a:r>
            <a:r>
              <a:rPr b="1" i="0" lang="en-US" sz="1200" u="none" cap="none" strike="noStrike">
                <a:solidFill>
                  <a:srgbClr val="385623"/>
                </a:solidFill>
                <a:latin typeface="Calibri"/>
                <a:ea typeface="Calibri"/>
                <a:cs typeface="Calibri"/>
                <a:sym typeface="Calibri"/>
              </a:rPr>
              <a:t>SLOCPI E-App &amp; Regular App</a:t>
            </a:r>
            <a:endParaRPr b="1" i="0" sz="1400" u="none" cap="none" strike="noStrike">
              <a:solidFill>
                <a:srgbClr val="385623"/>
              </a:solidFill>
              <a:latin typeface="Calibri"/>
              <a:ea typeface="Calibri"/>
              <a:cs typeface="Calibri"/>
              <a:sym typeface="Calibri"/>
            </a:endParaRPr>
          </a:p>
          <a:p>
            <a:pPr indent="0" lvl="0" marL="0" marR="0" rtl="0" algn="r">
              <a:lnSpc>
                <a:spcPct val="100000"/>
              </a:lnSpc>
              <a:spcBef>
                <a:spcPts val="0"/>
              </a:spcBef>
              <a:spcAft>
                <a:spcPts val="0"/>
              </a:spcAft>
              <a:buClr>
                <a:srgbClr val="385623"/>
              </a:buClr>
              <a:buSzPts val="1200"/>
              <a:buFont typeface="Calibri"/>
              <a:buNone/>
            </a:pPr>
            <a:r>
              <a:rPr b="0" i="0" lang="en-US" sz="1200" u="none" cap="none" strike="noStrike">
                <a:solidFill>
                  <a:srgbClr val="385623"/>
                </a:solidFill>
                <a:latin typeface="Calibri"/>
                <a:ea typeface="Calibri"/>
                <a:cs typeface="Calibri"/>
                <a:sym typeface="Calibri"/>
              </a:rPr>
              <a:t>Date of Entry: Feb 1997</a:t>
            </a:r>
            <a:endParaRPr/>
          </a:p>
        </p:txBody>
      </p:sp>
      <p:pic>
        <p:nvPicPr>
          <p:cNvPr id="584" name="Google Shape;584;p10"/>
          <p:cNvPicPr preferRelativeResize="0"/>
          <p:nvPr/>
        </p:nvPicPr>
        <p:blipFill rotWithShape="1">
          <a:blip r:embed="rId6">
            <a:alphaModFix/>
          </a:blip>
          <a:srcRect b="0" l="0" r="0" t="0"/>
          <a:stretch/>
        </p:blipFill>
        <p:spPr>
          <a:xfrm>
            <a:off x="5523756" y="1437114"/>
            <a:ext cx="914400" cy="914400"/>
          </a:xfrm>
          <a:prstGeom prst="rect">
            <a:avLst/>
          </a:prstGeom>
          <a:solidFill>
            <a:srgbClr val="FFFF99"/>
          </a:solidFill>
          <a:ln>
            <a:noFill/>
          </a:ln>
        </p:spPr>
      </p:pic>
      <p:sp>
        <p:nvSpPr>
          <p:cNvPr id="585" name="Google Shape;585;p10"/>
          <p:cNvSpPr txBox="1"/>
          <p:nvPr/>
        </p:nvSpPr>
        <p:spPr>
          <a:xfrm>
            <a:off x="345587" y="3908372"/>
            <a:ext cx="1528392" cy="89255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Alma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Pascual, 4A</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Sep 1999</a:t>
            </a:r>
            <a:endParaRPr/>
          </a:p>
        </p:txBody>
      </p:sp>
      <p:pic>
        <p:nvPicPr>
          <p:cNvPr id="586" name="Google Shape;586;p10"/>
          <p:cNvPicPr preferRelativeResize="0"/>
          <p:nvPr/>
        </p:nvPicPr>
        <p:blipFill rotWithShape="1">
          <a:blip r:embed="rId7">
            <a:alphaModFix/>
          </a:blip>
          <a:srcRect b="46003" l="38889" r="19621" t="13898"/>
          <a:stretch/>
        </p:blipFill>
        <p:spPr>
          <a:xfrm>
            <a:off x="981556" y="3033433"/>
            <a:ext cx="800914" cy="914400"/>
          </a:xfrm>
          <a:prstGeom prst="rect">
            <a:avLst/>
          </a:prstGeom>
          <a:solidFill>
            <a:srgbClr val="FAF9F9"/>
          </a:solidFill>
          <a:ln>
            <a:noFill/>
          </a:ln>
        </p:spPr>
      </p:pic>
      <p:pic>
        <p:nvPicPr>
          <p:cNvPr descr="C:\Users\pj66\Pictures\2017\IMG_0139.JPG" id="587" name="Google Shape;587;p10"/>
          <p:cNvPicPr preferRelativeResize="0"/>
          <p:nvPr/>
        </p:nvPicPr>
        <p:blipFill rotWithShape="1">
          <a:blip r:embed="rId8">
            <a:alphaModFix/>
          </a:blip>
          <a:srcRect b="15788" l="27161" r="31413" t="45023"/>
          <a:stretch/>
        </p:blipFill>
        <p:spPr>
          <a:xfrm>
            <a:off x="5029191" y="3096817"/>
            <a:ext cx="974569" cy="914400"/>
          </a:xfrm>
          <a:prstGeom prst="rect">
            <a:avLst/>
          </a:prstGeom>
          <a:solidFill>
            <a:srgbClr val="FAF9F9"/>
          </a:solidFill>
          <a:ln>
            <a:noFill/>
          </a:ln>
        </p:spPr>
      </p:pic>
      <p:pic>
        <p:nvPicPr>
          <p:cNvPr descr="C:\Users\pj66\Pictures\2017\ann crisbelle celestial pic.jpg" id="588" name="Google Shape;588;p10"/>
          <p:cNvPicPr preferRelativeResize="0"/>
          <p:nvPr/>
        </p:nvPicPr>
        <p:blipFill rotWithShape="1">
          <a:blip r:embed="rId9">
            <a:alphaModFix/>
          </a:blip>
          <a:srcRect b="19835" l="16214" r="12956" t="3333"/>
          <a:stretch/>
        </p:blipFill>
        <p:spPr>
          <a:xfrm>
            <a:off x="6325552" y="3081134"/>
            <a:ext cx="968653" cy="914400"/>
          </a:xfrm>
          <a:prstGeom prst="rect">
            <a:avLst/>
          </a:prstGeom>
          <a:solidFill>
            <a:srgbClr val="FAF9F9"/>
          </a:solidFill>
          <a:ln>
            <a:noFill/>
          </a:ln>
        </p:spPr>
      </p:pic>
      <p:pic>
        <p:nvPicPr>
          <p:cNvPr id="589" name="Google Shape;589;p10"/>
          <p:cNvPicPr preferRelativeResize="0"/>
          <p:nvPr/>
        </p:nvPicPr>
        <p:blipFill rotWithShape="1">
          <a:blip r:embed="rId10">
            <a:alphaModFix/>
          </a:blip>
          <a:srcRect b="47268" l="39560" r="42700" t="32667"/>
          <a:stretch/>
        </p:blipFill>
        <p:spPr>
          <a:xfrm>
            <a:off x="2107939" y="3045217"/>
            <a:ext cx="1002567" cy="914400"/>
          </a:xfrm>
          <a:prstGeom prst="rect">
            <a:avLst/>
          </a:prstGeom>
          <a:solidFill>
            <a:srgbClr val="FAF9F9"/>
          </a:solidFill>
          <a:ln>
            <a:noFill/>
          </a:ln>
        </p:spPr>
      </p:pic>
      <p:pic>
        <p:nvPicPr>
          <p:cNvPr id="590" name="Google Shape;590;p10"/>
          <p:cNvPicPr preferRelativeResize="0"/>
          <p:nvPr/>
        </p:nvPicPr>
        <p:blipFill rotWithShape="1">
          <a:blip r:embed="rId11">
            <a:alphaModFix/>
          </a:blip>
          <a:srcRect b="56299" l="48425" r="38976" t="26376"/>
          <a:stretch/>
        </p:blipFill>
        <p:spPr>
          <a:xfrm>
            <a:off x="7735929" y="3119434"/>
            <a:ext cx="741298" cy="914400"/>
          </a:xfrm>
          <a:prstGeom prst="rect">
            <a:avLst/>
          </a:prstGeom>
          <a:noFill/>
          <a:ln>
            <a:noFill/>
          </a:ln>
        </p:spPr>
      </p:pic>
      <p:pic>
        <p:nvPicPr>
          <p:cNvPr id="591" name="Google Shape;591;p10"/>
          <p:cNvPicPr preferRelativeResize="0"/>
          <p:nvPr/>
        </p:nvPicPr>
        <p:blipFill rotWithShape="1">
          <a:blip r:embed="rId12">
            <a:alphaModFix/>
          </a:blip>
          <a:srcRect b="0" l="0" r="0" t="0"/>
          <a:stretch/>
        </p:blipFill>
        <p:spPr>
          <a:xfrm>
            <a:off x="8701860" y="3119434"/>
            <a:ext cx="888146" cy="941330"/>
          </a:xfrm>
          <a:prstGeom prst="rect">
            <a:avLst/>
          </a:prstGeom>
          <a:noFill/>
          <a:ln>
            <a:noFill/>
          </a:ln>
        </p:spPr>
      </p:pic>
      <p:sp>
        <p:nvSpPr>
          <p:cNvPr id="592" name="Google Shape;592;p10"/>
          <p:cNvSpPr txBox="1"/>
          <p:nvPr/>
        </p:nvSpPr>
        <p:spPr>
          <a:xfrm>
            <a:off x="352249" y="1584538"/>
            <a:ext cx="1019696"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9933"/>
              </a:buClr>
              <a:buSzPts val="5400"/>
              <a:buFont typeface="Impact"/>
              <a:buNone/>
            </a:pPr>
            <a:r>
              <a:rPr b="0" i="0" lang="en-US" sz="5400" u="none" cap="none" strike="noStrike">
                <a:solidFill>
                  <a:srgbClr val="FF9933"/>
                </a:solidFill>
                <a:latin typeface="Impact"/>
                <a:ea typeface="Impact"/>
                <a:cs typeface="Impact"/>
                <a:sym typeface="Impact"/>
              </a:rPr>
              <a:t>10</a:t>
            </a:r>
            <a:endParaRPr b="0" i="0" sz="5400" u="none" cap="none" strike="noStrike">
              <a:solidFill>
                <a:srgbClr val="FF9933"/>
              </a:solidFill>
              <a:latin typeface="Impact"/>
              <a:ea typeface="Impact"/>
              <a:cs typeface="Impact"/>
              <a:sym typeface="Impact"/>
            </a:endParaRPr>
          </a:p>
        </p:txBody>
      </p:sp>
      <p:sp>
        <p:nvSpPr>
          <p:cNvPr id="593" name="Google Shape;593;p10"/>
          <p:cNvSpPr txBox="1"/>
          <p:nvPr/>
        </p:nvSpPr>
        <p:spPr>
          <a:xfrm>
            <a:off x="1210314" y="1697713"/>
            <a:ext cx="127997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Warm </a:t>
            </a:r>
            <a:endParaRPr/>
          </a:p>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Bodies</a:t>
            </a:r>
            <a:endParaRPr b="1" i="0" sz="2000" u="none" cap="none" strike="noStrike">
              <a:solidFill>
                <a:srgbClr val="3A3838"/>
              </a:solidFill>
              <a:latin typeface="Calibri"/>
              <a:ea typeface="Calibri"/>
              <a:cs typeface="Calibri"/>
              <a:sym typeface="Calibri"/>
            </a:endParaRPr>
          </a:p>
        </p:txBody>
      </p:sp>
      <p:cxnSp>
        <p:nvCxnSpPr>
          <p:cNvPr id="594" name="Google Shape;594;p10"/>
          <p:cNvCxnSpPr/>
          <p:nvPr/>
        </p:nvCxnSpPr>
        <p:spPr>
          <a:xfrm>
            <a:off x="5532847" y="2659469"/>
            <a:ext cx="0" cy="417305"/>
          </a:xfrm>
          <a:prstGeom prst="straightConnector1">
            <a:avLst/>
          </a:prstGeom>
          <a:noFill/>
          <a:ln cap="flat" cmpd="sng" w="9525">
            <a:solidFill>
              <a:schemeClr val="dk1"/>
            </a:solidFill>
            <a:prstDash val="solid"/>
            <a:miter lim="800000"/>
            <a:headEnd len="sm" w="sm" type="none"/>
            <a:tailEnd len="sm" w="sm" type="none"/>
          </a:ln>
        </p:spPr>
      </p:cxnSp>
      <p:cxnSp>
        <p:nvCxnSpPr>
          <p:cNvPr id="595" name="Google Shape;595;p10"/>
          <p:cNvCxnSpPr/>
          <p:nvPr/>
        </p:nvCxnSpPr>
        <p:spPr>
          <a:xfrm>
            <a:off x="6779920" y="2627912"/>
            <a:ext cx="0" cy="417305"/>
          </a:xfrm>
          <a:prstGeom prst="straightConnector1">
            <a:avLst/>
          </a:prstGeom>
          <a:noFill/>
          <a:ln cap="flat" cmpd="sng" w="9525">
            <a:solidFill>
              <a:schemeClr val="dk1"/>
            </a:solidFill>
            <a:prstDash val="solid"/>
            <a:miter lim="800000"/>
            <a:headEnd len="sm" w="sm" type="none"/>
            <a:tailEnd len="sm" w="sm" type="none"/>
          </a:ln>
        </p:spPr>
      </p:cxnSp>
      <p:cxnSp>
        <p:nvCxnSpPr>
          <p:cNvPr id="596" name="Google Shape;596;p10"/>
          <p:cNvCxnSpPr/>
          <p:nvPr/>
        </p:nvCxnSpPr>
        <p:spPr>
          <a:xfrm>
            <a:off x="10085214" y="2627912"/>
            <a:ext cx="0" cy="417305"/>
          </a:xfrm>
          <a:prstGeom prst="straightConnector1">
            <a:avLst/>
          </a:prstGeom>
          <a:noFill/>
          <a:ln cap="flat" cmpd="sng" w="9525">
            <a:solidFill>
              <a:schemeClr val="dk1"/>
            </a:solidFill>
            <a:prstDash val="solid"/>
            <a:miter lim="800000"/>
            <a:headEnd len="sm" w="sm" type="none"/>
            <a:tailEnd len="sm" w="sm" type="none"/>
          </a:ln>
        </p:spPr>
      </p:cxnSp>
      <p:pic>
        <p:nvPicPr>
          <p:cNvPr id="597" name="Google Shape;597;p10"/>
          <p:cNvPicPr preferRelativeResize="0"/>
          <p:nvPr/>
        </p:nvPicPr>
        <p:blipFill rotWithShape="1">
          <a:blip r:embed="rId13">
            <a:alphaModFix/>
          </a:blip>
          <a:srcRect b="30228" l="23441" r="36722" t="28581"/>
          <a:stretch/>
        </p:blipFill>
        <p:spPr>
          <a:xfrm>
            <a:off x="9814639" y="3113749"/>
            <a:ext cx="790853" cy="914400"/>
          </a:xfrm>
          <a:prstGeom prst="rect">
            <a:avLst/>
          </a:prstGeom>
          <a:noFill/>
          <a:ln>
            <a:noFill/>
          </a:ln>
        </p:spPr>
      </p:pic>
      <p:pic>
        <p:nvPicPr>
          <p:cNvPr id="598" name="Google Shape;598;p10"/>
          <p:cNvPicPr preferRelativeResize="0"/>
          <p:nvPr/>
        </p:nvPicPr>
        <p:blipFill rotWithShape="1">
          <a:blip r:embed="rId14">
            <a:alphaModFix/>
          </a:blip>
          <a:srcRect b="27531" l="27531" r="23447" t="0"/>
          <a:stretch/>
        </p:blipFill>
        <p:spPr>
          <a:xfrm>
            <a:off x="10987699" y="3096817"/>
            <a:ext cx="618104" cy="914400"/>
          </a:xfrm>
          <a:prstGeom prst="rect">
            <a:avLst/>
          </a:prstGeom>
          <a:noFill/>
          <a:ln>
            <a:noFill/>
          </a:ln>
        </p:spPr>
      </p:pic>
      <p:sp>
        <p:nvSpPr>
          <p:cNvPr id="599" name="Google Shape;599;p10"/>
          <p:cNvSpPr txBox="1"/>
          <p:nvPr/>
        </p:nvSpPr>
        <p:spPr>
          <a:xfrm>
            <a:off x="9273870" y="4035619"/>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Joanna Paula Natividad, 3A</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Feb 2019</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sp>
        <p:nvSpPr>
          <p:cNvPr id="600" name="Google Shape;600;p10"/>
          <p:cNvSpPr txBox="1"/>
          <p:nvPr/>
        </p:nvSpPr>
        <p:spPr>
          <a:xfrm>
            <a:off x="10951028" y="3991076"/>
            <a:ext cx="1159412"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Kristoffer John </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Lamsen, 3A</a:t>
            </a:r>
            <a:endParaRPr/>
          </a:p>
          <a:p>
            <a:pPr indent="0" lvl="0" marL="0" marR="0" rtl="0" algn="l">
              <a:lnSpc>
                <a:spcPct val="100000"/>
              </a:lnSpc>
              <a:spcBef>
                <a:spcPts val="0"/>
              </a:spcBef>
              <a:spcAft>
                <a:spcPts val="0"/>
              </a:spcAft>
              <a:buClr>
                <a:srgbClr val="ED7D31"/>
              </a:buClr>
              <a:buSzPts val="1200"/>
              <a:buFont typeface="Calibri"/>
              <a:buNone/>
            </a:pPr>
            <a:r>
              <a:rPr b="0" i="0" lang="en-US" sz="1200" u="none" cap="none" strike="noStrike">
                <a:solidFill>
                  <a:srgbClr val="ED7D31"/>
                </a:solidFill>
                <a:latin typeface="Calibri"/>
                <a:ea typeface="Calibri"/>
                <a:cs typeface="Calibri"/>
                <a:sym typeface="Calibri"/>
              </a:rPr>
              <a:t>Date of Entry: </a:t>
            </a:r>
            <a:endParaRPr/>
          </a:p>
          <a:p>
            <a:pPr indent="0" lvl="0" marL="0" marR="0" rtl="0" algn="l">
              <a:lnSpc>
                <a:spcPct val="100000"/>
              </a:lnSpc>
              <a:spcBef>
                <a:spcPts val="0"/>
              </a:spcBef>
              <a:spcAft>
                <a:spcPts val="0"/>
              </a:spcAft>
              <a:buClr>
                <a:srgbClr val="ED7D31"/>
              </a:buClr>
              <a:buSzPts val="1200"/>
              <a:buFont typeface="Calibri"/>
              <a:buNone/>
            </a:pPr>
            <a:r>
              <a:rPr b="0" i="0" lang="en-US" sz="1200" u="none" cap="none" strike="noStrike">
                <a:solidFill>
                  <a:srgbClr val="ED7D31"/>
                </a:solidFill>
                <a:latin typeface="Calibri"/>
                <a:ea typeface="Calibri"/>
                <a:cs typeface="Calibri"/>
                <a:sym typeface="Calibri"/>
              </a:rPr>
              <a:t>Feb 2019</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ED7D3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ED7D31"/>
              </a:solidFill>
              <a:latin typeface="Calibri"/>
              <a:ea typeface="Calibri"/>
              <a:cs typeface="Calibri"/>
              <a:sym typeface="Calibri"/>
            </a:endParaRPr>
          </a:p>
        </p:txBody>
      </p:sp>
      <p:pic>
        <p:nvPicPr>
          <p:cNvPr id="601" name="Google Shape;601;p10"/>
          <p:cNvPicPr preferRelativeResize="0"/>
          <p:nvPr/>
        </p:nvPicPr>
        <p:blipFill rotWithShape="1">
          <a:blip r:embed="rId15">
            <a:alphaModFix/>
          </a:blip>
          <a:srcRect b="62508" l="22701" r="67322" t="18731"/>
          <a:stretch/>
        </p:blipFill>
        <p:spPr>
          <a:xfrm>
            <a:off x="3778861" y="2928173"/>
            <a:ext cx="745877" cy="105859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6" name="Shape 606"/>
        <p:cNvGrpSpPr/>
        <p:nvPr/>
      </p:nvGrpSpPr>
      <p:grpSpPr>
        <a:xfrm>
          <a:off x="0" y="0"/>
          <a:ext cx="0" cy="0"/>
          <a:chOff x="0" y="0"/>
          <a:chExt cx="0" cy="0"/>
        </a:xfrm>
      </p:grpSpPr>
      <p:cxnSp>
        <p:nvCxnSpPr>
          <p:cNvPr id="607" name="Google Shape;607;p11"/>
          <p:cNvCxnSpPr/>
          <p:nvPr/>
        </p:nvCxnSpPr>
        <p:spPr>
          <a:xfrm>
            <a:off x="6188717" y="2623097"/>
            <a:ext cx="0" cy="417305"/>
          </a:xfrm>
          <a:prstGeom prst="straightConnector1">
            <a:avLst/>
          </a:prstGeom>
          <a:noFill/>
          <a:ln cap="flat" cmpd="sng" w="9525">
            <a:solidFill>
              <a:schemeClr val="dk1"/>
            </a:solidFill>
            <a:prstDash val="solid"/>
            <a:miter lim="800000"/>
            <a:headEnd len="sm" w="sm" type="none"/>
            <a:tailEnd len="sm" w="sm" type="none"/>
          </a:ln>
        </p:spPr>
      </p:cxnSp>
      <p:grpSp>
        <p:nvGrpSpPr>
          <p:cNvPr id="608" name="Google Shape;608;p11"/>
          <p:cNvGrpSpPr/>
          <p:nvPr/>
        </p:nvGrpSpPr>
        <p:grpSpPr>
          <a:xfrm>
            <a:off x="64411" y="5029200"/>
            <a:ext cx="12127589" cy="1852020"/>
            <a:chOff x="64411" y="5029200"/>
            <a:chExt cx="12127589" cy="1852020"/>
          </a:xfrm>
        </p:grpSpPr>
        <p:pic>
          <p:nvPicPr>
            <p:cNvPr id="609" name="Google Shape;609;p11"/>
            <p:cNvPicPr preferRelativeResize="0"/>
            <p:nvPr/>
          </p:nvPicPr>
          <p:blipFill rotWithShape="1">
            <a:blip r:embed="rId3">
              <a:alphaModFix/>
            </a:blip>
            <a:srcRect b="48442" l="0" r="0" t="0"/>
            <a:stretch/>
          </p:blipFill>
          <p:spPr>
            <a:xfrm flipH="1" rot="10800000">
              <a:off x="2399626" y="5240195"/>
              <a:ext cx="4171210" cy="1611209"/>
            </a:xfrm>
            <a:prstGeom prst="rect">
              <a:avLst/>
            </a:prstGeom>
            <a:noFill/>
            <a:ln>
              <a:noFill/>
            </a:ln>
          </p:spPr>
        </p:pic>
        <p:pic>
          <p:nvPicPr>
            <p:cNvPr id="610" name="Google Shape;610;p11"/>
            <p:cNvPicPr preferRelativeResize="0"/>
            <p:nvPr/>
          </p:nvPicPr>
          <p:blipFill rotWithShape="1">
            <a:blip r:embed="rId3">
              <a:alphaModFix/>
            </a:blip>
            <a:srcRect b="48442" l="0" r="0" t="0"/>
            <a:stretch/>
          </p:blipFill>
          <p:spPr>
            <a:xfrm flipH="1" rot="10800000">
              <a:off x="64411" y="5270011"/>
              <a:ext cx="4171210" cy="1611209"/>
            </a:xfrm>
            <a:prstGeom prst="rect">
              <a:avLst/>
            </a:prstGeom>
            <a:noFill/>
            <a:ln>
              <a:noFill/>
            </a:ln>
          </p:spPr>
        </p:pic>
        <p:pic>
          <p:nvPicPr>
            <p:cNvPr id="611" name="Google Shape;611;p11"/>
            <p:cNvPicPr preferRelativeResize="0"/>
            <p:nvPr/>
          </p:nvPicPr>
          <p:blipFill rotWithShape="1">
            <a:blip r:embed="rId3">
              <a:alphaModFix/>
            </a:blip>
            <a:srcRect b="48442" l="0" r="0" t="0"/>
            <a:stretch/>
          </p:blipFill>
          <p:spPr>
            <a:xfrm flipH="1" rot="10800000">
              <a:off x="4413537" y="5246791"/>
              <a:ext cx="4171210" cy="1611209"/>
            </a:xfrm>
            <a:prstGeom prst="rect">
              <a:avLst/>
            </a:prstGeom>
            <a:noFill/>
            <a:ln>
              <a:noFill/>
            </a:ln>
          </p:spPr>
        </p:pic>
        <p:pic>
          <p:nvPicPr>
            <p:cNvPr id="612" name="Google Shape;612;p11"/>
            <p:cNvPicPr preferRelativeResize="0"/>
            <p:nvPr/>
          </p:nvPicPr>
          <p:blipFill rotWithShape="1">
            <a:blip r:embed="rId4">
              <a:alphaModFix/>
            </a:blip>
            <a:srcRect b="0" l="0" r="0" t="0"/>
            <a:stretch/>
          </p:blipFill>
          <p:spPr>
            <a:xfrm>
              <a:off x="1401171" y="5552551"/>
              <a:ext cx="917965" cy="914400"/>
            </a:xfrm>
            <a:prstGeom prst="rect">
              <a:avLst/>
            </a:prstGeom>
            <a:noFill/>
            <a:ln>
              <a:noFill/>
            </a:ln>
          </p:spPr>
        </p:pic>
        <p:sp>
          <p:nvSpPr>
            <p:cNvPr id="613" name="Google Shape;613;p11"/>
            <p:cNvSpPr/>
            <p:nvPr/>
          </p:nvSpPr>
          <p:spPr>
            <a:xfrm>
              <a:off x="162665" y="5029200"/>
              <a:ext cx="182880" cy="1828800"/>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614" name="Google Shape;614;p11"/>
            <p:cNvPicPr preferRelativeResize="0"/>
            <p:nvPr/>
          </p:nvPicPr>
          <p:blipFill rotWithShape="1">
            <a:blip r:embed="rId3">
              <a:alphaModFix/>
            </a:blip>
            <a:srcRect b="48442" l="0" r="0" t="0"/>
            <a:stretch/>
          </p:blipFill>
          <p:spPr>
            <a:xfrm flipH="1" rot="10800000">
              <a:off x="8293562" y="5361982"/>
              <a:ext cx="3898438" cy="1496018"/>
            </a:xfrm>
            <a:prstGeom prst="rect">
              <a:avLst/>
            </a:prstGeom>
            <a:noFill/>
            <a:ln>
              <a:noFill/>
            </a:ln>
          </p:spPr>
        </p:pic>
        <p:sp>
          <p:nvSpPr>
            <p:cNvPr id="615" name="Google Shape;615;p11"/>
            <p:cNvSpPr txBox="1"/>
            <p:nvPr/>
          </p:nvSpPr>
          <p:spPr>
            <a:xfrm>
              <a:off x="327909" y="5728222"/>
              <a:ext cx="6146644" cy="95410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New Business Services </a:t>
              </a:r>
              <a:endParaRPr/>
            </a:p>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Team 2 – SLOCPI GIO &amp; Regular App</a:t>
              </a:r>
              <a:endParaRPr b="1" i="0" sz="2800" u="none" cap="none" strike="noStrike">
                <a:solidFill>
                  <a:srgbClr val="000000"/>
                </a:solidFill>
                <a:latin typeface="Calibri"/>
                <a:ea typeface="Calibri"/>
                <a:cs typeface="Calibri"/>
                <a:sym typeface="Calibri"/>
              </a:endParaRPr>
            </a:p>
          </p:txBody>
        </p:sp>
      </p:grpSp>
      <p:cxnSp>
        <p:nvCxnSpPr>
          <p:cNvPr id="616" name="Google Shape;616;p11"/>
          <p:cNvCxnSpPr/>
          <p:nvPr/>
        </p:nvCxnSpPr>
        <p:spPr>
          <a:xfrm>
            <a:off x="6122504" y="506896"/>
            <a:ext cx="55350" cy="2115678"/>
          </a:xfrm>
          <a:prstGeom prst="straightConnector1">
            <a:avLst/>
          </a:prstGeom>
          <a:noFill/>
          <a:ln cap="flat" cmpd="sng" w="9525">
            <a:solidFill>
              <a:schemeClr val="dk1"/>
            </a:solidFill>
            <a:prstDash val="solid"/>
            <a:miter lim="800000"/>
            <a:headEnd len="sm" w="sm" type="none"/>
            <a:tailEnd len="sm" w="sm" type="none"/>
          </a:ln>
        </p:spPr>
      </p:cxnSp>
      <p:cxnSp>
        <p:nvCxnSpPr>
          <p:cNvPr id="617" name="Google Shape;617;p11"/>
          <p:cNvCxnSpPr/>
          <p:nvPr/>
        </p:nvCxnSpPr>
        <p:spPr>
          <a:xfrm>
            <a:off x="3663100" y="2620578"/>
            <a:ext cx="0" cy="417305"/>
          </a:xfrm>
          <a:prstGeom prst="straightConnector1">
            <a:avLst/>
          </a:prstGeom>
          <a:noFill/>
          <a:ln cap="flat" cmpd="sng" w="9525">
            <a:solidFill>
              <a:schemeClr val="dk1"/>
            </a:solidFill>
            <a:prstDash val="solid"/>
            <a:miter lim="800000"/>
            <a:headEnd len="sm" w="sm" type="none"/>
            <a:tailEnd len="sm" w="sm" type="none"/>
          </a:ln>
        </p:spPr>
      </p:cxnSp>
      <p:cxnSp>
        <p:nvCxnSpPr>
          <p:cNvPr id="618" name="Google Shape;618;p11"/>
          <p:cNvCxnSpPr/>
          <p:nvPr/>
        </p:nvCxnSpPr>
        <p:spPr>
          <a:xfrm>
            <a:off x="3408603" y="3230555"/>
            <a:ext cx="0" cy="0"/>
          </a:xfrm>
          <a:prstGeom prst="straightConnector1">
            <a:avLst/>
          </a:prstGeom>
          <a:noFill/>
          <a:ln cap="flat" cmpd="sng" w="9525">
            <a:solidFill>
              <a:schemeClr val="dk1"/>
            </a:solidFill>
            <a:prstDash val="solid"/>
            <a:miter lim="800000"/>
            <a:headEnd len="sm" w="sm" type="none"/>
            <a:tailEnd len="sm" w="sm" type="none"/>
          </a:ln>
        </p:spPr>
      </p:cxnSp>
      <p:grpSp>
        <p:nvGrpSpPr>
          <p:cNvPr id="619" name="Google Shape;619;p11"/>
          <p:cNvGrpSpPr/>
          <p:nvPr/>
        </p:nvGrpSpPr>
        <p:grpSpPr>
          <a:xfrm>
            <a:off x="5307012" y="61581"/>
            <a:ext cx="4059060" cy="1213076"/>
            <a:chOff x="5307012" y="108877"/>
            <a:chExt cx="4059060" cy="1213076"/>
          </a:xfrm>
        </p:grpSpPr>
        <p:grpSp>
          <p:nvGrpSpPr>
            <p:cNvPr id="620" name="Google Shape;620;p11"/>
            <p:cNvGrpSpPr/>
            <p:nvPr/>
          </p:nvGrpSpPr>
          <p:grpSpPr>
            <a:xfrm>
              <a:off x="5307012" y="108877"/>
              <a:ext cx="4059060" cy="1213076"/>
              <a:chOff x="5307012" y="187349"/>
              <a:chExt cx="4059060" cy="1213076"/>
            </a:xfrm>
          </p:grpSpPr>
          <p:sp>
            <p:nvSpPr>
              <p:cNvPr id="621" name="Google Shape;621;p11"/>
              <p:cNvSpPr/>
              <p:nvPr/>
            </p:nvSpPr>
            <p:spPr>
              <a:xfrm>
                <a:off x="5307012" y="187349"/>
                <a:ext cx="4059060" cy="1213076"/>
              </a:xfrm>
              <a:prstGeom prst="rect">
                <a:avLst/>
              </a:prstGeom>
              <a:solidFill>
                <a:srgbClr val="80000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22" name="Google Shape;622;p11"/>
              <p:cNvCxnSpPr/>
              <p:nvPr/>
            </p:nvCxnSpPr>
            <p:spPr>
              <a:xfrm>
                <a:off x="6402134" y="1260474"/>
                <a:ext cx="2378765" cy="0"/>
              </a:xfrm>
              <a:prstGeom prst="straightConnector1">
                <a:avLst/>
              </a:prstGeom>
              <a:noFill/>
              <a:ln cap="flat" cmpd="sng" w="9525">
                <a:solidFill>
                  <a:srgbClr val="800000"/>
                </a:solidFill>
                <a:prstDash val="solid"/>
                <a:miter lim="800000"/>
                <a:headEnd len="sm" w="sm" type="none"/>
                <a:tailEnd len="sm" w="sm" type="none"/>
              </a:ln>
            </p:spPr>
          </p:cxnSp>
        </p:grpSp>
        <p:pic>
          <p:nvPicPr>
            <p:cNvPr id="623" name="Google Shape;623;p11"/>
            <p:cNvPicPr preferRelativeResize="0"/>
            <p:nvPr/>
          </p:nvPicPr>
          <p:blipFill rotWithShape="1">
            <a:blip r:embed="rId5">
              <a:alphaModFix/>
            </a:blip>
            <a:srcRect b="0" l="0" r="0" t="0"/>
            <a:stretch/>
          </p:blipFill>
          <p:spPr>
            <a:xfrm>
              <a:off x="5487004" y="195600"/>
              <a:ext cx="914400" cy="1016432"/>
            </a:xfrm>
            <a:prstGeom prst="rect">
              <a:avLst/>
            </a:prstGeom>
            <a:solidFill>
              <a:srgbClr val="FFFF99"/>
            </a:solidFill>
            <a:ln cap="flat" cmpd="sng" w="9525">
              <a:solidFill>
                <a:schemeClr val="dk1"/>
              </a:solidFill>
              <a:prstDash val="solid"/>
              <a:round/>
              <a:headEnd len="sm" w="sm" type="none"/>
              <a:tailEnd len="sm" w="sm" type="none"/>
            </a:ln>
          </p:spPr>
        </p:pic>
      </p:grpSp>
      <p:sp>
        <p:nvSpPr>
          <p:cNvPr id="624" name="Google Shape;624;p11"/>
          <p:cNvSpPr txBox="1"/>
          <p:nvPr/>
        </p:nvSpPr>
        <p:spPr>
          <a:xfrm>
            <a:off x="1482545" y="3870853"/>
            <a:ext cx="1528392" cy="89255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Rhealyn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Duzon, 3B</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Nov 2016</a:t>
            </a:r>
            <a:endParaRPr/>
          </a:p>
        </p:txBody>
      </p:sp>
      <p:sp>
        <p:nvSpPr>
          <p:cNvPr id="625" name="Google Shape;625;p11"/>
          <p:cNvSpPr txBox="1"/>
          <p:nvPr/>
        </p:nvSpPr>
        <p:spPr>
          <a:xfrm>
            <a:off x="2672650" y="3855910"/>
            <a:ext cx="1528392" cy="126188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Joanne</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Bermejo, 3A</a:t>
            </a:r>
            <a:endParaRPr/>
          </a:p>
          <a:p>
            <a:pPr indent="0" lvl="0" marL="0" marR="0" rtl="0" algn="r">
              <a:lnSpc>
                <a:spcPct val="100000"/>
              </a:lnSpc>
              <a:spcBef>
                <a:spcPts val="0"/>
              </a:spcBef>
              <a:spcAft>
                <a:spcPts val="0"/>
              </a:spcAft>
              <a:buClr>
                <a:srgbClr val="ED7D31"/>
              </a:buClr>
              <a:buSzPts val="1200"/>
              <a:buFont typeface="Calibri"/>
              <a:buNone/>
            </a:pPr>
            <a:r>
              <a:rPr b="0" i="0" lang="en-US" sz="1200" u="none" cap="none" strike="noStrike">
                <a:solidFill>
                  <a:srgbClr val="ED7D31"/>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ED7D31"/>
              </a:buClr>
              <a:buSzPts val="1200"/>
              <a:buFont typeface="Calibri"/>
              <a:buNone/>
            </a:pPr>
            <a:r>
              <a:rPr b="0" i="0" lang="en-US" sz="1200" u="none" cap="none" strike="noStrike">
                <a:solidFill>
                  <a:srgbClr val="ED7D31"/>
                </a:solidFill>
                <a:latin typeface="Calibri"/>
                <a:ea typeface="Calibri"/>
                <a:cs typeface="Calibri"/>
                <a:sym typeface="Calibri"/>
              </a:rPr>
              <a:t>May 2017</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ED7D31"/>
              </a:solidFill>
              <a:latin typeface="Calibri"/>
              <a:ea typeface="Calibri"/>
              <a:cs typeface="Calibri"/>
              <a:sym typeface="Calibri"/>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ED7D31"/>
              </a:solidFill>
              <a:latin typeface="Calibri"/>
              <a:ea typeface="Calibri"/>
              <a:cs typeface="Calibri"/>
              <a:sym typeface="Calibri"/>
            </a:endParaRPr>
          </a:p>
        </p:txBody>
      </p:sp>
      <p:sp>
        <p:nvSpPr>
          <p:cNvPr id="626" name="Google Shape;626;p11"/>
          <p:cNvSpPr txBox="1"/>
          <p:nvPr/>
        </p:nvSpPr>
        <p:spPr>
          <a:xfrm>
            <a:off x="4045284" y="3866141"/>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Rozezene E. </a:t>
            </a:r>
            <a:endParaRPr b="1" i="0" sz="14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Plaza, 3A</a:t>
            </a:r>
            <a:endParaRPr b="1" i="0" sz="1200" u="none" cap="none" strike="noStrike">
              <a:solidFill>
                <a:srgbClr val="002060"/>
              </a:solidFill>
              <a:latin typeface="Calibri"/>
              <a:ea typeface="Calibri"/>
              <a:cs typeface="Calibri"/>
              <a:sym typeface="Calibri"/>
            </a:endParaRPr>
          </a:p>
          <a:p>
            <a:pPr indent="0" lvl="0" marL="0" marR="0" rtl="0" algn="r">
              <a:lnSpc>
                <a:spcPct val="100000"/>
              </a:lnSpc>
              <a:spcBef>
                <a:spcPts val="0"/>
              </a:spcBef>
              <a:spcAft>
                <a:spcPts val="0"/>
              </a:spcAft>
              <a:buClr>
                <a:srgbClr val="002060"/>
              </a:buClr>
              <a:buSzPts val="1200"/>
              <a:buFont typeface="Calibri"/>
              <a:buNone/>
            </a:pPr>
            <a:r>
              <a:rPr b="0" i="0" lang="en-US" sz="1200" u="none" cap="none" strike="noStrike">
                <a:solidFill>
                  <a:srgbClr val="00206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002060"/>
              </a:buClr>
              <a:buSzPts val="1200"/>
              <a:buFont typeface="Calibri"/>
              <a:buNone/>
            </a:pPr>
            <a:r>
              <a:rPr b="0" i="0" lang="en-US" sz="1200" u="none" cap="none" strike="noStrike">
                <a:solidFill>
                  <a:srgbClr val="002060"/>
                </a:solidFill>
                <a:latin typeface="Calibri"/>
                <a:ea typeface="Calibri"/>
                <a:cs typeface="Calibri"/>
                <a:sym typeface="Calibri"/>
              </a:rPr>
              <a:t>May 2019</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sp>
        <p:nvSpPr>
          <p:cNvPr id="627" name="Google Shape;627;p11"/>
          <p:cNvSpPr txBox="1"/>
          <p:nvPr/>
        </p:nvSpPr>
        <p:spPr>
          <a:xfrm>
            <a:off x="5257781" y="3866141"/>
            <a:ext cx="1528392" cy="73866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FF0000"/>
              </a:buClr>
              <a:buSzPts val="1400"/>
              <a:buFont typeface="Calibri"/>
              <a:buNone/>
            </a:pPr>
            <a:r>
              <a:rPr b="1" i="0" lang="en-US" sz="1400" u="none" cap="none" strike="noStrike">
                <a:solidFill>
                  <a:srgbClr val="FF0000"/>
                </a:solidFill>
                <a:latin typeface="Calibri"/>
                <a:ea typeface="Calibri"/>
                <a:cs typeface="Calibri"/>
                <a:sym typeface="Calibri"/>
              </a:rPr>
              <a:t>VACANT –  Replacement </a:t>
            </a:r>
            <a:endParaRPr b="1" i="0" sz="1400" u="none" cap="none" strike="noStrike">
              <a:solidFill>
                <a:srgbClr val="FF0000"/>
              </a:solidFill>
              <a:latin typeface="Calibri"/>
              <a:ea typeface="Calibri"/>
              <a:cs typeface="Calibri"/>
              <a:sym typeface="Calibri"/>
            </a:endParaRPr>
          </a:p>
          <a:p>
            <a:pPr indent="0" lvl="0" marL="0" marR="0" rtl="0" algn="r">
              <a:lnSpc>
                <a:spcPct val="100000"/>
              </a:lnSpc>
              <a:spcBef>
                <a:spcPts val="0"/>
              </a:spcBef>
              <a:spcAft>
                <a:spcPts val="0"/>
              </a:spcAft>
              <a:buClr>
                <a:srgbClr val="FF0000"/>
              </a:buClr>
              <a:buSzPts val="1400"/>
              <a:buFont typeface="Calibri"/>
              <a:buNone/>
            </a:pPr>
            <a:r>
              <a:rPr b="1" i="0" lang="en-US" sz="1400" u="none" cap="none" strike="noStrike">
                <a:solidFill>
                  <a:srgbClr val="FF0000"/>
                </a:solidFill>
                <a:latin typeface="Calibri"/>
                <a:ea typeface="Calibri"/>
                <a:cs typeface="Calibri"/>
                <a:sym typeface="Calibri"/>
              </a:rPr>
              <a:t>Of C Bambico</a:t>
            </a:r>
            <a:endParaRPr b="0" i="0" sz="1200" u="none" cap="none" strike="noStrike">
              <a:solidFill>
                <a:srgbClr val="FF0000"/>
              </a:solidFill>
              <a:latin typeface="Calibri"/>
              <a:ea typeface="Calibri"/>
              <a:cs typeface="Calibri"/>
              <a:sym typeface="Calibri"/>
            </a:endParaRPr>
          </a:p>
        </p:txBody>
      </p:sp>
      <p:cxnSp>
        <p:nvCxnSpPr>
          <p:cNvPr id="628" name="Google Shape;628;p11"/>
          <p:cNvCxnSpPr/>
          <p:nvPr/>
        </p:nvCxnSpPr>
        <p:spPr>
          <a:xfrm>
            <a:off x="1296139" y="2616128"/>
            <a:ext cx="0" cy="417305"/>
          </a:xfrm>
          <a:prstGeom prst="straightConnector1">
            <a:avLst/>
          </a:prstGeom>
          <a:noFill/>
          <a:ln cap="flat" cmpd="sng" w="9525">
            <a:solidFill>
              <a:schemeClr val="dk1"/>
            </a:solidFill>
            <a:prstDash val="solid"/>
            <a:miter lim="800000"/>
            <a:headEnd len="sm" w="sm" type="none"/>
            <a:tailEnd len="sm" w="sm" type="none"/>
          </a:ln>
        </p:spPr>
      </p:cxnSp>
      <p:cxnSp>
        <p:nvCxnSpPr>
          <p:cNvPr id="629" name="Google Shape;629;p11"/>
          <p:cNvCxnSpPr/>
          <p:nvPr/>
        </p:nvCxnSpPr>
        <p:spPr>
          <a:xfrm>
            <a:off x="11072557" y="2598468"/>
            <a:ext cx="0" cy="417305"/>
          </a:xfrm>
          <a:prstGeom prst="straightConnector1">
            <a:avLst/>
          </a:prstGeom>
          <a:noFill/>
          <a:ln cap="flat" cmpd="sng" w="9525">
            <a:solidFill>
              <a:schemeClr val="dk1"/>
            </a:solidFill>
            <a:prstDash val="solid"/>
            <a:miter lim="800000"/>
            <a:headEnd len="sm" w="sm" type="none"/>
            <a:tailEnd len="sm" w="sm" type="none"/>
          </a:ln>
        </p:spPr>
      </p:cxnSp>
      <p:sp>
        <p:nvSpPr>
          <p:cNvPr id="630" name="Google Shape;630;p11"/>
          <p:cNvSpPr txBox="1"/>
          <p:nvPr/>
        </p:nvSpPr>
        <p:spPr>
          <a:xfrm>
            <a:off x="445702" y="3867555"/>
            <a:ext cx="1528392" cy="67710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Ira Espanol, 3B</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Date of Entry:</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Oct 2013</a:t>
            </a:r>
            <a:endParaRPr/>
          </a:p>
        </p:txBody>
      </p:sp>
      <p:cxnSp>
        <p:nvCxnSpPr>
          <p:cNvPr id="631" name="Google Shape;631;p11"/>
          <p:cNvCxnSpPr/>
          <p:nvPr/>
        </p:nvCxnSpPr>
        <p:spPr>
          <a:xfrm>
            <a:off x="1296139" y="2616128"/>
            <a:ext cx="9776418" cy="10174"/>
          </a:xfrm>
          <a:prstGeom prst="straightConnector1">
            <a:avLst/>
          </a:prstGeom>
          <a:noFill/>
          <a:ln cap="flat" cmpd="sng" w="9525">
            <a:solidFill>
              <a:schemeClr val="dk1"/>
            </a:solidFill>
            <a:prstDash val="solid"/>
            <a:miter lim="800000"/>
            <a:headEnd len="sm" w="sm" type="none"/>
            <a:tailEnd len="sm" w="sm" type="none"/>
          </a:ln>
        </p:spPr>
      </p:cxnSp>
      <p:sp>
        <p:nvSpPr>
          <p:cNvPr id="632" name="Google Shape;632;p11"/>
          <p:cNvSpPr txBox="1"/>
          <p:nvPr/>
        </p:nvSpPr>
        <p:spPr>
          <a:xfrm>
            <a:off x="455131" y="1584538"/>
            <a:ext cx="916814"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9933"/>
              </a:buClr>
              <a:buSzPts val="5400"/>
              <a:buFont typeface="Impact"/>
              <a:buNone/>
            </a:pPr>
            <a:r>
              <a:rPr b="0" i="0" lang="en-US" sz="5400" u="none" cap="none" strike="noStrike">
                <a:solidFill>
                  <a:srgbClr val="FF9933"/>
                </a:solidFill>
                <a:latin typeface="Impact"/>
                <a:ea typeface="Impact"/>
                <a:cs typeface="Impact"/>
                <a:sym typeface="Impact"/>
              </a:rPr>
              <a:t>9</a:t>
            </a:r>
            <a:endParaRPr b="0" i="0" sz="5400" u="none" cap="none" strike="noStrike">
              <a:solidFill>
                <a:srgbClr val="FF9933"/>
              </a:solidFill>
              <a:latin typeface="Impact"/>
              <a:ea typeface="Impact"/>
              <a:cs typeface="Impact"/>
              <a:sym typeface="Impact"/>
            </a:endParaRPr>
          </a:p>
        </p:txBody>
      </p:sp>
      <p:sp>
        <p:nvSpPr>
          <p:cNvPr id="633" name="Google Shape;633;p11"/>
          <p:cNvSpPr txBox="1"/>
          <p:nvPr/>
        </p:nvSpPr>
        <p:spPr>
          <a:xfrm>
            <a:off x="1210314" y="1697713"/>
            <a:ext cx="127997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Warm </a:t>
            </a:r>
            <a:endParaRPr/>
          </a:p>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Bodies</a:t>
            </a:r>
            <a:endParaRPr b="1" i="0" sz="2000" u="none" cap="none" strike="noStrike">
              <a:solidFill>
                <a:srgbClr val="3A3838"/>
              </a:solidFill>
              <a:latin typeface="Calibri"/>
              <a:ea typeface="Calibri"/>
              <a:cs typeface="Calibri"/>
              <a:sym typeface="Calibri"/>
            </a:endParaRPr>
          </a:p>
        </p:txBody>
      </p:sp>
      <p:sp>
        <p:nvSpPr>
          <p:cNvPr id="634" name="Google Shape;634;p11"/>
          <p:cNvSpPr/>
          <p:nvPr/>
        </p:nvSpPr>
        <p:spPr>
          <a:xfrm>
            <a:off x="2948355" y="1301977"/>
            <a:ext cx="3547328" cy="1257158"/>
          </a:xfrm>
          <a:prstGeom prst="rect">
            <a:avLst/>
          </a:prstGeom>
          <a:solidFill>
            <a:srgbClr val="0070C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635" name="Google Shape;635;p11"/>
          <p:cNvPicPr preferRelativeResize="0"/>
          <p:nvPr/>
        </p:nvPicPr>
        <p:blipFill rotWithShape="1">
          <a:blip r:embed="rId6">
            <a:alphaModFix/>
          </a:blip>
          <a:srcRect b="0" l="0" r="0" t="0"/>
          <a:stretch/>
        </p:blipFill>
        <p:spPr>
          <a:xfrm>
            <a:off x="5511548" y="1439783"/>
            <a:ext cx="902246" cy="914400"/>
          </a:xfrm>
          <a:prstGeom prst="rect">
            <a:avLst/>
          </a:prstGeom>
          <a:solidFill>
            <a:srgbClr val="FFFF99"/>
          </a:solidFill>
          <a:ln>
            <a:noFill/>
          </a:ln>
        </p:spPr>
      </p:pic>
      <p:sp>
        <p:nvSpPr>
          <p:cNvPr id="636" name="Google Shape;636;p11"/>
          <p:cNvSpPr txBox="1"/>
          <p:nvPr/>
        </p:nvSpPr>
        <p:spPr>
          <a:xfrm>
            <a:off x="2926008" y="1442790"/>
            <a:ext cx="2613220" cy="92333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Jimmy Valdez</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1</a:t>
            </a:r>
            <a:endParaRPr/>
          </a:p>
          <a:p>
            <a:pPr indent="0" lvl="0" marL="0" marR="0" rtl="0" algn="r">
              <a:lnSpc>
                <a:spcPct val="100000"/>
              </a:lnSpc>
              <a:spcBef>
                <a:spcPts val="0"/>
              </a:spcBef>
              <a:spcAft>
                <a:spcPts val="0"/>
              </a:spcAft>
              <a:buClr>
                <a:srgbClr val="0070C0"/>
              </a:buClr>
              <a:buSzPts val="1400"/>
              <a:buFont typeface="Calibri"/>
              <a:buNone/>
            </a:pPr>
            <a:r>
              <a:rPr b="1" i="0" lang="en-US" sz="1400" u="none" cap="none" strike="noStrike">
                <a:solidFill>
                  <a:srgbClr val="0070C0"/>
                </a:solidFill>
                <a:latin typeface="Calibri"/>
                <a:ea typeface="Calibri"/>
                <a:cs typeface="Calibri"/>
                <a:sym typeface="Calibri"/>
              </a:rPr>
              <a:t>Team 2 - </a:t>
            </a:r>
            <a:r>
              <a:rPr b="1" i="0" lang="en-US" sz="1200" u="none" cap="none" strike="noStrike">
                <a:solidFill>
                  <a:srgbClr val="0070C0"/>
                </a:solidFill>
                <a:latin typeface="Calibri"/>
                <a:ea typeface="Calibri"/>
                <a:cs typeface="Calibri"/>
                <a:sym typeface="Calibri"/>
              </a:rPr>
              <a:t>SLOCPI  GIO &amp; Regular App</a:t>
            </a:r>
            <a:r>
              <a:rPr b="1" i="0" lang="en-US" sz="1400" u="none" cap="none" strike="noStrike">
                <a:solidFill>
                  <a:srgbClr val="0070C0"/>
                </a:solidFill>
                <a:latin typeface="Calibri"/>
                <a:ea typeface="Calibri"/>
                <a:cs typeface="Calibri"/>
                <a:sym typeface="Calibri"/>
              </a:rPr>
              <a:t> </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Date of Entry: June 2004</a:t>
            </a:r>
            <a:endParaRPr/>
          </a:p>
        </p:txBody>
      </p:sp>
      <p:pic>
        <p:nvPicPr>
          <p:cNvPr id="637" name="Google Shape;637;p11"/>
          <p:cNvPicPr preferRelativeResize="0"/>
          <p:nvPr/>
        </p:nvPicPr>
        <p:blipFill rotWithShape="1">
          <a:blip r:embed="rId7">
            <a:alphaModFix/>
          </a:blip>
          <a:srcRect b="40073" l="3117" r="74121" t="33500"/>
          <a:stretch/>
        </p:blipFill>
        <p:spPr>
          <a:xfrm>
            <a:off x="1002119" y="2925607"/>
            <a:ext cx="831272" cy="914400"/>
          </a:xfrm>
          <a:prstGeom prst="rect">
            <a:avLst/>
          </a:prstGeom>
          <a:solidFill>
            <a:srgbClr val="FAF9F9"/>
          </a:solidFill>
          <a:ln>
            <a:noFill/>
          </a:ln>
        </p:spPr>
      </p:pic>
      <p:pic>
        <p:nvPicPr>
          <p:cNvPr id="638" name="Google Shape;638;p11"/>
          <p:cNvPicPr preferRelativeResize="0"/>
          <p:nvPr/>
        </p:nvPicPr>
        <p:blipFill rotWithShape="1">
          <a:blip r:embed="rId8">
            <a:alphaModFix/>
          </a:blip>
          <a:srcRect b="35299" l="31889" r="41337" t="17451"/>
          <a:stretch/>
        </p:blipFill>
        <p:spPr>
          <a:xfrm>
            <a:off x="3301585" y="2923138"/>
            <a:ext cx="886994" cy="914400"/>
          </a:xfrm>
          <a:prstGeom prst="rect">
            <a:avLst/>
          </a:prstGeom>
          <a:solidFill>
            <a:srgbClr val="FAF9F9"/>
          </a:solidFill>
          <a:ln>
            <a:noFill/>
          </a:ln>
        </p:spPr>
      </p:pic>
      <p:sp>
        <p:nvSpPr>
          <p:cNvPr id="639" name="Google Shape;639;p11"/>
          <p:cNvSpPr txBox="1"/>
          <p:nvPr/>
        </p:nvSpPr>
        <p:spPr>
          <a:xfrm>
            <a:off x="6474553" y="138780"/>
            <a:ext cx="2891518"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Vilma Tubig, ACS, PCS, FLMI </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3</a:t>
            </a:r>
            <a:endParaRPr/>
          </a:p>
          <a:p>
            <a:pPr indent="0" lvl="0" marL="0" marR="0" rtl="0" algn="l">
              <a:lnSpc>
                <a:spcPct val="100000"/>
              </a:lnSpc>
              <a:spcBef>
                <a:spcPts val="0"/>
              </a:spcBef>
              <a:spcAft>
                <a:spcPts val="0"/>
              </a:spcAft>
              <a:buClr>
                <a:srgbClr val="C55A11"/>
              </a:buClr>
              <a:buSzPts val="1400"/>
              <a:buFont typeface="Calibri"/>
              <a:buNone/>
            </a:pPr>
            <a:r>
              <a:rPr b="1" i="0" lang="en-US" sz="1400" u="none" cap="none" strike="noStrike">
                <a:solidFill>
                  <a:srgbClr val="C55A11"/>
                </a:solidFill>
                <a:latin typeface="Calibri"/>
                <a:ea typeface="Calibri"/>
                <a:cs typeface="Calibri"/>
                <a:sym typeface="Calibri"/>
              </a:rPr>
              <a:t>NB Review, Facilitating and Post-Issue</a:t>
            </a:r>
            <a:endParaRPr/>
          </a:p>
          <a:p>
            <a:pPr indent="0" lvl="0" marL="0" marR="0" rtl="0" algn="l">
              <a:lnSpc>
                <a:spcPct val="100000"/>
              </a:lnSpc>
              <a:spcBef>
                <a:spcPts val="0"/>
              </a:spcBef>
              <a:spcAft>
                <a:spcPts val="0"/>
              </a:spcAft>
              <a:buClr>
                <a:srgbClr val="C55A11"/>
              </a:buClr>
              <a:buSzPts val="1200"/>
              <a:buFont typeface="Calibri"/>
              <a:buNone/>
            </a:pPr>
            <a:r>
              <a:rPr b="0" i="0" lang="en-US" sz="1200" u="none" cap="none" strike="noStrike">
                <a:solidFill>
                  <a:srgbClr val="C55A11"/>
                </a:solidFill>
                <a:latin typeface="Calibri"/>
                <a:ea typeface="Calibri"/>
                <a:cs typeface="Calibri"/>
                <a:sym typeface="Calibri"/>
              </a:rPr>
              <a:t>Date of Entry: Nov 1999</a:t>
            </a:r>
            <a:endParaRPr/>
          </a:p>
        </p:txBody>
      </p:sp>
      <p:cxnSp>
        <p:nvCxnSpPr>
          <p:cNvPr id="640" name="Google Shape;640;p11"/>
          <p:cNvCxnSpPr/>
          <p:nvPr/>
        </p:nvCxnSpPr>
        <p:spPr>
          <a:xfrm>
            <a:off x="2509699" y="2612018"/>
            <a:ext cx="0" cy="417305"/>
          </a:xfrm>
          <a:prstGeom prst="straightConnector1">
            <a:avLst/>
          </a:prstGeom>
          <a:noFill/>
          <a:ln cap="flat" cmpd="sng" w="9525">
            <a:solidFill>
              <a:schemeClr val="dk1"/>
            </a:solidFill>
            <a:prstDash val="solid"/>
            <a:miter lim="800000"/>
            <a:headEnd len="sm" w="sm" type="none"/>
            <a:tailEnd len="sm" w="sm" type="none"/>
          </a:ln>
        </p:spPr>
      </p:cxnSp>
      <p:cxnSp>
        <p:nvCxnSpPr>
          <p:cNvPr id="641" name="Google Shape;641;p11"/>
          <p:cNvCxnSpPr/>
          <p:nvPr/>
        </p:nvCxnSpPr>
        <p:spPr>
          <a:xfrm>
            <a:off x="5037244" y="2628184"/>
            <a:ext cx="0" cy="417305"/>
          </a:xfrm>
          <a:prstGeom prst="straightConnector1">
            <a:avLst/>
          </a:prstGeom>
          <a:noFill/>
          <a:ln cap="flat" cmpd="sng" w="9525">
            <a:solidFill>
              <a:schemeClr val="dk1"/>
            </a:solidFill>
            <a:prstDash val="solid"/>
            <a:miter lim="800000"/>
            <a:headEnd len="sm" w="sm" type="none"/>
            <a:tailEnd len="sm" w="sm" type="none"/>
          </a:ln>
        </p:spPr>
      </p:cxnSp>
      <p:cxnSp>
        <p:nvCxnSpPr>
          <p:cNvPr id="642" name="Google Shape;642;p11"/>
          <p:cNvCxnSpPr/>
          <p:nvPr/>
        </p:nvCxnSpPr>
        <p:spPr>
          <a:xfrm>
            <a:off x="8674396" y="2629164"/>
            <a:ext cx="0" cy="417305"/>
          </a:xfrm>
          <a:prstGeom prst="straightConnector1">
            <a:avLst/>
          </a:prstGeom>
          <a:noFill/>
          <a:ln cap="flat" cmpd="sng" w="9525">
            <a:solidFill>
              <a:schemeClr val="dk1"/>
            </a:solidFill>
            <a:prstDash val="solid"/>
            <a:miter lim="800000"/>
            <a:headEnd len="sm" w="sm" type="none"/>
            <a:tailEnd len="sm" w="sm" type="none"/>
          </a:ln>
        </p:spPr>
      </p:cxnSp>
      <p:cxnSp>
        <p:nvCxnSpPr>
          <p:cNvPr id="643" name="Google Shape;643;p11"/>
          <p:cNvCxnSpPr/>
          <p:nvPr/>
        </p:nvCxnSpPr>
        <p:spPr>
          <a:xfrm>
            <a:off x="7150986" y="2645059"/>
            <a:ext cx="0" cy="417305"/>
          </a:xfrm>
          <a:prstGeom prst="straightConnector1">
            <a:avLst/>
          </a:prstGeom>
          <a:noFill/>
          <a:ln cap="flat" cmpd="sng" w="9525">
            <a:solidFill>
              <a:schemeClr val="dk1"/>
            </a:solidFill>
            <a:prstDash val="solid"/>
            <a:miter lim="800000"/>
            <a:headEnd len="sm" w="sm" type="none"/>
            <a:tailEnd len="sm" w="sm" type="none"/>
          </a:ln>
        </p:spPr>
      </p:cxnSp>
      <p:cxnSp>
        <p:nvCxnSpPr>
          <p:cNvPr id="644" name="Google Shape;644;p11"/>
          <p:cNvCxnSpPr/>
          <p:nvPr/>
        </p:nvCxnSpPr>
        <p:spPr>
          <a:xfrm>
            <a:off x="9896212" y="2627912"/>
            <a:ext cx="0" cy="417305"/>
          </a:xfrm>
          <a:prstGeom prst="straightConnector1">
            <a:avLst/>
          </a:prstGeom>
          <a:noFill/>
          <a:ln cap="flat" cmpd="sng" w="9525">
            <a:solidFill>
              <a:schemeClr val="dk1"/>
            </a:solidFill>
            <a:prstDash val="solid"/>
            <a:miter lim="800000"/>
            <a:headEnd len="sm" w="sm" type="none"/>
            <a:tailEnd len="sm" w="sm" type="none"/>
          </a:ln>
        </p:spPr>
      </p:cxnSp>
      <p:pic>
        <p:nvPicPr>
          <p:cNvPr descr="C:\Users\pj66\AppData\Local\Temp\notesFFF692\20161110_133901.jpg" id="645" name="Google Shape;645;p11"/>
          <p:cNvPicPr preferRelativeResize="0"/>
          <p:nvPr/>
        </p:nvPicPr>
        <p:blipFill rotWithShape="1">
          <a:blip r:embed="rId9">
            <a:alphaModFix/>
          </a:blip>
          <a:srcRect b="28430" l="19800" r="20315" t="0"/>
          <a:stretch/>
        </p:blipFill>
        <p:spPr>
          <a:xfrm>
            <a:off x="2120342" y="2925134"/>
            <a:ext cx="768627" cy="914400"/>
          </a:xfrm>
          <a:prstGeom prst="rect">
            <a:avLst/>
          </a:prstGeom>
          <a:solidFill>
            <a:srgbClr val="FAF9F9"/>
          </a:solidFill>
          <a:ln>
            <a:noFill/>
          </a:ln>
        </p:spPr>
      </p:pic>
      <p:sp>
        <p:nvSpPr>
          <p:cNvPr id="646" name="Google Shape;646;p11"/>
          <p:cNvSpPr txBox="1"/>
          <p:nvPr/>
        </p:nvSpPr>
        <p:spPr>
          <a:xfrm>
            <a:off x="6227057" y="3846503"/>
            <a:ext cx="1574885"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Lorraine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Edillor, 3A</a:t>
            </a:r>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Sep 2017</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pic>
        <p:nvPicPr>
          <p:cNvPr id="647" name="Google Shape;647;p11"/>
          <p:cNvPicPr preferRelativeResize="0"/>
          <p:nvPr/>
        </p:nvPicPr>
        <p:blipFill rotWithShape="1">
          <a:blip r:embed="rId10">
            <a:alphaModFix/>
          </a:blip>
          <a:srcRect b="0" l="0" r="0" t="0"/>
          <a:stretch/>
        </p:blipFill>
        <p:spPr>
          <a:xfrm>
            <a:off x="6970239" y="2960653"/>
            <a:ext cx="831703" cy="914400"/>
          </a:xfrm>
          <a:prstGeom prst="rect">
            <a:avLst/>
          </a:prstGeom>
          <a:noFill/>
          <a:ln>
            <a:noFill/>
          </a:ln>
        </p:spPr>
      </p:pic>
      <p:pic>
        <p:nvPicPr>
          <p:cNvPr id="648" name="Google Shape;648;p11"/>
          <p:cNvPicPr preferRelativeResize="0"/>
          <p:nvPr/>
        </p:nvPicPr>
        <p:blipFill rotWithShape="1">
          <a:blip r:embed="rId11">
            <a:alphaModFix/>
          </a:blip>
          <a:srcRect b="43247" l="34808" r="29741" t="17928"/>
          <a:stretch/>
        </p:blipFill>
        <p:spPr>
          <a:xfrm>
            <a:off x="8257446" y="2968438"/>
            <a:ext cx="833900" cy="914400"/>
          </a:xfrm>
          <a:prstGeom prst="rect">
            <a:avLst/>
          </a:prstGeom>
          <a:noFill/>
          <a:ln>
            <a:noFill/>
          </a:ln>
        </p:spPr>
      </p:pic>
      <p:pic>
        <p:nvPicPr>
          <p:cNvPr id="649" name="Google Shape;649;p11"/>
          <p:cNvPicPr preferRelativeResize="0"/>
          <p:nvPr/>
        </p:nvPicPr>
        <p:blipFill rotWithShape="1">
          <a:blip r:embed="rId12">
            <a:alphaModFix/>
          </a:blip>
          <a:srcRect b="38163" l="29247" r="31554" t="21252"/>
          <a:stretch/>
        </p:blipFill>
        <p:spPr>
          <a:xfrm>
            <a:off x="9519920" y="2951291"/>
            <a:ext cx="647206" cy="914400"/>
          </a:xfrm>
          <a:prstGeom prst="rect">
            <a:avLst/>
          </a:prstGeom>
          <a:noFill/>
          <a:ln>
            <a:noFill/>
          </a:ln>
        </p:spPr>
      </p:pic>
      <p:pic>
        <p:nvPicPr>
          <p:cNvPr id="650" name="Google Shape;650;p11"/>
          <p:cNvPicPr preferRelativeResize="0"/>
          <p:nvPr/>
        </p:nvPicPr>
        <p:blipFill rotWithShape="1">
          <a:blip r:embed="rId13">
            <a:alphaModFix/>
          </a:blip>
          <a:srcRect b="15069" l="999" r="8002" t="0"/>
          <a:stretch/>
        </p:blipFill>
        <p:spPr>
          <a:xfrm>
            <a:off x="10626830" y="2951291"/>
            <a:ext cx="699609" cy="914400"/>
          </a:xfrm>
          <a:prstGeom prst="rect">
            <a:avLst/>
          </a:prstGeom>
          <a:noFill/>
          <a:ln>
            <a:noFill/>
          </a:ln>
        </p:spPr>
      </p:pic>
      <p:sp>
        <p:nvSpPr>
          <p:cNvPr id="651" name="Google Shape;651;p11"/>
          <p:cNvSpPr txBox="1"/>
          <p:nvPr/>
        </p:nvSpPr>
        <p:spPr>
          <a:xfrm>
            <a:off x="7520318" y="3851330"/>
            <a:ext cx="1574885"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Catherine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Naval, 3A</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Date of Entry: </a:t>
            </a:r>
            <a:endParaRPr b="0" i="0" sz="1200" u="none" cap="none" strike="noStrike">
              <a:solidFill>
                <a:srgbClr val="7030A0"/>
              </a:solidFill>
              <a:latin typeface="Calibri"/>
              <a:ea typeface="Calibri"/>
              <a:cs typeface="Calibri"/>
              <a:sym typeface="Calibri"/>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Feb 2019</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7030A0"/>
              </a:solidFill>
              <a:latin typeface="Calibri"/>
              <a:ea typeface="Calibri"/>
              <a:cs typeface="Calibri"/>
              <a:sym typeface="Calibri"/>
            </a:endParaRPr>
          </a:p>
        </p:txBody>
      </p:sp>
      <p:sp>
        <p:nvSpPr>
          <p:cNvPr id="652" name="Google Shape;652;p11"/>
          <p:cNvSpPr txBox="1"/>
          <p:nvPr/>
        </p:nvSpPr>
        <p:spPr>
          <a:xfrm>
            <a:off x="8689198" y="3848623"/>
            <a:ext cx="1574885"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Dodge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Aceveda, 3A</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Date of Entry: </a:t>
            </a:r>
            <a:endParaRPr b="0" i="0" sz="1200" u="none" cap="none" strike="noStrike">
              <a:solidFill>
                <a:srgbClr val="0070C0"/>
              </a:solidFill>
              <a:latin typeface="Calibri"/>
              <a:ea typeface="Calibri"/>
              <a:cs typeface="Calibri"/>
              <a:sym typeface="Calibri"/>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Feb 2019</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7030A0"/>
              </a:solidFill>
              <a:latin typeface="Calibri"/>
              <a:ea typeface="Calibri"/>
              <a:cs typeface="Calibri"/>
              <a:sym typeface="Calibri"/>
            </a:endParaRPr>
          </a:p>
        </p:txBody>
      </p:sp>
      <p:sp>
        <p:nvSpPr>
          <p:cNvPr id="653" name="Google Shape;653;p11"/>
          <p:cNvSpPr txBox="1"/>
          <p:nvPr/>
        </p:nvSpPr>
        <p:spPr>
          <a:xfrm>
            <a:off x="9848511" y="3848623"/>
            <a:ext cx="1574885"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Nikka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Patarata, 3A</a:t>
            </a:r>
            <a:endParaRPr/>
          </a:p>
          <a:p>
            <a:pPr indent="0" lvl="0" marL="0" marR="0" rtl="0" algn="r">
              <a:lnSpc>
                <a:spcPct val="100000"/>
              </a:lnSpc>
              <a:spcBef>
                <a:spcPts val="0"/>
              </a:spcBef>
              <a:spcAft>
                <a:spcPts val="0"/>
              </a:spcAft>
              <a:buClr>
                <a:srgbClr val="FF9933"/>
              </a:buClr>
              <a:buSzPts val="1200"/>
              <a:buFont typeface="Calibri"/>
              <a:buNone/>
            </a:pPr>
            <a:r>
              <a:rPr b="0" i="0" lang="en-US" sz="1200" u="none" cap="none" strike="noStrike">
                <a:solidFill>
                  <a:srgbClr val="FF9933"/>
                </a:solidFill>
                <a:latin typeface="Calibri"/>
                <a:ea typeface="Calibri"/>
                <a:cs typeface="Calibri"/>
                <a:sym typeface="Calibri"/>
              </a:rPr>
              <a:t>Date of Entry: </a:t>
            </a:r>
            <a:endParaRPr b="0" i="0" sz="1200" u="none" cap="none" strike="noStrike">
              <a:solidFill>
                <a:srgbClr val="FF9933"/>
              </a:solidFill>
              <a:latin typeface="Calibri"/>
              <a:ea typeface="Calibri"/>
              <a:cs typeface="Calibri"/>
              <a:sym typeface="Calibri"/>
            </a:endParaRPr>
          </a:p>
          <a:p>
            <a:pPr indent="0" lvl="0" marL="0" marR="0" rtl="0" algn="r">
              <a:lnSpc>
                <a:spcPct val="100000"/>
              </a:lnSpc>
              <a:spcBef>
                <a:spcPts val="0"/>
              </a:spcBef>
              <a:spcAft>
                <a:spcPts val="0"/>
              </a:spcAft>
              <a:buClr>
                <a:srgbClr val="FF9933"/>
              </a:buClr>
              <a:buSzPts val="1200"/>
              <a:buFont typeface="Calibri"/>
              <a:buNone/>
            </a:pPr>
            <a:r>
              <a:rPr b="0" i="0" lang="en-US" sz="1200" u="none" cap="none" strike="noStrike">
                <a:solidFill>
                  <a:srgbClr val="FF9933"/>
                </a:solidFill>
                <a:latin typeface="Calibri"/>
                <a:ea typeface="Calibri"/>
                <a:cs typeface="Calibri"/>
                <a:sym typeface="Calibri"/>
              </a:rPr>
              <a:t>Mar 2019</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7030A0"/>
              </a:solidFill>
              <a:latin typeface="Calibri"/>
              <a:ea typeface="Calibri"/>
              <a:cs typeface="Calibri"/>
              <a:sym typeface="Calibri"/>
            </a:endParaRPr>
          </a:p>
        </p:txBody>
      </p:sp>
      <p:pic>
        <p:nvPicPr>
          <p:cNvPr id="654" name="Google Shape;654;p11"/>
          <p:cNvPicPr preferRelativeResize="0"/>
          <p:nvPr/>
        </p:nvPicPr>
        <p:blipFill rotWithShape="1">
          <a:blip r:embed="rId14">
            <a:alphaModFix/>
          </a:blip>
          <a:srcRect b="40024" l="21086" r="27432" t="13251"/>
          <a:stretch/>
        </p:blipFill>
        <p:spPr>
          <a:xfrm>
            <a:off x="4665308" y="2914247"/>
            <a:ext cx="737616" cy="89897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9" name="Shape 659"/>
        <p:cNvGrpSpPr/>
        <p:nvPr/>
      </p:nvGrpSpPr>
      <p:grpSpPr>
        <a:xfrm>
          <a:off x="0" y="0"/>
          <a:ext cx="0" cy="0"/>
          <a:chOff x="0" y="0"/>
          <a:chExt cx="0" cy="0"/>
        </a:xfrm>
      </p:grpSpPr>
      <p:grpSp>
        <p:nvGrpSpPr>
          <p:cNvPr id="660" name="Google Shape;660;p12"/>
          <p:cNvGrpSpPr/>
          <p:nvPr/>
        </p:nvGrpSpPr>
        <p:grpSpPr>
          <a:xfrm>
            <a:off x="64411" y="5029200"/>
            <a:ext cx="12127589" cy="1852020"/>
            <a:chOff x="64411" y="5029200"/>
            <a:chExt cx="12127589" cy="1852020"/>
          </a:xfrm>
        </p:grpSpPr>
        <p:pic>
          <p:nvPicPr>
            <p:cNvPr id="661" name="Google Shape;661;p12"/>
            <p:cNvPicPr preferRelativeResize="0"/>
            <p:nvPr/>
          </p:nvPicPr>
          <p:blipFill rotWithShape="1">
            <a:blip r:embed="rId3">
              <a:alphaModFix/>
            </a:blip>
            <a:srcRect b="48442" l="0" r="0" t="0"/>
            <a:stretch/>
          </p:blipFill>
          <p:spPr>
            <a:xfrm flipH="1" rot="10800000">
              <a:off x="2399626" y="5240195"/>
              <a:ext cx="4171210" cy="1611209"/>
            </a:xfrm>
            <a:prstGeom prst="rect">
              <a:avLst/>
            </a:prstGeom>
            <a:noFill/>
            <a:ln>
              <a:noFill/>
            </a:ln>
          </p:spPr>
        </p:pic>
        <p:pic>
          <p:nvPicPr>
            <p:cNvPr id="662" name="Google Shape;662;p12"/>
            <p:cNvPicPr preferRelativeResize="0"/>
            <p:nvPr/>
          </p:nvPicPr>
          <p:blipFill rotWithShape="1">
            <a:blip r:embed="rId3">
              <a:alphaModFix/>
            </a:blip>
            <a:srcRect b="48442" l="0" r="0" t="0"/>
            <a:stretch/>
          </p:blipFill>
          <p:spPr>
            <a:xfrm flipH="1" rot="10800000">
              <a:off x="64411" y="5270011"/>
              <a:ext cx="4171210" cy="1611209"/>
            </a:xfrm>
            <a:prstGeom prst="rect">
              <a:avLst/>
            </a:prstGeom>
            <a:noFill/>
            <a:ln>
              <a:noFill/>
            </a:ln>
          </p:spPr>
        </p:pic>
        <p:pic>
          <p:nvPicPr>
            <p:cNvPr id="663" name="Google Shape;663;p12"/>
            <p:cNvPicPr preferRelativeResize="0"/>
            <p:nvPr/>
          </p:nvPicPr>
          <p:blipFill rotWithShape="1">
            <a:blip r:embed="rId3">
              <a:alphaModFix/>
            </a:blip>
            <a:srcRect b="48442" l="0" r="0" t="0"/>
            <a:stretch/>
          </p:blipFill>
          <p:spPr>
            <a:xfrm flipH="1" rot="10800000">
              <a:off x="4413537" y="5246791"/>
              <a:ext cx="4171210" cy="1611209"/>
            </a:xfrm>
            <a:prstGeom prst="rect">
              <a:avLst/>
            </a:prstGeom>
            <a:noFill/>
            <a:ln>
              <a:noFill/>
            </a:ln>
          </p:spPr>
        </p:pic>
        <p:pic>
          <p:nvPicPr>
            <p:cNvPr id="664" name="Google Shape;664;p12"/>
            <p:cNvPicPr preferRelativeResize="0"/>
            <p:nvPr/>
          </p:nvPicPr>
          <p:blipFill rotWithShape="1">
            <a:blip r:embed="rId4">
              <a:alphaModFix/>
            </a:blip>
            <a:srcRect b="0" l="0" r="0" t="0"/>
            <a:stretch/>
          </p:blipFill>
          <p:spPr>
            <a:xfrm>
              <a:off x="1401171" y="5552551"/>
              <a:ext cx="917965" cy="914400"/>
            </a:xfrm>
            <a:prstGeom prst="rect">
              <a:avLst/>
            </a:prstGeom>
            <a:noFill/>
            <a:ln>
              <a:noFill/>
            </a:ln>
          </p:spPr>
        </p:pic>
        <p:sp>
          <p:nvSpPr>
            <p:cNvPr id="665" name="Google Shape;665;p12"/>
            <p:cNvSpPr/>
            <p:nvPr/>
          </p:nvSpPr>
          <p:spPr>
            <a:xfrm>
              <a:off x="162665" y="5029200"/>
              <a:ext cx="182880" cy="1828800"/>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666" name="Google Shape;666;p12"/>
            <p:cNvPicPr preferRelativeResize="0"/>
            <p:nvPr/>
          </p:nvPicPr>
          <p:blipFill rotWithShape="1">
            <a:blip r:embed="rId3">
              <a:alphaModFix/>
            </a:blip>
            <a:srcRect b="48442" l="0" r="0" t="0"/>
            <a:stretch/>
          </p:blipFill>
          <p:spPr>
            <a:xfrm flipH="1" rot="10800000">
              <a:off x="8293562" y="5361982"/>
              <a:ext cx="3898438" cy="1496018"/>
            </a:xfrm>
            <a:prstGeom prst="rect">
              <a:avLst/>
            </a:prstGeom>
            <a:noFill/>
            <a:ln>
              <a:noFill/>
            </a:ln>
          </p:spPr>
        </p:pic>
        <p:sp>
          <p:nvSpPr>
            <p:cNvPr id="667" name="Google Shape;667;p12"/>
            <p:cNvSpPr txBox="1"/>
            <p:nvPr/>
          </p:nvSpPr>
          <p:spPr>
            <a:xfrm>
              <a:off x="327909" y="5728222"/>
              <a:ext cx="9038162" cy="95410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New Business Services </a:t>
              </a:r>
              <a:endParaRPr/>
            </a:p>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Team 3 – SLOCPI  SIO, Sun Fit &amp; Well &amp; Regular App</a:t>
              </a:r>
              <a:endParaRPr b="1" i="0" sz="2800" u="none" cap="none" strike="noStrike">
                <a:solidFill>
                  <a:srgbClr val="000000"/>
                </a:solidFill>
                <a:latin typeface="Calibri"/>
                <a:ea typeface="Calibri"/>
                <a:cs typeface="Calibri"/>
                <a:sym typeface="Calibri"/>
              </a:endParaRPr>
            </a:p>
          </p:txBody>
        </p:sp>
      </p:grpSp>
      <p:cxnSp>
        <p:nvCxnSpPr>
          <p:cNvPr id="668" name="Google Shape;668;p12"/>
          <p:cNvCxnSpPr/>
          <p:nvPr/>
        </p:nvCxnSpPr>
        <p:spPr>
          <a:xfrm>
            <a:off x="6122504" y="506896"/>
            <a:ext cx="28659" cy="2595888"/>
          </a:xfrm>
          <a:prstGeom prst="straightConnector1">
            <a:avLst/>
          </a:prstGeom>
          <a:noFill/>
          <a:ln cap="flat" cmpd="sng" w="9525">
            <a:solidFill>
              <a:schemeClr val="dk1"/>
            </a:solidFill>
            <a:prstDash val="solid"/>
            <a:miter lim="800000"/>
            <a:headEnd len="sm" w="sm" type="none"/>
            <a:tailEnd len="sm" w="sm" type="none"/>
          </a:ln>
        </p:spPr>
      </p:cxnSp>
      <p:cxnSp>
        <p:nvCxnSpPr>
          <p:cNvPr id="669" name="Google Shape;669;p12"/>
          <p:cNvCxnSpPr/>
          <p:nvPr/>
        </p:nvCxnSpPr>
        <p:spPr>
          <a:xfrm>
            <a:off x="3408603" y="3230555"/>
            <a:ext cx="0" cy="0"/>
          </a:xfrm>
          <a:prstGeom prst="straightConnector1">
            <a:avLst/>
          </a:prstGeom>
          <a:noFill/>
          <a:ln cap="flat" cmpd="sng" w="9525">
            <a:solidFill>
              <a:schemeClr val="dk1"/>
            </a:solidFill>
            <a:prstDash val="solid"/>
            <a:miter lim="800000"/>
            <a:headEnd len="sm" w="sm" type="none"/>
            <a:tailEnd len="sm" w="sm" type="none"/>
          </a:ln>
        </p:spPr>
      </p:cxnSp>
      <p:grpSp>
        <p:nvGrpSpPr>
          <p:cNvPr id="670" name="Google Shape;670;p12"/>
          <p:cNvGrpSpPr/>
          <p:nvPr/>
        </p:nvGrpSpPr>
        <p:grpSpPr>
          <a:xfrm>
            <a:off x="5307012" y="61581"/>
            <a:ext cx="4059060" cy="1213076"/>
            <a:chOff x="5307012" y="108877"/>
            <a:chExt cx="4059060" cy="1213076"/>
          </a:xfrm>
        </p:grpSpPr>
        <p:grpSp>
          <p:nvGrpSpPr>
            <p:cNvPr id="671" name="Google Shape;671;p12"/>
            <p:cNvGrpSpPr/>
            <p:nvPr/>
          </p:nvGrpSpPr>
          <p:grpSpPr>
            <a:xfrm>
              <a:off x="5307012" y="108877"/>
              <a:ext cx="4059060" cy="1213076"/>
              <a:chOff x="5307012" y="187349"/>
              <a:chExt cx="4059060" cy="1213076"/>
            </a:xfrm>
          </p:grpSpPr>
          <p:sp>
            <p:nvSpPr>
              <p:cNvPr id="672" name="Google Shape;672;p12"/>
              <p:cNvSpPr/>
              <p:nvPr/>
            </p:nvSpPr>
            <p:spPr>
              <a:xfrm>
                <a:off x="5307012" y="187349"/>
                <a:ext cx="4059060" cy="1213076"/>
              </a:xfrm>
              <a:prstGeom prst="rect">
                <a:avLst/>
              </a:prstGeom>
              <a:solidFill>
                <a:srgbClr val="80000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673" name="Google Shape;673;p12"/>
              <p:cNvCxnSpPr/>
              <p:nvPr/>
            </p:nvCxnSpPr>
            <p:spPr>
              <a:xfrm>
                <a:off x="6402134" y="1260474"/>
                <a:ext cx="2378765" cy="0"/>
              </a:xfrm>
              <a:prstGeom prst="straightConnector1">
                <a:avLst/>
              </a:prstGeom>
              <a:noFill/>
              <a:ln cap="flat" cmpd="sng" w="9525">
                <a:solidFill>
                  <a:srgbClr val="800000"/>
                </a:solidFill>
                <a:prstDash val="solid"/>
                <a:miter lim="800000"/>
                <a:headEnd len="sm" w="sm" type="none"/>
                <a:tailEnd len="sm" w="sm" type="none"/>
              </a:ln>
            </p:spPr>
          </p:cxnSp>
        </p:grpSp>
        <p:pic>
          <p:nvPicPr>
            <p:cNvPr id="674" name="Google Shape;674;p12"/>
            <p:cNvPicPr preferRelativeResize="0"/>
            <p:nvPr/>
          </p:nvPicPr>
          <p:blipFill rotWithShape="1">
            <a:blip r:embed="rId5">
              <a:alphaModFix/>
            </a:blip>
            <a:srcRect b="0" l="0" r="0" t="0"/>
            <a:stretch/>
          </p:blipFill>
          <p:spPr>
            <a:xfrm>
              <a:off x="5487004" y="195600"/>
              <a:ext cx="914400" cy="1016432"/>
            </a:xfrm>
            <a:prstGeom prst="rect">
              <a:avLst/>
            </a:prstGeom>
            <a:solidFill>
              <a:srgbClr val="FFFF99"/>
            </a:solidFill>
            <a:ln cap="flat" cmpd="sng" w="9525">
              <a:solidFill>
                <a:schemeClr val="dk1"/>
              </a:solidFill>
              <a:prstDash val="solid"/>
              <a:round/>
              <a:headEnd len="sm" w="sm" type="none"/>
              <a:tailEnd len="sm" w="sm" type="none"/>
            </a:ln>
          </p:spPr>
        </p:pic>
      </p:grpSp>
      <p:cxnSp>
        <p:nvCxnSpPr>
          <p:cNvPr id="675" name="Google Shape;675;p12"/>
          <p:cNvCxnSpPr>
            <a:endCxn id="676" idx="0"/>
          </p:cNvCxnSpPr>
          <p:nvPr/>
        </p:nvCxnSpPr>
        <p:spPr>
          <a:xfrm>
            <a:off x="2414037" y="2633669"/>
            <a:ext cx="3600" cy="461100"/>
          </a:xfrm>
          <a:prstGeom prst="straightConnector1">
            <a:avLst/>
          </a:prstGeom>
          <a:noFill/>
          <a:ln cap="flat" cmpd="sng" w="9525">
            <a:solidFill>
              <a:schemeClr val="dk1"/>
            </a:solidFill>
            <a:prstDash val="solid"/>
            <a:miter lim="800000"/>
            <a:headEnd len="sm" w="sm" type="none"/>
            <a:tailEnd len="sm" w="sm" type="none"/>
          </a:ln>
        </p:spPr>
      </p:cxnSp>
      <p:sp>
        <p:nvSpPr>
          <p:cNvPr id="677" name="Google Shape;677;p12"/>
          <p:cNvSpPr txBox="1"/>
          <p:nvPr/>
        </p:nvSpPr>
        <p:spPr>
          <a:xfrm>
            <a:off x="1411205" y="4023101"/>
            <a:ext cx="1528392" cy="89255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Dorris Anne Omlas, 3A</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Feb 2017</a:t>
            </a:r>
            <a:endParaRPr/>
          </a:p>
        </p:txBody>
      </p:sp>
      <p:sp>
        <p:nvSpPr>
          <p:cNvPr id="678" name="Google Shape;678;p12"/>
          <p:cNvSpPr txBox="1"/>
          <p:nvPr/>
        </p:nvSpPr>
        <p:spPr>
          <a:xfrm>
            <a:off x="2661995" y="4014065"/>
            <a:ext cx="1528392" cy="10464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Joshua Goyo, 3A</a:t>
            </a:r>
            <a:endParaRPr/>
          </a:p>
          <a:p>
            <a:pPr indent="0" lvl="0" marL="0" marR="0" rtl="0" algn="r">
              <a:lnSpc>
                <a:spcPct val="100000"/>
              </a:lnSpc>
              <a:spcBef>
                <a:spcPts val="0"/>
              </a:spcBef>
              <a:spcAft>
                <a:spcPts val="0"/>
              </a:spcAft>
              <a:buClr>
                <a:srgbClr val="ED7D31"/>
              </a:buClr>
              <a:buSzPts val="1200"/>
              <a:buFont typeface="Calibri"/>
              <a:buNone/>
            </a:pPr>
            <a:r>
              <a:rPr b="0" i="0" lang="en-US" sz="1200" u="none" cap="none" strike="noStrike">
                <a:solidFill>
                  <a:srgbClr val="ED7D31"/>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ED7D31"/>
              </a:buClr>
              <a:buSzPts val="1200"/>
              <a:buFont typeface="Calibri"/>
              <a:buNone/>
            </a:pPr>
            <a:r>
              <a:rPr b="0" i="0" lang="en-US" sz="1200" u="none" cap="none" strike="noStrike">
                <a:solidFill>
                  <a:srgbClr val="ED7D31"/>
                </a:solidFill>
                <a:latin typeface="Calibri"/>
                <a:ea typeface="Calibri"/>
                <a:cs typeface="Calibri"/>
                <a:sym typeface="Calibri"/>
              </a:rPr>
              <a:t>Oct 2017</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ED7D31"/>
              </a:solidFill>
              <a:latin typeface="Calibri"/>
              <a:ea typeface="Calibri"/>
              <a:cs typeface="Calibri"/>
              <a:sym typeface="Calibri"/>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ED7D31"/>
              </a:solidFill>
              <a:latin typeface="Calibri"/>
              <a:ea typeface="Calibri"/>
              <a:cs typeface="Calibri"/>
              <a:sym typeface="Calibri"/>
            </a:endParaRPr>
          </a:p>
        </p:txBody>
      </p:sp>
      <p:cxnSp>
        <p:nvCxnSpPr>
          <p:cNvPr id="679" name="Google Shape;679;p12"/>
          <p:cNvCxnSpPr/>
          <p:nvPr/>
        </p:nvCxnSpPr>
        <p:spPr>
          <a:xfrm>
            <a:off x="7507269" y="2623238"/>
            <a:ext cx="0" cy="417305"/>
          </a:xfrm>
          <a:prstGeom prst="straightConnector1">
            <a:avLst/>
          </a:prstGeom>
          <a:noFill/>
          <a:ln cap="flat" cmpd="sng" w="9525">
            <a:solidFill>
              <a:schemeClr val="dk1"/>
            </a:solidFill>
            <a:prstDash val="solid"/>
            <a:miter lim="800000"/>
            <a:headEnd len="sm" w="sm" type="none"/>
            <a:tailEnd len="sm" w="sm" type="none"/>
          </a:ln>
        </p:spPr>
      </p:cxnSp>
      <p:sp>
        <p:nvSpPr>
          <p:cNvPr id="680" name="Google Shape;680;p12"/>
          <p:cNvSpPr txBox="1"/>
          <p:nvPr/>
        </p:nvSpPr>
        <p:spPr>
          <a:xfrm>
            <a:off x="3895766" y="4018935"/>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Sarah Bebe Marcaida, 3A</a:t>
            </a:r>
            <a:endParaRPr b="1" i="0" sz="1200" u="none" cap="none" strike="noStrike">
              <a:solidFill>
                <a:srgbClr val="002060"/>
              </a:solidFill>
              <a:latin typeface="Calibri"/>
              <a:ea typeface="Calibri"/>
              <a:cs typeface="Calibri"/>
              <a:sym typeface="Calibri"/>
            </a:endParaRPr>
          </a:p>
          <a:p>
            <a:pPr indent="0" lvl="0" marL="0" marR="0" rtl="0" algn="r">
              <a:lnSpc>
                <a:spcPct val="100000"/>
              </a:lnSpc>
              <a:spcBef>
                <a:spcPts val="0"/>
              </a:spcBef>
              <a:spcAft>
                <a:spcPts val="0"/>
              </a:spcAft>
              <a:buClr>
                <a:srgbClr val="002060"/>
              </a:buClr>
              <a:buSzPts val="1200"/>
              <a:buFont typeface="Calibri"/>
              <a:buNone/>
            </a:pPr>
            <a:r>
              <a:rPr b="0" i="0" lang="en-US" sz="1200" u="none" cap="none" strike="noStrike">
                <a:solidFill>
                  <a:srgbClr val="00206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002060"/>
              </a:buClr>
              <a:buSzPts val="1200"/>
              <a:buFont typeface="Calibri"/>
              <a:buNone/>
            </a:pPr>
            <a:r>
              <a:rPr b="0" i="0" lang="en-US" sz="1200" u="none" cap="none" strike="noStrike">
                <a:solidFill>
                  <a:srgbClr val="002060"/>
                </a:solidFill>
                <a:latin typeface="Calibri"/>
                <a:ea typeface="Calibri"/>
                <a:cs typeface="Calibri"/>
                <a:sym typeface="Calibri"/>
              </a:rPr>
              <a:t>May 2018</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cxnSp>
        <p:nvCxnSpPr>
          <p:cNvPr id="681" name="Google Shape;681;p12"/>
          <p:cNvCxnSpPr/>
          <p:nvPr/>
        </p:nvCxnSpPr>
        <p:spPr>
          <a:xfrm>
            <a:off x="8821612" y="2632580"/>
            <a:ext cx="0" cy="417305"/>
          </a:xfrm>
          <a:prstGeom prst="straightConnector1">
            <a:avLst/>
          </a:prstGeom>
          <a:noFill/>
          <a:ln cap="flat" cmpd="sng" w="9525">
            <a:solidFill>
              <a:schemeClr val="dk1"/>
            </a:solidFill>
            <a:prstDash val="solid"/>
            <a:miter lim="800000"/>
            <a:headEnd len="sm" w="sm" type="none"/>
            <a:tailEnd len="sm" w="sm" type="none"/>
          </a:ln>
        </p:spPr>
      </p:cxnSp>
      <p:sp>
        <p:nvSpPr>
          <p:cNvPr id="682" name="Google Shape;682;p12"/>
          <p:cNvSpPr txBox="1"/>
          <p:nvPr/>
        </p:nvSpPr>
        <p:spPr>
          <a:xfrm>
            <a:off x="6500162" y="3995858"/>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Kris Ann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Flores, 3A</a:t>
            </a:r>
            <a:endParaRPr/>
          </a:p>
          <a:p>
            <a:pPr indent="0" lvl="0" marL="0" marR="0" rtl="0" algn="r">
              <a:lnSpc>
                <a:spcPct val="100000"/>
              </a:lnSpc>
              <a:spcBef>
                <a:spcPts val="0"/>
              </a:spcBef>
              <a:spcAft>
                <a:spcPts val="0"/>
              </a:spcAft>
              <a:buClr>
                <a:srgbClr val="FF0000"/>
              </a:buClr>
              <a:buSzPts val="1200"/>
              <a:buFont typeface="Calibri"/>
              <a:buNone/>
            </a:pPr>
            <a:r>
              <a:rPr b="0" i="0" lang="en-US" sz="1200" u="none" cap="none" strike="noStrike">
                <a:solidFill>
                  <a:srgbClr val="FF000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FF0000"/>
              </a:buClr>
              <a:buSzPts val="1200"/>
              <a:buFont typeface="Calibri"/>
              <a:buNone/>
            </a:pPr>
            <a:r>
              <a:rPr b="0" i="0" lang="en-US" sz="1200" u="none" cap="none" strike="noStrike">
                <a:solidFill>
                  <a:srgbClr val="FF0000"/>
                </a:solidFill>
                <a:latin typeface="Calibri"/>
                <a:ea typeface="Calibri"/>
                <a:cs typeface="Calibri"/>
                <a:sym typeface="Calibri"/>
              </a:rPr>
              <a:t>Jul 2018</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cxnSp>
        <p:nvCxnSpPr>
          <p:cNvPr id="683" name="Google Shape;683;p12"/>
          <p:cNvCxnSpPr/>
          <p:nvPr/>
        </p:nvCxnSpPr>
        <p:spPr>
          <a:xfrm>
            <a:off x="1296139" y="2616128"/>
            <a:ext cx="0" cy="417305"/>
          </a:xfrm>
          <a:prstGeom prst="straightConnector1">
            <a:avLst/>
          </a:prstGeom>
          <a:noFill/>
          <a:ln cap="flat" cmpd="sng" w="9525">
            <a:solidFill>
              <a:schemeClr val="dk1"/>
            </a:solidFill>
            <a:prstDash val="solid"/>
            <a:miter lim="800000"/>
            <a:headEnd len="sm" w="sm" type="none"/>
            <a:tailEnd len="sm" w="sm" type="none"/>
          </a:ln>
        </p:spPr>
      </p:cxnSp>
      <p:cxnSp>
        <p:nvCxnSpPr>
          <p:cNvPr id="684" name="Google Shape;684;p12"/>
          <p:cNvCxnSpPr/>
          <p:nvPr/>
        </p:nvCxnSpPr>
        <p:spPr>
          <a:xfrm>
            <a:off x="11654448" y="2633747"/>
            <a:ext cx="0" cy="417305"/>
          </a:xfrm>
          <a:prstGeom prst="straightConnector1">
            <a:avLst/>
          </a:prstGeom>
          <a:noFill/>
          <a:ln cap="flat" cmpd="sng" w="9525">
            <a:solidFill>
              <a:schemeClr val="dk1"/>
            </a:solidFill>
            <a:prstDash val="solid"/>
            <a:miter lim="800000"/>
            <a:headEnd len="sm" w="sm" type="none"/>
            <a:tailEnd len="sm" w="sm" type="none"/>
          </a:ln>
        </p:spPr>
      </p:cxnSp>
      <p:sp>
        <p:nvSpPr>
          <p:cNvPr id="685" name="Google Shape;685;p12"/>
          <p:cNvSpPr txBox="1"/>
          <p:nvPr/>
        </p:nvSpPr>
        <p:spPr>
          <a:xfrm>
            <a:off x="162665" y="4005441"/>
            <a:ext cx="1528392" cy="89255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Karl Anthony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Chua, 3A</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Date of Entry:</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May 2017</a:t>
            </a:r>
            <a:endParaRPr/>
          </a:p>
        </p:txBody>
      </p:sp>
      <p:sp>
        <p:nvSpPr>
          <p:cNvPr id="686" name="Google Shape;686;p12"/>
          <p:cNvSpPr txBox="1"/>
          <p:nvPr/>
        </p:nvSpPr>
        <p:spPr>
          <a:xfrm>
            <a:off x="7800977" y="4002976"/>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John Elmer Uriguel, Jr., 3A</a:t>
            </a:r>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Jul 2018</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cxnSp>
        <p:nvCxnSpPr>
          <p:cNvPr id="687" name="Google Shape;687;p12"/>
          <p:cNvCxnSpPr/>
          <p:nvPr/>
        </p:nvCxnSpPr>
        <p:spPr>
          <a:xfrm>
            <a:off x="1296139" y="2616128"/>
            <a:ext cx="10358309" cy="19977"/>
          </a:xfrm>
          <a:prstGeom prst="straightConnector1">
            <a:avLst/>
          </a:prstGeom>
          <a:noFill/>
          <a:ln cap="flat" cmpd="sng" w="9525">
            <a:solidFill>
              <a:schemeClr val="dk1"/>
            </a:solidFill>
            <a:prstDash val="solid"/>
            <a:miter lim="800000"/>
            <a:headEnd len="sm" w="sm" type="none"/>
            <a:tailEnd len="sm" w="sm" type="none"/>
          </a:ln>
        </p:spPr>
      </p:cxnSp>
      <p:sp>
        <p:nvSpPr>
          <p:cNvPr id="688" name="Google Shape;688;p12"/>
          <p:cNvSpPr/>
          <p:nvPr/>
        </p:nvSpPr>
        <p:spPr>
          <a:xfrm>
            <a:off x="2291810" y="1292317"/>
            <a:ext cx="4278307" cy="1249430"/>
          </a:xfrm>
          <a:prstGeom prst="rect">
            <a:avLst/>
          </a:prstGeom>
          <a:solidFill>
            <a:srgbClr val="7030A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89" name="Google Shape;689;p12"/>
          <p:cNvSpPr txBox="1"/>
          <p:nvPr/>
        </p:nvSpPr>
        <p:spPr>
          <a:xfrm>
            <a:off x="2268911" y="1328260"/>
            <a:ext cx="3048325" cy="123110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alibri"/>
              <a:buNone/>
            </a:pPr>
            <a:r>
              <a:rPr b="1" i="0" lang="en-US" sz="1600" u="none" cap="none" strike="noStrike">
                <a:solidFill>
                  <a:srgbClr val="000000"/>
                </a:solidFill>
                <a:latin typeface="Calibri"/>
                <a:ea typeface="Calibri"/>
                <a:cs typeface="Calibri"/>
                <a:sym typeface="Calibri"/>
              </a:rPr>
              <a:t>Beverly Esparas, ACS, Supervisor</a:t>
            </a:r>
            <a:endParaRPr/>
          </a:p>
          <a:p>
            <a:pPr indent="0" lvl="0" marL="0" marR="0" rtl="0" algn="r">
              <a:lnSpc>
                <a:spcPct val="100000"/>
              </a:lnSpc>
              <a:spcBef>
                <a:spcPts val="0"/>
              </a:spcBef>
              <a:spcAft>
                <a:spcPts val="0"/>
              </a:spcAft>
              <a:buClr>
                <a:srgbClr val="7030A0"/>
              </a:buClr>
              <a:buSzPts val="1600"/>
              <a:buFont typeface="Calibri"/>
              <a:buNone/>
            </a:pPr>
            <a:r>
              <a:rPr b="1" i="0" lang="en-US" sz="1600" u="none" cap="none" strike="noStrike">
                <a:solidFill>
                  <a:srgbClr val="7030A0"/>
                </a:solidFill>
                <a:latin typeface="Calibri"/>
                <a:ea typeface="Calibri"/>
                <a:cs typeface="Calibri"/>
                <a:sym typeface="Calibri"/>
              </a:rPr>
              <a:t>Team 3 - </a:t>
            </a:r>
            <a:r>
              <a:rPr b="1" i="0" lang="en-US" sz="1400" u="none" cap="none" strike="noStrike">
                <a:solidFill>
                  <a:srgbClr val="7030A0"/>
                </a:solidFill>
                <a:latin typeface="Calibri"/>
                <a:ea typeface="Calibri"/>
                <a:cs typeface="Calibri"/>
                <a:sym typeface="Calibri"/>
              </a:rPr>
              <a:t>SLOCPI </a:t>
            </a:r>
            <a:endParaRPr/>
          </a:p>
          <a:p>
            <a:pPr indent="0" lvl="0" marL="0" marR="0" rtl="0" algn="r">
              <a:lnSpc>
                <a:spcPct val="100000"/>
              </a:lnSpc>
              <a:spcBef>
                <a:spcPts val="0"/>
              </a:spcBef>
              <a:spcAft>
                <a:spcPts val="0"/>
              </a:spcAft>
              <a:buClr>
                <a:srgbClr val="7030A0"/>
              </a:buClr>
              <a:buSzPts val="1400"/>
              <a:buFont typeface="Calibri"/>
              <a:buNone/>
            </a:pPr>
            <a:r>
              <a:rPr b="1" i="0" lang="en-US" sz="1400" u="none" cap="none" strike="noStrike">
                <a:solidFill>
                  <a:srgbClr val="7030A0"/>
                </a:solidFill>
                <a:latin typeface="Calibri"/>
                <a:ea typeface="Calibri"/>
                <a:cs typeface="Calibri"/>
                <a:sym typeface="Calibri"/>
              </a:rPr>
              <a:t>SIO, Sun Fit &amp; Well &amp; Regular App</a:t>
            </a:r>
            <a:r>
              <a:rPr b="1" i="0" lang="en-US" sz="1600" u="none" cap="none" strike="noStrike">
                <a:solidFill>
                  <a:srgbClr val="7030A0"/>
                </a:solidFill>
                <a:latin typeface="Calibri"/>
                <a:ea typeface="Calibri"/>
                <a:cs typeface="Calibri"/>
                <a:sym typeface="Calibri"/>
              </a:rPr>
              <a:t> </a:t>
            </a:r>
            <a:endParaRPr/>
          </a:p>
          <a:p>
            <a:pPr indent="0" lvl="0" marL="0" marR="0" rtl="0" algn="r">
              <a:lnSpc>
                <a:spcPct val="100000"/>
              </a:lnSpc>
              <a:spcBef>
                <a:spcPts val="0"/>
              </a:spcBef>
              <a:spcAft>
                <a:spcPts val="0"/>
              </a:spcAft>
              <a:buClr>
                <a:srgbClr val="7030A0"/>
              </a:buClr>
              <a:buSzPts val="1400"/>
              <a:buFont typeface="Calibri"/>
              <a:buNone/>
            </a:pPr>
            <a:r>
              <a:rPr b="0" i="0" lang="en-US" sz="1400" u="none" cap="none" strike="noStrike">
                <a:solidFill>
                  <a:srgbClr val="7030A0"/>
                </a:solidFill>
                <a:latin typeface="Calibri"/>
                <a:ea typeface="Calibri"/>
                <a:cs typeface="Calibri"/>
                <a:sym typeface="Calibri"/>
              </a:rPr>
              <a:t>Date of Entry:  Mar 2003</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sp>
        <p:nvSpPr>
          <p:cNvPr id="690" name="Google Shape;690;p12"/>
          <p:cNvSpPr txBox="1"/>
          <p:nvPr/>
        </p:nvSpPr>
        <p:spPr>
          <a:xfrm>
            <a:off x="352249" y="1584538"/>
            <a:ext cx="1019696"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9933"/>
              </a:buClr>
              <a:buSzPts val="5400"/>
              <a:buFont typeface="Impact"/>
              <a:buNone/>
            </a:pPr>
            <a:r>
              <a:rPr b="0" i="0" lang="en-US" sz="5400" u="none" cap="none" strike="noStrike">
                <a:solidFill>
                  <a:srgbClr val="FF9933"/>
                </a:solidFill>
                <a:latin typeface="Impact"/>
                <a:ea typeface="Impact"/>
                <a:cs typeface="Impact"/>
                <a:sym typeface="Impact"/>
              </a:rPr>
              <a:t>10</a:t>
            </a:r>
            <a:endParaRPr b="0" i="0" sz="5400" u="none" cap="none" strike="noStrike">
              <a:solidFill>
                <a:srgbClr val="FF9933"/>
              </a:solidFill>
              <a:latin typeface="Impact"/>
              <a:ea typeface="Impact"/>
              <a:cs typeface="Impact"/>
              <a:sym typeface="Impact"/>
            </a:endParaRPr>
          </a:p>
        </p:txBody>
      </p:sp>
      <p:sp>
        <p:nvSpPr>
          <p:cNvPr id="691" name="Google Shape;691;p12"/>
          <p:cNvSpPr txBox="1"/>
          <p:nvPr/>
        </p:nvSpPr>
        <p:spPr>
          <a:xfrm>
            <a:off x="1210314" y="1697713"/>
            <a:ext cx="127997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Warm </a:t>
            </a:r>
            <a:endParaRPr/>
          </a:p>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Bodies</a:t>
            </a:r>
            <a:endParaRPr b="1" i="0" sz="2000" u="none" cap="none" strike="noStrike">
              <a:solidFill>
                <a:srgbClr val="3A3838"/>
              </a:solidFill>
              <a:latin typeface="Calibri"/>
              <a:ea typeface="Calibri"/>
              <a:cs typeface="Calibri"/>
              <a:sym typeface="Calibri"/>
            </a:endParaRPr>
          </a:p>
        </p:txBody>
      </p:sp>
      <p:pic>
        <p:nvPicPr>
          <p:cNvPr id="692" name="Google Shape;692;p12"/>
          <p:cNvPicPr preferRelativeResize="0"/>
          <p:nvPr/>
        </p:nvPicPr>
        <p:blipFill rotWithShape="1">
          <a:blip r:embed="rId6">
            <a:alphaModFix/>
          </a:blip>
          <a:srcRect b="38361" l="38551" r="31247" t="14619"/>
          <a:stretch/>
        </p:blipFill>
        <p:spPr>
          <a:xfrm>
            <a:off x="5487004" y="1455345"/>
            <a:ext cx="914400" cy="881095"/>
          </a:xfrm>
          <a:prstGeom prst="rect">
            <a:avLst/>
          </a:prstGeom>
          <a:solidFill>
            <a:srgbClr val="FFFF99"/>
          </a:solidFill>
          <a:ln>
            <a:noFill/>
          </a:ln>
        </p:spPr>
      </p:pic>
      <p:pic>
        <p:nvPicPr>
          <p:cNvPr id="693" name="Google Shape;693;p12"/>
          <p:cNvPicPr preferRelativeResize="0"/>
          <p:nvPr/>
        </p:nvPicPr>
        <p:blipFill rotWithShape="1">
          <a:blip r:embed="rId7">
            <a:alphaModFix/>
          </a:blip>
          <a:srcRect b="28999" l="26199" r="31799" t="31099"/>
          <a:stretch/>
        </p:blipFill>
        <p:spPr>
          <a:xfrm>
            <a:off x="777236" y="3037599"/>
            <a:ext cx="846125" cy="914400"/>
          </a:xfrm>
          <a:prstGeom prst="rect">
            <a:avLst/>
          </a:prstGeom>
          <a:solidFill>
            <a:srgbClr val="FAF9F9"/>
          </a:solidFill>
          <a:ln>
            <a:noFill/>
          </a:ln>
        </p:spPr>
      </p:pic>
      <p:pic>
        <p:nvPicPr>
          <p:cNvPr id="694" name="Google Shape;694;p12"/>
          <p:cNvPicPr preferRelativeResize="0"/>
          <p:nvPr/>
        </p:nvPicPr>
        <p:blipFill rotWithShape="1">
          <a:blip r:embed="rId8">
            <a:alphaModFix/>
          </a:blip>
          <a:srcRect b="12994" l="21472" r="26225" t="7709"/>
          <a:stretch/>
        </p:blipFill>
        <p:spPr>
          <a:xfrm>
            <a:off x="3260416" y="3096710"/>
            <a:ext cx="860585" cy="914400"/>
          </a:xfrm>
          <a:prstGeom prst="rect">
            <a:avLst/>
          </a:prstGeom>
          <a:noFill/>
          <a:ln>
            <a:noFill/>
          </a:ln>
        </p:spPr>
      </p:pic>
      <p:pic>
        <p:nvPicPr>
          <p:cNvPr id="676" name="Google Shape;676;p12"/>
          <p:cNvPicPr preferRelativeResize="0"/>
          <p:nvPr/>
        </p:nvPicPr>
        <p:blipFill rotWithShape="1">
          <a:blip r:embed="rId9">
            <a:alphaModFix/>
          </a:blip>
          <a:srcRect b="28999" l="20641" r="19554" t="4851"/>
          <a:stretch/>
        </p:blipFill>
        <p:spPr>
          <a:xfrm>
            <a:off x="2018529" y="3094769"/>
            <a:ext cx="798217" cy="914400"/>
          </a:xfrm>
          <a:prstGeom prst="rect">
            <a:avLst/>
          </a:prstGeom>
          <a:noFill/>
          <a:ln>
            <a:noFill/>
          </a:ln>
        </p:spPr>
      </p:pic>
      <p:pic>
        <p:nvPicPr>
          <p:cNvPr id="695" name="Google Shape;695;p12"/>
          <p:cNvPicPr preferRelativeResize="0"/>
          <p:nvPr/>
        </p:nvPicPr>
        <p:blipFill rotWithShape="1">
          <a:blip r:embed="rId10">
            <a:alphaModFix/>
          </a:blip>
          <a:srcRect b="46851" l="60237" r="20863" t="27949"/>
          <a:stretch/>
        </p:blipFill>
        <p:spPr>
          <a:xfrm>
            <a:off x="4488104" y="3102784"/>
            <a:ext cx="823010" cy="914400"/>
          </a:xfrm>
          <a:prstGeom prst="rect">
            <a:avLst/>
          </a:prstGeom>
          <a:noFill/>
          <a:ln>
            <a:noFill/>
          </a:ln>
        </p:spPr>
      </p:pic>
      <p:pic>
        <p:nvPicPr>
          <p:cNvPr id="696" name="Google Shape;696;p12"/>
          <p:cNvPicPr preferRelativeResize="0"/>
          <p:nvPr/>
        </p:nvPicPr>
        <p:blipFill rotWithShape="1">
          <a:blip r:embed="rId11">
            <a:alphaModFix/>
          </a:blip>
          <a:srcRect b="31099" l="61024" r="29526" t="51050"/>
          <a:stretch/>
        </p:blipFill>
        <p:spPr>
          <a:xfrm>
            <a:off x="7069964" y="3066946"/>
            <a:ext cx="859317" cy="914400"/>
          </a:xfrm>
          <a:prstGeom prst="rect">
            <a:avLst/>
          </a:prstGeom>
          <a:noFill/>
          <a:ln>
            <a:noFill/>
          </a:ln>
        </p:spPr>
      </p:pic>
      <p:pic>
        <p:nvPicPr>
          <p:cNvPr id="697" name="Google Shape;697;p12"/>
          <p:cNvPicPr preferRelativeResize="0"/>
          <p:nvPr/>
        </p:nvPicPr>
        <p:blipFill rotWithShape="1">
          <a:blip r:embed="rId12">
            <a:alphaModFix/>
          </a:blip>
          <a:srcRect b="46062" l="32633" r="25687" t="11414"/>
          <a:stretch/>
        </p:blipFill>
        <p:spPr>
          <a:xfrm>
            <a:off x="8518223" y="3064793"/>
            <a:ext cx="731725" cy="914400"/>
          </a:xfrm>
          <a:prstGeom prst="rect">
            <a:avLst/>
          </a:prstGeom>
          <a:noFill/>
          <a:ln>
            <a:noFill/>
          </a:ln>
        </p:spPr>
      </p:pic>
      <p:sp>
        <p:nvSpPr>
          <p:cNvPr id="698" name="Google Shape;698;p12"/>
          <p:cNvSpPr txBox="1"/>
          <p:nvPr/>
        </p:nvSpPr>
        <p:spPr>
          <a:xfrm>
            <a:off x="6474553" y="138780"/>
            <a:ext cx="2891518"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Vilma Tubig, ACS, PCS, FLMI </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3</a:t>
            </a:r>
            <a:endParaRPr/>
          </a:p>
          <a:p>
            <a:pPr indent="0" lvl="0" marL="0" marR="0" rtl="0" algn="l">
              <a:lnSpc>
                <a:spcPct val="100000"/>
              </a:lnSpc>
              <a:spcBef>
                <a:spcPts val="0"/>
              </a:spcBef>
              <a:spcAft>
                <a:spcPts val="0"/>
              </a:spcAft>
              <a:buClr>
                <a:srgbClr val="C55A11"/>
              </a:buClr>
              <a:buSzPts val="1400"/>
              <a:buFont typeface="Calibri"/>
              <a:buNone/>
            </a:pPr>
            <a:r>
              <a:rPr b="1" i="0" lang="en-US" sz="1400" u="none" cap="none" strike="noStrike">
                <a:solidFill>
                  <a:srgbClr val="C55A11"/>
                </a:solidFill>
                <a:latin typeface="Calibri"/>
                <a:ea typeface="Calibri"/>
                <a:cs typeface="Calibri"/>
                <a:sym typeface="Calibri"/>
              </a:rPr>
              <a:t>NB Review, Facilitating and Post-Issue</a:t>
            </a:r>
            <a:endParaRPr/>
          </a:p>
          <a:p>
            <a:pPr indent="0" lvl="0" marL="0" marR="0" rtl="0" algn="l">
              <a:lnSpc>
                <a:spcPct val="100000"/>
              </a:lnSpc>
              <a:spcBef>
                <a:spcPts val="0"/>
              </a:spcBef>
              <a:spcAft>
                <a:spcPts val="0"/>
              </a:spcAft>
              <a:buClr>
                <a:srgbClr val="C55A11"/>
              </a:buClr>
              <a:buSzPts val="1200"/>
              <a:buFont typeface="Calibri"/>
              <a:buNone/>
            </a:pPr>
            <a:r>
              <a:rPr b="0" i="0" lang="en-US" sz="1200" u="none" cap="none" strike="noStrike">
                <a:solidFill>
                  <a:srgbClr val="C55A11"/>
                </a:solidFill>
                <a:latin typeface="Calibri"/>
                <a:ea typeface="Calibri"/>
                <a:cs typeface="Calibri"/>
                <a:sym typeface="Calibri"/>
              </a:rPr>
              <a:t>Date of Entry: Nov 1999</a:t>
            </a:r>
            <a:endParaRPr/>
          </a:p>
        </p:txBody>
      </p:sp>
      <p:cxnSp>
        <p:nvCxnSpPr>
          <p:cNvPr id="699" name="Google Shape;699;p12"/>
          <p:cNvCxnSpPr/>
          <p:nvPr/>
        </p:nvCxnSpPr>
        <p:spPr>
          <a:xfrm>
            <a:off x="3616377" y="2628610"/>
            <a:ext cx="3697" cy="461022"/>
          </a:xfrm>
          <a:prstGeom prst="straightConnector1">
            <a:avLst/>
          </a:prstGeom>
          <a:noFill/>
          <a:ln cap="flat" cmpd="sng" w="9525">
            <a:solidFill>
              <a:schemeClr val="dk1"/>
            </a:solidFill>
            <a:prstDash val="solid"/>
            <a:miter lim="800000"/>
            <a:headEnd len="sm" w="sm" type="none"/>
            <a:tailEnd len="sm" w="sm" type="none"/>
          </a:ln>
        </p:spPr>
      </p:cxnSp>
      <p:cxnSp>
        <p:nvCxnSpPr>
          <p:cNvPr id="700" name="Google Shape;700;p12"/>
          <p:cNvCxnSpPr/>
          <p:nvPr/>
        </p:nvCxnSpPr>
        <p:spPr>
          <a:xfrm>
            <a:off x="10460716" y="2633747"/>
            <a:ext cx="0" cy="417305"/>
          </a:xfrm>
          <a:prstGeom prst="straightConnector1">
            <a:avLst/>
          </a:prstGeom>
          <a:noFill/>
          <a:ln cap="flat" cmpd="sng" w="9525">
            <a:solidFill>
              <a:schemeClr val="dk1"/>
            </a:solidFill>
            <a:prstDash val="solid"/>
            <a:miter lim="800000"/>
            <a:headEnd len="sm" w="sm" type="none"/>
            <a:tailEnd len="sm" w="sm" type="none"/>
          </a:ln>
        </p:spPr>
      </p:cxnSp>
      <p:pic>
        <p:nvPicPr>
          <p:cNvPr id="701" name="Google Shape;701;p12"/>
          <p:cNvPicPr preferRelativeResize="0"/>
          <p:nvPr/>
        </p:nvPicPr>
        <p:blipFill rotWithShape="1">
          <a:blip r:embed="rId13">
            <a:alphaModFix/>
          </a:blip>
          <a:srcRect b="33289" l="25862" r="24003" t="0"/>
          <a:stretch/>
        </p:blipFill>
        <p:spPr>
          <a:xfrm>
            <a:off x="9998528" y="3040543"/>
            <a:ext cx="687737" cy="914400"/>
          </a:xfrm>
          <a:prstGeom prst="rect">
            <a:avLst/>
          </a:prstGeom>
          <a:noFill/>
          <a:ln>
            <a:noFill/>
          </a:ln>
        </p:spPr>
      </p:pic>
      <p:pic>
        <p:nvPicPr>
          <p:cNvPr id="702" name="Google Shape;702;p12"/>
          <p:cNvPicPr preferRelativeResize="0"/>
          <p:nvPr/>
        </p:nvPicPr>
        <p:blipFill rotWithShape="1">
          <a:blip r:embed="rId14">
            <a:alphaModFix/>
          </a:blip>
          <a:srcRect b="38038" l="31254" r="25897" t="24083"/>
          <a:stretch/>
        </p:blipFill>
        <p:spPr>
          <a:xfrm>
            <a:off x="11152548" y="3033433"/>
            <a:ext cx="767849" cy="914400"/>
          </a:xfrm>
          <a:prstGeom prst="rect">
            <a:avLst/>
          </a:prstGeom>
          <a:noFill/>
          <a:ln>
            <a:noFill/>
          </a:ln>
        </p:spPr>
      </p:pic>
      <p:sp>
        <p:nvSpPr>
          <p:cNvPr id="703" name="Google Shape;703;p12"/>
          <p:cNvSpPr txBox="1"/>
          <p:nvPr/>
        </p:nvSpPr>
        <p:spPr>
          <a:xfrm>
            <a:off x="9229076" y="3929275"/>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Brian William</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Casia, 3A</a:t>
            </a:r>
            <a:endParaRPr/>
          </a:p>
          <a:p>
            <a:pPr indent="0" lvl="0" marL="0" marR="0" rtl="0" algn="r">
              <a:lnSpc>
                <a:spcPct val="100000"/>
              </a:lnSpc>
              <a:spcBef>
                <a:spcPts val="0"/>
              </a:spcBef>
              <a:spcAft>
                <a:spcPts val="0"/>
              </a:spcAft>
              <a:buClr>
                <a:srgbClr val="FF0000"/>
              </a:buClr>
              <a:buSzPts val="1200"/>
              <a:buFont typeface="Calibri"/>
              <a:buNone/>
            </a:pPr>
            <a:r>
              <a:rPr b="0" i="0" lang="en-US" sz="1200" u="none" cap="none" strike="noStrike">
                <a:solidFill>
                  <a:srgbClr val="FF000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FF0000"/>
              </a:buClr>
              <a:buSzPts val="1200"/>
              <a:buFont typeface="Calibri"/>
              <a:buNone/>
            </a:pPr>
            <a:r>
              <a:rPr b="0" i="0" lang="en-US" sz="1200" u="none" cap="none" strike="noStrike">
                <a:solidFill>
                  <a:srgbClr val="FF0000"/>
                </a:solidFill>
                <a:latin typeface="Calibri"/>
                <a:ea typeface="Calibri"/>
                <a:cs typeface="Calibri"/>
                <a:sym typeface="Calibri"/>
              </a:rPr>
              <a:t>Feb 2019</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sp>
        <p:nvSpPr>
          <p:cNvPr id="704" name="Google Shape;704;p12"/>
          <p:cNvSpPr txBox="1"/>
          <p:nvPr/>
        </p:nvSpPr>
        <p:spPr>
          <a:xfrm>
            <a:off x="10421017" y="3913108"/>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Maria Corina</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Benedicto, 3A</a:t>
            </a:r>
            <a:endParaRPr b="1" i="0" sz="1200" u="none" cap="none" strike="noStrike">
              <a:solidFill>
                <a:srgbClr val="002060"/>
              </a:solidFill>
              <a:latin typeface="Calibri"/>
              <a:ea typeface="Calibri"/>
              <a:cs typeface="Calibri"/>
              <a:sym typeface="Calibri"/>
            </a:endParaRPr>
          </a:p>
          <a:p>
            <a:pPr indent="0" lvl="0" marL="0" marR="0" rtl="0" algn="r">
              <a:lnSpc>
                <a:spcPct val="100000"/>
              </a:lnSpc>
              <a:spcBef>
                <a:spcPts val="0"/>
              </a:spcBef>
              <a:spcAft>
                <a:spcPts val="0"/>
              </a:spcAft>
              <a:buClr>
                <a:srgbClr val="002060"/>
              </a:buClr>
              <a:buSzPts val="1200"/>
              <a:buFont typeface="Calibri"/>
              <a:buNone/>
            </a:pPr>
            <a:r>
              <a:rPr b="0" i="0" lang="en-US" sz="1200" u="none" cap="none" strike="noStrike">
                <a:solidFill>
                  <a:srgbClr val="00206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002060"/>
              </a:buClr>
              <a:buSzPts val="1200"/>
              <a:buFont typeface="Calibri"/>
              <a:buNone/>
            </a:pPr>
            <a:r>
              <a:rPr b="0" i="0" lang="en-US" sz="1200" u="none" cap="none" strike="noStrike">
                <a:solidFill>
                  <a:srgbClr val="002060"/>
                </a:solidFill>
                <a:latin typeface="Calibri"/>
                <a:ea typeface="Calibri"/>
                <a:cs typeface="Calibri"/>
                <a:sym typeface="Calibri"/>
              </a:rPr>
              <a:t>Feb 2019</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cxnSp>
        <p:nvCxnSpPr>
          <p:cNvPr id="705" name="Google Shape;705;p12"/>
          <p:cNvCxnSpPr/>
          <p:nvPr/>
        </p:nvCxnSpPr>
        <p:spPr>
          <a:xfrm>
            <a:off x="4851613" y="2612569"/>
            <a:ext cx="3697" cy="461022"/>
          </a:xfrm>
          <a:prstGeom prst="straightConnector1">
            <a:avLst/>
          </a:prstGeom>
          <a:noFill/>
          <a:ln cap="flat" cmpd="sng" w="9525">
            <a:solidFill>
              <a:schemeClr val="dk1"/>
            </a:solidFill>
            <a:prstDash val="solid"/>
            <a:miter lim="800000"/>
            <a:headEnd len="sm" w="sm" type="none"/>
            <a:tailEnd len="sm" w="sm" type="none"/>
          </a:ln>
        </p:spPr>
      </p:cxnSp>
      <p:pic>
        <p:nvPicPr>
          <p:cNvPr id="706" name="Google Shape;706;p12"/>
          <p:cNvPicPr preferRelativeResize="0"/>
          <p:nvPr/>
        </p:nvPicPr>
        <p:blipFill rotWithShape="1">
          <a:blip r:embed="rId15">
            <a:alphaModFix/>
          </a:blip>
          <a:srcRect b="19903" l="20667" r="18776" t="2344"/>
          <a:stretch/>
        </p:blipFill>
        <p:spPr>
          <a:xfrm>
            <a:off x="5770169" y="3033042"/>
            <a:ext cx="873921" cy="943650"/>
          </a:xfrm>
          <a:prstGeom prst="rect">
            <a:avLst/>
          </a:prstGeom>
          <a:solidFill>
            <a:srgbClr val="FFFF99"/>
          </a:solidFill>
          <a:ln>
            <a:noFill/>
          </a:ln>
        </p:spPr>
      </p:pic>
      <p:sp>
        <p:nvSpPr>
          <p:cNvPr id="707" name="Google Shape;707;p12"/>
          <p:cNvSpPr txBox="1"/>
          <p:nvPr/>
        </p:nvSpPr>
        <p:spPr>
          <a:xfrm>
            <a:off x="5230938" y="3979857"/>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Francis </a:t>
            </a:r>
            <a:endParaRPr b="1" i="0" sz="14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Jaronel, 3B</a:t>
            </a:r>
            <a:endParaRPr b="1" i="0" sz="1200" u="none" cap="none" strike="noStrike">
              <a:solidFill>
                <a:srgbClr val="002060"/>
              </a:solidFill>
              <a:latin typeface="Calibri"/>
              <a:ea typeface="Calibri"/>
              <a:cs typeface="Calibri"/>
              <a:sym typeface="Calibri"/>
            </a:endParaRPr>
          </a:p>
          <a:p>
            <a:pPr indent="0" lvl="0" marL="0" marR="0" rtl="0" algn="r">
              <a:lnSpc>
                <a:spcPct val="100000"/>
              </a:lnSpc>
              <a:spcBef>
                <a:spcPts val="0"/>
              </a:spcBef>
              <a:spcAft>
                <a:spcPts val="0"/>
              </a:spcAft>
              <a:buClr>
                <a:srgbClr val="002060"/>
              </a:buClr>
              <a:buSzPts val="1200"/>
              <a:buFont typeface="Calibri"/>
              <a:buNone/>
            </a:pPr>
            <a:r>
              <a:rPr b="0" i="0" lang="en-US" sz="1200" u="none" cap="none" strike="noStrike">
                <a:solidFill>
                  <a:srgbClr val="00206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002060"/>
              </a:buClr>
              <a:buSzPts val="1200"/>
              <a:buFont typeface="Calibri"/>
              <a:buNone/>
            </a:pPr>
            <a:r>
              <a:rPr b="0" i="0" lang="en-US" sz="1200" u="none" cap="none" strike="noStrike">
                <a:solidFill>
                  <a:srgbClr val="002060"/>
                </a:solidFill>
                <a:latin typeface="Calibri"/>
                <a:ea typeface="Calibri"/>
                <a:cs typeface="Calibri"/>
                <a:sym typeface="Calibri"/>
              </a:rPr>
              <a:t>Mar 2019</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2" name="Shape 712"/>
        <p:cNvGrpSpPr/>
        <p:nvPr/>
      </p:nvGrpSpPr>
      <p:grpSpPr>
        <a:xfrm>
          <a:off x="0" y="0"/>
          <a:ext cx="0" cy="0"/>
          <a:chOff x="0" y="0"/>
          <a:chExt cx="0" cy="0"/>
        </a:xfrm>
      </p:grpSpPr>
      <p:grpSp>
        <p:nvGrpSpPr>
          <p:cNvPr id="713" name="Google Shape;713;p13"/>
          <p:cNvGrpSpPr/>
          <p:nvPr/>
        </p:nvGrpSpPr>
        <p:grpSpPr>
          <a:xfrm>
            <a:off x="64411" y="5029200"/>
            <a:ext cx="12127589" cy="1852020"/>
            <a:chOff x="64411" y="5029200"/>
            <a:chExt cx="12127589" cy="1852020"/>
          </a:xfrm>
        </p:grpSpPr>
        <p:pic>
          <p:nvPicPr>
            <p:cNvPr id="714" name="Google Shape;714;p13"/>
            <p:cNvPicPr preferRelativeResize="0"/>
            <p:nvPr/>
          </p:nvPicPr>
          <p:blipFill rotWithShape="1">
            <a:blip r:embed="rId3">
              <a:alphaModFix/>
            </a:blip>
            <a:srcRect b="48442" l="0" r="0" t="0"/>
            <a:stretch/>
          </p:blipFill>
          <p:spPr>
            <a:xfrm flipH="1" rot="10800000">
              <a:off x="2399626" y="5240195"/>
              <a:ext cx="4171210" cy="1611209"/>
            </a:xfrm>
            <a:prstGeom prst="rect">
              <a:avLst/>
            </a:prstGeom>
            <a:noFill/>
            <a:ln>
              <a:noFill/>
            </a:ln>
          </p:spPr>
        </p:pic>
        <p:pic>
          <p:nvPicPr>
            <p:cNvPr id="715" name="Google Shape;715;p13"/>
            <p:cNvPicPr preferRelativeResize="0"/>
            <p:nvPr/>
          </p:nvPicPr>
          <p:blipFill rotWithShape="1">
            <a:blip r:embed="rId3">
              <a:alphaModFix/>
            </a:blip>
            <a:srcRect b="48442" l="0" r="0" t="0"/>
            <a:stretch/>
          </p:blipFill>
          <p:spPr>
            <a:xfrm flipH="1" rot="10800000">
              <a:off x="64411" y="5270011"/>
              <a:ext cx="4171210" cy="1611209"/>
            </a:xfrm>
            <a:prstGeom prst="rect">
              <a:avLst/>
            </a:prstGeom>
            <a:noFill/>
            <a:ln>
              <a:noFill/>
            </a:ln>
          </p:spPr>
        </p:pic>
        <p:pic>
          <p:nvPicPr>
            <p:cNvPr id="716" name="Google Shape;716;p13"/>
            <p:cNvPicPr preferRelativeResize="0"/>
            <p:nvPr/>
          </p:nvPicPr>
          <p:blipFill rotWithShape="1">
            <a:blip r:embed="rId3">
              <a:alphaModFix/>
            </a:blip>
            <a:srcRect b="48442" l="0" r="0" t="0"/>
            <a:stretch/>
          </p:blipFill>
          <p:spPr>
            <a:xfrm flipH="1" rot="10800000">
              <a:off x="4413537" y="5246791"/>
              <a:ext cx="4171210" cy="1611209"/>
            </a:xfrm>
            <a:prstGeom prst="rect">
              <a:avLst/>
            </a:prstGeom>
            <a:noFill/>
            <a:ln>
              <a:noFill/>
            </a:ln>
          </p:spPr>
        </p:pic>
        <p:pic>
          <p:nvPicPr>
            <p:cNvPr id="717" name="Google Shape;717;p13"/>
            <p:cNvPicPr preferRelativeResize="0"/>
            <p:nvPr/>
          </p:nvPicPr>
          <p:blipFill rotWithShape="1">
            <a:blip r:embed="rId4">
              <a:alphaModFix/>
            </a:blip>
            <a:srcRect b="0" l="0" r="0" t="0"/>
            <a:stretch/>
          </p:blipFill>
          <p:spPr>
            <a:xfrm>
              <a:off x="1401171" y="5552551"/>
              <a:ext cx="917965" cy="914400"/>
            </a:xfrm>
            <a:prstGeom prst="rect">
              <a:avLst/>
            </a:prstGeom>
            <a:noFill/>
            <a:ln>
              <a:noFill/>
            </a:ln>
          </p:spPr>
        </p:pic>
        <p:sp>
          <p:nvSpPr>
            <p:cNvPr id="718" name="Google Shape;718;p13"/>
            <p:cNvSpPr/>
            <p:nvPr/>
          </p:nvSpPr>
          <p:spPr>
            <a:xfrm>
              <a:off x="162665" y="5029200"/>
              <a:ext cx="182880" cy="1828800"/>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719" name="Google Shape;719;p13"/>
            <p:cNvPicPr preferRelativeResize="0"/>
            <p:nvPr/>
          </p:nvPicPr>
          <p:blipFill rotWithShape="1">
            <a:blip r:embed="rId3">
              <a:alphaModFix/>
            </a:blip>
            <a:srcRect b="48442" l="0" r="0" t="0"/>
            <a:stretch/>
          </p:blipFill>
          <p:spPr>
            <a:xfrm flipH="1" rot="10800000">
              <a:off x="8293562" y="5361982"/>
              <a:ext cx="3898438" cy="1496018"/>
            </a:xfrm>
            <a:prstGeom prst="rect">
              <a:avLst/>
            </a:prstGeom>
            <a:noFill/>
            <a:ln>
              <a:noFill/>
            </a:ln>
          </p:spPr>
        </p:pic>
        <p:sp>
          <p:nvSpPr>
            <p:cNvPr id="720" name="Google Shape;720;p13"/>
            <p:cNvSpPr txBox="1"/>
            <p:nvPr/>
          </p:nvSpPr>
          <p:spPr>
            <a:xfrm>
              <a:off x="327909" y="5728222"/>
              <a:ext cx="9038162" cy="95410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New Business Services </a:t>
              </a:r>
              <a:endParaRPr/>
            </a:p>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Team 4 – SLOCPI Corp Account &amp; Regular App</a:t>
              </a:r>
              <a:endParaRPr b="1" i="0" sz="2800" u="none" cap="none" strike="noStrike">
                <a:solidFill>
                  <a:srgbClr val="000000"/>
                </a:solidFill>
                <a:latin typeface="Calibri"/>
                <a:ea typeface="Calibri"/>
                <a:cs typeface="Calibri"/>
                <a:sym typeface="Calibri"/>
              </a:endParaRPr>
            </a:p>
          </p:txBody>
        </p:sp>
      </p:grpSp>
      <p:cxnSp>
        <p:nvCxnSpPr>
          <p:cNvPr id="721" name="Google Shape;721;p13"/>
          <p:cNvCxnSpPr/>
          <p:nvPr/>
        </p:nvCxnSpPr>
        <p:spPr>
          <a:xfrm>
            <a:off x="6122504" y="506896"/>
            <a:ext cx="47072" cy="2517501"/>
          </a:xfrm>
          <a:prstGeom prst="straightConnector1">
            <a:avLst/>
          </a:prstGeom>
          <a:noFill/>
          <a:ln cap="flat" cmpd="sng" w="9525">
            <a:solidFill>
              <a:schemeClr val="dk1"/>
            </a:solidFill>
            <a:prstDash val="solid"/>
            <a:miter lim="800000"/>
            <a:headEnd len="sm" w="sm" type="none"/>
            <a:tailEnd len="sm" w="sm" type="none"/>
          </a:ln>
        </p:spPr>
      </p:cxnSp>
      <p:cxnSp>
        <p:nvCxnSpPr>
          <p:cNvPr id="722" name="Google Shape;722;p13"/>
          <p:cNvCxnSpPr/>
          <p:nvPr/>
        </p:nvCxnSpPr>
        <p:spPr>
          <a:xfrm>
            <a:off x="3408603" y="3230555"/>
            <a:ext cx="0" cy="0"/>
          </a:xfrm>
          <a:prstGeom prst="straightConnector1">
            <a:avLst/>
          </a:prstGeom>
          <a:noFill/>
          <a:ln cap="flat" cmpd="sng" w="9525">
            <a:solidFill>
              <a:schemeClr val="dk1"/>
            </a:solidFill>
            <a:prstDash val="solid"/>
            <a:miter lim="800000"/>
            <a:headEnd len="sm" w="sm" type="none"/>
            <a:tailEnd len="sm" w="sm" type="none"/>
          </a:ln>
        </p:spPr>
      </p:cxnSp>
      <p:grpSp>
        <p:nvGrpSpPr>
          <p:cNvPr id="723" name="Google Shape;723;p13"/>
          <p:cNvGrpSpPr/>
          <p:nvPr/>
        </p:nvGrpSpPr>
        <p:grpSpPr>
          <a:xfrm>
            <a:off x="5307012" y="61581"/>
            <a:ext cx="4059060" cy="1213076"/>
            <a:chOff x="5307012" y="108877"/>
            <a:chExt cx="4059060" cy="1213076"/>
          </a:xfrm>
        </p:grpSpPr>
        <p:grpSp>
          <p:nvGrpSpPr>
            <p:cNvPr id="724" name="Google Shape;724;p13"/>
            <p:cNvGrpSpPr/>
            <p:nvPr/>
          </p:nvGrpSpPr>
          <p:grpSpPr>
            <a:xfrm>
              <a:off x="5307012" y="108877"/>
              <a:ext cx="4059060" cy="1213076"/>
              <a:chOff x="5307012" y="187349"/>
              <a:chExt cx="4059060" cy="1213076"/>
            </a:xfrm>
          </p:grpSpPr>
          <p:sp>
            <p:nvSpPr>
              <p:cNvPr id="725" name="Google Shape;725;p13"/>
              <p:cNvSpPr/>
              <p:nvPr/>
            </p:nvSpPr>
            <p:spPr>
              <a:xfrm>
                <a:off x="5307012" y="187349"/>
                <a:ext cx="4059060" cy="1213076"/>
              </a:xfrm>
              <a:prstGeom prst="rect">
                <a:avLst/>
              </a:prstGeom>
              <a:solidFill>
                <a:srgbClr val="80000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26" name="Google Shape;726;p13"/>
              <p:cNvCxnSpPr/>
              <p:nvPr/>
            </p:nvCxnSpPr>
            <p:spPr>
              <a:xfrm>
                <a:off x="6402134" y="1260474"/>
                <a:ext cx="2378765" cy="0"/>
              </a:xfrm>
              <a:prstGeom prst="straightConnector1">
                <a:avLst/>
              </a:prstGeom>
              <a:noFill/>
              <a:ln cap="flat" cmpd="sng" w="9525">
                <a:solidFill>
                  <a:srgbClr val="800000"/>
                </a:solidFill>
                <a:prstDash val="solid"/>
                <a:miter lim="800000"/>
                <a:headEnd len="sm" w="sm" type="none"/>
                <a:tailEnd len="sm" w="sm" type="none"/>
              </a:ln>
            </p:spPr>
          </p:cxnSp>
        </p:grpSp>
        <p:pic>
          <p:nvPicPr>
            <p:cNvPr id="727" name="Google Shape;727;p13"/>
            <p:cNvPicPr preferRelativeResize="0"/>
            <p:nvPr/>
          </p:nvPicPr>
          <p:blipFill rotWithShape="1">
            <a:blip r:embed="rId5">
              <a:alphaModFix/>
            </a:blip>
            <a:srcRect b="0" l="0" r="0" t="0"/>
            <a:stretch/>
          </p:blipFill>
          <p:spPr>
            <a:xfrm>
              <a:off x="5487004" y="195600"/>
              <a:ext cx="914400" cy="1016432"/>
            </a:xfrm>
            <a:prstGeom prst="rect">
              <a:avLst/>
            </a:prstGeom>
            <a:solidFill>
              <a:srgbClr val="FFFF99"/>
            </a:solidFill>
            <a:ln cap="flat" cmpd="sng" w="9525">
              <a:solidFill>
                <a:schemeClr val="dk1"/>
              </a:solidFill>
              <a:prstDash val="solid"/>
              <a:round/>
              <a:headEnd len="sm" w="sm" type="none"/>
              <a:tailEnd len="sm" w="sm" type="none"/>
            </a:ln>
          </p:spPr>
        </p:pic>
      </p:grpSp>
      <p:cxnSp>
        <p:nvCxnSpPr>
          <p:cNvPr id="728" name="Google Shape;728;p13"/>
          <p:cNvCxnSpPr/>
          <p:nvPr/>
        </p:nvCxnSpPr>
        <p:spPr>
          <a:xfrm>
            <a:off x="3374347" y="2609332"/>
            <a:ext cx="0" cy="417305"/>
          </a:xfrm>
          <a:prstGeom prst="straightConnector1">
            <a:avLst/>
          </a:prstGeom>
          <a:noFill/>
          <a:ln cap="flat" cmpd="sng" w="9525">
            <a:solidFill>
              <a:schemeClr val="dk1"/>
            </a:solidFill>
            <a:prstDash val="solid"/>
            <a:miter lim="800000"/>
            <a:headEnd len="sm" w="sm" type="none"/>
            <a:tailEnd len="sm" w="sm" type="none"/>
          </a:ln>
        </p:spPr>
      </p:cxnSp>
      <p:sp>
        <p:nvSpPr>
          <p:cNvPr id="729" name="Google Shape;729;p13"/>
          <p:cNvSpPr txBox="1"/>
          <p:nvPr/>
        </p:nvSpPr>
        <p:spPr>
          <a:xfrm>
            <a:off x="2362200" y="3983764"/>
            <a:ext cx="1528392" cy="89255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Roxanne Irish Roque, 3A</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Jun 2017</a:t>
            </a:r>
            <a:endParaRPr/>
          </a:p>
        </p:txBody>
      </p:sp>
      <p:sp>
        <p:nvSpPr>
          <p:cNvPr id="730" name="Google Shape;730;p13"/>
          <p:cNvSpPr txBox="1"/>
          <p:nvPr/>
        </p:nvSpPr>
        <p:spPr>
          <a:xfrm>
            <a:off x="3712767" y="3948353"/>
            <a:ext cx="1528392" cy="104644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Bryan Regner, 3A</a:t>
            </a:r>
            <a:endParaRPr/>
          </a:p>
          <a:p>
            <a:pPr indent="0" lvl="0" marL="0" marR="0" rtl="0" algn="r">
              <a:lnSpc>
                <a:spcPct val="100000"/>
              </a:lnSpc>
              <a:spcBef>
                <a:spcPts val="0"/>
              </a:spcBef>
              <a:spcAft>
                <a:spcPts val="0"/>
              </a:spcAft>
              <a:buClr>
                <a:srgbClr val="ED7D31"/>
              </a:buClr>
              <a:buSzPts val="1200"/>
              <a:buFont typeface="Calibri"/>
              <a:buNone/>
            </a:pPr>
            <a:r>
              <a:rPr b="0" i="0" lang="en-US" sz="1200" u="none" cap="none" strike="noStrike">
                <a:solidFill>
                  <a:srgbClr val="ED7D31"/>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ED7D31"/>
              </a:buClr>
              <a:buSzPts val="1200"/>
              <a:buFont typeface="Calibri"/>
              <a:buNone/>
            </a:pPr>
            <a:r>
              <a:rPr b="0" i="0" lang="en-US" sz="1200" u="none" cap="none" strike="noStrike">
                <a:solidFill>
                  <a:srgbClr val="ED7D31"/>
                </a:solidFill>
                <a:latin typeface="Calibri"/>
                <a:ea typeface="Calibri"/>
                <a:cs typeface="Calibri"/>
                <a:sym typeface="Calibri"/>
              </a:rPr>
              <a:t>May 2018</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ED7D31"/>
              </a:solidFill>
              <a:latin typeface="Calibri"/>
              <a:ea typeface="Calibri"/>
              <a:cs typeface="Calibri"/>
              <a:sym typeface="Calibri"/>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ED7D31"/>
              </a:solidFill>
              <a:latin typeface="Calibri"/>
              <a:ea typeface="Calibri"/>
              <a:cs typeface="Calibri"/>
              <a:sym typeface="Calibri"/>
            </a:endParaRPr>
          </a:p>
        </p:txBody>
      </p:sp>
      <p:cxnSp>
        <p:nvCxnSpPr>
          <p:cNvPr id="731" name="Google Shape;731;p13"/>
          <p:cNvCxnSpPr/>
          <p:nvPr/>
        </p:nvCxnSpPr>
        <p:spPr>
          <a:xfrm>
            <a:off x="7788360" y="2611962"/>
            <a:ext cx="0" cy="417305"/>
          </a:xfrm>
          <a:prstGeom prst="straightConnector1">
            <a:avLst/>
          </a:prstGeom>
          <a:noFill/>
          <a:ln cap="flat" cmpd="sng" w="9525">
            <a:solidFill>
              <a:schemeClr val="dk1"/>
            </a:solidFill>
            <a:prstDash val="solid"/>
            <a:miter lim="800000"/>
            <a:headEnd len="sm" w="sm" type="none"/>
            <a:tailEnd len="sm" w="sm" type="none"/>
          </a:ln>
        </p:spPr>
      </p:cxnSp>
      <p:sp>
        <p:nvSpPr>
          <p:cNvPr id="732" name="Google Shape;732;p13"/>
          <p:cNvSpPr txBox="1"/>
          <p:nvPr/>
        </p:nvSpPr>
        <p:spPr>
          <a:xfrm>
            <a:off x="5010287" y="3933615"/>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Beulah Grace</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Valderama, 3A</a:t>
            </a:r>
            <a:endParaRPr b="1" i="0" sz="1200" u="none" cap="none" strike="noStrike">
              <a:solidFill>
                <a:srgbClr val="002060"/>
              </a:solidFill>
              <a:latin typeface="Calibri"/>
              <a:ea typeface="Calibri"/>
              <a:cs typeface="Calibri"/>
              <a:sym typeface="Calibri"/>
            </a:endParaRPr>
          </a:p>
          <a:p>
            <a:pPr indent="0" lvl="0" marL="0" marR="0" rtl="0" algn="r">
              <a:lnSpc>
                <a:spcPct val="100000"/>
              </a:lnSpc>
              <a:spcBef>
                <a:spcPts val="0"/>
              </a:spcBef>
              <a:spcAft>
                <a:spcPts val="0"/>
              </a:spcAft>
              <a:buClr>
                <a:srgbClr val="002060"/>
              </a:buClr>
              <a:buSzPts val="1200"/>
              <a:buFont typeface="Calibri"/>
              <a:buNone/>
            </a:pPr>
            <a:r>
              <a:rPr b="0" i="0" lang="en-US" sz="1200" u="none" cap="none" strike="noStrike">
                <a:solidFill>
                  <a:srgbClr val="00206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002060"/>
              </a:buClr>
              <a:buSzPts val="1200"/>
              <a:buFont typeface="Calibri"/>
              <a:buNone/>
            </a:pPr>
            <a:r>
              <a:rPr b="0" i="0" lang="en-US" sz="1200" u="none" cap="none" strike="noStrike">
                <a:solidFill>
                  <a:srgbClr val="002060"/>
                </a:solidFill>
                <a:latin typeface="Calibri"/>
                <a:ea typeface="Calibri"/>
                <a:cs typeface="Calibri"/>
                <a:sym typeface="Calibri"/>
              </a:rPr>
              <a:t>May 2018</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cxnSp>
        <p:nvCxnSpPr>
          <p:cNvPr id="733" name="Google Shape;733;p13"/>
          <p:cNvCxnSpPr/>
          <p:nvPr/>
        </p:nvCxnSpPr>
        <p:spPr>
          <a:xfrm>
            <a:off x="9285730" y="2626302"/>
            <a:ext cx="0" cy="417305"/>
          </a:xfrm>
          <a:prstGeom prst="straightConnector1">
            <a:avLst/>
          </a:prstGeom>
          <a:noFill/>
          <a:ln cap="flat" cmpd="sng" w="9525">
            <a:solidFill>
              <a:schemeClr val="dk1"/>
            </a:solidFill>
            <a:prstDash val="solid"/>
            <a:miter lim="800000"/>
            <a:headEnd len="sm" w="sm" type="none"/>
            <a:tailEnd len="sm" w="sm" type="none"/>
          </a:ln>
        </p:spPr>
      </p:cxnSp>
      <p:sp>
        <p:nvSpPr>
          <p:cNvPr id="734" name="Google Shape;734;p13"/>
          <p:cNvSpPr txBox="1"/>
          <p:nvPr/>
        </p:nvSpPr>
        <p:spPr>
          <a:xfrm>
            <a:off x="6657286" y="3913602"/>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Mar Neil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Manaoat, 3A</a:t>
            </a:r>
            <a:endParaRPr/>
          </a:p>
          <a:p>
            <a:pPr indent="0" lvl="0" marL="0" marR="0" rtl="0" algn="r">
              <a:lnSpc>
                <a:spcPct val="100000"/>
              </a:lnSpc>
              <a:spcBef>
                <a:spcPts val="0"/>
              </a:spcBef>
              <a:spcAft>
                <a:spcPts val="0"/>
              </a:spcAft>
              <a:buClr>
                <a:srgbClr val="FF0000"/>
              </a:buClr>
              <a:buSzPts val="1200"/>
              <a:buFont typeface="Calibri"/>
              <a:buNone/>
            </a:pPr>
            <a:r>
              <a:rPr b="0" i="0" lang="en-US" sz="1200" u="none" cap="none" strike="noStrike">
                <a:solidFill>
                  <a:srgbClr val="FF000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FF0000"/>
              </a:buClr>
              <a:buSzPts val="1200"/>
              <a:buFont typeface="Calibri"/>
              <a:buNone/>
            </a:pPr>
            <a:r>
              <a:rPr b="0" i="0" lang="en-US" sz="1200" u="none" cap="none" strike="noStrike">
                <a:solidFill>
                  <a:srgbClr val="FF0000"/>
                </a:solidFill>
                <a:latin typeface="Calibri"/>
                <a:ea typeface="Calibri"/>
                <a:cs typeface="Calibri"/>
                <a:sym typeface="Calibri"/>
              </a:rPr>
              <a:t>Sep 2018</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cxnSp>
        <p:nvCxnSpPr>
          <p:cNvPr id="735" name="Google Shape;735;p13"/>
          <p:cNvCxnSpPr/>
          <p:nvPr/>
        </p:nvCxnSpPr>
        <p:spPr>
          <a:xfrm>
            <a:off x="1726090" y="2626302"/>
            <a:ext cx="0" cy="417305"/>
          </a:xfrm>
          <a:prstGeom prst="straightConnector1">
            <a:avLst/>
          </a:prstGeom>
          <a:noFill/>
          <a:ln cap="flat" cmpd="sng" w="9525">
            <a:solidFill>
              <a:schemeClr val="dk1"/>
            </a:solidFill>
            <a:prstDash val="solid"/>
            <a:miter lim="800000"/>
            <a:headEnd len="sm" w="sm" type="none"/>
            <a:tailEnd len="sm" w="sm" type="none"/>
          </a:ln>
        </p:spPr>
      </p:cxnSp>
      <p:cxnSp>
        <p:nvCxnSpPr>
          <p:cNvPr id="736" name="Google Shape;736;p13"/>
          <p:cNvCxnSpPr/>
          <p:nvPr/>
        </p:nvCxnSpPr>
        <p:spPr>
          <a:xfrm>
            <a:off x="11072557" y="2598468"/>
            <a:ext cx="0" cy="417305"/>
          </a:xfrm>
          <a:prstGeom prst="straightConnector1">
            <a:avLst/>
          </a:prstGeom>
          <a:noFill/>
          <a:ln cap="flat" cmpd="sng" w="9525">
            <a:solidFill>
              <a:schemeClr val="dk1"/>
            </a:solidFill>
            <a:prstDash val="solid"/>
            <a:miter lim="800000"/>
            <a:headEnd len="sm" w="sm" type="none"/>
            <a:tailEnd len="sm" w="sm" type="none"/>
          </a:ln>
        </p:spPr>
      </p:cxnSp>
      <p:sp>
        <p:nvSpPr>
          <p:cNvPr id="737" name="Google Shape;737;p13"/>
          <p:cNvSpPr txBox="1"/>
          <p:nvPr/>
        </p:nvSpPr>
        <p:spPr>
          <a:xfrm>
            <a:off x="961894" y="4024575"/>
            <a:ext cx="1528392" cy="67710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Rizel Sario, 3A</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Date of Entry:</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Apr 2017</a:t>
            </a:r>
            <a:endParaRPr/>
          </a:p>
        </p:txBody>
      </p:sp>
      <p:sp>
        <p:nvSpPr>
          <p:cNvPr id="738" name="Google Shape;738;p13"/>
          <p:cNvSpPr txBox="1"/>
          <p:nvPr/>
        </p:nvSpPr>
        <p:spPr>
          <a:xfrm>
            <a:off x="8197896" y="3937781"/>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Cheska Mae E. Maranan, 3A</a:t>
            </a:r>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Feb 2019</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cxnSp>
        <p:nvCxnSpPr>
          <p:cNvPr id="739" name="Google Shape;739;p13"/>
          <p:cNvCxnSpPr/>
          <p:nvPr/>
        </p:nvCxnSpPr>
        <p:spPr>
          <a:xfrm>
            <a:off x="1726090" y="2609532"/>
            <a:ext cx="9346467" cy="16770"/>
          </a:xfrm>
          <a:prstGeom prst="straightConnector1">
            <a:avLst/>
          </a:prstGeom>
          <a:noFill/>
          <a:ln cap="flat" cmpd="sng" w="9525">
            <a:solidFill>
              <a:schemeClr val="dk1"/>
            </a:solidFill>
            <a:prstDash val="solid"/>
            <a:miter lim="800000"/>
            <a:headEnd len="sm" w="sm" type="none"/>
            <a:tailEnd len="sm" w="sm" type="none"/>
          </a:ln>
        </p:spPr>
      </p:cxnSp>
      <p:sp>
        <p:nvSpPr>
          <p:cNvPr id="740" name="Google Shape;740;p13"/>
          <p:cNvSpPr/>
          <p:nvPr/>
        </p:nvSpPr>
        <p:spPr>
          <a:xfrm>
            <a:off x="2291810" y="1292317"/>
            <a:ext cx="4278307" cy="1249430"/>
          </a:xfrm>
          <a:prstGeom prst="rect">
            <a:avLst/>
          </a:prstGeom>
          <a:solidFill>
            <a:schemeClr val="accent2">
              <a:alpha val="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41" name="Google Shape;741;p13"/>
          <p:cNvSpPr txBox="1"/>
          <p:nvPr/>
        </p:nvSpPr>
        <p:spPr>
          <a:xfrm>
            <a:off x="352249" y="1584538"/>
            <a:ext cx="1019696"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9933"/>
              </a:buClr>
              <a:buSzPts val="5400"/>
              <a:buFont typeface="Impact"/>
              <a:buNone/>
            </a:pPr>
            <a:r>
              <a:rPr b="0" i="0" lang="en-US" sz="5400" u="none" cap="none" strike="noStrike">
                <a:solidFill>
                  <a:srgbClr val="FF9933"/>
                </a:solidFill>
                <a:latin typeface="Impact"/>
                <a:ea typeface="Impact"/>
                <a:cs typeface="Impact"/>
                <a:sym typeface="Impact"/>
              </a:rPr>
              <a:t>08</a:t>
            </a:r>
            <a:endParaRPr b="0" i="0" sz="5400" u="none" cap="none" strike="noStrike">
              <a:solidFill>
                <a:srgbClr val="FF9933"/>
              </a:solidFill>
              <a:latin typeface="Impact"/>
              <a:ea typeface="Impact"/>
              <a:cs typeface="Impact"/>
              <a:sym typeface="Impact"/>
            </a:endParaRPr>
          </a:p>
        </p:txBody>
      </p:sp>
      <p:sp>
        <p:nvSpPr>
          <p:cNvPr id="742" name="Google Shape;742;p13"/>
          <p:cNvSpPr txBox="1"/>
          <p:nvPr/>
        </p:nvSpPr>
        <p:spPr>
          <a:xfrm>
            <a:off x="1210314" y="1697713"/>
            <a:ext cx="127997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Warm </a:t>
            </a:r>
            <a:endParaRPr/>
          </a:p>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Bodies</a:t>
            </a:r>
            <a:endParaRPr b="1" i="0" sz="2000" u="none" cap="none" strike="noStrike">
              <a:solidFill>
                <a:srgbClr val="3A3838"/>
              </a:solidFill>
              <a:latin typeface="Calibri"/>
              <a:ea typeface="Calibri"/>
              <a:cs typeface="Calibri"/>
              <a:sym typeface="Calibri"/>
            </a:endParaRPr>
          </a:p>
        </p:txBody>
      </p:sp>
      <p:sp>
        <p:nvSpPr>
          <p:cNvPr id="743" name="Google Shape;743;p13"/>
          <p:cNvSpPr txBox="1"/>
          <p:nvPr/>
        </p:nvSpPr>
        <p:spPr>
          <a:xfrm>
            <a:off x="2290508" y="1375241"/>
            <a:ext cx="3149766" cy="129266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Crizalyn Rutaquio</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Supervisor</a:t>
            </a:r>
            <a:endParaRPr/>
          </a:p>
          <a:p>
            <a:pPr indent="0" lvl="0" marL="0" marR="0" rtl="0" algn="r">
              <a:lnSpc>
                <a:spcPct val="100000"/>
              </a:lnSpc>
              <a:spcBef>
                <a:spcPts val="0"/>
              </a:spcBef>
              <a:spcAft>
                <a:spcPts val="0"/>
              </a:spcAft>
              <a:buClr>
                <a:srgbClr val="ED7D31"/>
              </a:buClr>
              <a:buSzPts val="1400"/>
              <a:buFont typeface="Calibri"/>
              <a:buNone/>
            </a:pPr>
            <a:r>
              <a:rPr b="1" i="0" lang="en-US" sz="1400" u="none" cap="none" strike="noStrike">
                <a:solidFill>
                  <a:srgbClr val="ED7D31"/>
                </a:solidFill>
                <a:latin typeface="Calibri"/>
                <a:ea typeface="Calibri"/>
                <a:cs typeface="Calibri"/>
                <a:sym typeface="Calibri"/>
              </a:rPr>
              <a:t>Team 4 - </a:t>
            </a:r>
            <a:r>
              <a:rPr b="1" i="0" lang="en-US" sz="1200" u="none" cap="none" strike="noStrike">
                <a:solidFill>
                  <a:srgbClr val="ED7D31"/>
                </a:solidFill>
                <a:latin typeface="Calibri"/>
                <a:ea typeface="Calibri"/>
                <a:cs typeface="Calibri"/>
                <a:sym typeface="Calibri"/>
              </a:rPr>
              <a:t>SLOCPI Corp Account &amp; Regular App</a:t>
            </a:r>
            <a:endParaRPr b="1" i="0" sz="1400" u="none" cap="none" strike="noStrike">
              <a:solidFill>
                <a:srgbClr val="ED7D31"/>
              </a:solidFill>
              <a:latin typeface="Calibri"/>
              <a:ea typeface="Calibri"/>
              <a:cs typeface="Calibri"/>
              <a:sym typeface="Calibri"/>
            </a:endParaRPr>
          </a:p>
          <a:p>
            <a:pPr indent="0" lvl="0" marL="0" marR="0" rtl="0" algn="r">
              <a:lnSpc>
                <a:spcPct val="100000"/>
              </a:lnSpc>
              <a:spcBef>
                <a:spcPts val="0"/>
              </a:spcBef>
              <a:spcAft>
                <a:spcPts val="0"/>
              </a:spcAft>
              <a:buClr>
                <a:srgbClr val="ED7D31"/>
              </a:buClr>
              <a:buSzPts val="1200"/>
              <a:buFont typeface="Calibri"/>
              <a:buNone/>
            </a:pPr>
            <a:r>
              <a:rPr b="0" i="0" lang="en-US" sz="1200" u="none" cap="none" strike="noStrike">
                <a:solidFill>
                  <a:srgbClr val="ED7D31"/>
                </a:solidFill>
                <a:latin typeface="Calibri"/>
                <a:ea typeface="Calibri"/>
                <a:cs typeface="Calibri"/>
                <a:sym typeface="Calibri"/>
              </a:rPr>
              <a:t>Date of Entry: Oct 2013</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ED7D31"/>
              </a:solidFill>
              <a:latin typeface="Calibri"/>
              <a:ea typeface="Calibri"/>
              <a:cs typeface="Calibri"/>
              <a:sym typeface="Calibri"/>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ED7D31"/>
              </a:solidFill>
              <a:latin typeface="Calibri"/>
              <a:ea typeface="Calibri"/>
              <a:cs typeface="Calibri"/>
              <a:sym typeface="Calibri"/>
            </a:endParaRPr>
          </a:p>
        </p:txBody>
      </p:sp>
      <p:pic>
        <p:nvPicPr>
          <p:cNvPr id="744" name="Google Shape;744;p13"/>
          <p:cNvPicPr preferRelativeResize="0"/>
          <p:nvPr/>
        </p:nvPicPr>
        <p:blipFill rotWithShape="1">
          <a:blip r:embed="rId6">
            <a:alphaModFix/>
          </a:blip>
          <a:srcRect b="45983" l="69958" r="10654" t="30788"/>
          <a:stretch/>
        </p:blipFill>
        <p:spPr>
          <a:xfrm>
            <a:off x="5487004" y="1402856"/>
            <a:ext cx="914400" cy="914400"/>
          </a:xfrm>
          <a:prstGeom prst="rect">
            <a:avLst/>
          </a:prstGeom>
          <a:solidFill>
            <a:srgbClr val="FFFF99"/>
          </a:solidFill>
          <a:ln>
            <a:noFill/>
          </a:ln>
        </p:spPr>
      </p:pic>
      <p:pic>
        <p:nvPicPr>
          <p:cNvPr id="745" name="Google Shape;745;p13"/>
          <p:cNvPicPr preferRelativeResize="0"/>
          <p:nvPr/>
        </p:nvPicPr>
        <p:blipFill rotWithShape="1">
          <a:blip r:embed="rId7">
            <a:alphaModFix/>
          </a:blip>
          <a:srcRect b="18500" l="28999" r="47200" t="59450"/>
          <a:stretch/>
        </p:blipFill>
        <p:spPr>
          <a:xfrm>
            <a:off x="1619688" y="3017194"/>
            <a:ext cx="778598" cy="914400"/>
          </a:xfrm>
          <a:prstGeom prst="rect">
            <a:avLst/>
          </a:prstGeom>
          <a:solidFill>
            <a:srgbClr val="FFFF99"/>
          </a:solidFill>
          <a:ln>
            <a:noFill/>
          </a:ln>
        </p:spPr>
      </p:pic>
      <p:pic>
        <p:nvPicPr>
          <p:cNvPr id="746" name="Google Shape;746;p13"/>
          <p:cNvPicPr preferRelativeResize="0"/>
          <p:nvPr/>
        </p:nvPicPr>
        <p:blipFill rotWithShape="1">
          <a:blip r:embed="rId8">
            <a:alphaModFix/>
          </a:blip>
          <a:srcRect b="18786" l="16187" r="21387" t="8383"/>
          <a:stretch/>
        </p:blipFill>
        <p:spPr>
          <a:xfrm>
            <a:off x="3022982" y="3046777"/>
            <a:ext cx="783458" cy="914400"/>
          </a:xfrm>
          <a:prstGeom prst="rect">
            <a:avLst/>
          </a:prstGeom>
          <a:noFill/>
          <a:ln>
            <a:noFill/>
          </a:ln>
        </p:spPr>
      </p:pic>
      <p:pic>
        <p:nvPicPr>
          <p:cNvPr id="747" name="Google Shape;747;p13"/>
          <p:cNvPicPr preferRelativeResize="0"/>
          <p:nvPr/>
        </p:nvPicPr>
        <p:blipFill rotWithShape="1">
          <a:blip r:embed="rId9">
            <a:alphaModFix/>
          </a:blip>
          <a:srcRect b="13769" l="17474" r="16069" t="8177"/>
          <a:stretch/>
        </p:blipFill>
        <p:spPr>
          <a:xfrm>
            <a:off x="4343888" y="3023178"/>
            <a:ext cx="779387" cy="914400"/>
          </a:xfrm>
          <a:prstGeom prst="rect">
            <a:avLst/>
          </a:prstGeom>
          <a:noFill/>
          <a:ln>
            <a:noFill/>
          </a:ln>
        </p:spPr>
      </p:pic>
      <p:pic>
        <p:nvPicPr>
          <p:cNvPr id="748" name="Google Shape;748;p13"/>
          <p:cNvPicPr preferRelativeResize="0"/>
          <p:nvPr/>
        </p:nvPicPr>
        <p:blipFill rotWithShape="1">
          <a:blip r:embed="rId10">
            <a:alphaModFix/>
          </a:blip>
          <a:srcRect b="29526" l="24013" r="20861" t="1964"/>
          <a:stretch/>
        </p:blipFill>
        <p:spPr>
          <a:xfrm>
            <a:off x="5713654" y="2975096"/>
            <a:ext cx="735355" cy="914400"/>
          </a:xfrm>
          <a:prstGeom prst="rect">
            <a:avLst/>
          </a:prstGeom>
          <a:noFill/>
          <a:ln>
            <a:noFill/>
          </a:ln>
        </p:spPr>
      </p:pic>
      <p:pic>
        <p:nvPicPr>
          <p:cNvPr id="749" name="Google Shape;749;p13"/>
          <p:cNvPicPr preferRelativeResize="0"/>
          <p:nvPr/>
        </p:nvPicPr>
        <p:blipFill rotWithShape="1">
          <a:blip r:embed="rId11">
            <a:alphaModFix/>
          </a:blip>
          <a:srcRect b="20702" l="17574" r="13345" t="0"/>
          <a:stretch/>
        </p:blipFill>
        <p:spPr>
          <a:xfrm>
            <a:off x="7343282" y="2990239"/>
            <a:ext cx="790454" cy="914400"/>
          </a:xfrm>
          <a:prstGeom prst="rect">
            <a:avLst/>
          </a:prstGeom>
          <a:noFill/>
          <a:ln>
            <a:noFill/>
          </a:ln>
        </p:spPr>
      </p:pic>
      <p:sp>
        <p:nvSpPr>
          <p:cNvPr id="750" name="Google Shape;750;p13"/>
          <p:cNvSpPr txBox="1"/>
          <p:nvPr/>
        </p:nvSpPr>
        <p:spPr>
          <a:xfrm>
            <a:off x="6474553" y="138780"/>
            <a:ext cx="2891518"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Vilma Tubig, ACS, PCS, FLMI </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3</a:t>
            </a:r>
            <a:endParaRPr/>
          </a:p>
          <a:p>
            <a:pPr indent="0" lvl="0" marL="0" marR="0" rtl="0" algn="l">
              <a:lnSpc>
                <a:spcPct val="100000"/>
              </a:lnSpc>
              <a:spcBef>
                <a:spcPts val="0"/>
              </a:spcBef>
              <a:spcAft>
                <a:spcPts val="0"/>
              </a:spcAft>
              <a:buClr>
                <a:srgbClr val="C55A11"/>
              </a:buClr>
              <a:buSzPts val="1400"/>
              <a:buFont typeface="Calibri"/>
              <a:buNone/>
            </a:pPr>
            <a:r>
              <a:rPr b="1" i="0" lang="en-US" sz="1400" u="none" cap="none" strike="noStrike">
                <a:solidFill>
                  <a:srgbClr val="C55A11"/>
                </a:solidFill>
                <a:latin typeface="Calibri"/>
                <a:ea typeface="Calibri"/>
                <a:cs typeface="Calibri"/>
                <a:sym typeface="Calibri"/>
              </a:rPr>
              <a:t>NB Review, Facilitating and Post-Issue</a:t>
            </a:r>
            <a:endParaRPr/>
          </a:p>
          <a:p>
            <a:pPr indent="0" lvl="0" marL="0" marR="0" rtl="0" algn="l">
              <a:lnSpc>
                <a:spcPct val="100000"/>
              </a:lnSpc>
              <a:spcBef>
                <a:spcPts val="0"/>
              </a:spcBef>
              <a:spcAft>
                <a:spcPts val="0"/>
              </a:spcAft>
              <a:buClr>
                <a:srgbClr val="C55A11"/>
              </a:buClr>
              <a:buSzPts val="1200"/>
              <a:buFont typeface="Calibri"/>
              <a:buNone/>
            </a:pPr>
            <a:r>
              <a:rPr b="0" i="0" lang="en-US" sz="1200" u="none" cap="none" strike="noStrike">
                <a:solidFill>
                  <a:srgbClr val="C55A11"/>
                </a:solidFill>
                <a:latin typeface="Calibri"/>
                <a:ea typeface="Calibri"/>
                <a:cs typeface="Calibri"/>
                <a:sym typeface="Calibri"/>
              </a:rPr>
              <a:t>Date of Entry: Nov 1999</a:t>
            </a:r>
            <a:endParaRPr/>
          </a:p>
        </p:txBody>
      </p:sp>
      <p:cxnSp>
        <p:nvCxnSpPr>
          <p:cNvPr id="751" name="Google Shape;751;p13"/>
          <p:cNvCxnSpPr/>
          <p:nvPr/>
        </p:nvCxnSpPr>
        <p:spPr>
          <a:xfrm>
            <a:off x="4716501" y="2626302"/>
            <a:ext cx="0" cy="417305"/>
          </a:xfrm>
          <a:prstGeom prst="straightConnector1">
            <a:avLst/>
          </a:prstGeom>
          <a:noFill/>
          <a:ln cap="flat" cmpd="sng" w="9525">
            <a:solidFill>
              <a:schemeClr val="dk1"/>
            </a:solidFill>
            <a:prstDash val="solid"/>
            <a:miter lim="800000"/>
            <a:headEnd len="sm" w="sm" type="none"/>
            <a:tailEnd len="sm" w="sm" type="none"/>
          </a:ln>
        </p:spPr>
      </p:cxnSp>
      <p:sp>
        <p:nvSpPr>
          <p:cNvPr id="752" name="Google Shape;752;p13"/>
          <p:cNvSpPr txBox="1"/>
          <p:nvPr/>
        </p:nvSpPr>
        <p:spPr>
          <a:xfrm>
            <a:off x="9988693" y="3845004"/>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Kurt Russell P. Mengullo, 3A</a:t>
            </a:r>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May 2019</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pic>
        <p:nvPicPr>
          <p:cNvPr id="753" name="Google Shape;753;p13"/>
          <p:cNvPicPr preferRelativeResize="0"/>
          <p:nvPr/>
        </p:nvPicPr>
        <p:blipFill rotWithShape="1">
          <a:blip r:embed="rId12">
            <a:alphaModFix/>
          </a:blip>
          <a:srcRect b="35171" l="25655" r="30080" t="25285"/>
          <a:stretch/>
        </p:blipFill>
        <p:spPr>
          <a:xfrm>
            <a:off x="8847309" y="2943033"/>
            <a:ext cx="813492" cy="973865"/>
          </a:xfrm>
          <a:prstGeom prst="rect">
            <a:avLst/>
          </a:prstGeom>
          <a:noFill/>
          <a:ln>
            <a:noFill/>
          </a:ln>
        </p:spPr>
      </p:pic>
      <p:pic>
        <p:nvPicPr>
          <p:cNvPr id="754" name="Google Shape;754;p13"/>
          <p:cNvPicPr preferRelativeResize="0"/>
          <p:nvPr/>
        </p:nvPicPr>
        <p:blipFill rotWithShape="1">
          <a:blip r:embed="rId13">
            <a:alphaModFix/>
          </a:blip>
          <a:srcRect b="31624" l="26727" r="28843" t="25325"/>
          <a:stretch/>
        </p:blipFill>
        <p:spPr>
          <a:xfrm>
            <a:off x="10755338" y="2968528"/>
            <a:ext cx="674035" cy="87899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9" name="Shape 759"/>
        <p:cNvGrpSpPr/>
        <p:nvPr/>
      </p:nvGrpSpPr>
      <p:grpSpPr>
        <a:xfrm>
          <a:off x="0" y="0"/>
          <a:ext cx="0" cy="0"/>
          <a:chOff x="0" y="0"/>
          <a:chExt cx="0" cy="0"/>
        </a:xfrm>
      </p:grpSpPr>
      <p:grpSp>
        <p:nvGrpSpPr>
          <p:cNvPr id="760" name="Google Shape;760;p14"/>
          <p:cNvGrpSpPr/>
          <p:nvPr/>
        </p:nvGrpSpPr>
        <p:grpSpPr>
          <a:xfrm>
            <a:off x="64411" y="5029200"/>
            <a:ext cx="12127589" cy="1852020"/>
            <a:chOff x="64411" y="5029200"/>
            <a:chExt cx="12127589" cy="1852020"/>
          </a:xfrm>
        </p:grpSpPr>
        <p:pic>
          <p:nvPicPr>
            <p:cNvPr id="761" name="Google Shape;761;p14"/>
            <p:cNvPicPr preferRelativeResize="0"/>
            <p:nvPr/>
          </p:nvPicPr>
          <p:blipFill rotWithShape="1">
            <a:blip r:embed="rId3">
              <a:alphaModFix/>
            </a:blip>
            <a:srcRect b="48442" l="0" r="0" t="0"/>
            <a:stretch/>
          </p:blipFill>
          <p:spPr>
            <a:xfrm flipH="1" rot="10800000">
              <a:off x="2399626" y="5240195"/>
              <a:ext cx="4171210" cy="1611209"/>
            </a:xfrm>
            <a:prstGeom prst="rect">
              <a:avLst/>
            </a:prstGeom>
            <a:noFill/>
            <a:ln>
              <a:noFill/>
            </a:ln>
          </p:spPr>
        </p:pic>
        <p:pic>
          <p:nvPicPr>
            <p:cNvPr id="762" name="Google Shape;762;p14"/>
            <p:cNvPicPr preferRelativeResize="0"/>
            <p:nvPr/>
          </p:nvPicPr>
          <p:blipFill rotWithShape="1">
            <a:blip r:embed="rId3">
              <a:alphaModFix/>
            </a:blip>
            <a:srcRect b="48442" l="0" r="0" t="0"/>
            <a:stretch/>
          </p:blipFill>
          <p:spPr>
            <a:xfrm flipH="1" rot="10800000">
              <a:off x="64411" y="5270011"/>
              <a:ext cx="4171210" cy="1611209"/>
            </a:xfrm>
            <a:prstGeom prst="rect">
              <a:avLst/>
            </a:prstGeom>
            <a:noFill/>
            <a:ln>
              <a:noFill/>
            </a:ln>
          </p:spPr>
        </p:pic>
        <p:pic>
          <p:nvPicPr>
            <p:cNvPr id="763" name="Google Shape;763;p14"/>
            <p:cNvPicPr preferRelativeResize="0"/>
            <p:nvPr/>
          </p:nvPicPr>
          <p:blipFill rotWithShape="1">
            <a:blip r:embed="rId3">
              <a:alphaModFix/>
            </a:blip>
            <a:srcRect b="48442" l="0" r="0" t="0"/>
            <a:stretch/>
          </p:blipFill>
          <p:spPr>
            <a:xfrm flipH="1" rot="10800000">
              <a:off x="4413537" y="5246791"/>
              <a:ext cx="4171210" cy="1611209"/>
            </a:xfrm>
            <a:prstGeom prst="rect">
              <a:avLst/>
            </a:prstGeom>
            <a:noFill/>
            <a:ln>
              <a:noFill/>
            </a:ln>
          </p:spPr>
        </p:pic>
        <p:pic>
          <p:nvPicPr>
            <p:cNvPr id="764" name="Google Shape;764;p14"/>
            <p:cNvPicPr preferRelativeResize="0"/>
            <p:nvPr/>
          </p:nvPicPr>
          <p:blipFill rotWithShape="1">
            <a:blip r:embed="rId4">
              <a:alphaModFix/>
            </a:blip>
            <a:srcRect b="0" l="0" r="0" t="0"/>
            <a:stretch/>
          </p:blipFill>
          <p:spPr>
            <a:xfrm>
              <a:off x="1401171" y="5552551"/>
              <a:ext cx="917965" cy="914400"/>
            </a:xfrm>
            <a:prstGeom prst="rect">
              <a:avLst/>
            </a:prstGeom>
            <a:noFill/>
            <a:ln>
              <a:noFill/>
            </a:ln>
          </p:spPr>
        </p:pic>
        <p:sp>
          <p:nvSpPr>
            <p:cNvPr id="765" name="Google Shape;765;p14"/>
            <p:cNvSpPr/>
            <p:nvPr/>
          </p:nvSpPr>
          <p:spPr>
            <a:xfrm>
              <a:off x="162665" y="5029200"/>
              <a:ext cx="182880" cy="1828800"/>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766" name="Google Shape;766;p14"/>
            <p:cNvPicPr preferRelativeResize="0"/>
            <p:nvPr/>
          </p:nvPicPr>
          <p:blipFill rotWithShape="1">
            <a:blip r:embed="rId3">
              <a:alphaModFix/>
            </a:blip>
            <a:srcRect b="48442" l="0" r="0" t="0"/>
            <a:stretch/>
          </p:blipFill>
          <p:spPr>
            <a:xfrm flipH="1" rot="10800000">
              <a:off x="8293562" y="5361982"/>
              <a:ext cx="3898438" cy="1496018"/>
            </a:xfrm>
            <a:prstGeom prst="rect">
              <a:avLst/>
            </a:prstGeom>
            <a:noFill/>
            <a:ln>
              <a:noFill/>
            </a:ln>
          </p:spPr>
        </p:pic>
        <p:sp>
          <p:nvSpPr>
            <p:cNvPr id="767" name="Google Shape;767;p14"/>
            <p:cNvSpPr txBox="1"/>
            <p:nvPr/>
          </p:nvSpPr>
          <p:spPr>
            <a:xfrm>
              <a:off x="327909" y="5728222"/>
              <a:ext cx="9038162" cy="95410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New Business Services </a:t>
              </a:r>
              <a:endParaRPr/>
            </a:p>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Team 5 – SLGFI &amp; Policy Issuance (SLGFI &amp; SLOCPI)</a:t>
              </a:r>
              <a:endParaRPr b="1" i="0" sz="2800" u="none" cap="none" strike="noStrike">
                <a:solidFill>
                  <a:srgbClr val="000000"/>
                </a:solidFill>
                <a:latin typeface="Calibri"/>
                <a:ea typeface="Calibri"/>
                <a:cs typeface="Calibri"/>
                <a:sym typeface="Calibri"/>
              </a:endParaRPr>
            </a:p>
          </p:txBody>
        </p:sp>
      </p:grpSp>
      <p:cxnSp>
        <p:nvCxnSpPr>
          <p:cNvPr id="768" name="Google Shape;768;p14"/>
          <p:cNvCxnSpPr/>
          <p:nvPr/>
        </p:nvCxnSpPr>
        <p:spPr>
          <a:xfrm flipH="1">
            <a:off x="6101134" y="506896"/>
            <a:ext cx="21370" cy="2533562"/>
          </a:xfrm>
          <a:prstGeom prst="straightConnector1">
            <a:avLst/>
          </a:prstGeom>
          <a:noFill/>
          <a:ln cap="flat" cmpd="sng" w="9525">
            <a:solidFill>
              <a:schemeClr val="dk1"/>
            </a:solidFill>
            <a:prstDash val="solid"/>
            <a:miter lim="800000"/>
            <a:headEnd len="sm" w="sm" type="none"/>
            <a:tailEnd len="sm" w="sm" type="none"/>
          </a:ln>
        </p:spPr>
      </p:cxnSp>
      <p:cxnSp>
        <p:nvCxnSpPr>
          <p:cNvPr id="769" name="Google Shape;769;p14"/>
          <p:cNvCxnSpPr/>
          <p:nvPr/>
        </p:nvCxnSpPr>
        <p:spPr>
          <a:xfrm>
            <a:off x="3408603" y="3230555"/>
            <a:ext cx="0" cy="0"/>
          </a:xfrm>
          <a:prstGeom prst="straightConnector1">
            <a:avLst/>
          </a:prstGeom>
          <a:noFill/>
          <a:ln cap="flat" cmpd="sng" w="9525">
            <a:solidFill>
              <a:schemeClr val="dk1"/>
            </a:solidFill>
            <a:prstDash val="solid"/>
            <a:miter lim="800000"/>
            <a:headEnd len="sm" w="sm" type="none"/>
            <a:tailEnd len="sm" w="sm" type="none"/>
          </a:ln>
        </p:spPr>
      </p:cxnSp>
      <p:grpSp>
        <p:nvGrpSpPr>
          <p:cNvPr id="770" name="Google Shape;770;p14"/>
          <p:cNvGrpSpPr/>
          <p:nvPr/>
        </p:nvGrpSpPr>
        <p:grpSpPr>
          <a:xfrm>
            <a:off x="5307012" y="61581"/>
            <a:ext cx="4059060" cy="1213076"/>
            <a:chOff x="5307012" y="108877"/>
            <a:chExt cx="4059060" cy="1213076"/>
          </a:xfrm>
        </p:grpSpPr>
        <p:grpSp>
          <p:nvGrpSpPr>
            <p:cNvPr id="771" name="Google Shape;771;p14"/>
            <p:cNvGrpSpPr/>
            <p:nvPr/>
          </p:nvGrpSpPr>
          <p:grpSpPr>
            <a:xfrm>
              <a:off x="5307012" y="108877"/>
              <a:ext cx="4059060" cy="1213076"/>
              <a:chOff x="5307012" y="187349"/>
              <a:chExt cx="4059060" cy="1213076"/>
            </a:xfrm>
          </p:grpSpPr>
          <p:sp>
            <p:nvSpPr>
              <p:cNvPr id="772" name="Google Shape;772;p14"/>
              <p:cNvSpPr/>
              <p:nvPr/>
            </p:nvSpPr>
            <p:spPr>
              <a:xfrm>
                <a:off x="5307012" y="187349"/>
                <a:ext cx="4059060" cy="1213076"/>
              </a:xfrm>
              <a:prstGeom prst="rect">
                <a:avLst/>
              </a:prstGeom>
              <a:solidFill>
                <a:srgbClr val="80000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773" name="Google Shape;773;p14"/>
              <p:cNvCxnSpPr/>
              <p:nvPr/>
            </p:nvCxnSpPr>
            <p:spPr>
              <a:xfrm>
                <a:off x="6402134" y="1260474"/>
                <a:ext cx="2378765" cy="0"/>
              </a:xfrm>
              <a:prstGeom prst="straightConnector1">
                <a:avLst/>
              </a:prstGeom>
              <a:noFill/>
              <a:ln cap="flat" cmpd="sng" w="9525">
                <a:solidFill>
                  <a:srgbClr val="800000"/>
                </a:solidFill>
                <a:prstDash val="solid"/>
                <a:miter lim="800000"/>
                <a:headEnd len="sm" w="sm" type="none"/>
                <a:tailEnd len="sm" w="sm" type="none"/>
              </a:ln>
            </p:spPr>
          </p:cxnSp>
        </p:grpSp>
        <p:pic>
          <p:nvPicPr>
            <p:cNvPr id="774" name="Google Shape;774;p14"/>
            <p:cNvPicPr preferRelativeResize="0"/>
            <p:nvPr/>
          </p:nvPicPr>
          <p:blipFill rotWithShape="1">
            <a:blip r:embed="rId5">
              <a:alphaModFix/>
            </a:blip>
            <a:srcRect b="0" l="0" r="0" t="0"/>
            <a:stretch/>
          </p:blipFill>
          <p:spPr>
            <a:xfrm>
              <a:off x="5487004" y="195600"/>
              <a:ext cx="914400" cy="1016432"/>
            </a:xfrm>
            <a:prstGeom prst="rect">
              <a:avLst/>
            </a:prstGeom>
            <a:solidFill>
              <a:srgbClr val="FFFF99"/>
            </a:solidFill>
            <a:ln cap="flat" cmpd="sng" w="9525">
              <a:solidFill>
                <a:schemeClr val="dk1"/>
              </a:solidFill>
              <a:prstDash val="solid"/>
              <a:round/>
              <a:headEnd len="sm" w="sm" type="none"/>
              <a:tailEnd len="sm" w="sm" type="none"/>
            </a:ln>
          </p:spPr>
        </p:pic>
      </p:grpSp>
      <p:cxnSp>
        <p:nvCxnSpPr>
          <p:cNvPr id="775" name="Google Shape;775;p14"/>
          <p:cNvCxnSpPr/>
          <p:nvPr/>
        </p:nvCxnSpPr>
        <p:spPr>
          <a:xfrm>
            <a:off x="3179168" y="2646441"/>
            <a:ext cx="0" cy="417305"/>
          </a:xfrm>
          <a:prstGeom prst="straightConnector1">
            <a:avLst/>
          </a:prstGeom>
          <a:noFill/>
          <a:ln cap="flat" cmpd="sng" w="9525">
            <a:solidFill>
              <a:schemeClr val="dk1"/>
            </a:solidFill>
            <a:prstDash val="solid"/>
            <a:miter lim="800000"/>
            <a:headEnd len="sm" w="sm" type="none"/>
            <a:tailEnd len="sm" w="sm" type="none"/>
          </a:ln>
        </p:spPr>
      </p:cxnSp>
      <p:sp>
        <p:nvSpPr>
          <p:cNvPr id="776" name="Google Shape;776;p14"/>
          <p:cNvSpPr txBox="1"/>
          <p:nvPr/>
        </p:nvSpPr>
        <p:spPr>
          <a:xfrm>
            <a:off x="2143845" y="4010336"/>
            <a:ext cx="1528392" cy="89255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Karla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Lanuza, 3A</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Jul 2013</a:t>
            </a:r>
            <a:endParaRPr/>
          </a:p>
        </p:txBody>
      </p:sp>
      <p:cxnSp>
        <p:nvCxnSpPr>
          <p:cNvPr id="777" name="Google Shape;777;p14"/>
          <p:cNvCxnSpPr/>
          <p:nvPr/>
        </p:nvCxnSpPr>
        <p:spPr>
          <a:xfrm>
            <a:off x="8180335" y="2646442"/>
            <a:ext cx="0" cy="417305"/>
          </a:xfrm>
          <a:prstGeom prst="straightConnector1">
            <a:avLst/>
          </a:prstGeom>
          <a:noFill/>
          <a:ln cap="flat" cmpd="sng" w="9525">
            <a:solidFill>
              <a:schemeClr val="dk1"/>
            </a:solidFill>
            <a:prstDash val="solid"/>
            <a:miter lim="800000"/>
            <a:headEnd len="sm" w="sm" type="none"/>
            <a:tailEnd len="sm" w="sm" type="none"/>
          </a:ln>
        </p:spPr>
      </p:cxnSp>
      <p:sp>
        <p:nvSpPr>
          <p:cNvPr id="778" name="Google Shape;778;p14"/>
          <p:cNvSpPr txBox="1"/>
          <p:nvPr/>
        </p:nvSpPr>
        <p:spPr>
          <a:xfrm>
            <a:off x="4906096" y="3893392"/>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Louie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Gallardo, 3A</a:t>
            </a:r>
            <a:endParaRPr/>
          </a:p>
          <a:p>
            <a:pPr indent="0" lvl="0" marL="0" marR="0" rtl="0" algn="r">
              <a:lnSpc>
                <a:spcPct val="100000"/>
              </a:lnSpc>
              <a:spcBef>
                <a:spcPts val="0"/>
              </a:spcBef>
              <a:spcAft>
                <a:spcPts val="0"/>
              </a:spcAft>
              <a:buClr>
                <a:srgbClr val="FF0000"/>
              </a:buClr>
              <a:buSzPts val="1200"/>
              <a:buFont typeface="Calibri"/>
              <a:buNone/>
            </a:pPr>
            <a:r>
              <a:rPr b="0" i="0" lang="en-US" sz="1200" u="none" cap="none" strike="noStrike">
                <a:solidFill>
                  <a:srgbClr val="FF000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FF0000"/>
              </a:buClr>
              <a:buSzPts val="1200"/>
              <a:buFont typeface="Calibri"/>
              <a:buNone/>
            </a:pPr>
            <a:r>
              <a:rPr b="0" i="0" lang="en-US" sz="1200" u="none" cap="none" strike="noStrike">
                <a:solidFill>
                  <a:srgbClr val="FF0000"/>
                </a:solidFill>
                <a:latin typeface="Calibri"/>
                <a:ea typeface="Calibri"/>
                <a:cs typeface="Calibri"/>
                <a:sym typeface="Calibri"/>
              </a:rPr>
              <a:t>Oct 2016</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cxnSp>
        <p:nvCxnSpPr>
          <p:cNvPr id="779" name="Google Shape;779;p14"/>
          <p:cNvCxnSpPr/>
          <p:nvPr/>
        </p:nvCxnSpPr>
        <p:spPr>
          <a:xfrm>
            <a:off x="758360" y="2623153"/>
            <a:ext cx="0" cy="417305"/>
          </a:xfrm>
          <a:prstGeom prst="straightConnector1">
            <a:avLst/>
          </a:prstGeom>
          <a:noFill/>
          <a:ln cap="flat" cmpd="sng" w="9525">
            <a:solidFill>
              <a:schemeClr val="dk1"/>
            </a:solidFill>
            <a:prstDash val="solid"/>
            <a:miter lim="800000"/>
            <a:headEnd len="sm" w="sm" type="none"/>
            <a:tailEnd len="sm" w="sm" type="none"/>
          </a:ln>
        </p:spPr>
      </p:cxnSp>
      <p:cxnSp>
        <p:nvCxnSpPr>
          <p:cNvPr id="780" name="Google Shape;780;p14"/>
          <p:cNvCxnSpPr/>
          <p:nvPr/>
        </p:nvCxnSpPr>
        <p:spPr>
          <a:xfrm>
            <a:off x="10110222" y="2646441"/>
            <a:ext cx="0" cy="417305"/>
          </a:xfrm>
          <a:prstGeom prst="straightConnector1">
            <a:avLst/>
          </a:prstGeom>
          <a:noFill/>
          <a:ln cap="flat" cmpd="sng" w="9525">
            <a:solidFill>
              <a:schemeClr val="dk1"/>
            </a:solidFill>
            <a:prstDash val="solid"/>
            <a:miter lim="800000"/>
            <a:headEnd len="sm" w="sm" type="none"/>
            <a:tailEnd len="sm" w="sm" type="none"/>
          </a:ln>
        </p:spPr>
      </p:cxnSp>
      <p:sp>
        <p:nvSpPr>
          <p:cNvPr id="781" name="Google Shape;781;p14"/>
          <p:cNvSpPr txBox="1"/>
          <p:nvPr/>
        </p:nvSpPr>
        <p:spPr>
          <a:xfrm>
            <a:off x="-5836" y="4021426"/>
            <a:ext cx="1528392" cy="67710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Kat Bravo, 4B</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Date of Entry:</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Oct 2012</a:t>
            </a:r>
            <a:endParaRPr/>
          </a:p>
        </p:txBody>
      </p:sp>
      <p:sp>
        <p:nvSpPr>
          <p:cNvPr id="782" name="Google Shape;782;p14"/>
          <p:cNvSpPr txBox="1"/>
          <p:nvPr/>
        </p:nvSpPr>
        <p:spPr>
          <a:xfrm>
            <a:off x="6999615" y="3883290"/>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Aris Vincent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Hizon, 3A</a:t>
            </a:r>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Jun 2018</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cxnSp>
        <p:nvCxnSpPr>
          <p:cNvPr id="783" name="Google Shape;783;p14"/>
          <p:cNvCxnSpPr/>
          <p:nvPr/>
        </p:nvCxnSpPr>
        <p:spPr>
          <a:xfrm flipH="1" rot="10800000">
            <a:off x="754743" y="2637855"/>
            <a:ext cx="10900228" cy="5193"/>
          </a:xfrm>
          <a:prstGeom prst="straightConnector1">
            <a:avLst/>
          </a:prstGeom>
          <a:noFill/>
          <a:ln cap="flat" cmpd="sng" w="9525">
            <a:solidFill>
              <a:schemeClr val="dk1"/>
            </a:solidFill>
            <a:prstDash val="solid"/>
            <a:miter lim="800000"/>
            <a:headEnd len="sm" w="sm" type="none"/>
            <a:tailEnd len="sm" w="sm" type="none"/>
          </a:ln>
        </p:spPr>
      </p:cxnSp>
      <p:sp>
        <p:nvSpPr>
          <p:cNvPr id="784" name="Google Shape;784;p14"/>
          <p:cNvSpPr/>
          <p:nvPr/>
        </p:nvSpPr>
        <p:spPr>
          <a:xfrm>
            <a:off x="2291810" y="1292317"/>
            <a:ext cx="4278307" cy="1249430"/>
          </a:xfrm>
          <a:prstGeom prst="rect">
            <a:avLst/>
          </a:prstGeom>
          <a:solidFill>
            <a:srgbClr val="00206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5" name="Google Shape;785;p14"/>
          <p:cNvSpPr txBox="1"/>
          <p:nvPr/>
        </p:nvSpPr>
        <p:spPr>
          <a:xfrm>
            <a:off x="352249" y="1584538"/>
            <a:ext cx="1019696"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9933"/>
              </a:buClr>
              <a:buSzPts val="5400"/>
              <a:buFont typeface="Impact"/>
              <a:buNone/>
            </a:pPr>
            <a:r>
              <a:rPr b="0" i="0" lang="en-US" sz="5400" u="none" cap="none" strike="noStrike">
                <a:solidFill>
                  <a:srgbClr val="FF9933"/>
                </a:solidFill>
                <a:latin typeface="Impact"/>
                <a:ea typeface="Impact"/>
                <a:cs typeface="Impact"/>
                <a:sym typeface="Impact"/>
              </a:rPr>
              <a:t>06</a:t>
            </a:r>
            <a:endParaRPr b="0" i="0" sz="5400" u="none" cap="none" strike="noStrike">
              <a:solidFill>
                <a:srgbClr val="FF9933"/>
              </a:solidFill>
              <a:latin typeface="Impact"/>
              <a:ea typeface="Impact"/>
              <a:cs typeface="Impact"/>
              <a:sym typeface="Impact"/>
            </a:endParaRPr>
          </a:p>
        </p:txBody>
      </p:sp>
      <p:sp>
        <p:nvSpPr>
          <p:cNvPr id="786" name="Google Shape;786;p14"/>
          <p:cNvSpPr txBox="1"/>
          <p:nvPr/>
        </p:nvSpPr>
        <p:spPr>
          <a:xfrm>
            <a:off x="1210314" y="1697713"/>
            <a:ext cx="127997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Warm </a:t>
            </a:r>
            <a:endParaRPr/>
          </a:p>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Bodies</a:t>
            </a:r>
            <a:endParaRPr b="1" i="0" sz="2000" u="none" cap="none" strike="noStrike">
              <a:solidFill>
                <a:srgbClr val="3A3838"/>
              </a:solidFill>
              <a:latin typeface="Calibri"/>
              <a:ea typeface="Calibri"/>
              <a:cs typeface="Calibri"/>
              <a:sym typeface="Calibri"/>
            </a:endParaRPr>
          </a:p>
        </p:txBody>
      </p:sp>
      <p:sp>
        <p:nvSpPr>
          <p:cNvPr id="787" name="Google Shape;787;p14"/>
          <p:cNvSpPr txBox="1"/>
          <p:nvPr/>
        </p:nvSpPr>
        <p:spPr>
          <a:xfrm>
            <a:off x="2212017" y="1485641"/>
            <a:ext cx="3373064" cy="89255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Noel Santos, Manager 1</a:t>
            </a:r>
            <a:endParaRPr/>
          </a:p>
          <a:p>
            <a:pPr indent="0" lvl="0" marL="0" marR="0" rtl="0" algn="r">
              <a:lnSpc>
                <a:spcPct val="100000"/>
              </a:lnSpc>
              <a:spcBef>
                <a:spcPts val="0"/>
              </a:spcBef>
              <a:spcAft>
                <a:spcPts val="0"/>
              </a:spcAft>
              <a:buClr>
                <a:srgbClr val="002060"/>
              </a:buClr>
              <a:buSzPts val="1400"/>
              <a:buFont typeface="Calibri"/>
              <a:buNone/>
            </a:pPr>
            <a:r>
              <a:rPr b="1" i="0" lang="en-US" sz="1400" u="none" cap="none" strike="noStrike">
                <a:solidFill>
                  <a:srgbClr val="002060"/>
                </a:solidFill>
                <a:latin typeface="Calibri"/>
                <a:ea typeface="Calibri"/>
                <a:cs typeface="Calibri"/>
                <a:sym typeface="Calibri"/>
              </a:rPr>
              <a:t>Team 5 - </a:t>
            </a:r>
            <a:r>
              <a:rPr b="1" i="0" lang="en-US" sz="1200" u="none" cap="none" strike="noStrike">
                <a:solidFill>
                  <a:srgbClr val="002060"/>
                </a:solidFill>
                <a:latin typeface="Calibri"/>
                <a:ea typeface="Calibri"/>
                <a:cs typeface="Calibri"/>
                <a:sym typeface="Calibri"/>
              </a:rPr>
              <a:t>SLGFI &amp; Policy Issuance (SLGFI &amp; SLOCPI)</a:t>
            </a:r>
            <a:endParaRPr/>
          </a:p>
          <a:p>
            <a:pPr indent="0" lvl="0" marL="0" marR="0" rtl="0" algn="r">
              <a:lnSpc>
                <a:spcPct val="100000"/>
              </a:lnSpc>
              <a:spcBef>
                <a:spcPts val="0"/>
              </a:spcBef>
              <a:spcAft>
                <a:spcPts val="0"/>
              </a:spcAft>
              <a:buClr>
                <a:srgbClr val="002060"/>
              </a:buClr>
              <a:buSzPts val="1200"/>
              <a:buFont typeface="Calibri"/>
              <a:buNone/>
            </a:pPr>
            <a:r>
              <a:rPr b="0" i="0" lang="en-US" sz="1200" u="none" cap="none" strike="noStrike">
                <a:solidFill>
                  <a:srgbClr val="002060"/>
                </a:solidFill>
                <a:latin typeface="Calibri"/>
                <a:ea typeface="Calibri"/>
                <a:cs typeface="Calibri"/>
                <a:sym typeface="Calibri"/>
              </a:rPr>
              <a:t>Date of Entry:  Jun 1996</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pic>
        <p:nvPicPr>
          <p:cNvPr id="788" name="Google Shape;788;p14"/>
          <p:cNvPicPr preferRelativeResize="0"/>
          <p:nvPr/>
        </p:nvPicPr>
        <p:blipFill rotWithShape="1">
          <a:blip r:embed="rId6">
            <a:alphaModFix/>
          </a:blip>
          <a:srcRect b="42607" l="37283" r="40347" t="14912"/>
          <a:stretch/>
        </p:blipFill>
        <p:spPr>
          <a:xfrm>
            <a:off x="5604738" y="1402184"/>
            <a:ext cx="814632" cy="914400"/>
          </a:xfrm>
          <a:prstGeom prst="rect">
            <a:avLst/>
          </a:prstGeom>
          <a:solidFill>
            <a:srgbClr val="FFFF99"/>
          </a:solidFill>
          <a:ln>
            <a:noFill/>
          </a:ln>
        </p:spPr>
      </p:pic>
      <p:cxnSp>
        <p:nvCxnSpPr>
          <p:cNvPr id="789" name="Google Shape;789;p14"/>
          <p:cNvCxnSpPr/>
          <p:nvPr/>
        </p:nvCxnSpPr>
        <p:spPr>
          <a:xfrm>
            <a:off x="11638614" y="2646441"/>
            <a:ext cx="0" cy="417305"/>
          </a:xfrm>
          <a:prstGeom prst="straightConnector1">
            <a:avLst/>
          </a:prstGeom>
          <a:noFill/>
          <a:ln cap="flat" cmpd="sng" w="9525">
            <a:solidFill>
              <a:schemeClr val="dk1"/>
            </a:solidFill>
            <a:prstDash val="solid"/>
            <a:miter lim="800000"/>
            <a:headEnd len="sm" w="sm" type="none"/>
            <a:tailEnd len="sm" w="sm" type="none"/>
          </a:ln>
        </p:spPr>
      </p:cxnSp>
      <p:sp>
        <p:nvSpPr>
          <p:cNvPr id="790" name="Google Shape;790;p14"/>
          <p:cNvSpPr txBox="1"/>
          <p:nvPr/>
        </p:nvSpPr>
        <p:spPr>
          <a:xfrm>
            <a:off x="10110222" y="4025290"/>
            <a:ext cx="1528392"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Vacant</a:t>
            </a:r>
            <a:endParaRPr/>
          </a:p>
        </p:txBody>
      </p:sp>
      <p:pic>
        <p:nvPicPr>
          <p:cNvPr id="791" name="Google Shape;791;p14"/>
          <p:cNvPicPr preferRelativeResize="0"/>
          <p:nvPr/>
        </p:nvPicPr>
        <p:blipFill rotWithShape="1">
          <a:blip r:embed="rId7">
            <a:alphaModFix/>
          </a:blip>
          <a:srcRect b="16005" l="16284" r="16282" t="5411"/>
          <a:stretch/>
        </p:blipFill>
        <p:spPr>
          <a:xfrm>
            <a:off x="724663" y="3024180"/>
            <a:ext cx="676508" cy="914400"/>
          </a:xfrm>
          <a:prstGeom prst="rect">
            <a:avLst/>
          </a:prstGeom>
          <a:solidFill>
            <a:srgbClr val="FAF9F9"/>
          </a:solidFill>
          <a:ln>
            <a:noFill/>
          </a:ln>
        </p:spPr>
      </p:pic>
      <p:pic>
        <p:nvPicPr>
          <p:cNvPr descr="C:\Users\pj66\Pictures\2015\IMG_5959.JPG" id="792" name="Google Shape;792;p14"/>
          <p:cNvPicPr preferRelativeResize="0"/>
          <p:nvPr/>
        </p:nvPicPr>
        <p:blipFill rotWithShape="1">
          <a:blip r:embed="rId8">
            <a:alphaModFix/>
          </a:blip>
          <a:srcRect b="25890" l="28088" r="28055" t="27950"/>
          <a:stretch/>
        </p:blipFill>
        <p:spPr>
          <a:xfrm>
            <a:off x="5556096" y="2975694"/>
            <a:ext cx="829207" cy="914400"/>
          </a:xfrm>
          <a:prstGeom prst="rect">
            <a:avLst/>
          </a:prstGeom>
          <a:solidFill>
            <a:srgbClr val="FAF9F9"/>
          </a:solidFill>
          <a:ln>
            <a:noFill/>
          </a:ln>
        </p:spPr>
      </p:pic>
      <p:pic>
        <p:nvPicPr>
          <p:cNvPr id="793" name="Google Shape;793;p14"/>
          <p:cNvPicPr preferRelativeResize="0"/>
          <p:nvPr/>
        </p:nvPicPr>
        <p:blipFill rotWithShape="1">
          <a:blip r:embed="rId9">
            <a:alphaModFix/>
          </a:blip>
          <a:srcRect b="10970" l="8274" r="9529" t="1034"/>
          <a:stretch/>
        </p:blipFill>
        <p:spPr>
          <a:xfrm>
            <a:off x="2724169" y="3081261"/>
            <a:ext cx="841664" cy="914400"/>
          </a:xfrm>
          <a:prstGeom prst="rect">
            <a:avLst/>
          </a:prstGeom>
          <a:solidFill>
            <a:srgbClr val="FAF9F9"/>
          </a:solidFill>
          <a:ln>
            <a:noFill/>
          </a:ln>
        </p:spPr>
      </p:pic>
      <p:pic>
        <p:nvPicPr>
          <p:cNvPr id="794" name="Google Shape;794;p14"/>
          <p:cNvPicPr preferRelativeResize="0"/>
          <p:nvPr/>
        </p:nvPicPr>
        <p:blipFill rotWithShape="1">
          <a:blip r:embed="rId10">
            <a:alphaModFix/>
          </a:blip>
          <a:srcRect b="57111" l="47636" r="38187" t="12082"/>
          <a:stretch/>
        </p:blipFill>
        <p:spPr>
          <a:xfrm>
            <a:off x="7614180" y="3005391"/>
            <a:ext cx="855508" cy="914400"/>
          </a:xfrm>
          <a:prstGeom prst="rect">
            <a:avLst/>
          </a:prstGeom>
          <a:noFill/>
          <a:ln>
            <a:noFill/>
          </a:ln>
        </p:spPr>
      </p:pic>
      <p:sp>
        <p:nvSpPr>
          <p:cNvPr id="795" name="Google Shape;795;p14"/>
          <p:cNvSpPr txBox="1"/>
          <p:nvPr/>
        </p:nvSpPr>
        <p:spPr>
          <a:xfrm>
            <a:off x="6474553" y="138780"/>
            <a:ext cx="2891518"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Vilma Tubig, ACS, PCS, FLMI </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3</a:t>
            </a:r>
            <a:endParaRPr/>
          </a:p>
          <a:p>
            <a:pPr indent="0" lvl="0" marL="0" marR="0" rtl="0" algn="l">
              <a:lnSpc>
                <a:spcPct val="100000"/>
              </a:lnSpc>
              <a:spcBef>
                <a:spcPts val="0"/>
              </a:spcBef>
              <a:spcAft>
                <a:spcPts val="0"/>
              </a:spcAft>
              <a:buClr>
                <a:srgbClr val="C55A11"/>
              </a:buClr>
              <a:buSzPts val="1400"/>
              <a:buFont typeface="Calibri"/>
              <a:buNone/>
            </a:pPr>
            <a:r>
              <a:rPr b="1" i="0" lang="en-US" sz="1400" u="none" cap="none" strike="noStrike">
                <a:solidFill>
                  <a:srgbClr val="C55A11"/>
                </a:solidFill>
                <a:latin typeface="Calibri"/>
                <a:ea typeface="Calibri"/>
                <a:cs typeface="Calibri"/>
                <a:sym typeface="Calibri"/>
              </a:rPr>
              <a:t>NB Review, Facilitating and Post-Issue</a:t>
            </a:r>
            <a:endParaRPr/>
          </a:p>
          <a:p>
            <a:pPr indent="0" lvl="0" marL="0" marR="0" rtl="0" algn="l">
              <a:lnSpc>
                <a:spcPct val="100000"/>
              </a:lnSpc>
              <a:spcBef>
                <a:spcPts val="0"/>
              </a:spcBef>
              <a:spcAft>
                <a:spcPts val="0"/>
              </a:spcAft>
              <a:buClr>
                <a:srgbClr val="C55A11"/>
              </a:buClr>
              <a:buSzPts val="1200"/>
              <a:buFont typeface="Calibri"/>
              <a:buNone/>
            </a:pPr>
            <a:r>
              <a:rPr b="0" i="0" lang="en-US" sz="1200" u="none" cap="none" strike="noStrike">
                <a:solidFill>
                  <a:srgbClr val="C55A11"/>
                </a:solidFill>
                <a:latin typeface="Calibri"/>
                <a:ea typeface="Calibri"/>
                <a:cs typeface="Calibri"/>
                <a:sym typeface="Calibri"/>
              </a:rPr>
              <a:t>Date of Entry: Nov 1999</a:t>
            </a:r>
            <a:endParaRPr/>
          </a:p>
        </p:txBody>
      </p:sp>
      <p:pic>
        <p:nvPicPr>
          <p:cNvPr id="796" name="Google Shape;796;p14"/>
          <p:cNvPicPr preferRelativeResize="0"/>
          <p:nvPr/>
        </p:nvPicPr>
        <p:blipFill rotWithShape="1">
          <a:blip r:embed="rId11">
            <a:alphaModFix/>
          </a:blip>
          <a:srcRect b="39126" l="20786" r="32957" t="21001"/>
          <a:stretch/>
        </p:blipFill>
        <p:spPr>
          <a:xfrm>
            <a:off x="9649744" y="3024180"/>
            <a:ext cx="791184" cy="914400"/>
          </a:xfrm>
          <a:prstGeom prst="rect">
            <a:avLst/>
          </a:prstGeom>
          <a:noFill/>
          <a:ln>
            <a:noFill/>
          </a:ln>
        </p:spPr>
      </p:pic>
      <p:sp>
        <p:nvSpPr>
          <p:cNvPr id="797" name="Google Shape;797;p14"/>
          <p:cNvSpPr txBox="1"/>
          <p:nvPr/>
        </p:nvSpPr>
        <p:spPr>
          <a:xfrm>
            <a:off x="8992688" y="3919791"/>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Mary Kris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Densing, 3A</a:t>
            </a:r>
            <a:endParaRPr/>
          </a:p>
          <a:p>
            <a:pPr indent="0" lvl="0" marL="0" marR="0" rtl="0" algn="r">
              <a:lnSpc>
                <a:spcPct val="100000"/>
              </a:lnSpc>
              <a:spcBef>
                <a:spcPts val="0"/>
              </a:spcBef>
              <a:spcAft>
                <a:spcPts val="0"/>
              </a:spcAft>
              <a:buClr>
                <a:srgbClr val="FF0000"/>
              </a:buClr>
              <a:buSzPts val="1200"/>
              <a:buFont typeface="Calibri"/>
              <a:buNone/>
            </a:pPr>
            <a:r>
              <a:rPr b="0" i="0" lang="en-US" sz="1200" u="none" cap="none" strike="noStrike">
                <a:solidFill>
                  <a:srgbClr val="FF000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FF0000"/>
              </a:buClr>
              <a:buSzPts val="1200"/>
              <a:buFont typeface="Calibri"/>
              <a:buNone/>
            </a:pPr>
            <a:r>
              <a:rPr b="0" i="0" lang="en-US" sz="1200" u="none" cap="none" strike="noStrike">
                <a:solidFill>
                  <a:srgbClr val="FF0000"/>
                </a:solidFill>
                <a:latin typeface="Calibri"/>
                <a:ea typeface="Calibri"/>
                <a:cs typeface="Calibri"/>
                <a:sym typeface="Calibri"/>
              </a:rPr>
              <a:t>Feb 2019</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02" name="Shape 802"/>
        <p:cNvGrpSpPr/>
        <p:nvPr/>
      </p:nvGrpSpPr>
      <p:grpSpPr>
        <a:xfrm>
          <a:off x="0" y="0"/>
          <a:ext cx="0" cy="0"/>
          <a:chOff x="0" y="0"/>
          <a:chExt cx="0" cy="0"/>
        </a:xfrm>
      </p:grpSpPr>
      <p:cxnSp>
        <p:nvCxnSpPr>
          <p:cNvPr id="803" name="Google Shape;803;p15"/>
          <p:cNvCxnSpPr/>
          <p:nvPr/>
        </p:nvCxnSpPr>
        <p:spPr>
          <a:xfrm>
            <a:off x="6122504" y="506896"/>
            <a:ext cx="47072" cy="2152297"/>
          </a:xfrm>
          <a:prstGeom prst="straightConnector1">
            <a:avLst/>
          </a:prstGeom>
          <a:noFill/>
          <a:ln cap="flat" cmpd="sng" w="9525">
            <a:solidFill>
              <a:schemeClr val="dk1"/>
            </a:solidFill>
            <a:prstDash val="solid"/>
            <a:miter lim="800000"/>
            <a:headEnd len="sm" w="sm" type="none"/>
            <a:tailEnd len="sm" w="sm" type="none"/>
          </a:ln>
        </p:spPr>
      </p:cxnSp>
      <p:grpSp>
        <p:nvGrpSpPr>
          <p:cNvPr id="804" name="Google Shape;804;p15"/>
          <p:cNvGrpSpPr/>
          <p:nvPr/>
        </p:nvGrpSpPr>
        <p:grpSpPr>
          <a:xfrm>
            <a:off x="64411" y="5029200"/>
            <a:ext cx="12127589" cy="1852020"/>
            <a:chOff x="64411" y="5029200"/>
            <a:chExt cx="12127589" cy="1852020"/>
          </a:xfrm>
        </p:grpSpPr>
        <p:pic>
          <p:nvPicPr>
            <p:cNvPr id="805" name="Google Shape;805;p15"/>
            <p:cNvPicPr preferRelativeResize="0"/>
            <p:nvPr/>
          </p:nvPicPr>
          <p:blipFill rotWithShape="1">
            <a:blip r:embed="rId3">
              <a:alphaModFix/>
            </a:blip>
            <a:srcRect b="48442" l="0" r="0" t="0"/>
            <a:stretch/>
          </p:blipFill>
          <p:spPr>
            <a:xfrm flipH="1" rot="10800000">
              <a:off x="2399626" y="5240195"/>
              <a:ext cx="4171210" cy="1611209"/>
            </a:xfrm>
            <a:prstGeom prst="rect">
              <a:avLst/>
            </a:prstGeom>
            <a:noFill/>
            <a:ln>
              <a:noFill/>
            </a:ln>
          </p:spPr>
        </p:pic>
        <p:pic>
          <p:nvPicPr>
            <p:cNvPr id="806" name="Google Shape;806;p15"/>
            <p:cNvPicPr preferRelativeResize="0"/>
            <p:nvPr/>
          </p:nvPicPr>
          <p:blipFill rotWithShape="1">
            <a:blip r:embed="rId3">
              <a:alphaModFix/>
            </a:blip>
            <a:srcRect b="48442" l="0" r="0" t="0"/>
            <a:stretch/>
          </p:blipFill>
          <p:spPr>
            <a:xfrm flipH="1" rot="10800000">
              <a:off x="64411" y="5270011"/>
              <a:ext cx="4171210" cy="1611209"/>
            </a:xfrm>
            <a:prstGeom prst="rect">
              <a:avLst/>
            </a:prstGeom>
            <a:noFill/>
            <a:ln>
              <a:noFill/>
            </a:ln>
          </p:spPr>
        </p:pic>
        <p:pic>
          <p:nvPicPr>
            <p:cNvPr id="807" name="Google Shape;807;p15"/>
            <p:cNvPicPr preferRelativeResize="0"/>
            <p:nvPr/>
          </p:nvPicPr>
          <p:blipFill rotWithShape="1">
            <a:blip r:embed="rId3">
              <a:alphaModFix/>
            </a:blip>
            <a:srcRect b="48442" l="0" r="0" t="0"/>
            <a:stretch/>
          </p:blipFill>
          <p:spPr>
            <a:xfrm flipH="1" rot="10800000">
              <a:off x="4413537" y="5246791"/>
              <a:ext cx="4171210" cy="1611209"/>
            </a:xfrm>
            <a:prstGeom prst="rect">
              <a:avLst/>
            </a:prstGeom>
            <a:noFill/>
            <a:ln>
              <a:noFill/>
            </a:ln>
          </p:spPr>
        </p:pic>
        <p:pic>
          <p:nvPicPr>
            <p:cNvPr id="808" name="Google Shape;808;p15"/>
            <p:cNvPicPr preferRelativeResize="0"/>
            <p:nvPr/>
          </p:nvPicPr>
          <p:blipFill rotWithShape="1">
            <a:blip r:embed="rId4">
              <a:alphaModFix/>
            </a:blip>
            <a:srcRect b="0" l="0" r="0" t="0"/>
            <a:stretch/>
          </p:blipFill>
          <p:spPr>
            <a:xfrm>
              <a:off x="1401171" y="5552551"/>
              <a:ext cx="917965" cy="914400"/>
            </a:xfrm>
            <a:prstGeom prst="rect">
              <a:avLst/>
            </a:prstGeom>
            <a:noFill/>
            <a:ln>
              <a:noFill/>
            </a:ln>
          </p:spPr>
        </p:pic>
        <p:sp>
          <p:nvSpPr>
            <p:cNvPr id="809" name="Google Shape;809;p15"/>
            <p:cNvSpPr/>
            <p:nvPr/>
          </p:nvSpPr>
          <p:spPr>
            <a:xfrm>
              <a:off x="162665" y="5029200"/>
              <a:ext cx="182880" cy="1828800"/>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810" name="Google Shape;810;p15"/>
            <p:cNvPicPr preferRelativeResize="0"/>
            <p:nvPr/>
          </p:nvPicPr>
          <p:blipFill rotWithShape="1">
            <a:blip r:embed="rId3">
              <a:alphaModFix/>
            </a:blip>
            <a:srcRect b="48442" l="0" r="0" t="0"/>
            <a:stretch/>
          </p:blipFill>
          <p:spPr>
            <a:xfrm flipH="1" rot="10800000">
              <a:off x="8293562" y="5361982"/>
              <a:ext cx="3898438" cy="1496018"/>
            </a:xfrm>
            <a:prstGeom prst="rect">
              <a:avLst/>
            </a:prstGeom>
            <a:noFill/>
            <a:ln>
              <a:noFill/>
            </a:ln>
          </p:spPr>
        </p:pic>
        <p:sp>
          <p:nvSpPr>
            <p:cNvPr id="811" name="Google Shape;811;p15"/>
            <p:cNvSpPr txBox="1"/>
            <p:nvPr/>
          </p:nvSpPr>
          <p:spPr>
            <a:xfrm>
              <a:off x="327909" y="5728222"/>
              <a:ext cx="7097722" cy="95410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New Business Services </a:t>
              </a:r>
              <a:endParaRPr/>
            </a:p>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Team 6 – SLOCPI/SLGFI Facilitating</a:t>
              </a:r>
              <a:endParaRPr b="1" i="0" sz="2800" u="none" cap="none" strike="noStrike">
                <a:solidFill>
                  <a:srgbClr val="000000"/>
                </a:solidFill>
                <a:latin typeface="Calibri"/>
                <a:ea typeface="Calibri"/>
                <a:cs typeface="Calibri"/>
                <a:sym typeface="Calibri"/>
              </a:endParaRPr>
            </a:p>
          </p:txBody>
        </p:sp>
      </p:grpSp>
      <p:sp>
        <p:nvSpPr>
          <p:cNvPr id="812" name="Google Shape;812;p15"/>
          <p:cNvSpPr/>
          <p:nvPr/>
        </p:nvSpPr>
        <p:spPr>
          <a:xfrm>
            <a:off x="2948355" y="1292317"/>
            <a:ext cx="3621762" cy="1249430"/>
          </a:xfrm>
          <a:prstGeom prst="rect">
            <a:avLst/>
          </a:prstGeom>
          <a:solidFill>
            <a:srgbClr val="FF000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13" name="Google Shape;813;p15"/>
          <p:cNvCxnSpPr/>
          <p:nvPr/>
        </p:nvCxnSpPr>
        <p:spPr>
          <a:xfrm>
            <a:off x="2820865" y="2644156"/>
            <a:ext cx="0" cy="417305"/>
          </a:xfrm>
          <a:prstGeom prst="straightConnector1">
            <a:avLst/>
          </a:prstGeom>
          <a:noFill/>
          <a:ln cap="flat" cmpd="sng" w="9525">
            <a:solidFill>
              <a:schemeClr val="dk1"/>
            </a:solidFill>
            <a:prstDash val="solid"/>
            <a:miter lim="800000"/>
            <a:headEnd len="sm" w="sm" type="none"/>
            <a:tailEnd len="sm" w="sm" type="none"/>
          </a:ln>
        </p:spPr>
      </p:cxnSp>
      <p:cxnSp>
        <p:nvCxnSpPr>
          <p:cNvPr id="814" name="Google Shape;814;p15"/>
          <p:cNvCxnSpPr/>
          <p:nvPr/>
        </p:nvCxnSpPr>
        <p:spPr>
          <a:xfrm>
            <a:off x="3408603" y="3230555"/>
            <a:ext cx="0" cy="0"/>
          </a:xfrm>
          <a:prstGeom prst="straightConnector1">
            <a:avLst/>
          </a:prstGeom>
          <a:noFill/>
          <a:ln cap="flat" cmpd="sng" w="9525">
            <a:solidFill>
              <a:schemeClr val="dk1"/>
            </a:solidFill>
            <a:prstDash val="solid"/>
            <a:miter lim="800000"/>
            <a:headEnd len="sm" w="sm" type="none"/>
            <a:tailEnd len="sm" w="sm" type="none"/>
          </a:ln>
        </p:spPr>
      </p:cxnSp>
      <p:grpSp>
        <p:nvGrpSpPr>
          <p:cNvPr id="815" name="Google Shape;815;p15"/>
          <p:cNvGrpSpPr/>
          <p:nvPr/>
        </p:nvGrpSpPr>
        <p:grpSpPr>
          <a:xfrm>
            <a:off x="5307012" y="61581"/>
            <a:ext cx="4059060" cy="1213076"/>
            <a:chOff x="5307012" y="108877"/>
            <a:chExt cx="4059060" cy="1213076"/>
          </a:xfrm>
        </p:grpSpPr>
        <p:grpSp>
          <p:nvGrpSpPr>
            <p:cNvPr id="816" name="Google Shape;816;p15"/>
            <p:cNvGrpSpPr/>
            <p:nvPr/>
          </p:nvGrpSpPr>
          <p:grpSpPr>
            <a:xfrm>
              <a:off x="5307012" y="108877"/>
              <a:ext cx="4059060" cy="1213076"/>
              <a:chOff x="5307012" y="187349"/>
              <a:chExt cx="4059060" cy="1213076"/>
            </a:xfrm>
          </p:grpSpPr>
          <p:sp>
            <p:nvSpPr>
              <p:cNvPr id="817" name="Google Shape;817;p15"/>
              <p:cNvSpPr/>
              <p:nvPr/>
            </p:nvSpPr>
            <p:spPr>
              <a:xfrm>
                <a:off x="5307012" y="187349"/>
                <a:ext cx="4059060" cy="1213076"/>
              </a:xfrm>
              <a:prstGeom prst="rect">
                <a:avLst/>
              </a:prstGeom>
              <a:solidFill>
                <a:srgbClr val="80000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18" name="Google Shape;818;p15"/>
              <p:cNvCxnSpPr/>
              <p:nvPr/>
            </p:nvCxnSpPr>
            <p:spPr>
              <a:xfrm>
                <a:off x="6402134" y="1260474"/>
                <a:ext cx="2378765" cy="0"/>
              </a:xfrm>
              <a:prstGeom prst="straightConnector1">
                <a:avLst/>
              </a:prstGeom>
              <a:noFill/>
              <a:ln cap="flat" cmpd="sng" w="9525">
                <a:solidFill>
                  <a:srgbClr val="800000"/>
                </a:solidFill>
                <a:prstDash val="solid"/>
                <a:miter lim="800000"/>
                <a:headEnd len="sm" w="sm" type="none"/>
                <a:tailEnd len="sm" w="sm" type="none"/>
              </a:ln>
            </p:spPr>
          </p:cxnSp>
        </p:grpSp>
        <p:pic>
          <p:nvPicPr>
            <p:cNvPr id="819" name="Google Shape;819;p15"/>
            <p:cNvPicPr preferRelativeResize="0"/>
            <p:nvPr/>
          </p:nvPicPr>
          <p:blipFill rotWithShape="1">
            <a:blip r:embed="rId5">
              <a:alphaModFix/>
            </a:blip>
            <a:srcRect b="0" l="0" r="0" t="0"/>
            <a:stretch/>
          </p:blipFill>
          <p:spPr>
            <a:xfrm>
              <a:off x="5487004" y="195600"/>
              <a:ext cx="914400" cy="1016432"/>
            </a:xfrm>
            <a:prstGeom prst="rect">
              <a:avLst/>
            </a:prstGeom>
            <a:solidFill>
              <a:srgbClr val="FFFF99"/>
            </a:solidFill>
            <a:ln cap="flat" cmpd="sng" w="9525">
              <a:solidFill>
                <a:schemeClr val="dk1"/>
              </a:solidFill>
              <a:prstDash val="solid"/>
              <a:round/>
              <a:headEnd len="sm" w="sm" type="none"/>
              <a:tailEnd len="sm" w="sm" type="none"/>
            </a:ln>
          </p:spPr>
        </p:pic>
      </p:grpSp>
      <p:cxnSp>
        <p:nvCxnSpPr>
          <p:cNvPr id="820" name="Google Shape;820;p15"/>
          <p:cNvCxnSpPr/>
          <p:nvPr/>
        </p:nvCxnSpPr>
        <p:spPr>
          <a:xfrm>
            <a:off x="4627159" y="2662077"/>
            <a:ext cx="0" cy="417305"/>
          </a:xfrm>
          <a:prstGeom prst="straightConnector1">
            <a:avLst/>
          </a:prstGeom>
          <a:noFill/>
          <a:ln cap="flat" cmpd="sng" w="9525">
            <a:solidFill>
              <a:schemeClr val="dk1"/>
            </a:solidFill>
            <a:prstDash val="solid"/>
            <a:miter lim="800000"/>
            <a:headEnd len="sm" w="sm" type="none"/>
            <a:tailEnd len="sm" w="sm" type="none"/>
          </a:ln>
        </p:spPr>
      </p:cxnSp>
      <p:sp>
        <p:nvSpPr>
          <p:cNvPr id="821" name="Google Shape;821;p15"/>
          <p:cNvSpPr txBox="1"/>
          <p:nvPr/>
        </p:nvSpPr>
        <p:spPr>
          <a:xfrm>
            <a:off x="3525345" y="3951090"/>
            <a:ext cx="1528392" cy="89255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Rina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de Asis, 3B</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Apr 2013</a:t>
            </a:r>
            <a:endParaRPr/>
          </a:p>
        </p:txBody>
      </p:sp>
      <p:sp>
        <p:nvSpPr>
          <p:cNvPr id="822" name="Google Shape;822;p15"/>
          <p:cNvSpPr txBox="1"/>
          <p:nvPr/>
        </p:nvSpPr>
        <p:spPr>
          <a:xfrm>
            <a:off x="5291030" y="3946184"/>
            <a:ext cx="1528392" cy="126188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Jesse </a:t>
            </a:r>
            <a:endParaRPr b="1" i="0" sz="14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Tanay, 3A</a:t>
            </a:r>
            <a:endParaRPr/>
          </a:p>
          <a:p>
            <a:pPr indent="0" lvl="0" marL="0" marR="0" rtl="0" algn="r">
              <a:lnSpc>
                <a:spcPct val="100000"/>
              </a:lnSpc>
              <a:spcBef>
                <a:spcPts val="0"/>
              </a:spcBef>
              <a:spcAft>
                <a:spcPts val="0"/>
              </a:spcAft>
              <a:buClr>
                <a:srgbClr val="ED7D31"/>
              </a:buClr>
              <a:buSzPts val="1200"/>
              <a:buFont typeface="Calibri"/>
              <a:buNone/>
            </a:pPr>
            <a:r>
              <a:rPr b="0" i="0" lang="en-US" sz="1200" u="none" cap="none" strike="noStrike">
                <a:solidFill>
                  <a:srgbClr val="ED7D31"/>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ED7D31"/>
              </a:buClr>
              <a:buSzPts val="1200"/>
              <a:buFont typeface="Calibri"/>
              <a:buNone/>
            </a:pPr>
            <a:r>
              <a:rPr b="0" i="0" lang="en-US" sz="1200" u="none" cap="none" strike="noStrike">
                <a:solidFill>
                  <a:srgbClr val="ED7D31"/>
                </a:solidFill>
                <a:latin typeface="Calibri"/>
                <a:ea typeface="Calibri"/>
                <a:cs typeface="Calibri"/>
                <a:sym typeface="Calibri"/>
              </a:rPr>
              <a:t>Jan 2015</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ED7D31"/>
              </a:solidFill>
              <a:latin typeface="Calibri"/>
              <a:ea typeface="Calibri"/>
              <a:cs typeface="Calibri"/>
              <a:sym typeface="Calibri"/>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ED7D31"/>
              </a:solidFill>
              <a:latin typeface="Calibri"/>
              <a:ea typeface="Calibri"/>
              <a:cs typeface="Calibri"/>
              <a:sym typeface="Calibri"/>
            </a:endParaRPr>
          </a:p>
        </p:txBody>
      </p:sp>
      <p:cxnSp>
        <p:nvCxnSpPr>
          <p:cNvPr id="823" name="Google Shape;823;p15"/>
          <p:cNvCxnSpPr/>
          <p:nvPr/>
        </p:nvCxnSpPr>
        <p:spPr>
          <a:xfrm>
            <a:off x="7860134" y="2646179"/>
            <a:ext cx="0" cy="417305"/>
          </a:xfrm>
          <a:prstGeom prst="straightConnector1">
            <a:avLst/>
          </a:prstGeom>
          <a:noFill/>
          <a:ln cap="flat" cmpd="sng" w="9525">
            <a:solidFill>
              <a:schemeClr val="dk1"/>
            </a:solidFill>
            <a:prstDash val="solid"/>
            <a:miter lim="800000"/>
            <a:headEnd len="sm" w="sm" type="none"/>
            <a:tailEnd len="sm" w="sm" type="none"/>
          </a:ln>
        </p:spPr>
      </p:cxnSp>
      <p:sp>
        <p:nvSpPr>
          <p:cNvPr id="824" name="Google Shape;824;p15"/>
          <p:cNvSpPr txBox="1"/>
          <p:nvPr/>
        </p:nvSpPr>
        <p:spPr>
          <a:xfrm>
            <a:off x="7091661" y="3977927"/>
            <a:ext cx="1227957"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Gretchen Antang, 3A</a:t>
            </a:r>
            <a:endParaRPr b="1" i="0" sz="1200" u="none" cap="none" strike="noStrike">
              <a:solidFill>
                <a:srgbClr val="002060"/>
              </a:solidFill>
              <a:latin typeface="Calibri"/>
              <a:ea typeface="Calibri"/>
              <a:cs typeface="Calibri"/>
              <a:sym typeface="Calibri"/>
            </a:endParaRPr>
          </a:p>
          <a:p>
            <a:pPr indent="0" lvl="0" marL="0" marR="0" rtl="0" algn="r">
              <a:lnSpc>
                <a:spcPct val="100000"/>
              </a:lnSpc>
              <a:spcBef>
                <a:spcPts val="0"/>
              </a:spcBef>
              <a:spcAft>
                <a:spcPts val="0"/>
              </a:spcAft>
              <a:buClr>
                <a:srgbClr val="002060"/>
              </a:buClr>
              <a:buSzPts val="1200"/>
              <a:buFont typeface="Calibri"/>
              <a:buNone/>
            </a:pPr>
            <a:r>
              <a:rPr b="0" i="0" lang="en-US" sz="1200" u="none" cap="none" strike="noStrike">
                <a:solidFill>
                  <a:srgbClr val="00206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002060"/>
              </a:buClr>
              <a:buSzPts val="1200"/>
              <a:buFont typeface="Calibri"/>
              <a:buNone/>
            </a:pPr>
            <a:r>
              <a:rPr b="0" i="0" lang="en-US" sz="1200" u="none" cap="none" strike="noStrike">
                <a:solidFill>
                  <a:srgbClr val="002060"/>
                </a:solidFill>
                <a:latin typeface="Calibri"/>
                <a:ea typeface="Calibri"/>
                <a:cs typeface="Calibri"/>
                <a:sym typeface="Calibri"/>
              </a:rPr>
              <a:t>Oct 2015</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cxnSp>
        <p:nvCxnSpPr>
          <p:cNvPr id="825" name="Google Shape;825;p15"/>
          <p:cNvCxnSpPr/>
          <p:nvPr/>
        </p:nvCxnSpPr>
        <p:spPr>
          <a:xfrm>
            <a:off x="9234724" y="2628706"/>
            <a:ext cx="0" cy="417305"/>
          </a:xfrm>
          <a:prstGeom prst="straightConnector1">
            <a:avLst/>
          </a:prstGeom>
          <a:noFill/>
          <a:ln cap="flat" cmpd="sng" w="9525">
            <a:solidFill>
              <a:schemeClr val="dk1"/>
            </a:solidFill>
            <a:prstDash val="solid"/>
            <a:miter lim="800000"/>
            <a:headEnd len="sm" w="sm" type="none"/>
            <a:tailEnd len="sm" w="sm" type="none"/>
          </a:ln>
        </p:spPr>
      </p:cxnSp>
      <p:sp>
        <p:nvSpPr>
          <p:cNvPr id="826" name="Google Shape;826;p15"/>
          <p:cNvSpPr txBox="1"/>
          <p:nvPr/>
        </p:nvSpPr>
        <p:spPr>
          <a:xfrm>
            <a:off x="8257693" y="3943711"/>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Rose Ann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Gonzaga, 3A</a:t>
            </a:r>
            <a:endParaRPr/>
          </a:p>
          <a:p>
            <a:pPr indent="0" lvl="0" marL="0" marR="0" rtl="0" algn="r">
              <a:lnSpc>
                <a:spcPct val="100000"/>
              </a:lnSpc>
              <a:spcBef>
                <a:spcPts val="0"/>
              </a:spcBef>
              <a:spcAft>
                <a:spcPts val="0"/>
              </a:spcAft>
              <a:buClr>
                <a:srgbClr val="FF0000"/>
              </a:buClr>
              <a:buSzPts val="1200"/>
              <a:buFont typeface="Calibri"/>
              <a:buNone/>
            </a:pPr>
            <a:r>
              <a:rPr b="0" i="0" lang="en-US" sz="1200" u="none" cap="none" strike="noStrike">
                <a:solidFill>
                  <a:srgbClr val="FF000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FF0000"/>
              </a:buClr>
              <a:buSzPts val="1200"/>
              <a:buFont typeface="Calibri"/>
              <a:buNone/>
            </a:pPr>
            <a:r>
              <a:rPr b="0" i="0" lang="en-US" sz="1200" u="none" cap="none" strike="noStrike">
                <a:solidFill>
                  <a:srgbClr val="FF0000"/>
                </a:solidFill>
                <a:latin typeface="Calibri"/>
                <a:ea typeface="Calibri"/>
                <a:cs typeface="Calibri"/>
                <a:sym typeface="Calibri"/>
              </a:rPr>
              <a:t>May 2016</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cxnSp>
        <p:nvCxnSpPr>
          <p:cNvPr id="827" name="Google Shape;827;p15"/>
          <p:cNvCxnSpPr/>
          <p:nvPr/>
        </p:nvCxnSpPr>
        <p:spPr>
          <a:xfrm>
            <a:off x="817168" y="2664086"/>
            <a:ext cx="0" cy="417305"/>
          </a:xfrm>
          <a:prstGeom prst="straightConnector1">
            <a:avLst/>
          </a:prstGeom>
          <a:noFill/>
          <a:ln cap="flat" cmpd="sng" w="9525">
            <a:solidFill>
              <a:schemeClr val="dk1"/>
            </a:solidFill>
            <a:prstDash val="solid"/>
            <a:miter lim="800000"/>
            <a:headEnd len="sm" w="sm" type="none"/>
            <a:tailEnd len="sm" w="sm" type="none"/>
          </a:ln>
        </p:spPr>
      </p:cxnSp>
      <p:cxnSp>
        <p:nvCxnSpPr>
          <p:cNvPr id="828" name="Google Shape;828;p15"/>
          <p:cNvCxnSpPr/>
          <p:nvPr/>
        </p:nvCxnSpPr>
        <p:spPr>
          <a:xfrm>
            <a:off x="10497849" y="2636946"/>
            <a:ext cx="0" cy="417305"/>
          </a:xfrm>
          <a:prstGeom prst="straightConnector1">
            <a:avLst/>
          </a:prstGeom>
          <a:noFill/>
          <a:ln cap="flat" cmpd="sng" w="9525">
            <a:solidFill>
              <a:schemeClr val="dk1"/>
            </a:solidFill>
            <a:prstDash val="solid"/>
            <a:miter lim="800000"/>
            <a:headEnd len="sm" w="sm" type="none"/>
            <a:tailEnd len="sm" w="sm" type="none"/>
          </a:ln>
        </p:spPr>
      </p:cxnSp>
      <p:sp>
        <p:nvSpPr>
          <p:cNvPr id="829" name="Google Shape;829;p15"/>
          <p:cNvSpPr txBox="1"/>
          <p:nvPr/>
        </p:nvSpPr>
        <p:spPr>
          <a:xfrm>
            <a:off x="1803950" y="3919779"/>
            <a:ext cx="1528392" cy="89255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Rose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Obidos, 3A</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Date of Entry:</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Jul 2012</a:t>
            </a:r>
            <a:endParaRPr/>
          </a:p>
        </p:txBody>
      </p:sp>
      <p:sp>
        <p:nvSpPr>
          <p:cNvPr id="830" name="Google Shape;830;p15"/>
          <p:cNvSpPr txBox="1"/>
          <p:nvPr/>
        </p:nvSpPr>
        <p:spPr>
          <a:xfrm>
            <a:off x="9355861" y="3909013"/>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Melody </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Razo, 3A</a:t>
            </a:r>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Jun 2018</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cxnSp>
        <p:nvCxnSpPr>
          <p:cNvPr id="831" name="Google Shape;831;p15"/>
          <p:cNvCxnSpPr/>
          <p:nvPr/>
        </p:nvCxnSpPr>
        <p:spPr>
          <a:xfrm flipH="1" rot="10800000">
            <a:off x="817168" y="2645992"/>
            <a:ext cx="10870527" cy="13202"/>
          </a:xfrm>
          <a:prstGeom prst="straightConnector1">
            <a:avLst/>
          </a:prstGeom>
          <a:noFill/>
          <a:ln cap="flat" cmpd="sng" w="9525">
            <a:solidFill>
              <a:schemeClr val="dk1"/>
            </a:solidFill>
            <a:prstDash val="solid"/>
            <a:miter lim="800000"/>
            <a:headEnd len="sm" w="sm" type="none"/>
            <a:tailEnd len="sm" w="sm" type="none"/>
          </a:ln>
        </p:spPr>
      </p:cxnSp>
      <p:sp>
        <p:nvSpPr>
          <p:cNvPr id="832" name="Google Shape;832;p15"/>
          <p:cNvSpPr txBox="1"/>
          <p:nvPr/>
        </p:nvSpPr>
        <p:spPr>
          <a:xfrm>
            <a:off x="14096" y="3909013"/>
            <a:ext cx="1528392" cy="89255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Jane Bernardez, ACS, 3B</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Jul 2011</a:t>
            </a:r>
            <a:endParaRPr/>
          </a:p>
        </p:txBody>
      </p:sp>
      <p:sp>
        <p:nvSpPr>
          <p:cNvPr id="833" name="Google Shape;833;p15"/>
          <p:cNvSpPr txBox="1"/>
          <p:nvPr/>
        </p:nvSpPr>
        <p:spPr>
          <a:xfrm>
            <a:off x="352249" y="1584538"/>
            <a:ext cx="1019696"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9933"/>
              </a:buClr>
              <a:buSzPts val="5400"/>
              <a:buFont typeface="Impact"/>
              <a:buNone/>
            </a:pPr>
            <a:r>
              <a:rPr b="0" i="0" lang="en-US" sz="5400" u="none" cap="none" strike="noStrike">
                <a:solidFill>
                  <a:srgbClr val="FF9933"/>
                </a:solidFill>
                <a:latin typeface="Impact"/>
                <a:ea typeface="Impact"/>
                <a:cs typeface="Impact"/>
                <a:sym typeface="Impact"/>
              </a:rPr>
              <a:t>9</a:t>
            </a:r>
            <a:endParaRPr b="0" i="0" sz="5400" u="none" cap="none" strike="noStrike">
              <a:solidFill>
                <a:srgbClr val="FF9933"/>
              </a:solidFill>
              <a:latin typeface="Impact"/>
              <a:ea typeface="Impact"/>
              <a:cs typeface="Impact"/>
              <a:sym typeface="Impact"/>
            </a:endParaRPr>
          </a:p>
        </p:txBody>
      </p:sp>
      <p:sp>
        <p:nvSpPr>
          <p:cNvPr id="834" name="Google Shape;834;p15"/>
          <p:cNvSpPr txBox="1"/>
          <p:nvPr/>
        </p:nvSpPr>
        <p:spPr>
          <a:xfrm>
            <a:off x="1210314" y="1697713"/>
            <a:ext cx="127997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Warm </a:t>
            </a:r>
            <a:endParaRPr/>
          </a:p>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Bodies</a:t>
            </a:r>
            <a:endParaRPr b="1" i="0" sz="2000" u="none" cap="none" strike="noStrike">
              <a:solidFill>
                <a:srgbClr val="3A3838"/>
              </a:solidFill>
              <a:latin typeface="Calibri"/>
              <a:ea typeface="Calibri"/>
              <a:cs typeface="Calibri"/>
              <a:sym typeface="Calibri"/>
            </a:endParaRPr>
          </a:p>
        </p:txBody>
      </p:sp>
      <p:cxnSp>
        <p:nvCxnSpPr>
          <p:cNvPr id="835" name="Google Shape;835;p15"/>
          <p:cNvCxnSpPr/>
          <p:nvPr/>
        </p:nvCxnSpPr>
        <p:spPr>
          <a:xfrm>
            <a:off x="6149130" y="2655144"/>
            <a:ext cx="0" cy="417305"/>
          </a:xfrm>
          <a:prstGeom prst="straightConnector1">
            <a:avLst/>
          </a:prstGeom>
          <a:noFill/>
          <a:ln cap="flat" cmpd="sng" w="9525">
            <a:solidFill>
              <a:schemeClr val="dk1"/>
            </a:solidFill>
            <a:prstDash val="solid"/>
            <a:miter lim="800000"/>
            <a:headEnd len="sm" w="sm" type="none"/>
            <a:tailEnd len="sm" w="sm" type="none"/>
          </a:ln>
        </p:spPr>
      </p:cxnSp>
      <p:pic>
        <p:nvPicPr>
          <p:cNvPr id="836" name="Google Shape;836;p15"/>
          <p:cNvPicPr preferRelativeResize="0"/>
          <p:nvPr/>
        </p:nvPicPr>
        <p:blipFill rotWithShape="1">
          <a:blip r:embed="rId6">
            <a:alphaModFix/>
          </a:blip>
          <a:srcRect b="65266" l="38332" r="46201" t="19922"/>
          <a:stretch/>
        </p:blipFill>
        <p:spPr>
          <a:xfrm>
            <a:off x="2368122" y="3061461"/>
            <a:ext cx="914400" cy="914400"/>
          </a:xfrm>
          <a:prstGeom prst="rect">
            <a:avLst/>
          </a:prstGeom>
          <a:solidFill>
            <a:srgbClr val="FFFF99"/>
          </a:solidFill>
          <a:ln>
            <a:noFill/>
          </a:ln>
        </p:spPr>
      </p:pic>
      <p:pic>
        <p:nvPicPr>
          <p:cNvPr id="837" name="Google Shape;837;p15"/>
          <p:cNvPicPr preferRelativeResize="0"/>
          <p:nvPr/>
        </p:nvPicPr>
        <p:blipFill rotWithShape="1">
          <a:blip r:embed="rId7">
            <a:alphaModFix/>
          </a:blip>
          <a:srcRect b="20620" l="11572" r="11018" t="5647"/>
          <a:stretch/>
        </p:blipFill>
        <p:spPr>
          <a:xfrm>
            <a:off x="4199773" y="3061461"/>
            <a:ext cx="765259" cy="914400"/>
          </a:xfrm>
          <a:prstGeom prst="rect">
            <a:avLst/>
          </a:prstGeom>
          <a:solidFill>
            <a:srgbClr val="FFFF99"/>
          </a:solidFill>
          <a:ln>
            <a:noFill/>
          </a:ln>
        </p:spPr>
      </p:pic>
      <p:pic>
        <p:nvPicPr>
          <p:cNvPr descr="C:\Users\pj66\Pictures\nb &amp; uw 2011\IMG_3372.JPG" id="838" name="Google Shape;838;p15"/>
          <p:cNvPicPr preferRelativeResize="0"/>
          <p:nvPr/>
        </p:nvPicPr>
        <p:blipFill rotWithShape="1">
          <a:blip r:embed="rId8">
            <a:alphaModFix/>
          </a:blip>
          <a:srcRect b="23012" l="23468" r="23741" t="25246"/>
          <a:stretch/>
        </p:blipFill>
        <p:spPr>
          <a:xfrm>
            <a:off x="5716619" y="3028486"/>
            <a:ext cx="827979" cy="914400"/>
          </a:xfrm>
          <a:prstGeom prst="rect">
            <a:avLst/>
          </a:prstGeom>
          <a:solidFill>
            <a:srgbClr val="FFFF99"/>
          </a:solidFill>
          <a:ln>
            <a:noFill/>
          </a:ln>
        </p:spPr>
      </p:pic>
      <p:pic>
        <p:nvPicPr>
          <p:cNvPr descr="C:\Users\pj66\Pictures\nb &amp; uw 2011\IMG_4813.JPG" id="839" name="Google Shape;839;p15"/>
          <p:cNvPicPr preferRelativeResize="0"/>
          <p:nvPr/>
        </p:nvPicPr>
        <p:blipFill rotWithShape="1">
          <a:blip r:embed="rId9">
            <a:alphaModFix/>
          </a:blip>
          <a:srcRect b="19654" l="19881" r="30629" t="17485"/>
          <a:stretch/>
        </p:blipFill>
        <p:spPr>
          <a:xfrm>
            <a:off x="7465432" y="3036690"/>
            <a:ext cx="813103" cy="914400"/>
          </a:xfrm>
          <a:prstGeom prst="rect">
            <a:avLst/>
          </a:prstGeom>
          <a:noFill/>
          <a:ln>
            <a:noFill/>
          </a:ln>
        </p:spPr>
      </p:pic>
      <p:pic>
        <p:nvPicPr>
          <p:cNvPr id="840" name="Google Shape;840;p15"/>
          <p:cNvPicPr preferRelativeResize="0"/>
          <p:nvPr/>
        </p:nvPicPr>
        <p:blipFill rotWithShape="1">
          <a:blip r:embed="rId10">
            <a:alphaModFix/>
          </a:blip>
          <a:srcRect b="17998" l="18073" r="13938" t="0"/>
          <a:stretch/>
        </p:blipFill>
        <p:spPr>
          <a:xfrm>
            <a:off x="8897365" y="3011724"/>
            <a:ext cx="734110" cy="914400"/>
          </a:xfrm>
          <a:prstGeom prst="rect">
            <a:avLst/>
          </a:prstGeom>
          <a:solidFill>
            <a:srgbClr val="FFFF99"/>
          </a:solidFill>
          <a:ln>
            <a:noFill/>
          </a:ln>
        </p:spPr>
      </p:pic>
      <p:pic>
        <p:nvPicPr>
          <p:cNvPr id="841" name="Google Shape;841;p15"/>
          <p:cNvPicPr preferRelativeResize="0"/>
          <p:nvPr/>
        </p:nvPicPr>
        <p:blipFill rotWithShape="1">
          <a:blip r:embed="rId11">
            <a:alphaModFix/>
          </a:blip>
          <a:srcRect b="30185" l="42149" r="21160" t="43097"/>
          <a:stretch/>
        </p:blipFill>
        <p:spPr>
          <a:xfrm>
            <a:off x="9996217" y="2995895"/>
            <a:ext cx="907712" cy="914400"/>
          </a:xfrm>
          <a:prstGeom prst="rect">
            <a:avLst/>
          </a:prstGeom>
          <a:noFill/>
          <a:ln>
            <a:noFill/>
          </a:ln>
        </p:spPr>
      </p:pic>
      <p:pic>
        <p:nvPicPr>
          <p:cNvPr id="842" name="Google Shape;842;p15"/>
          <p:cNvPicPr preferRelativeResize="0"/>
          <p:nvPr/>
        </p:nvPicPr>
        <p:blipFill rotWithShape="1">
          <a:blip r:embed="rId12">
            <a:alphaModFix/>
          </a:blip>
          <a:srcRect b="49268" l="30481" r="46095" t="13690"/>
          <a:stretch/>
        </p:blipFill>
        <p:spPr>
          <a:xfrm>
            <a:off x="672126" y="3046011"/>
            <a:ext cx="864674" cy="914400"/>
          </a:xfrm>
          <a:prstGeom prst="rect">
            <a:avLst/>
          </a:prstGeom>
          <a:solidFill>
            <a:srgbClr val="FFFF99"/>
          </a:solidFill>
          <a:ln>
            <a:noFill/>
          </a:ln>
        </p:spPr>
      </p:pic>
      <p:sp>
        <p:nvSpPr>
          <p:cNvPr id="843" name="Google Shape;843;p15"/>
          <p:cNvSpPr txBox="1"/>
          <p:nvPr/>
        </p:nvSpPr>
        <p:spPr>
          <a:xfrm>
            <a:off x="2948355" y="1537663"/>
            <a:ext cx="2565571" cy="89255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Sheila Pascual, ACS, Manager 1</a:t>
            </a:r>
            <a:endParaRPr/>
          </a:p>
          <a:p>
            <a:pPr indent="0" lvl="0" marL="0" marR="0" rtl="0" algn="r">
              <a:lnSpc>
                <a:spcPct val="100000"/>
              </a:lnSpc>
              <a:spcBef>
                <a:spcPts val="0"/>
              </a:spcBef>
              <a:spcAft>
                <a:spcPts val="0"/>
              </a:spcAft>
              <a:buClr>
                <a:srgbClr val="FF0000"/>
              </a:buClr>
              <a:buSzPts val="1400"/>
              <a:buFont typeface="Calibri"/>
              <a:buNone/>
            </a:pPr>
            <a:r>
              <a:rPr b="1" i="0" lang="en-US" sz="1400" u="none" cap="none" strike="noStrike">
                <a:solidFill>
                  <a:srgbClr val="FF0000"/>
                </a:solidFill>
                <a:latin typeface="Calibri"/>
                <a:ea typeface="Calibri"/>
                <a:cs typeface="Calibri"/>
                <a:sym typeface="Calibri"/>
              </a:rPr>
              <a:t>Team 6 - </a:t>
            </a:r>
            <a:r>
              <a:rPr b="1" i="0" lang="en-US" sz="1200" u="none" cap="none" strike="noStrike">
                <a:solidFill>
                  <a:srgbClr val="FF0000"/>
                </a:solidFill>
                <a:latin typeface="Calibri"/>
                <a:ea typeface="Calibri"/>
                <a:cs typeface="Calibri"/>
                <a:sym typeface="Calibri"/>
              </a:rPr>
              <a:t>Facilitating   SLOCPI/SLGFI </a:t>
            </a:r>
            <a:endParaRPr b="1" i="0" sz="1400" u="none" cap="none" strike="noStrike">
              <a:solidFill>
                <a:srgbClr val="FF0000"/>
              </a:solidFill>
              <a:latin typeface="Calibri"/>
              <a:ea typeface="Calibri"/>
              <a:cs typeface="Calibri"/>
              <a:sym typeface="Calibri"/>
            </a:endParaRPr>
          </a:p>
          <a:p>
            <a:pPr indent="0" lvl="0" marL="0" marR="0" rtl="0" algn="r">
              <a:lnSpc>
                <a:spcPct val="100000"/>
              </a:lnSpc>
              <a:spcBef>
                <a:spcPts val="0"/>
              </a:spcBef>
              <a:spcAft>
                <a:spcPts val="0"/>
              </a:spcAft>
              <a:buClr>
                <a:srgbClr val="FF0000"/>
              </a:buClr>
              <a:buSzPts val="1200"/>
              <a:buFont typeface="Calibri"/>
              <a:buNone/>
            </a:pPr>
            <a:r>
              <a:rPr b="0" i="0" lang="en-US" sz="1200" u="none" cap="none" strike="noStrike">
                <a:solidFill>
                  <a:srgbClr val="FF0000"/>
                </a:solidFill>
                <a:latin typeface="Calibri"/>
                <a:ea typeface="Calibri"/>
                <a:cs typeface="Calibri"/>
                <a:sym typeface="Calibri"/>
              </a:rPr>
              <a:t>Date of Entry:  Feb 2002</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pic>
        <p:nvPicPr>
          <p:cNvPr id="844" name="Google Shape;844;p15"/>
          <p:cNvPicPr preferRelativeResize="0"/>
          <p:nvPr/>
        </p:nvPicPr>
        <p:blipFill rotWithShape="1">
          <a:blip r:embed="rId13">
            <a:alphaModFix/>
          </a:blip>
          <a:srcRect b="48817" l="34888" r="40726" t="10838"/>
          <a:stretch/>
        </p:blipFill>
        <p:spPr>
          <a:xfrm>
            <a:off x="5513926" y="1488299"/>
            <a:ext cx="836086" cy="914400"/>
          </a:xfrm>
          <a:prstGeom prst="rect">
            <a:avLst/>
          </a:prstGeom>
          <a:solidFill>
            <a:srgbClr val="FFFF99"/>
          </a:solidFill>
          <a:ln>
            <a:noFill/>
          </a:ln>
        </p:spPr>
      </p:pic>
      <p:sp>
        <p:nvSpPr>
          <p:cNvPr id="845" name="Google Shape;845;p15"/>
          <p:cNvSpPr txBox="1"/>
          <p:nvPr/>
        </p:nvSpPr>
        <p:spPr>
          <a:xfrm>
            <a:off x="6474553" y="138780"/>
            <a:ext cx="2891518"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Vilma Tubig, ACS, PCS, FLMI </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3</a:t>
            </a:r>
            <a:endParaRPr/>
          </a:p>
          <a:p>
            <a:pPr indent="0" lvl="0" marL="0" marR="0" rtl="0" algn="l">
              <a:lnSpc>
                <a:spcPct val="100000"/>
              </a:lnSpc>
              <a:spcBef>
                <a:spcPts val="0"/>
              </a:spcBef>
              <a:spcAft>
                <a:spcPts val="0"/>
              </a:spcAft>
              <a:buClr>
                <a:srgbClr val="C55A11"/>
              </a:buClr>
              <a:buSzPts val="1400"/>
              <a:buFont typeface="Calibri"/>
              <a:buNone/>
            </a:pPr>
            <a:r>
              <a:rPr b="1" i="0" lang="en-US" sz="1400" u="none" cap="none" strike="noStrike">
                <a:solidFill>
                  <a:srgbClr val="C55A11"/>
                </a:solidFill>
                <a:latin typeface="Calibri"/>
                <a:ea typeface="Calibri"/>
                <a:cs typeface="Calibri"/>
                <a:sym typeface="Calibri"/>
              </a:rPr>
              <a:t>NB Review, Facilitating and Post-Issue</a:t>
            </a:r>
            <a:endParaRPr/>
          </a:p>
          <a:p>
            <a:pPr indent="0" lvl="0" marL="0" marR="0" rtl="0" algn="l">
              <a:lnSpc>
                <a:spcPct val="100000"/>
              </a:lnSpc>
              <a:spcBef>
                <a:spcPts val="0"/>
              </a:spcBef>
              <a:spcAft>
                <a:spcPts val="0"/>
              </a:spcAft>
              <a:buClr>
                <a:srgbClr val="C55A11"/>
              </a:buClr>
              <a:buSzPts val="1200"/>
              <a:buFont typeface="Calibri"/>
              <a:buNone/>
            </a:pPr>
            <a:r>
              <a:rPr b="0" i="0" lang="en-US" sz="1200" u="none" cap="none" strike="noStrike">
                <a:solidFill>
                  <a:srgbClr val="C55A11"/>
                </a:solidFill>
                <a:latin typeface="Calibri"/>
                <a:ea typeface="Calibri"/>
                <a:cs typeface="Calibri"/>
                <a:sym typeface="Calibri"/>
              </a:rPr>
              <a:t>Date of Entry: Nov 1999</a:t>
            </a:r>
            <a:endParaRPr/>
          </a:p>
        </p:txBody>
      </p:sp>
      <p:pic>
        <p:nvPicPr>
          <p:cNvPr id="846" name="Google Shape;846;p15"/>
          <p:cNvPicPr preferRelativeResize="0"/>
          <p:nvPr/>
        </p:nvPicPr>
        <p:blipFill rotWithShape="1">
          <a:blip r:embed="rId14">
            <a:alphaModFix/>
          </a:blip>
          <a:srcRect b="15185" l="14484" r="19559" t="10210"/>
          <a:stretch/>
        </p:blipFill>
        <p:spPr>
          <a:xfrm>
            <a:off x="11209795" y="2994613"/>
            <a:ext cx="793058" cy="914400"/>
          </a:xfrm>
          <a:prstGeom prst="rect">
            <a:avLst/>
          </a:prstGeom>
          <a:noFill/>
          <a:ln>
            <a:noFill/>
          </a:ln>
        </p:spPr>
      </p:pic>
      <p:cxnSp>
        <p:nvCxnSpPr>
          <p:cNvPr id="847" name="Google Shape;847;p15"/>
          <p:cNvCxnSpPr/>
          <p:nvPr/>
        </p:nvCxnSpPr>
        <p:spPr>
          <a:xfrm>
            <a:off x="11687695" y="2636946"/>
            <a:ext cx="0" cy="417305"/>
          </a:xfrm>
          <a:prstGeom prst="straightConnector1">
            <a:avLst/>
          </a:prstGeom>
          <a:noFill/>
          <a:ln cap="flat" cmpd="sng" w="9525">
            <a:solidFill>
              <a:schemeClr val="dk1"/>
            </a:solidFill>
            <a:prstDash val="solid"/>
            <a:miter lim="800000"/>
            <a:headEnd len="sm" w="sm" type="none"/>
            <a:tailEnd len="sm" w="sm" type="none"/>
          </a:ln>
        </p:spPr>
      </p:cxnSp>
      <p:sp>
        <p:nvSpPr>
          <p:cNvPr id="848" name="Google Shape;848;p15"/>
          <p:cNvSpPr txBox="1"/>
          <p:nvPr/>
        </p:nvSpPr>
        <p:spPr>
          <a:xfrm>
            <a:off x="10463042" y="3874315"/>
            <a:ext cx="1528392" cy="107721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Jee Ann</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Sale, 3A</a:t>
            </a:r>
            <a:endParaRPr/>
          </a:p>
          <a:p>
            <a:pPr indent="0" lvl="0" marL="0" marR="0" rtl="0" algn="r">
              <a:lnSpc>
                <a:spcPct val="100000"/>
              </a:lnSpc>
              <a:spcBef>
                <a:spcPts val="0"/>
              </a:spcBef>
              <a:spcAft>
                <a:spcPts val="0"/>
              </a:spcAft>
              <a:buClr>
                <a:srgbClr val="FF9933"/>
              </a:buClr>
              <a:buSzPts val="1200"/>
              <a:buFont typeface="Calibri"/>
              <a:buNone/>
            </a:pPr>
            <a:r>
              <a:rPr b="0" i="0" lang="en-US" sz="1200" u="none" cap="none" strike="noStrike">
                <a:solidFill>
                  <a:srgbClr val="FF9933"/>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FF9933"/>
              </a:buClr>
              <a:buSzPts val="1200"/>
              <a:buFont typeface="Calibri"/>
              <a:buNone/>
            </a:pPr>
            <a:r>
              <a:rPr b="0" i="0" lang="en-US" sz="1200" u="none" cap="none" strike="noStrike">
                <a:solidFill>
                  <a:srgbClr val="FF9933"/>
                </a:solidFill>
                <a:latin typeface="Calibri"/>
                <a:ea typeface="Calibri"/>
                <a:cs typeface="Calibri"/>
                <a:sym typeface="Calibri"/>
              </a:rPr>
              <a:t>Mar 2019</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3" name="Shape 853"/>
        <p:cNvGrpSpPr/>
        <p:nvPr/>
      </p:nvGrpSpPr>
      <p:grpSpPr>
        <a:xfrm>
          <a:off x="0" y="0"/>
          <a:ext cx="0" cy="0"/>
          <a:chOff x="0" y="0"/>
          <a:chExt cx="0" cy="0"/>
        </a:xfrm>
      </p:grpSpPr>
      <p:grpSp>
        <p:nvGrpSpPr>
          <p:cNvPr id="854" name="Google Shape;854;p16"/>
          <p:cNvGrpSpPr/>
          <p:nvPr/>
        </p:nvGrpSpPr>
        <p:grpSpPr>
          <a:xfrm>
            <a:off x="64411" y="5029200"/>
            <a:ext cx="12127589" cy="1852020"/>
            <a:chOff x="64411" y="5029200"/>
            <a:chExt cx="12127589" cy="1852020"/>
          </a:xfrm>
        </p:grpSpPr>
        <p:pic>
          <p:nvPicPr>
            <p:cNvPr id="855" name="Google Shape;855;p16"/>
            <p:cNvPicPr preferRelativeResize="0"/>
            <p:nvPr/>
          </p:nvPicPr>
          <p:blipFill rotWithShape="1">
            <a:blip r:embed="rId3">
              <a:alphaModFix/>
            </a:blip>
            <a:srcRect b="48442" l="0" r="0" t="0"/>
            <a:stretch/>
          </p:blipFill>
          <p:spPr>
            <a:xfrm flipH="1" rot="10800000">
              <a:off x="2399626" y="5240195"/>
              <a:ext cx="4171210" cy="1611209"/>
            </a:xfrm>
            <a:prstGeom prst="rect">
              <a:avLst/>
            </a:prstGeom>
            <a:noFill/>
            <a:ln>
              <a:noFill/>
            </a:ln>
          </p:spPr>
        </p:pic>
        <p:pic>
          <p:nvPicPr>
            <p:cNvPr id="856" name="Google Shape;856;p16"/>
            <p:cNvPicPr preferRelativeResize="0"/>
            <p:nvPr/>
          </p:nvPicPr>
          <p:blipFill rotWithShape="1">
            <a:blip r:embed="rId3">
              <a:alphaModFix/>
            </a:blip>
            <a:srcRect b="48442" l="0" r="0" t="0"/>
            <a:stretch/>
          </p:blipFill>
          <p:spPr>
            <a:xfrm flipH="1" rot="10800000">
              <a:off x="64411" y="5270011"/>
              <a:ext cx="4171210" cy="1611209"/>
            </a:xfrm>
            <a:prstGeom prst="rect">
              <a:avLst/>
            </a:prstGeom>
            <a:noFill/>
            <a:ln>
              <a:noFill/>
            </a:ln>
          </p:spPr>
        </p:pic>
        <p:pic>
          <p:nvPicPr>
            <p:cNvPr id="857" name="Google Shape;857;p16"/>
            <p:cNvPicPr preferRelativeResize="0"/>
            <p:nvPr/>
          </p:nvPicPr>
          <p:blipFill rotWithShape="1">
            <a:blip r:embed="rId3">
              <a:alphaModFix/>
            </a:blip>
            <a:srcRect b="48442" l="0" r="0" t="0"/>
            <a:stretch/>
          </p:blipFill>
          <p:spPr>
            <a:xfrm flipH="1" rot="10800000">
              <a:off x="4413537" y="5246791"/>
              <a:ext cx="4171210" cy="1611209"/>
            </a:xfrm>
            <a:prstGeom prst="rect">
              <a:avLst/>
            </a:prstGeom>
            <a:noFill/>
            <a:ln>
              <a:noFill/>
            </a:ln>
          </p:spPr>
        </p:pic>
        <p:pic>
          <p:nvPicPr>
            <p:cNvPr id="858" name="Google Shape;858;p16"/>
            <p:cNvPicPr preferRelativeResize="0"/>
            <p:nvPr/>
          </p:nvPicPr>
          <p:blipFill rotWithShape="1">
            <a:blip r:embed="rId4">
              <a:alphaModFix/>
            </a:blip>
            <a:srcRect b="0" l="0" r="0" t="0"/>
            <a:stretch/>
          </p:blipFill>
          <p:spPr>
            <a:xfrm>
              <a:off x="1401171" y="5552551"/>
              <a:ext cx="917965" cy="914400"/>
            </a:xfrm>
            <a:prstGeom prst="rect">
              <a:avLst/>
            </a:prstGeom>
            <a:noFill/>
            <a:ln>
              <a:noFill/>
            </a:ln>
          </p:spPr>
        </p:pic>
        <p:sp>
          <p:nvSpPr>
            <p:cNvPr id="859" name="Google Shape;859;p16"/>
            <p:cNvSpPr/>
            <p:nvPr/>
          </p:nvSpPr>
          <p:spPr>
            <a:xfrm>
              <a:off x="162665" y="5029200"/>
              <a:ext cx="182880" cy="1828800"/>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860" name="Google Shape;860;p16"/>
            <p:cNvPicPr preferRelativeResize="0"/>
            <p:nvPr/>
          </p:nvPicPr>
          <p:blipFill rotWithShape="1">
            <a:blip r:embed="rId3">
              <a:alphaModFix/>
            </a:blip>
            <a:srcRect b="48442" l="0" r="0" t="0"/>
            <a:stretch/>
          </p:blipFill>
          <p:spPr>
            <a:xfrm flipH="1" rot="10800000">
              <a:off x="8293562" y="5361982"/>
              <a:ext cx="3898438" cy="1496018"/>
            </a:xfrm>
            <a:prstGeom prst="rect">
              <a:avLst/>
            </a:prstGeom>
            <a:noFill/>
            <a:ln>
              <a:noFill/>
            </a:ln>
          </p:spPr>
        </p:pic>
        <p:sp>
          <p:nvSpPr>
            <p:cNvPr id="861" name="Google Shape;861;p16"/>
            <p:cNvSpPr txBox="1"/>
            <p:nvPr/>
          </p:nvSpPr>
          <p:spPr>
            <a:xfrm>
              <a:off x="327909" y="5728222"/>
              <a:ext cx="9038162" cy="95410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New Business Services </a:t>
              </a:r>
              <a:endParaRPr/>
            </a:p>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Team 7 – QA &amp; Production Support</a:t>
              </a:r>
              <a:endParaRPr/>
            </a:p>
          </p:txBody>
        </p:sp>
      </p:grpSp>
      <p:cxnSp>
        <p:nvCxnSpPr>
          <p:cNvPr id="862" name="Google Shape;862;p16"/>
          <p:cNvCxnSpPr/>
          <p:nvPr/>
        </p:nvCxnSpPr>
        <p:spPr>
          <a:xfrm flipH="1">
            <a:off x="6101134" y="506896"/>
            <a:ext cx="21370" cy="2533562"/>
          </a:xfrm>
          <a:prstGeom prst="straightConnector1">
            <a:avLst/>
          </a:prstGeom>
          <a:noFill/>
          <a:ln cap="flat" cmpd="sng" w="9525">
            <a:solidFill>
              <a:schemeClr val="dk1"/>
            </a:solidFill>
            <a:prstDash val="solid"/>
            <a:miter lim="800000"/>
            <a:headEnd len="sm" w="sm" type="none"/>
            <a:tailEnd len="sm" w="sm" type="none"/>
          </a:ln>
        </p:spPr>
      </p:cxnSp>
      <p:cxnSp>
        <p:nvCxnSpPr>
          <p:cNvPr id="863" name="Google Shape;863;p16"/>
          <p:cNvCxnSpPr/>
          <p:nvPr/>
        </p:nvCxnSpPr>
        <p:spPr>
          <a:xfrm>
            <a:off x="3408603" y="3230555"/>
            <a:ext cx="0" cy="0"/>
          </a:xfrm>
          <a:prstGeom prst="straightConnector1">
            <a:avLst/>
          </a:prstGeom>
          <a:noFill/>
          <a:ln cap="flat" cmpd="sng" w="9525">
            <a:solidFill>
              <a:schemeClr val="dk1"/>
            </a:solidFill>
            <a:prstDash val="solid"/>
            <a:miter lim="800000"/>
            <a:headEnd len="sm" w="sm" type="none"/>
            <a:tailEnd len="sm" w="sm" type="none"/>
          </a:ln>
        </p:spPr>
      </p:cxnSp>
      <p:grpSp>
        <p:nvGrpSpPr>
          <p:cNvPr id="864" name="Google Shape;864;p16"/>
          <p:cNvGrpSpPr/>
          <p:nvPr/>
        </p:nvGrpSpPr>
        <p:grpSpPr>
          <a:xfrm>
            <a:off x="5307012" y="61581"/>
            <a:ext cx="4059060" cy="1213076"/>
            <a:chOff x="5307012" y="108877"/>
            <a:chExt cx="4059060" cy="1213076"/>
          </a:xfrm>
        </p:grpSpPr>
        <p:grpSp>
          <p:nvGrpSpPr>
            <p:cNvPr id="865" name="Google Shape;865;p16"/>
            <p:cNvGrpSpPr/>
            <p:nvPr/>
          </p:nvGrpSpPr>
          <p:grpSpPr>
            <a:xfrm>
              <a:off x="5307012" y="108877"/>
              <a:ext cx="4059060" cy="1213076"/>
              <a:chOff x="5307012" y="187349"/>
              <a:chExt cx="4059060" cy="1213076"/>
            </a:xfrm>
          </p:grpSpPr>
          <p:sp>
            <p:nvSpPr>
              <p:cNvPr id="866" name="Google Shape;866;p16"/>
              <p:cNvSpPr/>
              <p:nvPr/>
            </p:nvSpPr>
            <p:spPr>
              <a:xfrm>
                <a:off x="5307012" y="187349"/>
                <a:ext cx="4059060" cy="1213076"/>
              </a:xfrm>
              <a:prstGeom prst="rect">
                <a:avLst/>
              </a:prstGeom>
              <a:solidFill>
                <a:srgbClr val="800000">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867" name="Google Shape;867;p16"/>
              <p:cNvCxnSpPr/>
              <p:nvPr/>
            </p:nvCxnSpPr>
            <p:spPr>
              <a:xfrm>
                <a:off x="6402134" y="1260474"/>
                <a:ext cx="2378765" cy="0"/>
              </a:xfrm>
              <a:prstGeom prst="straightConnector1">
                <a:avLst/>
              </a:prstGeom>
              <a:noFill/>
              <a:ln cap="flat" cmpd="sng" w="9525">
                <a:solidFill>
                  <a:srgbClr val="800000"/>
                </a:solidFill>
                <a:prstDash val="solid"/>
                <a:miter lim="800000"/>
                <a:headEnd len="sm" w="sm" type="none"/>
                <a:tailEnd len="sm" w="sm" type="none"/>
              </a:ln>
            </p:spPr>
          </p:cxnSp>
        </p:grpSp>
        <p:pic>
          <p:nvPicPr>
            <p:cNvPr id="868" name="Google Shape;868;p16"/>
            <p:cNvPicPr preferRelativeResize="0"/>
            <p:nvPr/>
          </p:nvPicPr>
          <p:blipFill rotWithShape="1">
            <a:blip r:embed="rId5">
              <a:alphaModFix/>
            </a:blip>
            <a:srcRect b="0" l="0" r="0" t="0"/>
            <a:stretch/>
          </p:blipFill>
          <p:spPr>
            <a:xfrm>
              <a:off x="5487004" y="195600"/>
              <a:ext cx="914400" cy="1016432"/>
            </a:xfrm>
            <a:prstGeom prst="rect">
              <a:avLst/>
            </a:prstGeom>
            <a:solidFill>
              <a:srgbClr val="FFFF99"/>
            </a:solidFill>
            <a:ln cap="flat" cmpd="sng" w="9525">
              <a:solidFill>
                <a:schemeClr val="dk1"/>
              </a:solidFill>
              <a:prstDash val="solid"/>
              <a:round/>
              <a:headEnd len="sm" w="sm" type="none"/>
              <a:tailEnd len="sm" w="sm" type="none"/>
            </a:ln>
          </p:spPr>
        </p:pic>
      </p:grpSp>
      <p:cxnSp>
        <p:nvCxnSpPr>
          <p:cNvPr id="869" name="Google Shape;869;p16"/>
          <p:cNvCxnSpPr/>
          <p:nvPr/>
        </p:nvCxnSpPr>
        <p:spPr>
          <a:xfrm>
            <a:off x="3695966" y="2649037"/>
            <a:ext cx="0" cy="417305"/>
          </a:xfrm>
          <a:prstGeom prst="straightConnector1">
            <a:avLst/>
          </a:prstGeom>
          <a:noFill/>
          <a:ln cap="flat" cmpd="sng" w="9525">
            <a:solidFill>
              <a:schemeClr val="dk1"/>
            </a:solidFill>
            <a:prstDash val="solid"/>
            <a:miter lim="800000"/>
            <a:headEnd len="sm" w="sm" type="none"/>
            <a:tailEnd len="sm" w="sm" type="none"/>
          </a:ln>
        </p:spPr>
      </p:cxnSp>
      <p:sp>
        <p:nvSpPr>
          <p:cNvPr id="870" name="Google Shape;870;p16"/>
          <p:cNvSpPr txBox="1"/>
          <p:nvPr/>
        </p:nvSpPr>
        <p:spPr>
          <a:xfrm>
            <a:off x="2870876" y="4010336"/>
            <a:ext cx="1528392" cy="67710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Edgie Ignacio, 4A</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7030A0"/>
              </a:buClr>
              <a:buSzPts val="1200"/>
              <a:buFont typeface="Calibri"/>
              <a:buNone/>
            </a:pPr>
            <a:r>
              <a:rPr b="0" i="0" lang="en-US" sz="1200" u="none" cap="none" strike="noStrike">
                <a:solidFill>
                  <a:srgbClr val="7030A0"/>
                </a:solidFill>
                <a:latin typeface="Calibri"/>
                <a:ea typeface="Calibri"/>
                <a:cs typeface="Calibri"/>
                <a:sym typeface="Calibri"/>
              </a:rPr>
              <a:t>Jul 2013</a:t>
            </a:r>
            <a:endParaRPr/>
          </a:p>
        </p:txBody>
      </p:sp>
      <p:cxnSp>
        <p:nvCxnSpPr>
          <p:cNvPr id="871" name="Google Shape;871;p16"/>
          <p:cNvCxnSpPr/>
          <p:nvPr/>
        </p:nvCxnSpPr>
        <p:spPr>
          <a:xfrm>
            <a:off x="8180335" y="2646442"/>
            <a:ext cx="0" cy="417305"/>
          </a:xfrm>
          <a:prstGeom prst="straightConnector1">
            <a:avLst/>
          </a:prstGeom>
          <a:noFill/>
          <a:ln cap="flat" cmpd="sng" w="9525">
            <a:solidFill>
              <a:schemeClr val="dk1"/>
            </a:solidFill>
            <a:prstDash val="solid"/>
            <a:miter lim="800000"/>
            <a:headEnd len="sm" w="sm" type="none"/>
            <a:tailEnd len="sm" w="sm" type="none"/>
          </a:ln>
        </p:spPr>
      </p:cxnSp>
      <p:sp>
        <p:nvSpPr>
          <p:cNvPr id="872" name="Google Shape;872;p16"/>
          <p:cNvSpPr txBox="1"/>
          <p:nvPr/>
        </p:nvSpPr>
        <p:spPr>
          <a:xfrm>
            <a:off x="4906096" y="3893392"/>
            <a:ext cx="1528392" cy="86177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Sylvia Gener, 3B</a:t>
            </a:r>
            <a:endParaRPr/>
          </a:p>
          <a:p>
            <a:pPr indent="0" lvl="0" marL="0" marR="0" rtl="0" algn="r">
              <a:lnSpc>
                <a:spcPct val="100000"/>
              </a:lnSpc>
              <a:spcBef>
                <a:spcPts val="0"/>
              </a:spcBef>
              <a:spcAft>
                <a:spcPts val="0"/>
              </a:spcAft>
              <a:buClr>
                <a:srgbClr val="FF0000"/>
              </a:buClr>
              <a:buSzPts val="1200"/>
              <a:buFont typeface="Calibri"/>
              <a:buNone/>
            </a:pPr>
            <a:r>
              <a:rPr b="0" i="0" lang="en-US" sz="1200" u="none" cap="none" strike="noStrike">
                <a:solidFill>
                  <a:srgbClr val="FF0000"/>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FF0000"/>
              </a:buClr>
              <a:buSzPts val="1200"/>
              <a:buFont typeface="Calibri"/>
              <a:buNone/>
            </a:pPr>
            <a:r>
              <a:rPr b="0" i="0" lang="en-US" sz="1200" u="none" cap="none" strike="noStrike">
                <a:solidFill>
                  <a:srgbClr val="FF0000"/>
                </a:solidFill>
                <a:latin typeface="Calibri"/>
                <a:ea typeface="Calibri"/>
                <a:cs typeface="Calibri"/>
                <a:sym typeface="Calibri"/>
              </a:rPr>
              <a:t>Oct 2013</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cxnSp>
        <p:nvCxnSpPr>
          <p:cNvPr id="873" name="Google Shape;873;p16"/>
          <p:cNvCxnSpPr/>
          <p:nvPr/>
        </p:nvCxnSpPr>
        <p:spPr>
          <a:xfrm>
            <a:off x="1629217" y="2666552"/>
            <a:ext cx="0" cy="417305"/>
          </a:xfrm>
          <a:prstGeom prst="straightConnector1">
            <a:avLst/>
          </a:prstGeom>
          <a:noFill/>
          <a:ln cap="flat" cmpd="sng" w="9525">
            <a:solidFill>
              <a:schemeClr val="dk1"/>
            </a:solidFill>
            <a:prstDash val="solid"/>
            <a:miter lim="800000"/>
            <a:headEnd len="sm" w="sm" type="none"/>
            <a:tailEnd len="sm" w="sm" type="none"/>
          </a:ln>
        </p:spPr>
      </p:cxnSp>
      <p:sp>
        <p:nvSpPr>
          <p:cNvPr id="874" name="Google Shape;874;p16"/>
          <p:cNvSpPr txBox="1"/>
          <p:nvPr/>
        </p:nvSpPr>
        <p:spPr>
          <a:xfrm>
            <a:off x="1047217" y="4010336"/>
            <a:ext cx="1528392" cy="89255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Bobot Raymundo,4B</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Date of Entry:</a:t>
            </a:r>
            <a:endParaRPr/>
          </a:p>
          <a:p>
            <a:pPr indent="0" lvl="0" marL="0" marR="0" rtl="0" algn="r">
              <a:lnSpc>
                <a:spcPct val="100000"/>
              </a:lnSpc>
              <a:spcBef>
                <a:spcPts val="0"/>
              </a:spcBef>
              <a:spcAft>
                <a:spcPts val="0"/>
              </a:spcAft>
              <a:buClr>
                <a:srgbClr val="0070C0"/>
              </a:buClr>
              <a:buSzPts val="1200"/>
              <a:buFont typeface="Calibri"/>
              <a:buNone/>
            </a:pPr>
            <a:r>
              <a:rPr b="0" i="0" lang="en-US" sz="1200" u="none" cap="none" strike="noStrike">
                <a:solidFill>
                  <a:srgbClr val="0070C0"/>
                </a:solidFill>
                <a:latin typeface="Calibri"/>
                <a:ea typeface="Calibri"/>
                <a:cs typeface="Calibri"/>
                <a:sym typeface="Calibri"/>
              </a:rPr>
              <a:t>Jun 2005</a:t>
            </a:r>
            <a:endParaRPr/>
          </a:p>
        </p:txBody>
      </p:sp>
      <p:sp>
        <p:nvSpPr>
          <p:cNvPr id="875" name="Google Shape;875;p16"/>
          <p:cNvSpPr txBox="1"/>
          <p:nvPr/>
        </p:nvSpPr>
        <p:spPr>
          <a:xfrm>
            <a:off x="6999615" y="3883290"/>
            <a:ext cx="1528392" cy="150810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Maria Cecilia Ledesma, 4A</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Systems and Training</a:t>
            </a:r>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May 2015</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cxnSp>
        <p:nvCxnSpPr>
          <p:cNvPr id="876" name="Google Shape;876;p16"/>
          <p:cNvCxnSpPr/>
          <p:nvPr/>
        </p:nvCxnSpPr>
        <p:spPr>
          <a:xfrm flipH="1" rot="10800000">
            <a:off x="1629217" y="2644947"/>
            <a:ext cx="9065969" cy="11671"/>
          </a:xfrm>
          <a:prstGeom prst="straightConnector1">
            <a:avLst/>
          </a:prstGeom>
          <a:noFill/>
          <a:ln cap="flat" cmpd="sng" w="9525">
            <a:solidFill>
              <a:schemeClr val="dk1"/>
            </a:solidFill>
            <a:prstDash val="solid"/>
            <a:miter lim="800000"/>
            <a:headEnd len="sm" w="sm" type="none"/>
            <a:tailEnd len="sm" w="sm" type="none"/>
          </a:ln>
        </p:spPr>
      </p:cxnSp>
      <p:sp>
        <p:nvSpPr>
          <p:cNvPr id="877" name="Google Shape;877;p16"/>
          <p:cNvSpPr/>
          <p:nvPr/>
        </p:nvSpPr>
        <p:spPr>
          <a:xfrm>
            <a:off x="2291810" y="1292317"/>
            <a:ext cx="4278307" cy="1249430"/>
          </a:xfrm>
          <a:prstGeom prst="rect">
            <a:avLst/>
          </a:prstGeom>
          <a:solidFill>
            <a:srgbClr val="66CCFF">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8" name="Google Shape;878;p16"/>
          <p:cNvSpPr txBox="1"/>
          <p:nvPr/>
        </p:nvSpPr>
        <p:spPr>
          <a:xfrm>
            <a:off x="352249" y="1584538"/>
            <a:ext cx="1019696"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9933"/>
              </a:buClr>
              <a:buSzPts val="5400"/>
              <a:buFont typeface="Impact"/>
              <a:buNone/>
            </a:pPr>
            <a:r>
              <a:rPr b="0" i="0" lang="en-US" sz="5400" u="none" cap="none" strike="noStrike">
                <a:solidFill>
                  <a:srgbClr val="FF9933"/>
                </a:solidFill>
                <a:latin typeface="Impact"/>
                <a:ea typeface="Impact"/>
                <a:cs typeface="Impact"/>
                <a:sym typeface="Impact"/>
              </a:rPr>
              <a:t>06</a:t>
            </a:r>
            <a:endParaRPr b="0" i="0" sz="5400" u="none" cap="none" strike="noStrike">
              <a:solidFill>
                <a:srgbClr val="FF9933"/>
              </a:solidFill>
              <a:latin typeface="Impact"/>
              <a:ea typeface="Impact"/>
              <a:cs typeface="Impact"/>
              <a:sym typeface="Impact"/>
            </a:endParaRPr>
          </a:p>
        </p:txBody>
      </p:sp>
      <p:sp>
        <p:nvSpPr>
          <p:cNvPr id="879" name="Google Shape;879;p16"/>
          <p:cNvSpPr txBox="1"/>
          <p:nvPr/>
        </p:nvSpPr>
        <p:spPr>
          <a:xfrm>
            <a:off x="1210314" y="1697713"/>
            <a:ext cx="127997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Warm </a:t>
            </a:r>
            <a:endParaRPr/>
          </a:p>
          <a:p>
            <a:pPr indent="0" lvl="0" marL="0" marR="0" rtl="0" algn="l">
              <a:lnSpc>
                <a:spcPct val="100000"/>
              </a:lnSpc>
              <a:spcBef>
                <a:spcPts val="0"/>
              </a:spcBef>
              <a:spcAft>
                <a:spcPts val="0"/>
              </a:spcAft>
              <a:buClr>
                <a:srgbClr val="3A3838"/>
              </a:buClr>
              <a:buSzPts val="2000"/>
              <a:buFont typeface="Calibri"/>
              <a:buNone/>
            </a:pPr>
            <a:r>
              <a:rPr b="1" i="0" lang="en-US" sz="2000" u="none" cap="none" strike="noStrike">
                <a:solidFill>
                  <a:srgbClr val="3A3838"/>
                </a:solidFill>
                <a:latin typeface="Calibri"/>
                <a:ea typeface="Calibri"/>
                <a:cs typeface="Calibri"/>
                <a:sym typeface="Calibri"/>
              </a:rPr>
              <a:t>Bodies</a:t>
            </a:r>
            <a:endParaRPr b="1" i="0" sz="2000" u="none" cap="none" strike="noStrike">
              <a:solidFill>
                <a:srgbClr val="3A3838"/>
              </a:solidFill>
              <a:latin typeface="Calibri"/>
              <a:ea typeface="Calibri"/>
              <a:cs typeface="Calibri"/>
              <a:sym typeface="Calibri"/>
            </a:endParaRPr>
          </a:p>
        </p:txBody>
      </p:sp>
      <p:cxnSp>
        <p:nvCxnSpPr>
          <p:cNvPr id="880" name="Google Shape;880;p16"/>
          <p:cNvCxnSpPr/>
          <p:nvPr/>
        </p:nvCxnSpPr>
        <p:spPr>
          <a:xfrm>
            <a:off x="10695186" y="2646442"/>
            <a:ext cx="0" cy="417305"/>
          </a:xfrm>
          <a:prstGeom prst="straightConnector1">
            <a:avLst/>
          </a:prstGeom>
          <a:noFill/>
          <a:ln cap="flat" cmpd="sng" w="9525">
            <a:solidFill>
              <a:schemeClr val="dk1"/>
            </a:solidFill>
            <a:prstDash val="solid"/>
            <a:miter lim="800000"/>
            <a:headEnd len="sm" w="sm" type="none"/>
            <a:tailEnd len="sm" w="sm" type="none"/>
          </a:ln>
        </p:spPr>
      </p:cxnSp>
      <p:sp>
        <p:nvSpPr>
          <p:cNvPr id="881" name="Google Shape;881;p16"/>
          <p:cNvSpPr txBox="1"/>
          <p:nvPr/>
        </p:nvSpPr>
        <p:spPr>
          <a:xfrm>
            <a:off x="9485200" y="3883837"/>
            <a:ext cx="1528392" cy="86177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Camelle Pilaza, 3A</a:t>
            </a:r>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Date of Entry: </a:t>
            </a:r>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Oct 2015</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pic>
        <p:nvPicPr>
          <p:cNvPr id="882" name="Google Shape;882;p16"/>
          <p:cNvPicPr preferRelativeResize="0"/>
          <p:nvPr/>
        </p:nvPicPr>
        <p:blipFill rotWithShape="1">
          <a:blip r:embed="rId6">
            <a:alphaModFix/>
          </a:blip>
          <a:srcRect b="39046" l="22185" r="44201" t="14789"/>
          <a:stretch/>
        </p:blipFill>
        <p:spPr>
          <a:xfrm>
            <a:off x="1514317" y="2960284"/>
            <a:ext cx="970185" cy="914400"/>
          </a:xfrm>
          <a:prstGeom prst="rect">
            <a:avLst/>
          </a:prstGeom>
          <a:solidFill>
            <a:srgbClr val="FFFF99"/>
          </a:solidFill>
          <a:ln>
            <a:noFill/>
          </a:ln>
        </p:spPr>
      </p:pic>
      <p:pic>
        <p:nvPicPr>
          <p:cNvPr id="883" name="Google Shape;883;p16"/>
          <p:cNvPicPr preferRelativeResize="0"/>
          <p:nvPr/>
        </p:nvPicPr>
        <p:blipFill rotWithShape="1">
          <a:blip r:embed="rId7">
            <a:alphaModFix/>
          </a:blip>
          <a:srcRect b="0" l="0" r="0" t="0"/>
          <a:stretch/>
        </p:blipFill>
        <p:spPr>
          <a:xfrm>
            <a:off x="7591516" y="3040458"/>
            <a:ext cx="916806" cy="914400"/>
          </a:xfrm>
          <a:prstGeom prst="rect">
            <a:avLst/>
          </a:prstGeom>
          <a:solidFill>
            <a:srgbClr val="FFFF99"/>
          </a:solidFill>
          <a:ln>
            <a:noFill/>
          </a:ln>
        </p:spPr>
      </p:pic>
      <p:pic>
        <p:nvPicPr>
          <p:cNvPr descr="C:\Users\pj66\Pictures\nb &amp; uw 2011\IMG_4723.JPG" id="884" name="Google Shape;884;p16"/>
          <p:cNvPicPr preferRelativeResize="0"/>
          <p:nvPr/>
        </p:nvPicPr>
        <p:blipFill rotWithShape="1">
          <a:blip r:embed="rId8">
            <a:alphaModFix/>
          </a:blip>
          <a:srcRect b="24410" l="22118" r="22222" t="7422"/>
          <a:stretch/>
        </p:blipFill>
        <p:spPr>
          <a:xfrm>
            <a:off x="10193572" y="2980153"/>
            <a:ext cx="745161" cy="914400"/>
          </a:xfrm>
          <a:prstGeom prst="rect">
            <a:avLst/>
          </a:prstGeom>
          <a:solidFill>
            <a:srgbClr val="FFFF99"/>
          </a:solidFill>
          <a:ln>
            <a:noFill/>
          </a:ln>
        </p:spPr>
      </p:pic>
      <p:pic>
        <p:nvPicPr>
          <p:cNvPr id="885" name="Google Shape;885;p16"/>
          <p:cNvPicPr preferRelativeResize="0"/>
          <p:nvPr/>
        </p:nvPicPr>
        <p:blipFill rotWithShape="1">
          <a:blip r:embed="rId9">
            <a:alphaModFix/>
          </a:blip>
          <a:srcRect b="15398" l="19876" r="16087" t="0"/>
          <a:stretch/>
        </p:blipFill>
        <p:spPr>
          <a:xfrm>
            <a:off x="3412037" y="2991449"/>
            <a:ext cx="968005" cy="914400"/>
          </a:xfrm>
          <a:prstGeom prst="rect">
            <a:avLst/>
          </a:prstGeom>
          <a:solidFill>
            <a:srgbClr val="FAF9F9"/>
          </a:solidFill>
          <a:ln>
            <a:noFill/>
          </a:ln>
        </p:spPr>
      </p:pic>
      <p:pic>
        <p:nvPicPr>
          <p:cNvPr id="886" name="Google Shape;886;p16"/>
          <p:cNvPicPr preferRelativeResize="0"/>
          <p:nvPr/>
        </p:nvPicPr>
        <p:blipFill rotWithShape="1">
          <a:blip r:embed="rId10">
            <a:alphaModFix/>
          </a:blip>
          <a:srcRect b="7919" l="5692" r="75681" t="67798"/>
          <a:stretch/>
        </p:blipFill>
        <p:spPr>
          <a:xfrm>
            <a:off x="5557682" y="2972796"/>
            <a:ext cx="773043" cy="914400"/>
          </a:xfrm>
          <a:prstGeom prst="rect">
            <a:avLst/>
          </a:prstGeom>
          <a:solidFill>
            <a:srgbClr val="FAF9F9"/>
          </a:solidFill>
          <a:ln>
            <a:noFill/>
          </a:ln>
        </p:spPr>
      </p:pic>
      <p:pic>
        <p:nvPicPr>
          <p:cNvPr id="887" name="Google Shape;887;p16"/>
          <p:cNvPicPr preferRelativeResize="0"/>
          <p:nvPr/>
        </p:nvPicPr>
        <p:blipFill rotWithShape="1">
          <a:blip r:embed="rId11">
            <a:alphaModFix/>
          </a:blip>
          <a:srcRect b="0" l="0" r="0" t="0"/>
          <a:stretch/>
        </p:blipFill>
        <p:spPr>
          <a:xfrm>
            <a:off x="5557683" y="1485641"/>
            <a:ext cx="832644" cy="914400"/>
          </a:xfrm>
          <a:prstGeom prst="rect">
            <a:avLst/>
          </a:prstGeom>
          <a:solidFill>
            <a:srgbClr val="FFFF99"/>
          </a:solidFill>
          <a:ln>
            <a:noFill/>
          </a:ln>
        </p:spPr>
      </p:pic>
      <p:sp>
        <p:nvSpPr>
          <p:cNvPr id="888" name="Google Shape;888;p16"/>
          <p:cNvSpPr txBox="1"/>
          <p:nvPr/>
        </p:nvSpPr>
        <p:spPr>
          <a:xfrm>
            <a:off x="2484502" y="1529694"/>
            <a:ext cx="3073180" cy="110799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Abi Ballena,  ALMI, ACS</a:t>
            </a:r>
            <a:endParaRPr/>
          </a:p>
          <a:p>
            <a:pPr indent="0" lvl="0" marL="0" marR="0" rtl="0" algn="r">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Supervisor</a:t>
            </a:r>
            <a:endParaRPr/>
          </a:p>
          <a:p>
            <a:pPr indent="0" lvl="0" marL="0" marR="0" rtl="0" algn="r">
              <a:lnSpc>
                <a:spcPct val="100000"/>
              </a:lnSpc>
              <a:spcBef>
                <a:spcPts val="0"/>
              </a:spcBef>
              <a:spcAft>
                <a:spcPts val="0"/>
              </a:spcAft>
              <a:buClr>
                <a:srgbClr val="2E75B5"/>
              </a:buClr>
              <a:buSzPts val="1400"/>
              <a:buFont typeface="Calibri"/>
              <a:buNone/>
            </a:pPr>
            <a:r>
              <a:rPr b="1" i="0" lang="en-US" sz="1400" u="none" cap="none" strike="noStrike">
                <a:solidFill>
                  <a:srgbClr val="2E75B5"/>
                </a:solidFill>
                <a:latin typeface="Calibri"/>
                <a:ea typeface="Calibri"/>
                <a:cs typeface="Calibri"/>
                <a:sym typeface="Calibri"/>
              </a:rPr>
              <a:t>Team 7 - </a:t>
            </a:r>
            <a:r>
              <a:rPr b="1" i="0" lang="en-US" sz="1200" u="none" cap="none" strike="noStrike">
                <a:solidFill>
                  <a:srgbClr val="2E75B5"/>
                </a:solidFill>
                <a:latin typeface="Calibri"/>
                <a:ea typeface="Calibri"/>
                <a:cs typeface="Calibri"/>
                <a:sym typeface="Calibri"/>
              </a:rPr>
              <a:t>QA &amp; Production Support</a:t>
            </a:r>
            <a:endParaRPr b="1" i="0" sz="1400" u="none" cap="none" strike="noStrike">
              <a:solidFill>
                <a:srgbClr val="2E75B5"/>
              </a:solidFill>
              <a:latin typeface="Calibri"/>
              <a:ea typeface="Calibri"/>
              <a:cs typeface="Calibri"/>
              <a:sym typeface="Calibri"/>
            </a:endParaRPr>
          </a:p>
          <a:p>
            <a:pPr indent="0" lvl="0" marL="0" marR="0" rtl="0" algn="r">
              <a:lnSpc>
                <a:spcPct val="100000"/>
              </a:lnSpc>
              <a:spcBef>
                <a:spcPts val="0"/>
              </a:spcBef>
              <a:spcAft>
                <a:spcPts val="0"/>
              </a:spcAft>
              <a:buClr>
                <a:srgbClr val="2E75B5"/>
              </a:buClr>
              <a:buSzPts val="1200"/>
              <a:buFont typeface="Calibri"/>
              <a:buNone/>
            </a:pPr>
            <a:r>
              <a:rPr b="0" i="0" lang="en-US" sz="1200" u="none" cap="none" strike="noStrike">
                <a:solidFill>
                  <a:srgbClr val="2E75B5"/>
                </a:solidFill>
                <a:latin typeface="Calibri"/>
                <a:ea typeface="Calibri"/>
                <a:cs typeface="Calibri"/>
                <a:sym typeface="Calibri"/>
              </a:rPr>
              <a:t>Date of Entry:  Mar 2013</a:t>
            </a:r>
            <a:endParaRPr/>
          </a:p>
          <a:p>
            <a:pPr indent="0" lvl="0" marL="0" marR="0" rtl="0" algn="r">
              <a:lnSpc>
                <a:spcPct val="100000"/>
              </a:lnSpc>
              <a:spcBef>
                <a:spcPts val="0"/>
              </a:spcBef>
              <a:spcAft>
                <a:spcPts val="0"/>
              </a:spcAft>
              <a:buClr>
                <a:schemeClr val="dk1"/>
              </a:buClr>
              <a:buSzPts val="1200"/>
              <a:buFont typeface="Calibri"/>
              <a:buNone/>
            </a:pPr>
            <a:r>
              <a:t/>
            </a:r>
            <a:endParaRPr b="0" i="0" sz="1200" u="none" cap="none" strike="noStrike">
              <a:solidFill>
                <a:srgbClr val="385623"/>
              </a:solidFill>
              <a:latin typeface="Calibri"/>
              <a:ea typeface="Calibri"/>
              <a:cs typeface="Calibri"/>
              <a:sym typeface="Calibri"/>
            </a:endParaRPr>
          </a:p>
        </p:txBody>
      </p:sp>
      <p:sp>
        <p:nvSpPr>
          <p:cNvPr id="889" name="Google Shape;889;p16"/>
          <p:cNvSpPr txBox="1"/>
          <p:nvPr/>
        </p:nvSpPr>
        <p:spPr>
          <a:xfrm>
            <a:off x="6474553" y="138780"/>
            <a:ext cx="2891518"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Vilma Tubig, ACS, PCS, FLMI </a:t>
            </a:r>
            <a:endParaRPr/>
          </a:p>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Manager 3</a:t>
            </a:r>
            <a:endParaRPr/>
          </a:p>
          <a:p>
            <a:pPr indent="0" lvl="0" marL="0" marR="0" rtl="0" algn="l">
              <a:lnSpc>
                <a:spcPct val="100000"/>
              </a:lnSpc>
              <a:spcBef>
                <a:spcPts val="0"/>
              </a:spcBef>
              <a:spcAft>
                <a:spcPts val="0"/>
              </a:spcAft>
              <a:buClr>
                <a:srgbClr val="C55A11"/>
              </a:buClr>
              <a:buSzPts val="1400"/>
              <a:buFont typeface="Calibri"/>
              <a:buNone/>
            </a:pPr>
            <a:r>
              <a:rPr b="1" i="0" lang="en-US" sz="1400" u="none" cap="none" strike="noStrike">
                <a:solidFill>
                  <a:srgbClr val="C55A11"/>
                </a:solidFill>
                <a:latin typeface="Calibri"/>
                <a:ea typeface="Calibri"/>
                <a:cs typeface="Calibri"/>
                <a:sym typeface="Calibri"/>
              </a:rPr>
              <a:t>NB Review, Facilitating and Post-Issue</a:t>
            </a:r>
            <a:endParaRPr/>
          </a:p>
          <a:p>
            <a:pPr indent="0" lvl="0" marL="0" marR="0" rtl="0" algn="l">
              <a:lnSpc>
                <a:spcPct val="100000"/>
              </a:lnSpc>
              <a:spcBef>
                <a:spcPts val="0"/>
              </a:spcBef>
              <a:spcAft>
                <a:spcPts val="0"/>
              </a:spcAft>
              <a:buClr>
                <a:srgbClr val="C55A11"/>
              </a:buClr>
              <a:buSzPts val="1200"/>
              <a:buFont typeface="Calibri"/>
              <a:buNone/>
            </a:pPr>
            <a:r>
              <a:rPr b="0" i="0" lang="en-US" sz="1200" u="none" cap="none" strike="noStrike">
                <a:solidFill>
                  <a:srgbClr val="C55A11"/>
                </a:solidFill>
                <a:latin typeface="Calibri"/>
                <a:ea typeface="Calibri"/>
                <a:cs typeface="Calibri"/>
                <a:sym typeface="Calibri"/>
              </a:rPr>
              <a:t>Date of Entry: Nov 1999</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pic>
        <p:nvPicPr>
          <p:cNvPr id="895" name="Google Shape;895;p17"/>
          <p:cNvPicPr preferRelativeResize="0"/>
          <p:nvPr/>
        </p:nvPicPr>
        <p:blipFill rotWithShape="1">
          <a:blip r:embed="rId3">
            <a:alphaModFix/>
          </a:blip>
          <a:srcRect b="0" l="0" r="0" t="0"/>
          <a:stretch/>
        </p:blipFill>
        <p:spPr>
          <a:xfrm>
            <a:off x="0" y="3480391"/>
            <a:ext cx="2753598" cy="2753598"/>
          </a:xfrm>
          <a:prstGeom prst="rect">
            <a:avLst/>
          </a:prstGeom>
          <a:noFill/>
          <a:ln>
            <a:noFill/>
          </a:ln>
        </p:spPr>
      </p:pic>
      <p:pic>
        <p:nvPicPr>
          <p:cNvPr id="896" name="Google Shape;896;p17"/>
          <p:cNvPicPr preferRelativeResize="0"/>
          <p:nvPr/>
        </p:nvPicPr>
        <p:blipFill rotWithShape="1">
          <a:blip r:embed="rId4">
            <a:alphaModFix/>
          </a:blip>
          <a:srcRect b="0" l="0" r="0" t="0"/>
          <a:stretch/>
        </p:blipFill>
        <p:spPr>
          <a:xfrm>
            <a:off x="917816" y="3023191"/>
            <a:ext cx="917965" cy="914400"/>
          </a:xfrm>
          <a:prstGeom prst="rect">
            <a:avLst/>
          </a:prstGeom>
          <a:noFill/>
          <a:ln>
            <a:noFill/>
          </a:ln>
        </p:spPr>
      </p:pic>
      <p:sp>
        <p:nvSpPr>
          <p:cNvPr id="897" name="Google Shape;897;p17"/>
          <p:cNvSpPr txBox="1"/>
          <p:nvPr/>
        </p:nvSpPr>
        <p:spPr>
          <a:xfrm>
            <a:off x="345545" y="5802293"/>
            <a:ext cx="5593920" cy="95410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New Business Review Associate and Analysts’ Authority Limit</a:t>
            </a:r>
            <a:endParaRPr b="1" sz="2800">
              <a:solidFill>
                <a:schemeClr val="dk1"/>
              </a:solidFill>
              <a:latin typeface="Calibri"/>
              <a:ea typeface="Calibri"/>
              <a:cs typeface="Calibri"/>
              <a:sym typeface="Calibri"/>
            </a:endParaRPr>
          </a:p>
        </p:txBody>
      </p:sp>
      <p:sp>
        <p:nvSpPr>
          <p:cNvPr id="898" name="Google Shape;898;p17"/>
          <p:cNvSpPr/>
          <p:nvPr/>
        </p:nvSpPr>
        <p:spPr>
          <a:xfrm>
            <a:off x="162665" y="5029200"/>
            <a:ext cx="182880" cy="1828800"/>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899" name="Google Shape;899;p17"/>
          <p:cNvGraphicFramePr/>
          <p:nvPr/>
        </p:nvGraphicFramePr>
        <p:xfrm>
          <a:off x="2408052" y="631682"/>
          <a:ext cx="3000000" cy="3000000"/>
        </p:xfrm>
        <a:graphic>
          <a:graphicData uri="http://schemas.openxmlformats.org/drawingml/2006/table">
            <a:tbl>
              <a:tblPr bandRow="1" firstRow="1">
                <a:noFill/>
                <a:tableStyleId>{4D2C7CD6-886A-417D-B27C-4667D700F7CC}</a:tableStyleId>
              </a:tblPr>
              <a:tblGrid>
                <a:gridCol w="3078350"/>
                <a:gridCol w="1959425"/>
                <a:gridCol w="4412350"/>
              </a:tblGrid>
              <a:tr h="566900">
                <a:tc>
                  <a:txBody>
                    <a:bodyPr/>
                    <a:lstStyle/>
                    <a:p>
                      <a:pPr indent="0" lvl="0" marL="0" marR="0" rtl="0" algn="ctr">
                        <a:spcBef>
                          <a:spcPts val="0"/>
                        </a:spcBef>
                        <a:spcAft>
                          <a:spcPts val="0"/>
                        </a:spcAft>
                        <a:buNone/>
                      </a:pPr>
                      <a:r>
                        <a:rPr lang="en-US" sz="2400" u="none" cap="none" strike="noStrike"/>
                        <a:t>TITLE</a:t>
                      </a:r>
                      <a:endParaRPr sz="2400" u="none" cap="none" strike="noStrike"/>
                    </a:p>
                  </a:txBody>
                  <a:tcPr marT="45725" marB="45725" marR="91450" marL="91450"/>
                </a:tc>
                <a:tc>
                  <a:txBody>
                    <a:bodyPr/>
                    <a:lstStyle/>
                    <a:p>
                      <a:pPr indent="0" lvl="0" marL="0" marR="0" rtl="0" algn="ctr">
                        <a:spcBef>
                          <a:spcPts val="0"/>
                        </a:spcBef>
                        <a:spcAft>
                          <a:spcPts val="0"/>
                        </a:spcAft>
                        <a:buNone/>
                      </a:pPr>
                      <a:r>
                        <a:rPr lang="en-US" sz="2400" u="none" cap="none" strike="noStrike"/>
                        <a:t>BAND</a:t>
                      </a:r>
                      <a:endParaRPr sz="2400" u="none" cap="none" strike="noStrike"/>
                    </a:p>
                  </a:txBody>
                  <a:tcPr marT="45725" marB="45725" marR="91450" marL="91450"/>
                </a:tc>
                <a:tc>
                  <a:txBody>
                    <a:bodyPr/>
                    <a:lstStyle/>
                    <a:p>
                      <a:pPr indent="0" lvl="0" marL="0" marR="0" rtl="0" algn="ctr">
                        <a:spcBef>
                          <a:spcPts val="0"/>
                        </a:spcBef>
                        <a:spcAft>
                          <a:spcPts val="0"/>
                        </a:spcAft>
                        <a:buNone/>
                      </a:pPr>
                      <a:r>
                        <a:rPr lang="en-US" sz="2400" u="none" cap="none" strike="noStrike"/>
                        <a:t>MAXIMUM APPROVAL LIMIT</a:t>
                      </a:r>
                      <a:endParaRPr sz="2400" u="none" cap="none" strike="noStrike"/>
                    </a:p>
                  </a:txBody>
                  <a:tcPr marT="45725" marB="45725" marR="91450" marL="91450"/>
                </a:tc>
              </a:tr>
              <a:tr h="900950">
                <a:tc>
                  <a:txBody>
                    <a:bodyPr/>
                    <a:lstStyle/>
                    <a:p>
                      <a:pPr indent="0" lvl="0" marL="0" marR="0" rtl="0" algn="l">
                        <a:lnSpc>
                          <a:spcPct val="100000"/>
                        </a:lnSpc>
                        <a:spcBef>
                          <a:spcPts val="0"/>
                        </a:spcBef>
                        <a:spcAft>
                          <a:spcPts val="0"/>
                        </a:spcAft>
                        <a:buClr>
                          <a:schemeClr val="dk1"/>
                        </a:buClr>
                        <a:buSzPts val="2400"/>
                        <a:buFont typeface="Calibri"/>
                        <a:buNone/>
                      </a:pPr>
                      <a:r>
                        <a:rPr b="1" lang="en-US" sz="2400" u="none" cap="none" strike="noStrike">
                          <a:latin typeface="Calibri"/>
                          <a:ea typeface="Calibri"/>
                          <a:cs typeface="Calibri"/>
                          <a:sym typeface="Calibri"/>
                        </a:rPr>
                        <a:t>NB Review Associate</a:t>
                      </a:r>
                      <a:endParaRPr b="1" sz="2400" u="none" cap="none" strike="noStrike">
                        <a:latin typeface="Calibri"/>
                        <a:ea typeface="Calibri"/>
                        <a:cs typeface="Calibri"/>
                        <a:sym typeface="Calibri"/>
                      </a:endParaRPr>
                    </a:p>
                    <a:p>
                      <a:pPr indent="0" lvl="0" marL="0" marR="0" rtl="0" algn="l">
                        <a:spcBef>
                          <a:spcPts val="0"/>
                        </a:spcBef>
                        <a:spcAft>
                          <a:spcPts val="0"/>
                        </a:spcAft>
                        <a:buNone/>
                      </a:pPr>
                      <a:r>
                        <a:rPr b="1" lang="en-US" sz="2400" u="none" cap="none" strike="noStrike">
                          <a:latin typeface="Calibri"/>
                          <a:ea typeface="Calibri"/>
                          <a:cs typeface="Calibri"/>
                          <a:sym typeface="Calibri"/>
                        </a:rPr>
                        <a:t>Level 1 </a:t>
                      </a:r>
                      <a:endParaRPr b="1" sz="2400">
                        <a:solidFill>
                          <a:srgbClr val="0070C0"/>
                        </a:solidFill>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en-US" sz="2400"/>
                        <a:t>3A</a:t>
                      </a:r>
                      <a:endParaRPr sz="2400"/>
                    </a:p>
                  </a:txBody>
                  <a:tcPr marT="45725" marB="45725" marR="91450" marL="91450"/>
                </a:tc>
                <a:tc>
                  <a:txBody>
                    <a:bodyPr/>
                    <a:lstStyle/>
                    <a:p>
                      <a:pPr indent="0" lvl="0" marL="0" marR="0" rtl="0" algn="l">
                        <a:spcBef>
                          <a:spcPts val="0"/>
                        </a:spcBef>
                        <a:spcAft>
                          <a:spcPts val="0"/>
                        </a:spcAft>
                        <a:buNone/>
                      </a:pPr>
                      <a:r>
                        <a:rPr lang="en-US" sz="2400"/>
                        <a:t>SL</a:t>
                      </a:r>
                      <a:r>
                        <a:rPr lang="en-US" sz="2400"/>
                        <a:t> – PHP 2.5M</a:t>
                      </a:r>
                      <a:endParaRPr/>
                    </a:p>
                    <a:p>
                      <a:pPr indent="0" lvl="0" marL="0" marR="0" rtl="0" algn="l">
                        <a:spcBef>
                          <a:spcPts val="0"/>
                        </a:spcBef>
                        <a:spcAft>
                          <a:spcPts val="0"/>
                        </a:spcAft>
                        <a:buNone/>
                      </a:pPr>
                      <a:r>
                        <a:rPr lang="en-US" sz="2400"/>
                        <a:t>ALL CO – PHP 12.5M</a:t>
                      </a:r>
                      <a:endParaRPr sz="2400"/>
                    </a:p>
                  </a:txBody>
                  <a:tcPr marT="45725" marB="45725" marR="91450" marL="91450"/>
                </a:tc>
              </a:tr>
              <a:tr h="1060125">
                <a:tc>
                  <a:txBody>
                    <a:bodyPr/>
                    <a:lstStyle/>
                    <a:p>
                      <a:pPr indent="0" lvl="0" marL="0" marR="0" rtl="0" algn="l">
                        <a:lnSpc>
                          <a:spcPct val="100000"/>
                        </a:lnSpc>
                        <a:spcBef>
                          <a:spcPts val="0"/>
                        </a:spcBef>
                        <a:spcAft>
                          <a:spcPts val="0"/>
                        </a:spcAft>
                        <a:buClr>
                          <a:schemeClr val="dk1"/>
                        </a:buClr>
                        <a:buSzPts val="2400"/>
                        <a:buFont typeface="Calibri"/>
                        <a:buNone/>
                      </a:pPr>
                      <a:r>
                        <a:rPr b="1" lang="en-US" sz="2400">
                          <a:latin typeface="Calibri"/>
                          <a:ea typeface="Calibri"/>
                          <a:cs typeface="Calibri"/>
                          <a:sym typeface="Calibri"/>
                        </a:rPr>
                        <a:t>NB Review Associate</a:t>
                      </a:r>
                      <a:endParaRPr b="1" sz="2400">
                        <a:latin typeface="Calibri"/>
                        <a:ea typeface="Calibri"/>
                        <a:cs typeface="Calibri"/>
                        <a:sym typeface="Calibri"/>
                      </a:endParaRPr>
                    </a:p>
                    <a:p>
                      <a:pPr indent="0" lvl="0" marL="0" marR="0" rtl="0" algn="l">
                        <a:spcBef>
                          <a:spcPts val="0"/>
                        </a:spcBef>
                        <a:spcAft>
                          <a:spcPts val="0"/>
                        </a:spcAft>
                        <a:buNone/>
                      </a:pPr>
                      <a:r>
                        <a:rPr b="1" lang="en-US" sz="2400">
                          <a:latin typeface="Calibri"/>
                          <a:ea typeface="Calibri"/>
                          <a:cs typeface="Calibri"/>
                          <a:sym typeface="Calibri"/>
                        </a:rPr>
                        <a:t>Level</a:t>
                      </a:r>
                      <a:r>
                        <a:rPr b="1" lang="en-US" sz="2400">
                          <a:latin typeface="Calibri"/>
                          <a:ea typeface="Calibri"/>
                          <a:cs typeface="Calibri"/>
                          <a:sym typeface="Calibri"/>
                        </a:rPr>
                        <a:t> 2</a:t>
                      </a:r>
                      <a:endParaRPr b="1" sz="2400">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en-US" sz="2400"/>
                        <a:t>3B</a:t>
                      </a:r>
                      <a:endParaRPr sz="2400"/>
                    </a:p>
                  </a:txBody>
                  <a:tcPr marT="45725" marB="45725" marR="91450" marL="91450"/>
                </a:tc>
                <a:tc>
                  <a:txBody>
                    <a:bodyPr/>
                    <a:lstStyle/>
                    <a:p>
                      <a:pPr indent="0" lvl="0" marL="0" marR="0" rtl="0" algn="l">
                        <a:spcBef>
                          <a:spcPts val="0"/>
                        </a:spcBef>
                        <a:spcAft>
                          <a:spcPts val="0"/>
                        </a:spcAft>
                        <a:buNone/>
                      </a:pPr>
                      <a:r>
                        <a:rPr lang="en-US" sz="2400"/>
                        <a:t>SL</a:t>
                      </a:r>
                      <a:r>
                        <a:rPr lang="en-US" sz="2400"/>
                        <a:t> – PHP 5M</a:t>
                      </a:r>
                      <a:endParaRPr/>
                    </a:p>
                    <a:p>
                      <a:pPr indent="0" lvl="0" marL="0" marR="0" rtl="0" algn="l">
                        <a:spcBef>
                          <a:spcPts val="0"/>
                        </a:spcBef>
                        <a:spcAft>
                          <a:spcPts val="0"/>
                        </a:spcAft>
                        <a:buNone/>
                      </a:pPr>
                      <a:r>
                        <a:rPr lang="en-US" sz="2400"/>
                        <a:t>ALL CO – PHP 12.5M</a:t>
                      </a:r>
                      <a:endParaRPr sz="2400"/>
                    </a:p>
                  </a:txBody>
                  <a:tcPr marT="45725" marB="45725" marR="91450" marL="91450"/>
                </a:tc>
              </a:tr>
              <a:tr h="1060125">
                <a:tc>
                  <a:txBody>
                    <a:bodyPr/>
                    <a:lstStyle/>
                    <a:p>
                      <a:pPr indent="0" lvl="0" marL="0" marR="0" rtl="0" algn="l">
                        <a:lnSpc>
                          <a:spcPct val="100000"/>
                        </a:lnSpc>
                        <a:spcBef>
                          <a:spcPts val="0"/>
                        </a:spcBef>
                        <a:spcAft>
                          <a:spcPts val="0"/>
                        </a:spcAft>
                        <a:buClr>
                          <a:schemeClr val="dk1"/>
                        </a:buClr>
                        <a:buSzPts val="2400"/>
                        <a:buFont typeface="Calibri"/>
                        <a:buNone/>
                      </a:pPr>
                      <a:r>
                        <a:rPr b="1" lang="en-US" sz="2400">
                          <a:latin typeface="Calibri"/>
                          <a:ea typeface="Calibri"/>
                          <a:cs typeface="Calibri"/>
                          <a:sym typeface="Calibri"/>
                        </a:rPr>
                        <a:t>NB Review Analyst</a:t>
                      </a:r>
                      <a:endParaRPr b="1" sz="2400">
                        <a:latin typeface="Calibri"/>
                        <a:ea typeface="Calibri"/>
                        <a:cs typeface="Calibri"/>
                        <a:sym typeface="Calibri"/>
                      </a:endParaRPr>
                    </a:p>
                    <a:p>
                      <a:pPr indent="0" lvl="0" marL="0" marR="0" rtl="0" algn="l">
                        <a:spcBef>
                          <a:spcPts val="0"/>
                        </a:spcBef>
                        <a:spcAft>
                          <a:spcPts val="0"/>
                        </a:spcAft>
                        <a:buNone/>
                      </a:pPr>
                      <a:r>
                        <a:rPr b="1" lang="en-US" sz="2400">
                          <a:latin typeface="Calibri"/>
                          <a:ea typeface="Calibri"/>
                          <a:cs typeface="Calibri"/>
                          <a:sym typeface="Calibri"/>
                        </a:rPr>
                        <a:t>Level</a:t>
                      </a:r>
                      <a:r>
                        <a:rPr b="1" lang="en-US" sz="2400">
                          <a:latin typeface="Calibri"/>
                          <a:ea typeface="Calibri"/>
                          <a:cs typeface="Calibri"/>
                          <a:sym typeface="Calibri"/>
                        </a:rPr>
                        <a:t> 3</a:t>
                      </a:r>
                      <a:endParaRPr b="1" sz="2400">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en-US" sz="2400"/>
                        <a:t>4A</a:t>
                      </a:r>
                      <a:endParaRPr sz="2400"/>
                    </a:p>
                  </a:txBody>
                  <a:tcPr marT="45725" marB="45725" marR="91450" marL="91450"/>
                </a:tc>
                <a:tc>
                  <a:txBody>
                    <a:bodyPr/>
                    <a:lstStyle/>
                    <a:p>
                      <a:pPr indent="0" lvl="0" marL="0" marR="0" rtl="0" algn="l">
                        <a:spcBef>
                          <a:spcPts val="0"/>
                        </a:spcBef>
                        <a:spcAft>
                          <a:spcPts val="0"/>
                        </a:spcAft>
                        <a:buNone/>
                      </a:pPr>
                      <a:r>
                        <a:rPr lang="en-US" sz="2400"/>
                        <a:t>SL</a:t>
                      </a:r>
                      <a:r>
                        <a:rPr lang="en-US" sz="2400"/>
                        <a:t> – PHP 7.5M</a:t>
                      </a:r>
                      <a:endParaRPr/>
                    </a:p>
                    <a:p>
                      <a:pPr indent="0" lvl="0" marL="0" marR="0" rtl="0" algn="l">
                        <a:spcBef>
                          <a:spcPts val="0"/>
                        </a:spcBef>
                        <a:spcAft>
                          <a:spcPts val="0"/>
                        </a:spcAft>
                        <a:buNone/>
                      </a:pPr>
                      <a:r>
                        <a:rPr lang="en-US" sz="2400"/>
                        <a:t>ALL CO – PHP 12.5M</a:t>
                      </a:r>
                      <a:endParaRPr sz="2400"/>
                    </a:p>
                  </a:txBody>
                  <a:tcPr marT="45725" marB="45725" marR="91450" marL="91450"/>
                </a:tc>
              </a:tr>
              <a:tr h="1060125">
                <a:tc>
                  <a:txBody>
                    <a:bodyPr/>
                    <a:lstStyle/>
                    <a:p>
                      <a:pPr indent="0" lvl="0" marL="0" marR="0" rtl="0" algn="l">
                        <a:lnSpc>
                          <a:spcPct val="100000"/>
                        </a:lnSpc>
                        <a:spcBef>
                          <a:spcPts val="0"/>
                        </a:spcBef>
                        <a:spcAft>
                          <a:spcPts val="0"/>
                        </a:spcAft>
                        <a:buClr>
                          <a:schemeClr val="dk1"/>
                        </a:buClr>
                        <a:buSzPts val="2400"/>
                        <a:buFont typeface="Calibri"/>
                        <a:buNone/>
                      </a:pPr>
                      <a:r>
                        <a:rPr b="1" lang="en-US" sz="2400">
                          <a:latin typeface="Calibri"/>
                          <a:ea typeface="Calibri"/>
                          <a:cs typeface="Calibri"/>
                          <a:sym typeface="Calibri"/>
                        </a:rPr>
                        <a:t>NB Review Analyst</a:t>
                      </a:r>
                      <a:endParaRPr b="1" sz="2400">
                        <a:latin typeface="Calibri"/>
                        <a:ea typeface="Calibri"/>
                        <a:cs typeface="Calibri"/>
                        <a:sym typeface="Calibri"/>
                      </a:endParaRPr>
                    </a:p>
                    <a:p>
                      <a:pPr indent="0" lvl="0" marL="0" marR="0" rtl="0" algn="l">
                        <a:spcBef>
                          <a:spcPts val="0"/>
                        </a:spcBef>
                        <a:spcAft>
                          <a:spcPts val="0"/>
                        </a:spcAft>
                        <a:buNone/>
                      </a:pPr>
                      <a:r>
                        <a:rPr b="1" lang="en-US" sz="2400">
                          <a:latin typeface="Calibri"/>
                          <a:ea typeface="Calibri"/>
                          <a:cs typeface="Calibri"/>
                          <a:sym typeface="Calibri"/>
                        </a:rPr>
                        <a:t>Level</a:t>
                      </a:r>
                      <a:r>
                        <a:rPr b="1" lang="en-US" sz="2400">
                          <a:latin typeface="Calibri"/>
                          <a:ea typeface="Calibri"/>
                          <a:cs typeface="Calibri"/>
                          <a:sym typeface="Calibri"/>
                        </a:rPr>
                        <a:t> 4</a:t>
                      </a:r>
                      <a:r>
                        <a:rPr b="1" lang="en-US" sz="2400">
                          <a:latin typeface="Calibri"/>
                          <a:ea typeface="Calibri"/>
                          <a:cs typeface="Calibri"/>
                          <a:sym typeface="Calibri"/>
                        </a:rPr>
                        <a:t> </a:t>
                      </a:r>
                      <a:endParaRPr/>
                    </a:p>
                  </a:txBody>
                  <a:tcPr marT="45725" marB="45725" marR="91450" marL="91450"/>
                </a:tc>
                <a:tc>
                  <a:txBody>
                    <a:bodyPr/>
                    <a:lstStyle/>
                    <a:p>
                      <a:pPr indent="0" lvl="0" marL="0" marR="0" rtl="0" algn="ctr">
                        <a:spcBef>
                          <a:spcPts val="0"/>
                        </a:spcBef>
                        <a:spcAft>
                          <a:spcPts val="0"/>
                        </a:spcAft>
                        <a:buNone/>
                      </a:pPr>
                      <a:r>
                        <a:rPr lang="en-US" sz="2400"/>
                        <a:t>4B</a:t>
                      </a:r>
                      <a:endParaRPr sz="2400"/>
                    </a:p>
                  </a:txBody>
                  <a:tcPr marT="45725" marB="45725" marR="91450" marL="91450"/>
                </a:tc>
                <a:tc>
                  <a:txBody>
                    <a:bodyPr/>
                    <a:lstStyle/>
                    <a:p>
                      <a:pPr indent="0" lvl="0" marL="0" marR="0" rtl="0" algn="l">
                        <a:spcBef>
                          <a:spcPts val="0"/>
                        </a:spcBef>
                        <a:spcAft>
                          <a:spcPts val="0"/>
                        </a:spcAft>
                        <a:buNone/>
                      </a:pPr>
                      <a:r>
                        <a:rPr lang="en-US" sz="2400"/>
                        <a:t>SL</a:t>
                      </a:r>
                      <a:r>
                        <a:rPr lang="en-US" sz="2400"/>
                        <a:t> – PHP 10M</a:t>
                      </a:r>
                      <a:endParaRPr/>
                    </a:p>
                    <a:p>
                      <a:pPr indent="0" lvl="0" marL="0" marR="0" rtl="0" algn="l">
                        <a:spcBef>
                          <a:spcPts val="0"/>
                        </a:spcBef>
                        <a:spcAft>
                          <a:spcPts val="0"/>
                        </a:spcAft>
                        <a:buNone/>
                      </a:pPr>
                      <a:r>
                        <a:rPr lang="en-US" sz="2400"/>
                        <a:t>ALL CO – PHP 12.5M</a:t>
                      </a:r>
                      <a:endParaRPr sz="2400"/>
                    </a:p>
                  </a:txBody>
                  <a:tcPr marT="45725" marB="45725" marR="91450" marL="91450"/>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pic>
        <p:nvPicPr>
          <p:cNvPr id="905" name="Google Shape;905;p18"/>
          <p:cNvPicPr preferRelativeResize="0"/>
          <p:nvPr/>
        </p:nvPicPr>
        <p:blipFill rotWithShape="1">
          <a:blip r:embed="rId3">
            <a:alphaModFix/>
          </a:blip>
          <a:srcRect b="0" l="0" r="0" t="0"/>
          <a:stretch/>
        </p:blipFill>
        <p:spPr>
          <a:xfrm>
            <a:off x="0" y="3480391"/>
            <a:ext cx="2753598" cy="2753598"/>
          </a:xfrm>
          <a:prstGeom prst="rect">
            <a:avLst/>
          </a:prstGeom>
          <a:noFill/>
          <a:ln>
            <a:noFill/>
          </a:ln>
        </p:spPr>
      </p:pic>
      <p:pic>
        <p:nvPicPr>
          <p:cNvPr id="906" name="Google Shape;906;p18"/>
          <p:cNvPicPr preferRelativeResize="0"/>
          <p:nvPr/>
        </p:nvPicPr>
        <p:blipFill rotWithShape="1">
          <a:blip r:embed="rId4">
            <a:alphaModFix/>
          </a:blip>
          <a:srcRect b="0" l="0" r="0" t="0"/>
          <a:stretch/>
        </p:blipFill>
        <p:spPr>
          <a:xfrm>
            <a:off x="917816" y="3023191"/>
            <a:ext cx="917965" cy="914400"/>
          </a:xfrm>
          <a:prstGeom prst="rect">
            <a:avLst/>
          </a:prstGeom>
          <a:noFill/>
          <a:ln>
            <a:noFill/>
          </a:ln>
        </p:spPr>
      </p:pic>
      <p:sp>
        <p:nvSpPr>
          <p:cNvPr id="907" name="Google Shape;907;p18"/>
          <p:cNvSpPr txBox="1"/>
          <p:nvPr/>
        </p:nvSpPr>
        <p:spPr>
          <a:xfrm>
            <a:off x="345545" y="6017736"/>
            <a:ext cx="5593920" cy="52322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Underwriters’ Authority Limit</a:t>
            </a:r>
            <a:endParaRPr b="1" sz="2800">
              <a:solidFill>
                <a:schemeClr val="dk1"/>
              </a:solidFill>
              <a:latin typeface="Calibri"/>
              <a:ea typeface="Calibri"/>
              <a:cs typeface="Calibri"/>
              <a:sym typeface="Calibri"/>
            </a:endParaRPr>
          </a:p>
        </p:txBody>
      </p:sp>
      <p:sp>
        <p:nvSpPr>
          <p:cNvPr id="908" name="Google Shape;908;p18"/>
          <p:cNvSpPr/>
          <p:nvPr/>
        </p:nvSpPr>
        <p:spPr>
          <a:xfrm>
            <a:off x="162665" y="5029200"/>
            <a:ext cx="182880" cy="1828800"/>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909" name="Google Shape;909;p18"/>
          <p:cNvGraphicFramePr/>
          <p:nvPr/>
        </p:nvGraphicFramePr>
        <p:xfrm>
          <a:off x="2408052" y="297854"/>
          <a:ext cx="3000000" cy="3000000"/>
        </p:xfrm>
        <a:graphic>
          <a:graphicData uri="http://schemas.openxmlformats.org/drawingml/2006/table">
            <a:tbl>
              <a:tblPr bandRow="1" firstRow="1">
                <a:noFill/>
                <a:tableStyleId>{FE460B03-B3B5-448B-8531-5D30C03FCD8C}</a:tableStyleId>
              </a:tblPr>
              <a:tblGrid>
                <a:gridCol w="3484750"/>
                <a:gridCol w="2032000"/>
                <a:gridCol w="3933375"/>
              </a:tblGrid>
              <a:tr h="978575">
                <a:tc>
                  <a:txBody>
                    <a:bodyPr/>
                    <a:lstStyle/>
                    <a:p>
                      <a:pPr indent="0" lvl="0" marL="0" marR="0" rtl="0" algn="ctr">
                        <a:spcBef>
                          <a:spcPts val="0"/>
                        </a:spcBef>
                        <a:spcAft>
                          <a:spcPts val="0"/>
                        </a:spcAft>
                        <a:buNone/>
                      </a:pPr>
                      <a:r>
                        <a:rPr lang="en-US" sz="2400"/>
                        <a:t>TITLE</a:t>
                      </a:r>
                      <a:endParaRPr sz="2400">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en-US" sz="2400"/>
                        <a:t>BAND</a:t>
                      </a:r>
                      <a:endParaRPr sz="2400">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en-US" sz="2400"/>
                        <a:t>MAXIMUM APPROVAL LIMIT</a:t>
                      </a:r>
                      <a:endParaRPr sz="2400">
                        <a:latin typeface="Calibri"/>
                        <a:ea typeface="Calibri"/>
                        <a:cs typeface="Calibri"/>
                        <a:sym typeface="Calibri"/>
                      </a:endParaRPr>
                    </a:p>
                  </a:txBody>
                  <a:tcPr marT="45725" marB="45725" marR="91450" marL="91450"/>
                </a:tc>
              </a:tr>
              <a:tr h="978575">
                <a:tc>
                  <a:txBody>
                    <a:bodyPr/>
                    <a:lstStyle/>
                    <a:p>
                      <a:pPr indent="0" lvl="0" marL="0" marR="0" rtl="0" algn="l">
                        <a:spcBef>
                          <a:spcPts val="0"/>
                        </a:spcBef>
                        <a:spcAft>
                          <a:spcPts val="0"/>
                        </a:spcAft>
                        <a:buNone/>
                      </a:pPr>
                      <a:r>
                        <a:rPr b="1" lang="en-US" sz="2400">
                          <a:latin typeface="Calibri"/>
                          <a:ea typeface="Calibri"/>
                          <a:cs typeface="Calibri"/>
                          <a:sym typeface="Calibri"/>
                        </a:rPr>
                        <a:t>Underwriter 1</a:t>
                      </a:r>
                      <a:endParaRPr/>
                    </a:p>
                    <a:p>
                      <a:pPr indent="0" lvl="0" marL="0" marR="0" rtl="0" algn="l">
                        <a:spcBef>
                          <a:spcPts val="0"/>
                        </a:spcBef>
                        <a:spcAft>
                          <a:spcPts val="0"/>
                        </a:spcAft>
                        <a:buNone/>
                      </a:pPr>
                      <a:r>
                        <a:rPr b="1" lang="en-US" sz="2400">
                          <a:latin typeface="Calibri"/>
                          <a:ea typeface="Calibri"/>
                          <a:cs typeface="Calibri"/>
                          <a:sym typeface="Calibri"/>
                        </a:rPr>
                        <a:t> </a:t>
                      </a:r>
                      <a:endParaRPr b="1" sz="2400">
                        <a:latin typeface="Calibri"/>
                        <a:ea typeface="Calibri"/>
                        <a:cs typeface="Calibri"/>
                        <a:sym typeface="Calibri"/>
                      </a:endParaRPr>
                    </a:p>
                  </a:txBody>
                  <a:tcPr marT="0" marB="0" marR="68575" marL="68575"/>
                </a:tc>
                <a:tc>
                  <a:txBody>
                    <a:bodyPr/>
                    <a:lstStyle/>
                    <a:p>
                      <a:pPr indent="0" lvl="0" marL="0" marR="0" rtl="0" algn="l">
                        <a:spcBef>
                          <a:spcPts val="0"/>
                        </a:spcBef>
                        <a:spcAft>
                          <a:spcPts val="0"/>
                        </a:spcAft>
                        <a:buNone/>
                      </a:pPr>
                      <a:r>
                        <a:rPr lang="en-US" sz="2400"/>
                        <a:t>4A </a:t>
                      </a:r>
                      <a:endParaRPr sz="2400">
                        <a:latin typeface="Calibri"/>
                        <a:ea typeface="Calibri"/>
                        <a:cs typeface="Calibri"/>
                        <a:sym typeface="Calibri"/>
                      </a:endParaRPr>
                    </a:p>
                  </a:txBody>
                  <a:tcPr marT="0" marB="0" marR="68575" marL="68575"/>
                </a:tc>
                <a:tc>
                  <a:txBody>
                    <a:bodyPr/>
                    <a:lstStyle/>
                    <a:p>
                      <a:pPr indent="0" lvl="0" marL="0" marR="0" rtl="0" algn="l">
                        <a:spcBef>
                          <a:spcPts val="0"/>
                        </a:spcBef>
                        <a:spcAft>
                          <a:spcPts val="0"/>
                        </a:spcAft>
                        <a:buNone/>
                      </a:pPr>
                      <a:r>
                        <a:rPr lang="en-US" sz="2400"/>
                        <a:t>Ps 5M or US$100,000 – applied for SL</a:t>
                      </a:r>
                      <a:endParaRPr/>
                    </a:p>
                    <a:p>
                      <a:pPr indent="0" lvl="0" marL="0" marR="0" rtl="0" algn="l">
                        <a:spcBef>
                          <a:spcPts val="0"/>
                        </a:spcBef>
                        <a:spcAft>
                          <a:spcPts val="0"/>
                        </a:spcAft>
                        <a:buNone/>
                      </a:pPr>
                      <a:r>
                        <a:rPr lang="en-US" sz="2400"/>
                        <a:t>Ps15M or US$300,000 -  total all companies</a:t>
                      </a:r>
                      <a:endParaRPr sz="2400"/>
                    </a:p>
                  </a:txBody>
                  <a:tcPr marT="0" marB="0" marR="68575" marL="68575"/>
                </a:tc>
              </a:tr>
              <a:tr h="978575">
                <a:tc>
                  <a:txBody>
                    <a:bodyPr/>
                    <a:lstStyle/>
                    <a:p>
                      <a:pPr indent="0" lvl="0" marL="0" marR="0" rtl="0" algn="l">
                        <a:spcBef>
                          <a:spcPts val="0"/>
                        </a:spcBef>
                        <a:spcAft>
                          <a:spcPts val="0"/>
                        </a:spcAft>
                        <a:buNone/>
                      </a:pPr>
                      <a:r>
                        <a:rPr b="1" lang="en-US" sz="2400">
                          <a:latin typeface="Calibri"/>
                          <a:ea typeface="Calibri"/>
                          <a:cs typeface="Calibri"/>
                          <a:sym typeface="Calibri"/>
                        </a:rPr>
                        <a:t>Underwriter 2</a:t>
                      </a:r>
                      <a:endParaRPr/>
                    </a:p>
                    <a:p>
                      <a:pPr indent="0" lvl="0" marL="0" marR="0" rtl="0" algn="l">
                        <a:spcBef>
                          <a:spcPts val="0"/>
                        </a:spcBef>
                        <a:spcAft>
                          <a:spcPts val="0"/>
                        </a:spcAft>
                        <a:buNone/>
                      </a:pPr>
                      <a:r>
                        <a:rPr b="1" lang="en-US" sz="2400">
                          <a:latin typeface="Calibri"/>
                          <a:ea typeface="Calibri"/>
                          <a:cs typeface="Calibri"/>
                          <a:sym typeface="Calibri"/>
                        </a:rPr>
                        <a:t> </a:t>
                      </a:r>
                      <a:endParaRPr b="1" sz="2400">
                        <a:latin typeface="Calibri"/>
                        <a:ea typeface="Calibri"/>
                        <a:cs typeface="Calibri"/>
                        <a:sym typeface="Calibri"/>
                      </a:endParaRPr>
                    </a:p>
                  </a:txBody>
                  <a:tcPr marT="0" marB="0" marR="68575" marL="68575"/>
                </a:tc>
                <a:tc>
                  <a:txBody>
                    <a:bodyPr/>
                    <a:lstStyle/>
                    <a:p>
                      <a:pPr indent="0" lvl="0" marL="0" marR="0" rtl="0" algn="l">
                        <a:spcBef>
                          <a:spcPts val="0"/>
                        </a:spcBef>
                        <a:spcAft>
                          <a:spcPts val="0"/>
                        </a:spcAft>
                        <a:buNone/>
                      </a:pPr>
                      <a:r>
                        <a:rPr lang="en-US" sz="2400"/>
                        <a:t>4B</a:t>
                      </a:r>
                      <a:endParaRPr sz="2400">
                        <a:latin typeface="Calibri"/>
                        <a:ea typeface="Calibri"/>
                        <a:cs typeface="Calibri"/>
                        <a:sym typeface="Calibri"/>
                      </a:endParaRPr>
                    </a:p>
                  </a:txBody>
                  <a:tcPr marT="0" marB="0" marR="68575" marL="68575"/>
                </a:tc>
                <a:tc>
                  <a:txBody>
                    <a:bodyPr/>
                    <a:lstStyle/>
                    <a:p>
                      <a:pPr indent="0" lvl="0" marL="0" marR="0" rtl="0" algn="l">
                        <a:spcBef>
                          <a:spcPts val="0"/>
                        </a:spcBef>
                        <a:spcAft>
                          <a:spcPts val="0"/>
                        </a:spcAft>
                        <a:buNone/>
                      </a:pPr>
                      <a:r>
                        <a:rPr lang="en-US" sz="2400"/>
                        <a:t>Ps. 10M or US$200,000 – applied for SL</a:t>
                      </a:r>
                      <a:endParaRPr/>
                    </a:p>
                    <a:p>
                      <a:pPr indent="0" lvl="0" marL="0" marR="0" rtl="0" algn="l">
                        <a:spcBef>
                          <a:spcPts val="0"/>
                        </a:spcBef>
                        <a:spcAft>
                          <a:spcPts val="0"/>
                        </a:spcAft>
                        <a:buNone/>
                      </a:pPr>
                      <a:r>
                        <a:rPr lang="en-US" sz="2400"/>
                        <a:t>Ps  20M or US$400,000 -  total all companies</a:t>
                      </a:r>
                      <a:endParaRPr sz="2400"/>
                    </a:p>
                  </a:txBody>
                  <a:tcPr marT="0" marB="0" marR="68575" marL="68575"/>
                </a:tc>
              </a:tr>
              <a:tr h="978575">
                <a:tc>
                  <a:txBody>
                    <a:bodyPr/>
                    <a:lstStyle/>
                    <a:p>
                      <a:pPr indent="0" lvl="0" marL="0" marR="0" rtl="0" algn="l">
                        <a:spcBef>
                          <a:spcPts val="0"/>
                        </a:spcBef>
                        <a:spcAft>
                          <a:spcPts val="0"/>
                        </a:spcAft>
                        <a:buNone/>
                      </a:pPr>
                      <a:r>
                        <a:rPr b="1" lang="en-US" sz="2400">
                          <a:latin typeface="Calibri"/>
                          <a:ea typeface="Calibri"/>
                          <a:cs typeface="Calibri"/>
                          <a:sym typeface="Calibri"/>
                        </a:rPr>
                        <a:t>Underwriter 3</a:t>
                      </a:r>
                      <a:endParaRPr/>
                    </a:p>
                    <a:p>
                      <a:pPr indent="0" lvl="0" marL="0" marR="0" rtl="0" algn="l">
                        <a:spcBef>
                          <a:spcPts val="0"/>
                        </a:spcBef>
                        <a:spcAft>
                          <a:spcPts val="0"/>
                        </a:spcAft>
                        <a:buNone/>
                      </a:pPr>
                      <a:r>
                        <a:rPr b="1" lang="en-US" sz="2400">
                          <a:latin typeface="Calibri"/>
                          <a:ea typeface="Calibri"/>
                          <a:cs typeface="Calibri"/>
                          <a:sym typeface="Calibri"/>
                        </a:rPr>
                        <a:t>Or Underwriting Supervisor</a:t>
                      </a:r>
                      <a:endParaRPr/>
                    </a:p>
                    <a:p>
                      <a:pPr indent="0" lvl="0" marL="0" marR="0" rtl="0" algn="l">
                        <a:spcBef>
                          <a:spcPts val="0"/>
                        </a:spcBef>
                        <a:spcAft>
                          <a:spcPts val="0"/>
                        </a:spcAft>
                        <a:buNone/>
                      </a:pPr>
                      <a:r>
                        <a:rPr b="1" lang="en-US" sz="2400">
                          <a:latin typeface="Calibri"/>
                          <a:ea typeface="Calibri"/>
                          <a:cs typeface="Calibri"/>
                          <a:sym typeface="Calibri"/>
                        </a:rPr>
                        <a:t> </a:t>
                      </a:r>
                      <a:endParaRPr b="1" sz="2400">
                        <a:latin typeface="Calibri"/>
                        <a:ea typeface="Calibri"/>
                        <a:cs typeface="Calibri"/>
                        <a:sym typeface="Calibri"/>
                      </a:endParaRPr>
                    </a:p>
                  </a:txBody>
                  <a:tcPr marT="0" marB="0" marR="68575" marL="68575"/>
                </a:tc>
                <a:tc>
                  <a:txBody>
                    <a:bodyPr/>
                    <a:lstStyle/>
                    <a:p>
                      <a:pPr indent="0" lvl="0" marL="0" marR="0" rtl="0" algn="l">
                        <a:spcBef>
                          <a:spcPts val="0"/>
                        </a:spcBef>
                        <a:spcAft>
                          <a:spcPts val="0"/>
                        </a:spcAft>
                        <a:buNone/>
                      </a:pPr>
                      <a:r>
                        <a:rPr lang="en-US" sz="2400"/>
                        <a:t>5A</a:t>
                      </a:r>
                      <a:endParaRPr/>
                    </a:p>
                    <a:p>
                      <a:pPr indent="0" lvl="0" marL="0" marR="0" rtl="0" algn="l">
                        <a:spcBef>
                          <a:spcPts val="0"/>
                        </a:spcBef>
                        <a:spcAft>
                          <a:spcPts val="0"/>
                        </a:spcAft>
                        <a:buNone/>
                      </a:pPr>
                      <a:r>
                        <a:t/>
                      </a:r>
                      <a:endParaRPr sz="2400">
                        <a:latin typeface="Calibri"/>
                        <a:ea typeface="Calibri"/>
                        <a:cs typeface="Calibri"/>
                        <a:sym typeface="Calibri"/>
                      </a:endParaRPr>
                    </a:p>
                  </a:txBody>
                  <a:tcPr marT="0" marB="0" marR="68575" marL="68575"/>
                </a:tc>
                <a:tc>
                  <a:txBody>
                    <a:bodyPr/>
                    <a:lstStyle/>
                    <a:p>
                      <a:pPr indent="0" lvl="0" marL="0" marR="0" rtl="0" algn="l">
                        <a:spcBef>
                          <a:spcPts val="0"/>
                        </a:spcBef>
                        <a:spcAft>
                          <a:spcPts val="0"/>
                        </a:spcAft>
                        <a:buNone/>
                      </a:pPr>
                      <a:r>
                        <a:rPr lang="en-US" sz="2400"/>
                        <a:t>Ps. 20M or US$400,000 – applied for SL</a:t>
                      </a:r>
                      <a:endParaRPr/>
                    </a:p>
                    <a:p>
                      <a:pPr indent="0" lvl="0" marL="0" marR="0" rtl="0" algn="l">
                        <a:spcBef>
                          <a:spcPts val="0"/>
                        </a:spcBef>
                        <a:spcAft>
                          <a:spcPts val="0"/>
                        </a:spcAft>
                        <a:buNone/>
                      </a:pPr>
                      <a:r>
                        <a:rPr lang="en-US" sz="2400"/>
                        <a:t>Ps 40M or US$ 800,000 – total all companies</a:t>
                      </a:r>
                      <a:endParaRPr sz="2400"/>
                    </a:p>
                  </a:txBody>
                  <a:tcPr marT="0" marB="0" marR="68575" marL="6857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pic>
        <p:nvPicPr>
          <p:cNvPr id="915" name="Google Shape;915;p19"/>
          <p:cNvPicPr preferRelativeResize="0"/>
          <p:nvPr/>
        </p:nvPicPr>
        <p:blipFill rotWithShape="1">
          <a:blip r:embed="rId3">
            <a:alphaModFix/>
          </a:blip>
          <a:srcRect b="0" l="0" r="0" t="0"/>
          <a:stretch/>
        </p:blipFill>
        <p:spPr>
          <a:xfrm>
            <a:off x="0" y="3480391"/>
            <a:ext cx="2753598" cy="2753598"/>
          </a:xfrm>
          <a:prstGeom prst="rect">
            <a:avLst/>
          </a:prstGeom>
          <a:noFill/>
          <a:ln>
            <a:noFill/>
          </a:ln>
        </p:spPr>
      </p:pic>
      <p:pic>
        <p:nvPicPr>
          <p:cNvPr id="916" name="Google Shape;916;p19"/>
          <p:cNvPicPr preferRelativeResize="0"/>
          <p:nvPr/>
        </p:nvPicPr>
        <p:blipFill rotWithShape="1">
          <a:blip r:embed="rId4">
            <a:alphaModFix/>
          </a:blip>
          <a:srcRect b="0" l="0" r="0" t="0"/>
          <a:stretch/>
        </p:blipFill>
        <p:spPr>
          <a:xfrm>
            <a:off x="917816" y="3023191"/>
            <a:ext cx="917965" cy="914400"/>
          </a:xfrm>
          <a:prstGeom prst="rect">
            <a:avLst/>
          </a:prstGeom>
          <a:noFill/>
          <a:ln>
            <a:noFill/>
          </a:ln>
        </p:spPr>
      </p:pic>
      <p:sp>
        <p:nvSpPr>
          <p:cNvPr id="917" name="Google Shape;917;p19"/>
          <p:cNvSpPr txBox="1"/>
          <p:nvPr/>
        </p:nvSpPr>
        <p:spPr>
          <a:xfrm>
            <a:off x="345545" y="6017736"/>
            <a:ext cx="5593920" cy="52322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Underwriters’ Authority Limit</a:t>
            </a:r>
            <a:endParaRPr b="1" sz="2800">
              <a:solidFill>
                <a:schemeClr val="dk1"/>
              </a:solidFill>
              <a:latin typeface="Calibri"/>
              <a:ea typeface="Calibri"/>
              <a:cs typeface="Calibri"/>
              <a:sym typeface="Calibri"/>
            </a:endParaRPr>
          </a:p>
        </p:txBody>
      </p:sp>
      <p:sp>
        <p:nvSpPr>
          <p:cNvPr id="918" name="Google Shape;918;p19"/>
          <p:cNvSpPr/>
          <p:nvPr/>
        </p:nvSpPr>
        <p:spPr>
          <a:xfrm>
            <a:off x="162665" y="5029200"/>
            <a:ext cx="182880" cy="1828800"/>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919" name="Google Shape;919;p19"/>
          <p:cNvGraphicFramePr/>
          <p:nvPr/>
        </p:nvGraphicFramePr>
        <p:xfrm>
          <a:off x="2408052" y="297854"/>
          <a:ext cx="3000000" cy="3000000"/>
        </p:xfrm>
        <a:graphic>
          <a:graphicData uri="http://schemas.openxmlformats.org/drawingml/2006/table">
            <a:tbl>
              <a:tblPr bandRow="1" firstRow="1">
                <a:noFill/>
                <a:tableStyleId>{FE460B03-B3B5-448B-8531-5D30C03FCD8C}</a:tableStyleId>
              </a:tblPr>
              <a:tblGrid>
                <a:gridCol w="3484750"/>
                <a:gridCol w="2032000"/>
                <a:gridCol w="3933375"/>
              </a:tblGrid>
              <a:tr h="978575">
                <a:tc>
                  <a:txBody>
                    <a:bodyPr/>
                    <a:lstStyle/>
                    <a:p>
                      <a:pPr indent="0" lvl="0" marL="0" marR="0" rtl="0" algn="ctr">
                        <a:spcBef>
                          <a:spcPts val="0"/>
                        </a:spcBef>
                        <a:spcAft>
                          <a:spcPts val="0"/>
                        </a:spcAft>
                        <a:buNone/>
                      </a:pPr>
                      <a:r>
                        <a:rPr lang="en-US" sz="2400"/>
                        <a:t>TITLE</a:t>
                      </a:r>
                      <a:endParaRPr sz="2400">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en-US" sz="2400"/>
                        <a:t>BAND</a:t>
                      </a:r>
                      <a:endParaRPr sz="2400">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en-US" sz="2400"/>
                        <a:t>MAXIMUM APPROVAL LIMIT</a:t>
                      </a:r>
                      <a:endParaRPr sz="2400">
                        <a:latin typeface="Calibri"/>
                        <a:ea typeface="Calibri"/>
                        <a:cs typeface="Calibri"/>
                        <a:sym typeface="Calibri"/>
                      </a:endParaRPr>
                    </a:p>
                  </a:txBody>
                  <a:tcPr marT="45725" marB="45725" marR="91450" marL="91450"/>
                </a:tc>
              </a:tr>
              <a:tr h="978575">
                <a:tc>
                  <a:txBody>
                    <a:bodyPr/>
                    <a:lstStyle/>
                    <a:p>
                      <a:pPr indent="0" lvl="0" marL="0" marR="0" rtl="0" algn="l">
                        <a:spcBef>
                          <a:spcPts val="0"/>
                        </a:spcBef>
                        <a:spcAft>
                          <a:spcPts val="0"/>
                        </a:spcAft>
                        <a:buNone/>
                      </a:pPr>
                      <a:r>
                        <a:rPr b="1" lang="en-US" sz="2400">
                          <a:latin typeface="Calibri"/>
                          <a:ea typeface="Calibri"/>
                          <a:cs typeface="Calibri"/>
                          <a:sym typeface="Calibri"/>
                        </a:rPr>
                        <a:t>Underwriter 4 </a:t>
                      </a:r>
                      <a:endParaRPr/>
                    </a:p>
                    <a:p>
                      <a:pPr indent="0" lvl="0" marL="0" marR="0" rtl="0" algn="l">
                        <a:spcBef>
                          <a:spcPts val="0"/>
                        </a:spcBef>
                        <a:spcAft>
                          <a:spcPts val="0"/>
                        </a:spcAft>
                        <a:buNone/>
                      </a:pPr>
                      <a:r>
                        <a:rPr b="1" lang="en-US" sz="2400">
                          <a:latin typeface="Calibri"/>
                          <a:ea typeface="Calibri"/>
                          <a:cs typeface="Calibri"/>
                          <a:sym typeface="Calibri"/>
                        </a:rPr>
                        <a:t>Or Manager 1</a:t>
                      </a:r>
                      <a:endParaRPr/>
                    </a:p>
                    <a:p>
                      <a:pPr indent="0" lvl="0" marL="0" marR="0" rtl="0" algn="l">
                        <a:spcBef>
                          <a:spcPts val="0"/>
                        </a:spcBef>
                        <a:spcAft>
                          <a:spcPts val="0"/>
                        </a:spcAft>
                        <a:buNone/>
                      </a:pPr>
                      <a:r>
                        <a:rPr b="1" lang="en-US" sz="2400">
                          <a:latin typeface="Calibri"/>
                          <a:ea typeface="Calibri"/>
                          <a:cs typeface="Calibri"/>
                          <a:sym typeface="Calibri"/>
                        </a:rPr>
                        <a:t> </a:t>
                      </a:r>
                      <a:endParaRPr b="1" sz="2400">
                        <a:latin typeface="Calibri"/>
                        <a:ea typeface="Calibri"/>
                        <a:cs typeface="Calibri"/>
                        <a:sym typeface="Calibri"/>
                      </a:endParaRPr>
                    </a:p>
                  </a:txBody>
                  <a:tcPr marT="0" marB="0" marR="68575" marL="68575"/>
                </a:tc>
                <a:tc>
                  <a:txBody>
                    <a:bodyPr/>
                    <a:lstStyle/>
                    <a:p>
                      <a:pPr indent="0" lvl="0" marL="0" marR="0" rtl="0" algn="l">
                        <a:spcBef>
                          <a:spcPts val="0"/>
                        </a:spcBef>
                        <a:spcAft>
                          <a:spcPts val="0"/>
                        </a:spcAft>
                        <a:buNone/>
                      </a:pPr>
                      <a:r>
                        <a:rPr lang="en-US" sz="2400"/>
                        <a:t>5B</a:t>
                      </a:r>
                      <a:endParaRPr sz="2400">
                        <a:latin typeface="Calibri"/>
                        <a:ea typeface="Calibri"/>
                        <a:cs typeface="Calibri"/>
                        <a:sym typeface="Calibri"/>
                      </a:endParaRPr>
                    </a:p>
                  </a:txBody>
                  <a:tcPr marT="0" marB="0" marR="68575" marL="68575"/>
                </a:tc>
                <a:tc>
                  <a:txBody>
                    <a:bodyPr/>
                    <a:lstStyle/>
                    <a:p>
                      <a:pPr indent="0" lvl="0" marL="0" marR="0" rtl="0" algn="l">
                        <a:spcBef>
                          <a:spcPts val="0"/>
                        </a:spcBef>
                        <a:spcAft>
                          <a:spcPts val="0"/>
                        </a:spcAft>
                        <a:buNone/>
                      </a:pPr>
                      <a:r>
                        <a:rPr lang="en-US" sz="2400"/>
                        <a:t>Ps 30M or US$500,000 – applied for SL (ING)</a:t>
                      </a:r>
                      <a:endParaRPr/>
                    </a:p>
                    <a:p>
                      <a:pPr indent="0" lvl="0" marL="0" marR="0" rtl="0" algn="l">
                        <a:spcBef>
                          <a:spcPts val="0"/>
                        </a:spcBef>
                        <a:spcAft>
                          <a:spcPts val="0"/>
                        </a:spcAft>
                        <a:buNone/>
                      </a:pPr>
                      <a:r>
                        <a:rPr lang="en-US" sz="2400"/>
                        <a:t>Ps. 40M or US$800,000 – applied for (WMS for training purposes)</a:t>
                      </a:r>
                      <a:endParaRPr/>
                    </a:p>
                    <a:p>
                      <a:pPr indent="0" lvl="0" marL="0" marR="0" rtl="0" algn="l">
                        <a:spcBef>
                          <a:spcPts val="0"/>
                        </a:spcBef>
                        <a:spcAft>
                          <a:spcPts val="0"/>
                        </a:spcAft>
                        <a:buNone/>
                      </a:pPr>
                      <a:r>
                        <a:rPr lang="en-US" sz="2400"/>
                        <a:t>Ps 60M or US$1.2M–  total all companies</a:t>
                      </a:r>
                      <a:endParaRPr sz="2400"/>
                    </a:p>
                  </a:txBody>
                  <a:tcPr marT="0" marB="0" marR="68575" marL="68575"/>
                </a:tc>
              </a:tr>
              <a:tr h="978575">
                <a:tc>
                  <a:txBody>
                    <a:bodyPr/>
                    <a:lstStyle/>
                    <a:p>
                      <a:pPr indent="0" lvl="0" marL="0" marR="0" rtl="0" algn="l">
                        <a:spcBef>
                          <a:spcPts val="0"/>
                        </a:spcBef>
                        <a:spcAft>
                          <a:spcPts val="0"/>
                        </a:spcAft>
                        <a:buNone/>
                      </a:pPr>
                      <a:r>
                        <a:rPr b="1" lang="en-US" sz="2400">
                          <a:latin typeface="Calibri"/>
                          <a:ea typeface="Calibri"/>
                          <a:cs typeface="Calibri"/>
                          <a:sym typeface="Calibri"/>
                        </a:rPr>
                        <a:t>Manager 2</a:t>
                      </a:r>
                      <a:endParaRPr/>
                    </a:p>
                    <a:p>
                      <a:pPr indent="0" lvl="0" marL="0" marR="0" rtl="0" algn="l">
                        <a:spcBef>
                          <a:spcPts val="0"/>
                        </a:spcBef>
                        <a:spcAft>
                          <a:spcPts val="0"/>
                        </a:spcAft>
                        <a:buNone/>
                      </a:pPr>
                      <a:r>
                        <a:rPr b="1" lang="en-US" sz="2400">
                          <a:latin typeface="Calibri"/>
                          <a:ea typeface="Calibri"/>
                          <a:cs typeface="Calibri"/>
                          <a:sym typeface="Calibri"/>
                        </a:rPr>
                        <a:t> </a:t>
                      </a:r>
                      <a:endParaRPr b="1" sz="2400">
                        <a:latin typeface="Calibri"/>
                        <a:ea typeface="Calibri"/>
                        <a:cs typeface="Calibri"/>
                        <a:sym typeface="Calibri"/>
                      </a:endParaRPr>
                    </a:p>
                  </a:txBody>
                  <a:tcPr marT="0" marB="0" marR="68575" marL="68575"/>
                </a:tc>
                <a:tc>
                  <a:txBody>
                    <a:bodyPr/>
                    <a:lstStyle/>
                    <a:p>
                      <a:pPr indent="0" lvl="0" marL="0" marR="0" rtl="0" algn="l">
                        <a:spcBef>
                          <a:spcPts val="0"/>
                        </a:spcBef>
                        <a:spcAft>
                          <a:spcPts val="0"/>
                        </a:spcAft>
                        <a:buNone/>
                      </a:pPr>
                      <a:r>
                        <a:rPr lang="en-US" sz="2400"/>
                        <a:t>6A</a:t>
                      </a:r>
                      <a:endParaRPr sz="2400">
                        <a:latin typeface="Calibri"/>
                        <a:ea typeface="Calibri"/>
                        <a:cs typeface="Calibri"/>
                        <a:sym typeface="Calibri"/>
                      </a:endParaRPr>
                    </a:p>
                  </a:txBody>
                  <a:tcPr marT="0" marB="0" marR="68575" marL="68575"/>
                </a:tc>
                <a:tc>
                  <a:txBody>
                    <a:bodyPr/>
                    <a:lstStyle/>
                    <a:p>
                      <a:pPr indent="0" lvl="0" marL="0" marR="0" rtl="0" algn="l">
                        <a:spcBef>
                          <a:spcPts val="0"/>
                        </a:spcBef>
                        <a:spcAft>
                          <a:spcPts val="0"/>
                        </a:spcAft>
                        <a:buNone/>
                      </a:pPr>
                      <a:r>
                        <a:rPr lang="en-US" sz="2400"/>
                        <a:t>Ps 50M or US$ 1M – applied for SL</a:t>
                      </a:r>
                      <a:endParaRPr/>
                    </a:p>
                    <a:p>
                      <a:pPr indent="0" lvl="0" marL="0" marR="0" rtl="0" algn="l">
                        <a:spcBef>
                          <a:spcPts val="0"/>
                        </a:spcBef>
                        <a:spcAft>
                          <a:spcPts val="0"/>
                        </a:spcAft>
                        <a:buNone/>
                      </a:pPr>
                      <a:r>
                        <a:rPr lang="en-US" sz="2400"/>
                        <a:t>Ps 100M or US$2M – total all companies</a:t>
                      </a:r>
                      <a:endParaRPr sz="2400"/>
                    </a:p>
                  </a:txBody>
                  <a:tcPr marT="0" marB="0" marR="68575" marL="6857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pic>
        <p:nvPicPr>
          <p:cNvPr id="925" name="Google Shape;925;p20"/>
          <p:cNvPicPr preferRelativeResize="0"/>
          <p:nvPr/>
        </p:nvPicPr>
        <p:blipFill rotWithShape="1">
          <a:blip r:embed="rId3">
            <a:alphaModFix/>
          </a:blip>
          <a:srcRect b="0" l="0" r="0" t="0"/>
          <a:stretch/>
        </p:blipFill>
        <p:spPr>
          <a:xfrm>
            <a:off x="0" y="3480391"/>
            <a:ext cx="2753598" cy="2753598"/>
          </a:xfrm>
          <a:prstGeom prst="rect">
            <a:avLst/>
          </a:prstGeom>
          <a:noFill/>
          <a:ln>
            <a:noFill/>
          </a:ln>
        </p:spPr>
      </p:pic>
      <p:pic>
        <p:nvPicPr>
          <p:cNvPr id="926" name="Google Shape;926;p20"/>
          <p:cNvPicPr preferRelativeResize="0"/>
          <p:nvPr/>
        </p:nvPicPr>
        <p:blipFill rotWithShape="1">
          <a:blip r:embed="rId4">
            <a:alphaModFix/>
          </a:blip>
          <a:srcRect b="0" l="0" r="0" t="0"/>
          <a:stretch/>
        </p:blipFill>
        <p:spPr>
          <a:xfrm>
            <a:off x="917816" y="3023191"/>
            <a:ext cx="917965" cy="914400"/>
          </a:xfrm>
          <a:prstGeom prst="rect">
            <a:avLst/>
          </a:prstGeom>
          <a:noFill/>
          <a:ln>
            <a:noFill/>
          </a:ln>
        </p:spPr>
      </p:pic>
      <p:sp>
        <p:nvSpPr>
          <p:cNvPr id="927" name="Google Shape;927;p20"/>
          <p:cNvSpPr txBox="1"/>
          <p:nvPr/>
        </p:nvSpPr>
        <p:spPr>
          <a:xfrm>
            <a:off x="345545" y="6017736"/>
            <a:ext cx="5593920" cy="52322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2800">
                <a:solidFill>
                  <a:schemeClr val="dk1"/>
                </a:solidFill>
                <a:latin typeface="Calibri"/>
                <a:ea typeface="Calibri"/>
                <a:cs typeface="Calibri"/>
                <a:sym typeface="Calibri"/>
              </a:rPr>
              <a:t>Underwriters’ Authority Limit</a:t>
            </a:r>
            <a:endParaRPr b="1" sz="2800">
              <a:solidFill>
                <a:schemeClr val="dk1"/>
              </a:solidFill>
              <a:latin typeface="Calibri"/>
              <a:ea typeface="Calibri"/>
              <a:cs typeface="Calibri"/>
              <a:sym typeface="Calibri"/>
            </a:endParaRPr>
          </a:p>
        </p:txBody>
      </p:sp>
      <p:sp>
        <p:nvSpPr>
          <p:cNvPr id="928" name="Google Shape;928;p20"/>
          <p:cNvSpPr/>
          <p:nvPr/>
        </p:nvSpPr>
        <p:spPr>
          <a:xfrm>
            <a:off x="162665" y="5029200"/>
            <a:ext cx="182880" cy="1828800"/>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929" name="Google Shape;929;p20"/>
          <p:cNvGraphicFramePr/>
          <p:nvPr/>
        </p:nvGraphicFramePr>
        <p:xfrm>
          <a:off x="2408052" y="297854"/>
          <a:ext cx="3000000" cy="3000000"/>
        </p:xfrm>
        <a:graphic>
          <a:graphicData uri="http://schemas.openxmlformats.org/drawingml/2006/table">
            <a:tbl>
              <a:tblPr bandRow="1" firstRow="1">
                <a:noFill/>
                <a:tableStyleId>{FE460B03-B3B5-448B-8531-5D30C03FCD8C}</a:tableStyleId>
              </a:tblPr>
              <a:tblGrid>
                <a:gridCol w="3484750"/>
                <a:gridCol w="2032000"/>
                <a:gridCol w="3933375"/>
              </a:tblGrid>
              <a:tr h="978575">
                <a:tc>
                  <a:txBody>
                    <a:bodyPr/>
                    <a:lstStyle/>
                    <a:p>
                      <a:pPr indent="0" lvl="0" marL="0" marR="0" rtl="0" algn="ctr">
                        <a:spcBef>
                          <a:spcPts val="0"/>
                        </a:spcBef>
                        <a:spcAft>
                          <a:spcPts val="0"/>
                        </a:spcAft>
                        <a:buNone/>
                      </a:pPr>
                      <a:r>
                        <a:rPr lang="en-US" sz="2400"/>
                        <a:t>TITLE</a:t>
                      </a:r>
                      <a:endParaRPr sz="2400">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en-US" sz="2400"/>
                        <a:t>BAND</a:t>
                      </a:r>
                      <a:endParaRPr sz="2400">
                        <a:latin typeface="Calibri"/>
                        <a:ea typeface="Calibri"/>
                        <a:cs typeface="Calibri"/>
                        <a:sym typeface="Calibri"/>
                      </a:endParaRPr>
                    </a:p>
                  </a:txBody>
                  <a:tcPr marT="45725" marB="45725" marR="91450" marL="91450"/>
                </a:tc>
                <a:tc>
                  <a:txBody>
                    <a:bodyPr/>
                    <a:lstStyle/>
                    <a:p>
                      <a:pPr indent="0" lvl="0" marL="0" marR="0" rtl="0" algn="ctr">
                        <a:spcBef>
                          <a:spcPts val="0"/>
                        </a:spcBef>
                        <a:spcAft>
                          <a:spcPts val="0"/>
                        </a:spcAft>
                        <a:buNone/>
                      </a:pPr>
                      <a:r>
                        <a:rPr lang="en-US" sz="2400"/>
                        <a:t>MAXIMUM APPROVAL LIMIT</a:t>
                      </a:r>
                      <a:endParaRPr sz="2400">
                        <a:latin typeface="Calibri"/>
                        <a:ea typeface="Calibri"/>
                        <a:cs typeface="Calibri"/>
                        <a:sym typeface="Calibri"/>
                      </a:endParaRPr>
                    </a:p>
                  </a:txBody>
                  <a:tcPr marT="45725" marB="45725" marR="91450" marL="91450"/>
                </a:tc>
              </a:tr>
              <a:tr h="978575">
                <a:tc>
                  <a:txBody>
                    <a:bodyPr/>
                    <a:lstStyle/>
                    <a:p>
                      <a:pPr indent="0" lvl="0" marL="0" marR="0" rtl="0" algn="l">
                        <a:spcBef>
                          <a:spcPts val="0"/>
                        </a:spcBef>
                        <a:spcAft>
                          <a:spcPts val="0"/>
                        </a:spcAft>
                        <a:buNone/>
                      </a:pPr>
                      <a:r>
                        <a:rPr lang="en-US" sz="2400"/>
                        <a:t>Manager 3</a:t>
                      </a:r>
                      <a:endParaRPr sz="2400">
                        <a:latin typeface="Calibri"/>
                        <a:ea typeface="Calibri"/>
                        <a:cs typeface="Calibri"/>
                        <a:sym typeface="Calibri"/>
                      </a:endParaRPr>
                    </a:p>
                  </a:txBody>
                  <a:tcPr marT="0" marB="0" marR="68575" marL="68575"/>
                </a:tc>
                <a:tc>
                  <a:txBody>
                    <a:bodyPr/>
                    <a:lstStyle/>
                    <a:p>
                      <a:pPr indent="0" lvl="0" marL="0" marR="0" rtl="0" algn="l">
                        <a:spcBef>
                          <a:spcPts val="0"/>
                        </a:spcBef>
                        <a:spcAft>
                          <a:spcPts val="0"/>
                        </a:spcAft>
                        <a:buNone/>
                      </a:pPr>
                      <a:r>
                        <a:rPr lang="en-US" sz="2400"/>
                        <a:t>6B</a:t>
                      </a:r>
                      <a:endParaRPr/>
                    </a:p>
                    <a:p>
                      <a:pPr indent="0" lvl="0" marL="0" marR="0" rtl="0" algn="l">
                        <a:spcBef>
                          <a:spcPts val="0"/>
                        </a:spcBef>
                        <a:spcAft>
                          <a:spcPts val="0"/>
                        </a:spcAft>
                        <a:buNone/>
                      </a:pPr>
                      <a:r>
                        <a:rPr lang="en-US" sz="2400"/>
                        <a:t> </a:t>
                      </a:r>
                      <a:endParaRPr sz="2400">
                        <a:latin typeface="Calibri"/>
                        <a:ea typeface="Calibri"/>
                        <a:cs typeface="Calibri"/>
                        <a:sym typeface="Calibri"/>
                      </a:endParaRPr>
                    </a:p>
                  </a:txBody>
                  <a:tcPr marT="0" marB="0" marR="68575" marL="68575"/>
                </a:tc>
                <a:tc>
                  <a:txBody>
                    <a:bodyPr/>
                    <a:lstStyle/>
                    <a:p>
                      <a:pPr indent="0" lvl="0" marL="0" marR="0" rtl="0" algn="l">
                        <a:spcBef>
                          <a:spcPts val="0"/>
                        </a:spcBef>
                        <a:spcAft>
                          <a:spcPts val="0"/>
                        </a:spcAft>
                        <a:buNone/>
                      </a:pPr>
                      <a:r>
                        <a:rPr lang="en-US" sz="2400"/>
                        <a:t>Ps 75M or US$ 1.5M – applied for SL (ING)</a:t>
                      </a:r>
                      <a:endParaRPr/>
                    </a:p>
                    <a:p>
                      <a:pPr indent="0" lvl="0" marL="0" marR="0" rtl="0" algn="l">
                        <a:spcBef>
                          <a:spcPts val="0"/>
                        </a:spcBef>
                        <a:spcAft>
                          <a:spcPts val="0"/>
                        </a:spcAft>
                        <a:buNone/>
                      </a:pPr>
                      <a:r>
                        <a:rPr lang="en-US" sz="2400"/>
                        <a:t>Ps. 200M or US$ 4M – applied for SL (WMS for training purposes)</a:t>
                      </a:r>
                      <a:endParaRPr/>
                    </a:p>
                    <a:p>
                      <a:pPr indent="0" lvl="0" marL="0" marR="0" rtl="0" algn="l">
                        <a:spcBef>
                          <a:spcPts val="0"/>
                        </a:spcBef>
                        <a:spcAft>
                          <a:spcPts val="0"/>
                        </a:spcAft>
                        <a:buNone/>
                      </a:pPr>
                      <a:r>
                        <a:rPr lang="en-US" sz="2400"/>
                        <a:t>Ps 125M or US$2.5M (Jumbo limit) – total all companies</a:t>
                      </a:r>
                      <a:endParaRPr sz="2400"/>
                    </a:p>
                  </a:txBody>
                  <a:tcPr marT="0" marB="0" marR="68575" marL="68575"/>
                </a:tc>
              </a:tr>
              <a:tr h="978575">
                <a:tc>
                  <a:txBody>
                    <a:bodyPr/>
                    <a:lstStyle/>
                    <a:p>
                      <a:pPr indent="0" lvl="0" marL="0" marR="0" rtl="0" algn="l">
                        <a:spcBef>
                          <a:spcPts val="0"/>
                        </a:spcBef>
                        <a:spcAft>
                          <a:spcPts val="0"/>
                        </a:spcAft>
                        <a:buNone/>
                      </a:pPr>
                      <a:r>
                        <a:rPr lang="en-US" sz="2400"/>
                        <a:t>Head, Underwriting</a:t>
                      </a:r>
                      <a:endParaRPr/>
                    </a:p>
                    <a:p>
                      <a:pPr indent="0" lvl="0" marL="0" marR="0" rtl="0" algn="l">
                        <a:spcBef>
                          <a:spcPts val="0"/>
                        </a:spcBef>
                        <a:spcAft>
                          <a:spcPts val="0"/>
                        </a:spcAft>
                        <a:buNone/>
                      </a:pPr>
                      <a:r>
                        <a:rPr lang="en-US" sz="2400"/>
                        <a:t> </a:t>
                      </a:r>
                      <a:endParaRPr sz="2400">
                        <a:latin typeface="Calibri"/>
                        <a:ea typeface="Calibri"/>
                        <a:cs typeface="Calibri"/>
                        <a:sym typeface="Calibri"/>
                      </a:endParaRPr>
                    </a:p>
                  </a:txBody>
                  <a:tcPr marT="0" marB="0" marR="68575" marL="68575"/>
                </a:tc>
                <a:tc>
                  <a:txBody>
                    <a:bodyPr/>
                    <a:lstStyle/>
                    <a:p>
                      <a:pPr indent="0" lvl="0" marL="0" marR="0" rtl="0" algn="l">
                        <a:spcBef>
                          <a:spcPts val="0"/>
                        </a:spcBef>
                        <a:spcAft>
                          <a:spcPts val="0"/>
                        </a:spcAft>
                        <a:buNone/>
                      </a:pPr>
                      <a:r>
                        <a:rPr lang="en-US" sz="2400"/>
                        <a:t>7A</a:t>
                      </a:r>
                      <a:endParaRPr sz="2400">
                        <a:latin typeface="Calibri"/>
                        <a:ea typeface="Calibri"/>
                        <a:cs typeface="Calibri"/>
                        <a:sym typeface="Calibri"/>
                      </a:endParaRPr>
                    </a:p>
                  </a:txBody>
                  <a:tcPr marT="0" marB="0" marR="68575" marL="68575"/>
                </a:tc>
                <a:tc>
                  <a:txBody>
                    <a:bodyPr/>
                    <a:lstStyle/>
                    <a:p>
                      <a:pPr indent="0" lvl="0" marL="0" marR="0" rtl="0" algn="l">
                        <a:spcBef>
                          <a:spcPts val="0"/>
                        </a:spcBef>
                        <a:spcAft>
                          <a:spcPts val="0"/>
                        </a:spcAft>
                        <a:buNone/>
                      </a:pPr>
                      <a:r>
                        <a:rPr lang="en-US" sz="2400"/>
                        <a:t>Ps 200M or  US$ 4M  - total with SL</a:t>
                      </a:r>
                      <a:endParaRPr/>
                    </a:p>
                    <a:p>
                      <a:pPr indent="0" lvl="0" marL="0" marR="0" rtl="0" algn="l">
                        <a:spcBef>
                          <a:spcPts val="0"/>
                        </a:spcBef>
                        <a:spcAft>
                          <a:spcPts val="0"/>
                        </a:spcAft>
                        <a:buNone/>
                      </a:pPr>
                      <a:r>
                        <a:rPr lang="en-US" sz="2400"/>
                        <a:t>Ps 125 M or US$ 2.5M (Jumbo limit) – total all companies  </a:t>
                      </a:r>
                      <a:endParaRPr/>
                    </a:p>
                    <a:p>
                      <a:pPr indent="0" lvl="0" marL="0" marR="0" rtl="0" algn="l">
                        <a:spcBef>
                          <a:spcPts val="0"/>
                        </a:spcBef>
                        <a:spcAft>
                          <a:spcPts val="0"/>
                        </a:spcAft>
                        <a:buNone/>
                      </a:pPr>
                      <a:r>
                        <a:t/>
                      </a:r>
                      <a:endParaRPr sz="2400">
                        <a:latin typeface="Calibri"/>
                        <a:ea typeface="Calibri"/>
                        <a:cs typeface="Calibri"/>
                        <a:sym typeface="Calibri"/>
                      </a:endParaRPr>
                    </a:p>
                  </a:txBody>
                  <a:tcPr marT="0" marB="0" marR="68575" marL="6857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pic>
        <p:nvPicPr>
          <p:cNvPr id="935" name="Google Shape;935;p21"/>
          <p:cNvPicPr preferRelativeResize="0"/>
          <p:nvPr/>
        </p:nvPicPr>
        <p:blipFill rotWithShape="1">
          <a:blip r:embed="rId3">
            <a:alphaModFix/>
          </a:blip>
          <a:srcRect b="0" l="0" r="0" t="0"/>
          <a:stretch/>
        </p:blipFill>
        <p:spPr>
          <a:xfrm>
            <a:off x="1293939" y="4244922"/>
            <a:ext cx="2282371" cy="2319832"/>
          </a:xfrm>
          <a:prstGeom prst="rect">
            <a:avLst/>
          </a:prstGeom>
          <a:noFill/>
          <a:ln>
            <a:noFill/>
          </a:ln>
        </p:spPr>
      </p:pic>
      <p:sp>
        <p:nvSpPr>
          <p:cNvPr id="936" name="Google Shape;936;p21"/>
          <p:cNvSpPr txBox="1"/>
          <p:nvPr/>
        </p:nvSpPr>
        <p:spPr>
          <a:xfrm>
            <a:off x="183730" y="5066595"/>
            <a:ext cx="2973634" cy="83099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DIFFERENT TYPES OF NB &amp; UW FORMS</a:t>
            </a:r>
            <a:endParaRPr b="1" sz="1200">
              <a:solidFill>
                <a:schemeClr val="dk1"/>
              </a:solidFill>
              <a:latin typeface="Calibri"/>
              <a:ea typeface="Calibri"/>
              <a:cs typeface="Calibri"/>
              <a:sym typeface="Calibri"/>
            </a:endParaRPr>
          </a:p>
        </p:txBody>
      </p:sp>
      <p:sp>
        <p:nvSpPr>
          <p:cNvPr id="937" name="Google Shape;937;p21"/>
          <p:cNvSpPr/>
          <p:nvPr/>
        </p:nvSpPr>
        <p:spPr>
          <a:xfrm>
            <a:off x="183732" y="4244921"/>
            <a:ext cx="1045163" cy="2613079"/>
          </a:xfrm>
          <a:prstGeom prst="rect">
            <a:avLst/>
          </a:prstGeom>
          <a:solidFill>
            <a:srgbClr val="66CCFF">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38" name="Google Shape;938;p21"/>
          <p:cNvSpPr txBox="1"/>
          <p:nvPr/>
        </p:nvSpPr>
        <p:spPr>
          <a:xfrm>
            <a:off x="183731" y="4030104"/>
            <a:ext cx="1214131" cy="120032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7200">
                <a:solidFill>
                  <a:schemeClr val="dk1"/>
                </a:solidFill>
                <a:latin typeface="Calibri"/>
                <a:ea typeface="Calibri"/>
                <a:cs typeface="Calibri"/>
                <a:sym typeface="Calibri"/>
              </a:rPr>
              <a:t>02</a:t>
            </a:r>
            <a:endParaRPr sz="4400">
              <a:solidFill>
                <a:schemeClr val="dk1"/>
              </a:solidFill>
              <a:latin typeface="Calibri"/>
              <a:ea typeface="Calibri"/>
              <a:cs typeface="Calibri"/>
              <a:sym typeface="Calibri"/>
            </a:endParaRPr>
          </a:p>
        </p:txBody>
      </p:sp>
      <p:pic>
        <p:nvPicPr>
          <p:cNvPr id="939" name="Google Shape;939;p21"/>
          <p:cNvPicPr preferRelativeResize="0"/>
          <p:nvPr/>
        </p:nvPicPr>
        <p:blipFill rotWithShape="1">
          <a:blip r:embed="rId4">
            <a:alphaModFix/>
          </a:blip>
          <a:srcRect b="0" l="0" r="0" t="0"/>
          <a:stretch/>
        </p:blipFill>
        <p:spPr>
          <a:xfrm>
            <a:off x="183730" y="159489"/>
            <a:ext cx="2973634" cy="3870615"/>
          </a:xfrm>
          <a:prstGeom prst="rect">
            <a:avLst/>
          </a:prstGeom>
          <a:noFill/>
          <a:ln>
            <a:noFill/>
          </a:ln>
          <a:effectLst>
            <a:outerShdw blurRad="292100" rotWithShape="0" algn="tl" dir="2700000" dist="139700">
              <a:srgbClr val="333333">
                <a:alpha val="64705"/>
              </a:srgbClr>
            </a:outerShdw>
          </a:effectLst>
        </p:spPr>
      </p:pic>
      <p:sp>
        <p:nvSpPr>
          <p:cNvPr id="940" name="Google Shape;940;p21"/>
          <p:cNvSpPr txBox="1"/>
          <p:nvPr/>
        </p:nvSpPr>
        <p:spPr>
          <a:xfrm>
            <a:off x="3375478" y="159489"/>
            <a:ext cx="8540751" cy="892552"/>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1E4E79"/>
                </a:solidFill>
                <a:latin typeface="Calibri"/>
                <a:ea typeface="Calibri"/>
                <a:cs typeface="Calibri"/>
                <a:sym typeface="Calibri"/>
              </a:rPr>
              <a:t>Regular Application Form:  </a:t>
            </a:r>
            <a:r>
              <a:rPr lang="en-US" sz="2000">
                <a:solidFill>
                  <a:srgbClr val="1E4E79"/>
                </a:solidFill>
                <a:latin typeface="Calibri"/>
                <a:ea typeface="Calibri"/>
                <a:cs typeface="Calibri"/>
                <a:sym typeface="Calibri"/>
              </a:rPr>
              <a:t>Owned by NB&amp;UW  - </a:t>
            </a:r>
            <a:r>
              <a:rPr lang="en-US" sz="1600">
                <a:solidFill>
                  <a:srgbClr val="1E4E79"/>
                </a:solidFill>
                <a:latin typeface="Calibri"/>
                <a:ea typeface="Calibri"/>
                <a:cs typeface="Calibri"/>
                <a:sym typeface="Calibri"/>
              </a:rPr>
              <a:t>This is the application form for VUL and traditional regular applications; combined information for life to be insured, applicant/owner and business owner.</a:t>
            </a:r>
            <a:endParaRPr i="1" sz="1600">
              <a:solidFill>
                <a:srgbClr val="1E4E79"/>
              </a:solidFill>
              <a:latin typeface="Calibri"/>
              <a:ea typeface="Calibri"/>
              <a:cs typeface="Calibri"/>
              <a:sym typeface="Calibri"/>
            </a:endParaRPr>
          </a:p>
        </p:txBody>
      </p:sp>
      <p:pic>
        <p:nvPicPr>
          <p:cNvPr id="941" name="Google Shape;941;p21"/>
          <p:cNvPicPr preferRelativeResize="0"/>
          <p:nvPr/>
        </p:nvPicPr>
        <p:blipFill rotWithShape="1">
          <a:blip r:embed="rId5">
            <a:alphaModFix/>
          </a:blip>
          <a:srcRect b="0" l="0" r="0" t="494"/>
          <a:stretch/>
        </p:blipFill>
        <p:spPr>
          <a:xfrm>
            <a:off x="3375478" y="1362521"/>
            <a:ext cx="2983558" cy="3867912"/>
          </a:xfrm>
          <a:prstGeom prst="rect">
            <a:avLst/>
          </a:prstGeom>
          <a:noFill/>
          <a:ln>
            <a:noFill/>
          </a:ln>
          <a:effectLst>
            <a:outerShdw blurRad="292100" rotWithShape="0" algn="tl" dir="2700000" dist="139700">
              <a:srgbClr val="333333">
                <a:alpha val="64705"/>
              </a:srgbClr>
            </a:outerShdw>
          </a:effectLst>
        </p:spPr>
      </p:pic>
      <p:sp>
        <p:nvSpPr>
          <p:cNvPr id="942" name="Google Shape;942;p21"/>
          <p:cNvSpPr txBox="1"/>
          <p:nvPr/>
        </p:nvSpPr>
        <p:spPr>
          <a:xfrm>
            <a:off x="6577150" y="1362521"/>
            <a:ext cx="5339079" cy="646331"/>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GIO Application Form</a:t>
            </a:r>
            <a:r>
              <a:rPr lang="en-US" sz="2000">
                <a:solidFill>
                  <a:schemeClr val="dk1"/>
                </a:solidFill>
                <a:latin typeface="Calibri"/>
                <a:ea typeface="Calibri"/>
                <a:cs typeface="Calibri"/>
                <a:sym typeface="Calibri"/>
              </a:rPr>
              <a:t>: Owned by NB&amp;UW  - </a:t>
            </a:r>
            <a:r>
              <a:rPr lang="en-US" sz="1600">
                <a:solidFill>
                  <a:schemeClr val="dk1"/>
                </a:solidFill>
                <a:latin typeface="Calibri"/>
                <a:ea typeface="Calibri"/>
                <a:cs typeface="Calibri"/>
                <a:sym typeface="Calibri"/>
              </a:rPr>
              <a:t>This is the form for guaranteed issue products.</a:t>
            </a:r>
            <a:endParaRPr sz="1600">
              <a:solidFill>
                <a:schemeClr val="dk1"/>
              </a:solidFill>
              <a:latin typeface="Calibri"/>
              <a:ea typeface="Calibri"/>
              <a:cs typeface="Calibri"/>
              <a:sym typeface="Calibri"/>
            </a:endParaRPr>
          </a:p>
        </p:txBody>
      </p:sp>
      <p:pic>
        <p:nvPicPr>
          <p:cNvPr id="943" name="Google Shape;943;p21"/>
          <p:cNvPicPr preferRelativeResize="0"/>
          <p:nvPr/>
        </p:nvPicPr>
        <p:blipFill rotWithShape="1">
          <a:blip r:embed="rId6">
            <a:alphaModFix/>
          </a:blip>
          <a:srcRect b="0" l="0" r="0" t="0"/>
          <a:stretch/>
        </p:blipFill>
        <p:spPr>
          <a:xfrm>
            <a:off x="6577150" y="2565553"/>
            <a:ext cx="2999605" cy="3867912"/>
          </a:xfrm>
          <a:prstGeom prst="rect">
            <a:avLst/>
          </a:prstGeom>
          <a:noFill/>
          <a:ln>
            <a:noFill/>
          </a:ln>
          <a:effectLst>
            <a:outerShdw blurRad="292100" rotWithShape="0" algn="tl" dir="2700000" dist="139700">
              <a:srgbClr val="333333">
                <a:alpha val="64705"/>
              </a:srgbClr>
            </a:outerShdw>
          </a:effectLst>
        </p:spPr>
      </p:pic>
      <p:sp>
        <p:nvSpPr>
          <p:cNvPr id="944" name="Google Shape;944;p21"/>
          <p:cNvSpPr txBox="1"/>
          <p:nvPr/>
        </p:nvSpPr>
        <p:spPr>
          <a:xfrm>
            <a:off x="9794869" y="2565553"/>
            <a:ext cx="2121360" cy="1508105"/>
          </a:xfrm>
          <a:prstGeom prst="rect">
            <a:avLst/>
          </a:prstGeom>
          <a:noFill/>
          <a:ln cap="flat" cmpd="sng" w="9525">
            <a:solidFill>
              <a:srgbClr val="C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C00000"/>
                </a:solidFill>
                <a:latin typeface="Calibri"/>
                <a:ea typeface="Calibri"/>
                <a:cs typeface="Calibri"/>
                <a:sym typeface="Calibri"/>
              </a:rPr>
              <a:t>SIO Application Form: </a:t>
            </a:r>
            <a:r>
              <a:rPr lang="en-US" sz="2000">
                <a:solidFill>
                  <a:srgbClr val="C00000"/>
                </a:solidFill>
                <a:latin typeface="Calibri"/>
                <a:ea typeface="Calibri"/>
                <a:cs typeface="Calibri"/>
                <a:sym typeface="Calibri"/>
              </a:rPr>
              <a:t>Owned by NB&amp;UW  </a:t>
            </a:r>
            <a:r>
              <a:rPr b="1" lang="en-US" sz="2000">
                <a:solidFill>
                  <a:srgbClr val="C00000"/>
                </a:solidFill>
                <a:latin typeface="Calibri"/>
                <a:ea typeface="Calibri"/>
                <a:cs typeface="Calibri"/>
                <a:sym typeface="Calibri"/>
              </a:rPr>
              <a:t>- </a:t>
            </a:r>
            <a:r>
              <a:rPr lang="en-US" sz="1600">
                <a:solidFill>
                  <a:srgbClr val="C00000"/>
                </a:solidFill>
                <a:latin typeface="Calibri"/>
                <a:ea typeface="Calibri"/>
                <a:cs typeface="Calibri"/>
                <a:sym typeface="Calibri"/>
              </a:rPr>
              <a:t>This is the form for simplified issue products.</a:t>
            </a:r>
            <a:endParaRPr sz="1600">
              <a:solidFill>
                <a:srgbClr val="C00000"/>
              </a:solidFill>
              <a:latin typeface="Calibri"/>
              <a:ea typeface="Calibri"/>
              <a:cs typeface="Calibri"/>
              <a:sym typeface="Calibri"/>
            </a:endParaRPr>
          </a:p>
        </p:txBody>
      </p:sp>
      <p:pic>
        <p:nvPicPr>
          <p:cNvPr id="945" name="Google Shape;945;p21"/>
          <p:cNvPicPr preferRelativeResize="0"/>
          <p:nvPr/>
        </p:nvPicPr>
        <p:blipFill rotWithShape="1">
          <a:blip r:embed="rId7">
            <a:alphaModFix/>
          </a:blip>
          <a:srcRect b="0" l="0" r="0" t="0"/>
          <a:stretch/>
        </p:blipFill>
        <p:spPr>
          <a:xfrm>
            <a:off x="1365797" y="4490438"/>
            <a:ext cx="917965" cy="91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9"/>
                                        </p:tgtEl>
                                        <p:attrNameLst>
                                          <p:attrName>style.visibility</p:attrName>
                                        </p:attrNameLst>
                                      </p:cBhvr>
                                      <p:to>
                                        <p:strVal val="visible"/>
                                      </p:to>
                                    </p:set>
                                    <p:animEffect filter="fade" transition="in">
                                      <p:cBhvr>
                                        <p:cTn dur="1000"/>
                                        <p:tgtEl>
                                          <p:spTgt spid="939"/>
                                        </p:tgtEl>
                                      </p:cBhvr>
                                    </p:animEffect>
                                  </p:childTnLst>
                                </p:cTn>
                              </p:par>
                              <p:par>
                                <p:cTn fill="hold" nodeType="withEffect" presetClass="entr" presetID="10" presetSubtype="0">
                                  <p:stCondLst>
                                    <p:cond delay="0"/>
                                  </p:stCondLst>
                                  <p:childTnLst>
                                    <p:set>
                                      <p:cBhvr>
                                        <p:cTn dur="1" fill="hold">
                                          <p:stCondLst>
                                            <p:cond delay="0"/>
                                          </p:stCondLst>
                                        </p:cTn>
                                        <p:tgtEl>
                                          <p:spTgt spid="940"/>
                                        </p:tgtEl>
                                        <p:attrNameLst>
                                          <p:attrName>style.visibility</p:attrName>
                                        </p:attrNameLst>
                                      </p:cBhvr>
                                      <p:to>
                                        <p:strVal val="visible"/>
                                      </p:to>
                                    </p:set>
                                    <p:animEffect filter="fade" transition="in">
                                      <p:cBhvr>
                                        <p:cTn dur="1000"/>
                                        <p:tgtEl>
                                          <p:spTgt spid="9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1"/>
                                        </p:tgtEl>
                                        <p:attrNameLst>
                                          <p:attrName>style.visibility</p:attrName>
                                        </p:attrNameLst>
                                      </p:cBhvr>
                                      <p:to>
                                        <p:strVal val="visible"/>
                                      </p:to>
                                    </p:set>
                                    <p:animEffect filter="fade" transition="in">
                                      <p:cBhvr>
                                        <p:cTn dur="1000"/>
                                        <p:tgtEl>
                                          <p:spTgt spid="941"/>
                                        </p:tgtEl>
                                      </p:cBhvr>
                                    </p:animEffect>
                                  </p:childTnLst>
                                </p:cTn>
                              </p:par>
                              <p:par>
                                <p:cTn fill="hold" nodeType="withEffect" presetClass="entr" presetID="10" presetSubtype="0">
                                  <p:stCondLst>
                                    <p:cond delay="0"/>
                                  </p:stCondLst>
                                  <p:childTnLst>
                                    <p:set>
                                      <p:cBhvr>
                                        <p:cTn dur="1" fill="hold">
                                          <p:stCondLst>
                                            <p:cond delay="0"/>
                                          </p:stCondLst>
                                        </p:cTn>
                                        <p:tgtEl>
                                          <p:spTgt spid="942"/>
                                        </p:tgtEl>
                                        <p:attrNameLst>
                                          <p:attrName>style.visibility</p:attrName>
                                        </p:attrNameLst>
                                      </p:cBhvr>
                                      <p:to>
                                        <p:strVal val="visible"/>
                                      </p:to>
                                    </p:set>
                                    <p:animEffect filter="fade" transition="in">
                                      <p:cBhvr>
                                        <p:cTn dur="1000"/>
                                        <p:tgtEl>
                                          <p:spTgt spid="9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gtEl>
                                        <p:attrNameLst>
                                          <p:attrName>style.visibility</p:attrName>
                                        </p:attrNameLst>
                                      </p:cBhvr>
                                      <p:to>
                                        <p:strVal val="visible"/>
                                      </p:to>
                                    </p:set>
                                    <p:animEffect filter="fade" transition="in">
                                      <p:cBhvr>
                                        <p:cTn dur="1000"/>
                                        <p:tgtEl>
                                          <p:spTgt spid="943"/>
                                        </p:tgtEl>
                                      </p:cBhvr>
                                    </p:animEffect>
                                  </p:childTnLst>
                                </p:cTn>
                              </p:par>
                              <p:par>
                                <p:cTn fill="hold" nodeType="withEffect" presetClass="entr" presetID="10" presetSubtype="0">
                                  <p:stCondLst>
                                    <p:cond delay="0"/>
                                  </p:stCondLst>
                                  <p:childTnLst>
                                    <p:set>
                                      <p:cBhvr>
                                        <p:cTn dur="1" fill="hold">
                                          <p:stCondLst>
                                            <p:cond delay="0"/>
                                          </p:stCondLst>
                                        </p:cTn>
                                        <p:tgtEl>
                                          <p:spTgt spid="944"/>
                                        </p:tgtEl>
                                        <p:attrNameLst>
                                          <p:attrName>style.visibility</p:attrName>
                                        </p:attrNameLst>
                                      </p:cBhvr>
                                      <p:to>
                                        <p:strVal val="visible"/>
                                      </p:to>
                                    </p:set>
                                    <p:animEffect filter="fade" transition="in">
                                      <p:cBhvr>
                                        <p:cTn dur="1000"/>
                                        <p:tgtEl>
                                          <p:spTgt spid="9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pic>
        <p:nvPicPr>
          <p:cNvPr id="951" name="Google Shape;951;p22"/>
          <p:cNvPicPr preferRelativeResize="0"/>
          <p:nvPr/>
        </p:nvPicPr>
        <p:blipFill rotWithShape="1">
          <a:blip r:embed="rId3">
            <a:alphaModFix/>
          </a:blip>
          <a:srcRect b="0" l="0" r="0" t="0"/>
          <a:stretch/>
        </p:blipFill>
        <p:spPr>
          <a:xfrm>
            <a:off x="1293939" y="4244922"/>
            <a:ext cx="2282371" cy="2319832"/>
          </a:xfrm>
          <a:prstGeom prst="rect">
            <a:avLst/>
          </a:prstGeom>
          <a:noFill/>
          <a:ln>
            <a:noFill/>
          </a:ln>
        </p:spPr>
      </p:pic>
      <p:sp>
        <p:nvSpPr>
          <p:cNvPr id="952" name="Google Shape;952;p22"/>
          <p:cNvSpPr txBox="1"/>
          <p:nvPr/>
        </p:nvSpPr>
        <p:spPr>
          <a:xfrm>
            <a:off x="183730" y="5066595"/>
            <a:ext cx="2973634" cy="83099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DIFFERENT TYPES OF NB &amp; UW FORMS</a:t>
            </a:r>
            <a:endParaRPr b="1" sz="1200">
              <a:solidFill>
                <a:schemeClr val="dk1"/>
              </a:solidFill>
              <a:latin typeface="Calibri"/>
              <a:ea typeface="Calibri"/>
              <a:cs typeface="Calibri"/>
              <a:sym typeface="Calibri"/>
            </a:endParaRPr>
          </a:p>
        </p:txBody>
      </p:sp>
      <p:sp>
        <p:nvSpPr>
          <p:cNvPr id="953" name="Google Shape;953;p22"/>
          <p:cNvSpPr/>
          <p:nvPr/>
        </p:nvSpPr>
        <p:spPr>
          <a:xfrm>
            <a:off x="183732" y="4244921"/>
            <a:ext cx="1045163" cy="2613079"/>
          </a:xfrm>
          <a:prstGeom prst="rect">
            <a:avLst/>
          </a:prstGeom>
          <a:solidFill>
            <a:srgbClr val="66CCFF">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4" name="Google Shape;954;p22"/>
          <p:cNvSpPr txBox="1"/>
          <p:nvPr/>
        </p:nvSpPr>
        <p:spPr>
          <a:xfrm>
            <a:off x="164291" y="4188287"/>
            <a:ext cx="1214131" cy="120032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7200">
                <a:solidFill>
                  <a:schemeClr val="dk1"/>
                </a:solidFill>
                <a:latin typeface="Calibri"/>
                <a:ea typeface="Calibri"/>
                <a:cs typeface="Calibri"/>
                <a:sym typeface="Calibri"/>
              </a:rPr>
              <a:t>02</a:t>
            </a:r>
            <a:endParaRPr sz="4400">
              <a:solidFill>
                <a:schemeClr val="dk1"/>
              </a:solidFill>
              <a:latin typeface="Calibri"/>
              <a:ea typeface="Calibri"/>
              <a:cs typeface="Calibri"/>
              <a:sym typeface="Calibri"/>
            </a:endParaRPr>
          </a:p>
        </p:txBody>
      </p:sp>
      <p:pic>
        <p:nvPicPr>
          <p:cNvPr id="955" name="Google Shape;955;p22"/>
          <p:cNvPicPr preferRelativeResize="0"/>
          <p:nvPr/>
        </p:nvPicPr>
        <p:blipFill rotWithShape="1">
          <a:blip r:embed="rId4">
            <a:alphaModFix/>
          </a:blip>
          <a:srcRect b="0" l="0" r="0" t="0"/>
          <a:stretch/>
        </p:blipFill>
        <p:spPr>
          <a:xfrm>
            <a:off x="183730" y="162192"/>
            <a:ext cx="2996270" cy="3867912"/>
          </a:xfrm>
          <a:prstGeom prst="rect">
            <a:avLst/>
          </a:prstGeom>
          <a:noFill/>
          <a:ln>
            <a:noFill/>
          </a:ln>
          <a:effectLst>
            <a:outerShdw blurRad="292100" rotWithShape="0" algn="tl" dir="2700000" dist="139700">
              <a:srgbClr val="333333">
                <a:alpha val="64705"/>
              </a:srgbClr>
            </a:outerShdw>
          </a:effectLst>
        </p:spPr>
      </p:pic>
      <p:pic>
        <p:nvPicPr>
          <p:cNvPr id="956" name="Google Shape;956;p22"/>
          <p:cNvPicPr preferRelativeResize="0"/>
          <p:nvPr/>
        </p:nvPicPr>
        <p:blipFill rotWithShape="1">
          <a:blip r:embed="rId5">
            <a:alphaModFix/>
          </a:blip>
          <a:srcRect b="0" l="1153" r="0" t="0"/>
          <a:stretch/>
        </p:blipFill>
        <p:spPr>
          <a:xfrm>
            <a:off x="1462906" y="642396"/>
            <a:ext cx="2963097" cy="3867912"/>
          </a:xfrm>
          <a:prstGeom prst="rect">
            <a:avLst/>
          </a:prstGeom>
          <a:noFill/>
          <a:ln>
            <a:noFill/>
          </a:ln>
          <a:effectLst>
            <a:outerShdw blurRad="292100" rotWithShape="0" algn="tl" dir="2700000" dist="139700">
              <a:srgbClr val="333333">
                <a:alpha val="64705"/>
              </a:srgbClr>
            </a:outerShdw>
          </a:effectLst>
        </p:spPr>
      </p:pic>
      <p:pic>
        <p:nvPicPr>
          <p:cNvPr id="957" name="Google Shape;957;p22"/>
          <p:cNvPicPr preferRelativeResize="0"/>
          <p:nvPr/>
        </p:nvPicPr>
        <p:blipFill rotWithShape="1">
          <a:blip r:embed="rId6">
            <a:alphaModFix/>
          </a:blip>
          <a:srcRect b="0" l="0" r="0" t="0"/>
          <a:stretch/>
        </p:blipFill>
        <p:spPr>
          <a:xfrm>
            <a:off x="4785469" y="1870309"/>
            <a:ext cx="2988841" cy="3867912"/>
          </a:xfrm>
          <a:prstGeom prst="rect">
            <a:avLst/>
          </a:prstGeom>
          <a:noFill/>
          <a:ln>
            <a:noFill/>
          </a:ln>
          <a:effectLst>
            <a:outerShdw blurRad="292100" rotWithShape="0" algn="tl" dir="2700000" dist="139700">
              <a:srgbClr val="333333">
                <a:alpha val="64705"/>
              </a:srgbClr>
            </a:outerShdw>
          </a:effectLst>
        </p:spPr>
      </p:pic>
      <p:pic>
        <p:nvPicPr>
          <p:cNvPr id="958" name="Google Shape;958;p22"/>
          <p:cNvPicPr preferRelativeResize="0"/>
          <p:nvPr/>
        </p:nvPicPr>
        <p:blipFill rotWithShape="1">
          <a:blip r:embed="rId7">
            <a:alphaModFix/>
          </a:blip>
          <a:srcRect b="0" l="0" r="0" t="0"/>
          <a:stretch/>
        </p:blipFill>
        <p:spPr>
          <a:xfrm>
            <a:off x="6610677" y="2310965"/>
            <a:ext cx="2990217" cy="3867912"/>
          </a:xfrm>
          <a:prstGeom prst="rect">
            <a:avLst/>
          </a:prstGeom>
          <a:noFill/>
          <a:ln>
            <a:noFill/>
          </a:ln>
          <a:effectLst>
            <a:outerShdw blurRad="292100" rotWithShape="0" algn="tl" dir="2700000" dist="139700">
              <a:srgbClr val="333333">
                <a:alpha val="64705"/>
              </a:srgbClr>
            </a:outerShdw>
          </a:effectLst>
        </p:spPr>
      </p:pic>
      <p:sp>
        <p:nvSpPr>
          <p:cNvPr id="959" name="Google Shape;959;p22"/>
          <p:cNvSpPr txBox="1"/>
          <p:nvPr/>
        </p:nvSpPr>
        <p:spPr>
          <a:xfrm>
            <a:off x="4526753" y="407093"/>
            <a:ext cx="6929518" cy="89255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Pre-Submission Checklist</a:t>
            </a:r>
            <a:r>
              <a:rPr lang="en-US" sz="2000">
                <a:solidFill>
                  <a:schemeClr val="dk1"/>
                </a:solidFill>
                <a:latin typeface="Calibri"/>
                <a:ea typeface="Calibri"/>
                <a:cs typeface="Calibri"/>
                <a:sym typeface="Calibri"/>
              </a:rPr>
              <a:t>: Owned by NB &amp; UW + Compliance – </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This serves as a guide to assist Advisors in submitting the mandatory regulatory and other NB &amp; UW requirements.</a:t>
            </a:r>
            <a:endParaRPr/>
          </a:p>
        </p:txBody>
      </p:sp>
      <p:sp>
        <p:nvSpPr>
          <p:cNvPr id="960" name="Google Shape;960;p22"/>
          <p:cNvSpPr/>
          <p:nvPr/>
        </p:nvSpPr>
        <p:spPr>
          <a:xfrm>
            <a:off x="9565990" y="2119086"/>
            <a:ext cx="1319724" cy="1016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61" name="Google Shape;961;p22"/>
          <p:cNvSpPr txBox="1"/>
          <p:nvPr/>
        </p:nvSpPr>
        <p:spPr>
          <a:xfrm>
            <a:off x="9652233" y="1870309"/>
            <a:ext cx="1768332" cy="2554545"/>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Proposal</a:t>
            </a:r>
            <a:r>
              <a:rPr lang="en-US" sz="2000">
                <a:solidFill>
                  <a:schemeClr val="dk1"/>
                </a:solidFill>
                <a:latin typeface="Calibri"/>
                <a:ea typeface="Calibri"/>
                <a:cs typeface="Calibri"/>
                <a:sym typeface="Calibri"/>
              </a:rPr>
              <a:t>: Owned by Sales and Compliance- </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This document shows the plan details and the features of the product.</a:t>
            </a:r>
            <a:endParaRPr/>
          </a:p>
        </p:txBody>
      </p:sp>
      <p:pic>
        <p:nvPicPr>
          <p:cNvPr id="962" name="Google Shape;962;p22"/>
          <p:cNvPicPr preferRelativeResize="0"/>
          <p:nvPr/>
        </p:nvPicPr>
        <p:blipFill rotWithShape="1">
          <a:blip r:embed="rId8">
            <a:alphaModFix/>
          </a:blip>
          <a:srcRect b="0" l="0" r="0" t="0"/>
          <a:stretch/>
        </p:blipFill>
        <p:spPr>
          <a:xfrm>
            <a:off x="1359647" y="4522803"/>
            <a:ext cx="917965" cy="91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5"/>
                                        </p:tgtEl>
                                        <p:attrNameLst>
                                          <p:attrName>style.visibility</p:attrName>
                                        </p:attrNameLst>
                                      </p:cBhvr>
                                      <p:to>
                                        <p:strVal val="visible"/>
                                      </p:to>
                                    </p:set>
                                    <p:animEffect filter="fade" transition="in">
                                      <p:cBhvr>
                                        <p:cTn dur="1000"/>
                                        <p:tgtEl>
                                          <p:spTgt spid="955"/>
                                        </p:tgtEl>
                                      </p:cBhvr>
                                    </p:animEffect>
                                  </p:childTnLst>
                                </p:cTn>
                              </p:par>
                              <p:par>
                                <p:cTn fill="hold" nodeType="withEffect" presetClass="entr" presetID="10" presetSubtype="0">
                                  <p:stCondLst>
                                    <p:cond delay="0"/>
                                  </p:stCondLst>
                                  <p:childTnLst>
                                    <p:set>
                                      <p:cBhvr>
                                        <p:cTn dur="1" fill="hold">
                                          <p:stCondLst>
                                            <p:cond delay="0"/>
                                          </p:stCondLst>
                                        </p:cTn>
                                        <p:tgtEl>
                                          <p:spTgt spid="956"/>
                                        </p:tgtEl>
                                        <p:attrNameLst>
                                          <p:attrName>style.visibility</p:attrName>
                                        </p:attrNameLst>
                                      </p:cBhvr>
                                      <p:to>
                                        <p:strVal val="visible"/>
                                      </p:to>
                                    </p:set>
                                    <p:animEffect filter="fade" transition="in">
                                      <p:cBhvr>
                                        <p:cTn dur="1000"/>
                                        <p:tgtEl>
                                          <p:spTgt spid="956"/>
                                        </p:tgtEl>
                                      </p:cBhvr>
                                    </p:animEffect>
                                  </p:childTnLst>
                                </p:cTn>
                              </p:par>
                              <p:par>
                                <p:cTn fill="hold" nodeType="withEffect" presetClass="entr" presetID="10" presetSubtype="0">
                                  <p:stCondLst>
                                    <p:cond delay="0"/>
                                  </p:stCondLst>
                                  <p:childTnLst>
                                    <p:set>
                                      <p:cBhvr>
                                        <p:cTn dur="1" fill="hold">
                                          <p:stCondLst>
                                            <p:cond delay="0"/>
                                          </p:stCondLst>
                                        </p:cTn>
                                        <p:tgtEl>
                                          <p:spTgt spid="959"/>
                                        </p:tgtEl>
                                        <p:attrNameLst>
                                          <p:attrName>style.visibility</p:attrName>
                                        </p:attrNameLst>
                                      </p:cBhvr>
                                      <p:to>
                                        <p:strVal val="visible"/>
                                      </p:to>
                                    </p:set>
                                    <p:animEffect filter="fade" transition="in">
                                      <p:cBhvr>
                                        <p:cTn dur="1000"/>
                                        <p:tgtEl>
                                          <p:spTgt spid="9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7"/>
                                        </p:tgtEl>
                                        <p:attrNameLst>
                                          <p:attrName>style.visibility</p:attrName>
                                        </p:attrNameLst>
                                      </p:cBhvr>
                                      <p:to>
                                        <p:strVal val="visible"/>
                                      </p:to>
                                    </p:set>
                                    <p:animEffect filter="fade" transition="in">
                                      <p:cBhvr>
                                        <p:cTn dur="1000"/>
                                        <p:tgtEl>
                                          <p:spTgt spid="957"/>
                                        </p:tgtEl>
                                      </p:cBhvr>
                                    </p:animEffect>
                                  </p:childTnLst>
                                </p:cTn>
                              </p:par>
                              <p:par>
                                <p:cTn fill="hold" nodeType="withEffect" presetClass="entr" presetID="10" presetSubtype="0">
                                  <p:stCondLst>
                                    <p:cond delay="0"/>
                                  </p:stCondLst>
                                  <p:childTnLst>
                                    <p:set>
                                      <p:cBhvr>
                                        <p:cTn dur="1" fill="hold">
                                          <p:stCondLst>
                                            <p:cond delay="0"/>
                                          </p:stCondLst>
                                        </p:cTn>
                                        <p:tgtEl>
                                          <p:spTgt spid="958"/>
                                        </p:tgtEl>
                                        <p:attrNameLst>
                                          <p:attrName>style.visibility</p:attrName>
                                        </p:attrNameLst>
                                      </p:cBhvr>
                                      <p:to>
                                        <p:strVal val="visible"/>
                                      </p:to>
                                    </p:set>
                                    <p:animEffect filter="fade" transition="in">
                                      <p:cBhvr>
                                        <p:cTn dur="1000"/>
                                        <p:tgtEl>
                                          <p:spTgt spid="958"/>
                                        </p:tgtEl>
                                      </p:cBhvr>
                                    </p:animEffect>
                                  </p:childTnLst>
                                </p:cTn>
                              </p:par>
                              <p:par>
                                <p:cTn fill="hold" nodeType="withEffect" presetClass="entr" presetID="10" presetSubtype="0">
                                  <p:stCondLst>
                                    <p:cond delay="0"/>
                                  </p:stCondLst>
                                  <p:childTnLst>
                                    <p:set>
                                      <p:cBhvr>
                                        <p:cTn dur="1" fill="hold">
                                          <p:stCondLst>
                                            <p:cond delay="0"/>
                                          </p:stCondLst>
                                        </p:cTn>
                                        <p:tgtEl>
                                          <p:spTgt spid="961"/>
                                        </p:tgtEl>
                                        <p:attrNameLst>
                                          <p:attrName>style.visibility</p:attrName>
                                        </p:attrNameLst>
                                      </p:cBhvr>
                                      <p:to>
                                        <p:strVal val="visible"/>
                                      </p:to>
                                    </p:set>
                                    <p:animEffect filter="fade" transition="in">
                                      <p:cBhvr>
                                        <p:cTn dur="1000"/>
                                        <p:tgtEl>
                                          <p:spTgt spid="9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pic>
        <p:nvPicPr>
          <p:cNvPr id="968" name="Google Shape;968;p23"/>
          <p:cNvPicPr preferRelativeResize="0"/>
          <p:nvPr/>
        </p:nvPicPr>
        <p:blipFill rotWithShape="1">
          <a:blip r:embed="rId3">
            <a:alphaModFix/>
          </a:blip>
          <a:srcRect b="0" l="0" r="0" t="0"/>
          <a:stretch/>
        </p:blipFill>
        <p:spPr>
          <a:xfrm>
            <a:off x="1293939" y="4244922"/>
            <a:ext cx="2282371" cy="2319832"/>
          </a:xfrm>
          <a:prstGeom prst="rect">
            <a:avLst/>
          </a:prstGeom>
          <a:noFill/>
          <a:ln>
            <a:noFill/>
          </a:ln>
        </p:spPr>
      </p:pic>
      <p:sp>
        <p:nvSpPr>
          <p:cNvPr id="969" name="Google Shape;969;p23"/>
          <p:cNvSpPr txBox="1"/>
          <p:nvPr/>
        </p:nvSpPr>
        <p:spPr>
          <a:xfrm>
            <a:off x="183730" y="5066595"/>
            <a:ext cx="2973634" cy="83099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DIFFERENT TYPES OF NB &amp; UW FORMS</a:t>
            </a:r>
            <a:endParaRPr b="1" sz="1200">
              <a:solidFill>
                <a:schemeClr val="dk1"/>
              </a:solidFill>
              <a:latin typeface="Calibri"/>
              <a:ea typeface="Calibri"/>
              <a:cs typeface="Calibri"/>
              <a:sym typeface="Calibri"/>
            </a:endParaRPr>
          </a:p>
        </p:txBody>
      </p:sp>
      <p:sp>
        <p:nvSpPr>
          <p:cNvPr id="970" name="Google Shape;970;p23"/>
          <p:cNvSpPr/>
          <p:nvPr/>
        </p:nvSpPr>
        <p:spPr>
          <a:xfrm>
            <a:off x="183732" y="4244921"/>
            <a:ext cx="1045163" cy="2613079"/>
          </a:xfrm>
          <a:prstGeom prst="rect">
            <a:avLst/>
          </a:prstGeom>
          <a:solidFill>
            <a:srgbClr val="66CCFF">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71" name="Google Shape;971;p23"/>
          <p:cNvSpPr txBox="1"/>
          <p:nvPr/>
        </p:nvSpPr>
        <p:spPr>
          <a:xfrm>
            <a:off x="183730" y="4204509"/>
            <a:ext cx="1214131" cy="120032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7200">
                <a:solidFill>
                  <a:schemeClr val="dk1"/>
                </a:solidFill>
                <a:latin typeface="Calibri"/>
                <a:ea typeface="Calibri"/>
                <a:cs typeface="Calibri"/>
                <a:sym typeface="Calibri"/>
              </a:rPr>
              <a:t>02</a:t>
            </a:r>
            <a:endParaRPr sz="4400">
              <a:solidFill>
                <a:schemeClr val="dk1"/>
              </a:solidFill>
              <a:latin typeface="Calibri"/>
              <a:ea typeface="Calibri"/>
              <a:cs typeface="Calibri"/>
              <a:sym typeface="Calibri"/>
            </a:endParaRPr>
          </a:p>
        </p:txBody>
      </p:sp>
      <p:pic>
        <p:nvPicPr>
          <p:cNvPr id="972" name="Google Shape;972;p23"/>
          <p:cNvPicPr preferRelativeResize="0"/>
          <p:nvPr/>
        </p:nvPicPr>
        <p:blipFill rotWithShape="1">
          <a:blip r:embed="rId4">
            <a:alphaModFix/>
          </a:blip>
          <a:srcRect b="0" l="0" r="0" t="0"/>
          <a:stretch/>
        </p:blipFill>
        <p:spPr>
          <a:xfrm>
            <a:off x="183730" y="25847"/>
            <a:ext cx="2971800" cy="4288077"/>
          </a:xfrm>
          <a:prstGeom prst="rect">
            <a:avLst/>
          </a:prstGeom>
          <a:noFill/>
          <a:ln>
            <a:noFill/>
          </a:ln>
          <a:effectLst>
            <a:outerShdw blurRad="292100" rotWithShape="0" algn="tl" dir="2700000" dist="139700">
              <a:srgbClr val="333333">
                <a:alpha val="64705"/>
              </a:srgbClr>
            </a:outerShdw>
          </a:effectLst>
        </p:spPr>
      </p:pic>
      <p:sp>
        <p:nvSpPr>
          <p:cNvPr id="973" name="Google Shape;973;p23"/>
          <p:cNvSpPr txBox="1"/>
          <p:nvPr/>
        </p:nvSpPr>
        <p:spPr>
          <a:xfrm>
            <a:off x="4526753" y="407093"/>
            <a:ext cx="6929518" cy="1446550"/>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Financial Needs analysis (FNA) and Risk Profile Questionnaire (RPQ)</a:t>
            </a:r>
            <a:r>
              <a:rPr lang="en-US" sz="2000">
                <a:solidFill>
                  <a:schemeClr val="dk1"/>
                </a:solidFill>
                <a:latin typeface="Calibri"/>
                <a:ea typeface="Calibri"/>
                <a:cs typeface="Calibri"/>
                <a:sym typeface="Calibri"/>
              </a:rPr>
              <a:t>: Owned by Sales – </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This is a combined document of 2 forms: </a:t>
            </a:r>
            <a:endParaRPr/>
          </a:p>
          <a:p>
            <a:pPr indent="-342900" lvl="0" marL="342900" marR="0" rtl="0" algn="l">
              <a:spcBef>
                <a:spcPts val="0"/>
              </a:spcBef>
              <a:spcAft>
                <a:spcPts val="0"/>
              </a:spcAft>
              <a:buClr>
                <a:schemeClr val="dk1"/>
              </a:buClr>
              <a:buSzPts val="1600"/>
              <a:buFont typeface="Calibri"/>
              <a:buAutoNum type="arabicPeriod"/>
            </a:pPr>
            <a:r>
              <a:rPr lang="en-US" sz="1600">
                <a:solidFill>
                  <a:schemeClr val="dk1"/>
                </a:solidFill>
                <a:latin typeface="Calibri"/>
                <a:ea typeface="Calibri"/>
                <a:cs typeface="Calibri"/>
                <a:sym typeface="Calibri"/>
              </a:rPr>
              <a:t>FNA shows how the insurance need was calculated </a:t>
            </a:r>
            <a:endParaRPr/>
          </a:p>
          <a:p>
            <a:pPr indent="-342900" lvl="0" marL="342900" marR="0" rtl="0" algn="l">
              <a:spcBef>
                <a:spcPts val="0"/>
              </a:spcBef>
              <a:spcAft>
                <a:spcPts val="0"/>
              </a:spcAft>
              <a:buClr>
                <a:schemeClr val="dk1"/>
              </a:buClr>
              <a:buSzPts val="1600"/>
              <a:buFont typeface="Calibri"/>
              <a:buAutoNum type="arabicPeriod"/>
            </a:pPr>
            <a:r>
              <a:rPr lang="en-US" sz="1600">
                <a:solidFill>
                  <a:schemeClr val="dk1"/>
                </a:solidFill>
                <a:latin typeface="Calibri"/>
                <a:ea typeface="Calibri"/>
                <a:cs typeface="Calibri"/>
                <a:sym typeface="Calibri"/>
              </a:rPr>
              <a:t>RPQ helps determine the client’s risk appetite for VUL products. </a:t>
            </a:r>
            <a:endParaRPr/>
          </a:p>
        </p:txBody>
      </p:sp>
      <p:sp>
        <p:nvSpPr>
          <p:cNvPr id="974" name="Google Shape;974;p23"/>
          <p:cNvSpPr/>
          <p:nvPr/>
        </p:nvSpPr>
        <p:spPr>
          <a:xfrm>
            <a:off x="9565990" y="2119086"/>
            <a:ext cx="1319724" cy="101600"/>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75" name="Google Shape;975;p23"/>
          <p:cNvSpPr txBox="1"/>
          <p:nvPr/>
        </p:nvSpPr>
        <p:spPr>
          <a:xfrm>
            <a:off x="7991511" y="2228112"/>
            <a:ext cx="3464759" cy="2308324"/>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General Information Sheet and Salary Deduction Authorization Form (GISSDAF)</a:t>
            </a:r>
            <a:r>
              <a:rPr lang="en-US" sz="2000">
                <a:solidFill>
                  <a:schemeClr val="dk1"/>
                </a:solidFill>
                <a:latin typeface="Calibri"/>
                <a:ea typeface="Calibri"/>
                <a:cs typeface="Calibri"/>
                <a:sym typeface="Calibri"/>
              </a:rPr>
              <a:t>: Owned by Employee Marketing - </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This form provides the Employee Marketing information and the authorization to deduct the premium from the employee’s salary.</a:t>
            </a:r>
            <a:endParaRPr/>
          </a:p>
        </p:txBody>
      </p:sp>
      <p:pic>
        <p:nvPicPr>
          <p:cNvPr id="976" name="Google Shape;976;p23"/>
          <p:cNvPicPr preferRelativeResize="0"/>
          <p:nvPr/>
        </p:nvPicPr>
        <p:blipFill rotWithShape="1">
          <a:blip r:embed="rId5">
            <a:alphaModFix/>
          </a:blip>
          <a:srcRect b="0" l="0" r="0" t="0"/>
          <a:stretch/>
        </p:blipFill>
        <p:spPr>
          <a:xfrm>
            <a:off x="4891138" y="2220686"/>
            <a:ext cx="2972058" cy="3867912"/>
          </a:xfrm>
          <a:prstGeom prst="rect">
            <a:avLst/>
          </a:prstGeom>
          <a:noFill/>
          <a:ln>
            <a:noFill/>
          </a:ln>
          <a:effectLst>
            <a:outerShdw blurRad="292100" rotWithShape="0" algn="tl" dir="2700000" dist="139700">
              <a:srgbClr val="333333">
                <a:alpha val="64705"/>
              </a:srgbClr>
            </a:outerShdw>
          </a:effectLst>
        </p:spPr>
      </p:pic>
      <p:pic>
        <p:nvPicPr>
          <p:cNvPr id="977" name="Google Shape;977;p23"/>
          <p:cNvPicPr preferRelativeResize="0"/>
          <p:nvPr/>
        </p:nvPicPr>
        <p:blipFill rotWithShape="1">
          <a:blip r:embed="rId6">
            <a:alphaModFix/>
          </a:blip>
          <a:srcRect b="0" l="0" r="0" t="0"/>
          <a:stretch/>
        </p:blipFill>
        <p:spPr>
          <a:xfrm>
            <a:off x="1337907" y="4468315"/>
            <a:ext cx="917965" cy="914400"/>
          </a:xfrm>
          <a:prstGeom prst="rect">
            <a:avLst/>
          </a:prstGeom>
          <a:noFill/>
          <a:ln>
            <a:noFill/>
          </a:ln>
        </p:spPr>
      </p:pic>
      <p:pic>
        <p:nvPicPr>
          <p:cNvPr id="978" name="Google Shape;978;p23"/>
          <p:cNvPicPr preferRelativeResize="0"/>
          <p:nvPr/>
        </p:nvPicPr>
        <p:blipFill rotWithShape="1">
          <a:blip r:embed="rId7">
            <a:alphaModFix/>
          </a:blip>
          <a:srcRect b="0" l="0" r="0" t="0"/>
          <a:stretch/>
        </p:blipFill>
        <p:spPr>
          <a:xfrm>
            <a:off x="1280697" y="480277"/>
            <a:ext cx="3086524" cy="3965915"/>
          </a:xfrm>
          <a:prstGeom prst="rect">
            <a:avLst/>
          </a:prstGeom>
          <a:noFill/>
          <a:ln>
            <a:noFill/>
          </a:ln>
          <a:effectLst>
            <a:outerShdw blurRad="292100" rotWithShape="0" algn="tl" dir="2700000" dist="139700">
              <a:srgbClr val="333333">
                <a:alpha val="64705"/>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2"/>
                                        </p:tgtEl>
                                        <p:attrNameLst>
                                          <p:attrName>style.visibility</p:attrName>
                                        </p:attrNameLst>
                                      </p:cBhvr>
                                      <p:to>
                                        <p:strVal val="visible"/>
                                      </p:to>
                                    </p:set>
                                    <p:animEffect filter="fade" transition="in">
                                      <p:cBhvr>
                                        <p:cTn dur="1000"/>
                                        <p:tgtEl>
                                          <p:spTgt spid="972"/>
                                        </p:tgtEl>
                                      </p:cBhvr>
                                    </p:animEffect>
                                  </p:childTnLst>
                                </p:cTn>
                              </p:par>
                              <p:par>
                                <p:cTn fill="hold" nodeType="withEffect" presetClass="entr" presetID="10" presetSubtype="0">
                                  <p:stCondLst>
                                    <p:cond delay="0"/>
                                  </p:stCondLst>
                                  <p:childTnLst>
                                    <p:set>
                                      <p:cBhvr>
                                        <p:cTn dur="1" fill="hold">
                                          <p:stCondLst>
                                            <p:cond delay="0"/>
                                          </p:stCondLst>
                                        </p:cTn>
                                        <p:tgtEl>
                                          <p:spTgt spid="978"/>
                                        </p:tgtEl>
                                        <p:attrNameLst>
                                          <p:attrName>style.visibility</p:attrName>
                                        </p:attrNameLst>
                                      </p:cBhvr>
                                      <p:to>
                                        <p:strVal val="visible"/>
                                      </p:to>
                                    </p:set>
                                    <p:animEffect filter="fade" transition="in">
                                      <p:cBhvr>
                                        <p:cTn dur="1000"/>
                                        <p:tgtEl>
                                          <p:spTgt spid="978"/>
                                        </p:tgtEl>
                                      </p:cBhvr>
                                    </p:animEffect>
                                  </p:childTnLst>
                                </p:cTn>
                              </p:par>
                              <p:par>
                                <p:cTn fill="hold" nodeType="withEffect" presetClass="entr" presetID="10" presetSubtype="0">
                                  <p:stCondLst>
                                    <p:cond delay="0"/>
                                  </p:stCondLst>
                                  <p:childTnLst>
                                    <p:set>
                                      <p:cBhvr>
                                        <p:cTn dur="1" fill="hold">
                                          <p:stCondLst>
                                            <p:cond delay="0"/>
                                          </p:stCondLst>
                                        </p:cTn>
                                        <p:tgtEl>
                                          <p:spTgt spid="973"/>
                                        </p:tgtEl>
                                        <p:attrNameLst>
                                          <p:attrName>style.visibility</p:attrName>
                                        </p:attrNameLst>
                                      </p:cBhvr>
                                      <p:to>
                                        <p:strVal val="visible"/>
                                      </p:to>
                                    </p:set>
                                    <p:animEffect filter="fade" transition="in">
                                      <p:cBhvr>
                                        <p:cTn dur="1000"/>
                                        <p:tgtEl>
                                          <p:spTgt spid="9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5"/>
                                        </p:tgtEl>
                                        <p:attrNameLst>
                                          <p:attrName>style.visibility</p:attrName>
                                        </p:attrNameLst>
                                      </p:cBhvr>
                                      <p:to>
                                        <p:strVal val="visible"/>
                                      </p:to>
                                    </p:set>
                                    <p:animEffect filter="fade" transition="in">
                                      <p:cBhvr>
                                        <p:cTn dur="1000"/>
                                        <p:tgtEl>
                                          <p:spTgt spid="975"/>
                                        </p:tgtEl>
                                      </p:cBhvr>
                                    </p:animEffect>
                                  </p:childTnLst>
                                </p:cTn>
                              </p:par>
                              <p:par>
                                <p:cTn fill="hold" nodeType="withEffect" presetClass="entr" presetID="10" presetSubtype="0">
                                  <p:stCondLst>
                                    <p:cond delay="0"/>
                                  </p:stCondLst>
                                  <p:childTnLst>
                                    <p:set>
                                      <p:cBhvr>
                                        <p:cTn dur="1" fill="hold">
                                          <p:stCondLst>
                                            <p:cond delay="0"/>
                                          </p:stCondLst>
                                        </p:cTn>
                                        <p:tgtEl>
                                          <p:spTgt spid="976"/>
                                        </p:tgtEl>
                                        <p:attrNameLst>
                                          <p:attrName>style.visibility</p:attrName>
                                        </p:attrNameLst>
                                      </p:cBhvr>
                                      <p:to>
                                        <p:strVal val="visible"/>
                                      </p:to>
                                    </p:set>
                                    <p:animEffect filter="fade" transition="in">
                                      <p:cBhvr>
                                        <p:cTn dur="1000"/>
                                        <p:tgtEl>
                                          <p:spTgt spid="9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24"/>
          <p:cNvSpPr txBox="1"/>
          <p:nvPr/>
        </p:nvSpPr>
        <p:spPr>
          <a:xfrm>
            <a:off x="183730" y="5251261"/>
            <a:ext cx="2973634" cy="461665"/>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Review of Valid IDs</a:t>
            </a:r>
            <a:endParaRPr b="1" sz="1200">
              <a:solidFill>
                <a:schemeClr val="dk1"/>
              </a:solidFill>
              <a:latin typeface="Calibri"/>
              <a:ea typeface="Calibri"/>
              <a:cs typeface="Calibri"/>
              <a:sym typeface="Calibri"/>
            </a:endParaRPr>
          </a:p>
        </p:txBody>
      </p:sp>
      <p:sp>
        <p:nvSpPr>
          <p:cNvPr id="985" name="Google Shape;985;p24"/>
          <p:cNvSpPr/>
          <p:nvPr/>
        </p:nvSpPr>
        <p:spPr>
          <a:xfrm>
            <a:off x="449943" y="290286"/>
            <a:ext cx="1770744" cy="1344561"/>
          </a:xfrm>
          <a:prstGeom prst="rect">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1"/>
              </a:solidFill>
              <a:latin typeface="Calibri"/>
              <a:ea typeface="Calibri"/>
              <a:cs typeface="Calibri"/>
              <a:sym typeface="Calibri"/>
            </a:endParaRPr>
          </a:p>
        </p:txBody>
      </p:sp>
      <p:sp>
        <p:nvSpPr>
          <p:cNvPr id="986" name="Google Shape;986;p24"/>
          <p:cNvSpPr/>
          <p:nvPr/>
        </p:nvSpPr>
        <p:spPr>
          <a:xfrm>
            <a:off x="183732" y="4244921"/>
            <a:ext cx="1045163" cy="2613079"/>
          </a:xfrm>
          <a:prstGeom prst="rect">
            <a:avLst/>
          </a:prstGeom>
          <a:solidFill>
            <a:srgbClr val="AEABAB">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7" name="Google Shape;987;p24"/>
          <p:cNvSpPr txBox="1"/>
          <p:nvPr/>
        </p:nvSpPr>
        <p:spPr>
          <a:xfrm>
            <a:off x="181375" y="4325350"/>
            <a:ext cx="1214131" cy="120032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en-US" sz="7200">
                <a:solidFill>
                  <a:schemeClr val="dk1"/>
                </a:solidFill>
                <a:latin typeface="Calibri"/>
                <a:ea typeface="Calibri"/>
                <a:cs typeface="Calibri"/>
                <a:sym typeface="Calibri"/>
              </a:rPr>
              <a:t>03</a:t>
            </a:r>
            <a:endParaRPr sz="4400">
              <a:solidFill>
                <a:schemeClr val="dk1"/>
              </a:solidFill>
              <a:latin typeface="Calibri"/>
              <a:ea typeface="Calibri"/>
              <a:cs typeface="Calibri"/>
              <a:sym typeface="Calibri"/>
            </a:endParaRPr>
          </a:p>
        </p:txBody>
      </p:sp>
      <p:sp>
        <p:nvSpPr>
          <p:cNvPr id="988" name="Google Shape;988;p24"/>
          <p:cNvSpPr txBox="1"/>
          <p:nvPr/>
        </p:nvSpPr>
        <p:spPr>
          <a:xfrm>
            <a:off x="449941" y="2785918"/>
            <a:ext cx="2970589" cy="1015663"/>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Must be valid (not expired)</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Government -  issued</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Photo – bearing </a:t>
            </a:r>
            <a:endParaRPr/>
          </a:p>
        </p:txBody>
      </p:sp>
      <p:sp>
        <p:nvSpPr>
          <p:cNvPr id="989" name="Google Shape;989;p24"/>
          <p:cNvSpPr txBox="1"/>
          <p:nvPr/>
        </p:nvSpPr>
        <p:spPr>
          <a:xfrm>
            <a:off x="449941" y="2086646"/>
            <a:ext cx="2970589" cy="707886"/>
          </a:xfrm>
          <a:prstGeom prst="rect">
            <a:avLst/>
          </a:prstGeom>
          <a:gradFill>
            <a:gsLst>
              <a:gs pos="0">
                <a:srgbClr val="F08B54"/>
              </a:gs>
              <a:gs pos="50000">
                <a:srgbClr val="F67A26"/>
              </a:gs>
              <a:gs pos="100000">
                <a:srgbClr val="E36A18"/>
              </a:gs>
            </a:gsLst>
            <a:lin ang="5400000" scaled="0"/>
          </a:gradFill>
          <a:ln>
            <a:noFill/>
          </a:ln>
          <a:effectLst>
            <a:outerShdw blurRad="57150" rotWithShape="0" algn="ctr" dir="5400000" dist="19050">
              <a:srgbClr val="000000">
                <a:alpha val="62745"/>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lt1"/>
                </a:solidFill>
                <a:latin typeface="Calibri"/>
                <a:ea typeface="Calibri"/>
                <a:cs typeface="Calibri"/>
                <a:sym typeface="Calibri"/>
              </a:rPr>
              <a:t>CHARACTERISTICS OF ACCEPTABLE IDs</a:t>
            </a:r>
            <a:endParaRPr b="1" sz="2000">
              <a:solidFill>
                <a:schemeClr val="lt1"/>
              </a:solidFill>
              <a:latin typeface="Calibri"/>
              <a:ea typeface="Calibri"/>
              <a:cs typeface="Calibri"/>
              <a:sym typeface="Calibri"/>
            </a:endParaRPr>
          </a:p>
        </p:txBody>
      </p:sp>
      <p:pic>
        <p:nvPicPr>
          <p:cNvPr id="990" name="Google Shape;990;p24"/>
          <p:cNvPicPr preferRelativeResize="0"/>
          <p:nvPr/>
        </p:nvPicPr>
        <p:blipFill rotWithShape="1">
          <a:blip r:embed="rId3">
            <a:alphaModFix/>
          </a:blip>
          <a:srcRect b="10462" l="5900" r="5986" t="10487"/>
          <a:stretch/>
        </p:blipFill>
        <p:spPr>
          <a:xfrm>
            <a:off x="656020" y="346818"/>
            <a:ext cx="2764510" cy="1739828"/>
          </a:xfrm>
          <a:prstGeom prst="rect">
            <a:avLst/>
          </a:prstGeom>
          <a:noFill/>
          <a:ln>
            <a:noFill/>
          </a:ln>
        </p:spPr>
      </p:pic>
      <p:pic>
        <p:nvPicPr>
          <p:cNvPr id="991" name="Google Shape;991;p24"/>
          <p:cNvPicPr preferRelativeResize="0"/>
          <p:nvPr/>
        </p:nvPicPr>
        <p:blipFill rotWithShape="1">
          <a:blip r:embed="rId4">
            <a:alphaModFix/>
          </a:blip>
          <a:srcRect b="0" l="0" r="0" t="0"/>
          <a:stretch/>
        </p:blipFill>
        <p:spPr>
          <a:xfrm>
            <a:off x="1337907" y="4468315"/>
            <a:ext cx="917965" cy="914400"/>
          </a:xfrm>
          <a:prstGeom prst="rect">
            <a:avLst/>
          </a:prstGeom>
          <a:noFill/>
          <a:ln>
            <a:noFill/>
          </a:ln>
        </p:spPr>
      </p:pic>
      <p:sp>
        <p:nvSpPr>
          <p:cNvPr id="992" name="Google Shape;992;p24"/>
          <p:cNvSpPr txBox="1"/>
          <p:nvPr/>
        </p:nvSpPr>
        <p:spPr>
          <a:xfrm>
            <a:off x="4226013" y="54430"/>
            <a:ext cx="7315200" cy="523220"/>
          </a:xfrm>
          <a:prstGeom prst="rect">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745"/>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lt1"/>
                </a:solidFill>
                <a:latin typeface="Calibri"/>
                <a:ea typeface="Calibri"/>
                <a:cs typeface="Calibri"/>
                <a:sym typeface="Calibri"/>
              </a:rPr>
              <a:t>PRIMARY ID</a:t>
            </a:r>
            <a:endParaRPr/>
          </a:p>
        </p:txBody>
      </p:sp>
      <p:sp>
        <p:nvSpPr>
          <p:cNvPr id="993" name="Google Shape;993;p24"/>
          <p:cNvSpPr txBox="1"/>
          <p:nvPr/>
        </p:nvSpPr>
        <p:spPr>
          <a:xfrm>
            <a:off x="4223657" y="577650"/>
            <a:ext cx="3222171" cy="1754326"/>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Passport</a:t>
            </a:r>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Driver's License</a:t>
            </a:r>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PRC ID</a:t>
            </a:r>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SSS ID</a:t>
            </a:r>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GSIS e-Card</a:t>
            </a:r>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Digitized Student Permit</a:t>
            </a:r>
            <a:endParaRPr sz="1800">
              <a:solidFill>
                <a:schemeClr val="dk1"/>
              </a:solidFill>
              <a:latin typeface="Calibri"/>
              <a:ea typeface="Calibri"/>
              <a:cs typeface="Calibri"/>
              <a:sym typeface="Calibri"/>
            </a:endParaRPr>
          </a:p>
        </p:txBody>
      </p:sp>
      <p:sp>
        <p:nvSpPr>
          <p:cNvPr id="994" name="Google Shape;994;p24"/>
          <p:cNvSpPr txBox="1"/>
          <p:nvPr/>
        </p:nvSpPr>
        <p:spPr>
          <a:xfrm>
            <a:off x="4221302" y="2926585"/>
            <a:ext cx="3657600" cy="1815882"/>
          </a:xfrm>
          <a:prstGeom prst="rect">
            <a:avLst/>
          </a:prstGeom>
          <a:solidFill>
            <a:schemeClr val="lt1"/>
          </a:solidFill>
          <a:ln cap="flat" cmpd="sng" w="12700">
            <a:solidFill>
              <a:srgbClr val="757070"/>
            </a:solidFill>
            <a:prstDash val="solid"/>
            <a:miter lim="800000"/>
            <a:headEnd len="sm" w="sm" type="none"/>
            <a:tailEnd len="sm" w="sm" type="none"/>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Non-digitized Postal ID</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Barangay Resident ID</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Integrated Bar of the Phil ID</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OLD Philhealth ID</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BIR ID</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Other IDs issued by companies regulated by BSP, SEC, IC.  </a:t>
            </a:r>
            <a:endParaRPr/>
          </a:p>
        </p:txBody>
      </p:sp>
      <p:sp>
        <p:nvSpPr>
          <p:cNvPr id="995" name="Google Shape;995;p24"/>
          <p:cNvSpPr txBox="1"/>
          <p:nvPr/>
        </p:nvSpPr>
        <p:spPr>
          <a:xfrm>
            <a:off x="7445828" y="577650"/>
            <a:ext cx="4095384" cy="1754326"/>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Digitized Philhealth ID Card</a:t>
            </a:r>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Digitized Postal ID</a:t>
            </a:r>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Unified Multipurpose ID (UMID)</a:t>
            </a:r>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Senior Citizen's Card</a:t>
            </a:r>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Other IDs issued by the Government of the Philippines</a:t>
            </a:r>
            <a:endParaRPr/>
          </a:p>
        </p:txBody>
      </p:sp>
      <p:sp>
        <p:nvSpPr>
          <p:cNvPr id="996" name="Google Shape;996;p24"/>
          <p:cNvSpPr txBox="1"/>
          <p:nvPr/>
        </p:nvSpPr>
        <p:spPr>
          <a:xfrm>
            <a:off x="7878902" y="2897070"/>
            <a:ext cx="3657600" cy="1846659"/>
          </a:xfrm>
          <a:prstGeom prst="rect">
            <a:avLst/>
          </a:prstGeom>
          <a:solidFill>
            <a:schemeClr val="lt1"/>
          </a:solidFill>
          <a:ln cap="flat" cmpd="sng" w="12700">
            <a:solidFill>
              <a:srgbClr val="757070"/>
            </a:solidFill>
            <a:prstDash val="solid"/>
            <a:miter lim="800000"/>
            <a:headEnd len="sm" w="sm" type="none"/>
            <a:tailEnd len="sm" w="sm" type="none"/>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Other IDs issued by GOCCs</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Birth Certificate issued by Phil Statistics Authority</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Marriage Certificate issued by Phil Statistics Authority</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Utility Billing Statement</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97" name="Google Shape;997;p24"/>
          <p:cNvSpPr txBox="1"/>
          <p:nvPr/>
        </p:nvSpPr>
        <p:spPr>
          <a:xfrm>
            <a:off x="4221302" y="4807920"/>
            <a:ext cx="7315200" cy="523220"/>
          </a:xfrm>
          <a:prstGeom prst="rect">
            <a:avLst/>
          </a:prstGeom>
          <a:solidFill>
            <a:srgbClr val="00B050"/>
          </a:solidFill>
          <a:ln cap="flat" cmpd="sng" w="9525">
            <a:solidFill>
              <a:srgbClr val="00B05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lt1"/>
                </a:solidFill>
                <a:latin typeface="Calibri"/>
                <a:ea typeface="Calibri"/>
                <a:cs typeface="Calibri"/>
                <a:sym typeface="Calibri"/>
              </a:rPr>
              <a:t>FOR CITIZENS OF OTHER COUNTRIES</a:t>
            </a:r>
            <a:endParaRPr/>
          </a:p>
        </p:txBody>
      </p:sp>
      <p:sp>
        <p:nvSpPr>
          <p:cNvPr id="998" name="Google Shape;998;p24"/>
          <p:cNvSpPr txBox="1"/>
          <p:nvPr/>
        </p:nvSpPr>
        <p:spPr>
          <a:xfrm>
            <a:off x="4223656" y="5331140"/>
            <a:ext cx="7312845" cy="1323439"/>
          </a:xfrm>
          <a:prstGeom prst="rect">
            <a:avLst/>
          </a:prstGeom>
          <a:solidFill>
            <a:schemeClr val="lt1"/>
          </a:solidFill>
          <a:ln cap="flat" cmpd="sng" w="12700">
            <a:solidFill>
              <a:srgbClr val="00B050"/>
            </a:solidFill>
            <a:prstDash val="solid"/>
            <a:miter lim="800000"/>
            <a:headEnd len="sm" w="sm" type="none"/>
            <a:tailEnd len="sm" w="sm" type="none"/>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The client must present </a:t>
            </a:r>
            <a:r>
              <a:rPr b="1" lang="en-US" sz="1600">
                <a:solidFill>
                  <a:schemeClr val="dk1"/>
                </a:solidFill>
                <a:latin typeface="Calibri"/>
                <a:ea typeface="Calibri"/>
                <a:cs typeface="Calibri"/>
                <a:sym typeface="Calibri"/>
              </a:rPr>
              <a:t>a valid passport </a:t>
            </a:r>
            <a:r>
              <a:rPr lang="en-US" sz="1600">
                <a:solidFill>
                  <a:schemeClr val="dk1"/>
                </a:solidFill>
                <a:latin typeface="Calibri"/>
                <a:ea typeface="Calibri"/>
                <a:cs typeface="Calibri"/>
                <a:sym typeface="Calibri"/>
              </a:rPr>
              <a:t>and present any one (1) of the following original IDs issued by the Philippine government to foreigners:</a:t>
            </a:r>
            <a:endParaRPr/>
          </a:p>
          <a:p>
            <a:pPr indent="-285750" lvl="1" marL="742950" marR="0" rtl="0" algn="l">
              <a:spcBef>
                <a:spcPts val="0"/>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Alien Certificate of Registration (ACR) i-Card </a:t>
            </a:r>
            <a:endParaRPr/>
          </a:p>
          <a:p>
            <a:pPr indent="-285750" lvl="1" marL="742950" marR="0" rtl="0" algn="l">
              <a:spcBef>
                <a:spcPts val="0"/>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Alien Employment Permit (AEP) </a:t>
            </a:r>
            <a:endParaRPr/>
          </a:p>
          <a:p>
            <a:pPr indent="-285750" lvl="1" marL="742950" marR="0" rtl="0" algn="l">
              <a:spcBef>
                <a:spcPts val="0"/>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Special Resident Retiree’s Visa (SRRV) ID </a:t>
            </a:r>
            <a:endParaRPr/>
          </a:p>
        </p:txBody>
      </p:sp>
      <p:sp>
        <p:nvSpPr>
          <p:cNvPr id="999" name="Google Shape;999;p24"/>
          <p:cNvSpPr txBox="1"/>
          <p:nvPr/>
        </p:nvSpPr>
        <p:spPr>
          <a:xfrm>
            <a:off x="4223657" y="2418237"/>
            <a:ext cx="7315200" cy="523220"/>
          </a:xfrm>
          <a:prstGeom prst="rect">
            <a:avLst/>
          </a:prstGeom>
          <a:solidFill>
            <a:srgbClr val="3A3838"/>
          </a:solidFill>
          <a:ln cap="flat" cmpd="sng" w="9525">
            <a:solidFill>
              <a:srgbClr val="75707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lt1"/>
                </a:solidFill>
                <a:latin typeface="Calibri"/>
                <a:ea typeface="Calibri"/>
                <a:cs typeface="Calibri"/>
                <a:sym typeface="Calibri"/>
              </a:rPr>
              <a:t>SECONDARY ID</a:t>
            </a:r>
            <a:endParaRPr b="1" sz="2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0"/>
                                        </p:tgtEl>
                                        <p:attrNameLst>
                                          <p:attrName>style.visibility</p:attrName>
                                        </p:attrNameLst>
                                      </p:cBhvr>
                                      <p:to>
                                        <p:strVal val="visible"/>
                                      </p:to>
                                    </p:set>
                                    <p:animEffect filter="fade" transition="in">
                                      <p:cBhvr>
                                        <p:cTn dur="1000"/>
                                        <p:tgtEl>
                                          <p:spTgt spid="990"/>
                                        </p:tgtEl>
                                      </p:cBhvr>
                                    </p:animEffect>
                                  </p:childTnLst>
                                </p:cTn>
                              </p:par>
                              <p:par>
                                <p:cTn fill="hold" nodeType="withEffect" presetClass="entr" presetID="10" presetSubtype="0">
                                  <p:stCondLst>
                                    <p:cond delay="0"/>
                                  </p:stCondLst>
                                  <p:childTnLst>
                                    <p:set>
                                      <p:cBhvr>
                                        <p:cTn dur="1" fill="hold">
                                          <p:stCondLst>
                                            <p:cond delay="0"/>
                                          </p:stCondLst>
                                        </p:cTn>
                                        <p:tgtEl>
                                          <p:spTgt spid="985"/>
                                        </p:tgtEl>
                                        <p:attrNameLst>
                                          <p:attrName>style.visibility</p:attrName>
                                        </p:attrNameLst>
                                      </p:cBhvr>
                                      <p:to>
                                        <p:strVal val="visible"/>
                                      </p:to>
                                    </p:set>
                                    <p:animEffect filter="fade" transition="in">
                                      <p:cBhvr>
                                        <p:cTn dur="1000"/>
                                        <p:tgtEl>
                                          <p:spTgt spid="985"/>
                                        </p:tgtEl>
                                      </p:cBhvr>
                                    </p:animEffect>
                                  </p:childTnLst>
                                </p:cTn>
                              </p:par>
                              <p:par>
                                <p:cTn fill="hold" nodeType="withEffect" presetClass="entr" presetID="10" presetSubtype="0">
                                  <p:stCondLst>
                                    <p:cond delay="0"/>
                                  </p:stCondLst>
                                  <p:childTnLst>
                                    <p:set>
                                      <p:cBhvr>
                                        <p:cTn dur="1" fill="hold">
                                          <p:stCondLst>
                                            <p:cond delay="0"/>
                                          </p:stCondLst>
                                        </p:cTn>
                                        <p:tgtEl>
                                          <p:spTgt spid="989"/>
                                        </p:tgtEl>
                                        <p:attrNameLst>
                                          <p:attrName>style.visibility</p:attrName>
                                        </p:attrNameLst>
                                      </p:cBhvr>
                                      <p:to>
                                        <p:strVal val="visible"/>
                                      </p:to>
                                    </p:set>
                                    <p:animEffect filter="fade" transition="in">
                                      <p:cBhvr>
                                        <p:cTn dur="1000"/>
                                        <p:tgtEl>
                                          <p:spTgt spid="9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8"/>
                                        </p:tgtEl>
                                        <p:attrNameLst>
                                          <p:attrName>style.visibility</p:attrName>
                                        </p:attrNameLst>
                                      </p:cBhvr>
                                      <p:to>
                                        <p:strVal val="visible"/>
                                      </p:to>
                                    </p:set>
                                    <p:animEffect filter="fade" transition="in">
                                      <p:cBhvr>
                                        <p:cTn dur="500"/>
                                        <p:tgtEl>
                                          <p:spTgt spid="9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2"/>
                                        </p:tgtEl>
                                        <p:attrNameLst>
                                          <p:attrName>style.visibility</p:attrName>
                                        </p:attrNameLst>
                                      </p:cBhvr>
                                      <p:to>
                                        <p:strVal val="visible"/>
                                      </p:to>
                                    </p:set>
                                    <p:animEffect filter="fade" transition="in">
                                      <p:cBhvr>
                                        <p:cTn dur="1000"/>
                                        <p:tgtEl>
                                          <p:spTgt spid="992"/>
                                        </p:tgtEl>
                                      </p:cBhvr>
                                    </p:animEffect>
                                  </p:childTnLst>
                                </p:cTn>
                              </p:par>
                              <p:par>
                                <p:cTn fill="hold" nodeType="withEffect" presetClass="entr" presetID="10" presetSubtype="0">
                                  <p:stCondLst>
                                    <p:cond delay="0"/>
                                  </p:stCondLst>
                                  <p:childTnLst>
                                    <p:set>
                                      <p:cBhvr>
                                        <p:cTn dur="1" fill="hold">
                                          <p:stCondLst>
                                            <p:cond delay="0"/>
                                          </p:stCondLst>
                                        </p:cTn>
                                        <p:tgtEl>
                                          <p:spTgt spid="999"/>
                                        </p:tgtEl>
                                        <p:attrNameLst>
                                          <p:attrName>style.visibility</p:attrName>
                                        </p:attrNameLst>
                                      </p:cBhvr>
                                      <p:to>
                                        <p:strVal val="visible"/>
                                      </p:to>
                                    </p:set>
                                    <p:animEffect filter="fade" transition="in">
                                      <p:cBhvr>
                                        <p:cTn dur="1000"/>
                                        <p:tgtEl>
                                          <p:spTgt spid="9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5"/>
                                        </p:tgtEl>
                                        <p:attrNameLst>
                                          <p:attrName>style.visibility</p:attrName>
                                        </p:attrNameLst>
                                      </p:cBhvr>
                                      <p:to>
                                        <p:strVal val="visible"/>
                                      </p:to>
                                    </p:set>
                                    <p:animEffect filter="fade" transition="in">
                                      <p:cBhvr>
                                        <p:cTn dur="500"/>
                                        <p:tgtEl>
                                          <p:spTgt spid="995"/>
                                        </p:tgtEl>
                                      </p:cBhvr>
                                    </p:animEffect>
                                  </p:childTnLst>
                                </p:cTn>
                              </p:par>
                              <p:par>
                                <p:cTn fill="hold" nodeType="withEffect" presetClass="entr" presetID="10" presetSubtype="0">
                                  <p:stCondLst>
                                    <p:cond delay="0"/>
                                  </p:stCondLst>
                                  <p:childTnLst>
                                    <p:set>
                                      <p:cBhvr>
                                        <p:cTn dur="1" fill="hold">
                                          <p:stCondLst>
                                            <p:cond delay="0"/>
                                          </p:stCondLst>
                                        </p:cTn>
                                        <p:tgtEl>
                                          <p:spTgt spid="993"/>
                                        </p:tgtEl>
                                        <p:attrNameLst>
                                          <p:attrName>style.visibility</p:attrName>
                                        </p:attrNameLst>
                                      </p:cBhvr>
                                      <p:to>
                                        <p:strVal val="visible"/>
                                      </p:to>
                                    </p:set>
                                    <p:animEffect filter="fade" transition="in">
                                      <p:cBhvr>
                                        <p:cTn dur="500"/>
                                        <p:tgtEl>
                                          <p:spTgt spid="993"/>
                                        </p:tgtEl>
                                      </p:cBhvr>
                                    </p:animEffect>
                                  </p:childTnLst>
                                </p:cTn>
                              </p:par>
                              <p:par>
                                <p:cTn fill="hold" nodeType="withEffect" presetClass="entr" presetID="10" presetSubtype="0">
                                  <p:stCondLst>
                                    <p:cond delay="0"/>
                                  </p:stCondLst>
                                  <p:childTnLst>
                                    <p:set>
                                      <p:cBhvr>
                                        <p:cTn dur="1" fill="hold">
                                          <p:stCondLst>
                                            <p:cond delay="0"/>
                                          </p:stCondLst>
                                        </p:cTn>
                                        <p:tgtEl>
                                          <p:spTgt spid="994"/>
                                        </p:tgtEl>
                                        <p:attrNameLst>
                                          <p:attrName>style.visibility</p:attrName>
                                        </p:attrNameLst>
                                      </p:cBhvr>
                                      <p:to>
                                        <p:strVal val="visible"/>
                                      </p:to>
                                    </p:set>
                                    <p:animEffect filter="fade" transition="in">
                                      <p:cBhvr>
                                        <p:cTn dur="500"/>
                                        <p:tgtEl>
                                          <p:spTgt spid="994"/>
                                        </p:tgtEl>
                                      </p:cBhvr>
                                    </p:animEffect>
                                  </p:childTnLst>
                                </p:cTn>
                              </p:par>
                              <p:par>
                                <p:cTn fill="hold" nodeType="withEffect" presetClass="entr" presetID="10" presetSubtype="0">
                                  <p:stCondLst>
                                    <p:cond delay="0"/>
                                  </p:stCondLst>
                                  <p:childTnLst>
                                    <p:set>
                                      <p:cBhvr>
                                        <p:cTn dur="1" fill="hold">
                                          <p:stCondLst>
                                            <p:cond delay="0"/>
                                          </p:stCondLst>
                                        </p:cTn>
                                        <p:tgtEl>
                                          <p:spTgt spid="996"/>
                                        </p:tgtEl>
                                        <p:attrNameLst>
                                          <p:attrName>style.visibility</p:attrName>
                                        </p:attrNameLst>
                                      </p:cBhvr>
                                      <p:to>
                                        <p:strVal val="visible"/>
                                      </p:to>
                                    </p:set>
                                    <p:animEffect filter="fade" transition="in">
                                      <p:cBhvr>
                                        <p:cTn dur="500"/>
                                        <p:tgtEl>
                                          <p:spTgt spid="9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7"/>
                                        </p:tgtEl>
                                        <p:attrNameLst>
                                          <p:attrName>style.visibility</p:attrName>
                                        </p:attrNameLst>
                                      </p:cBhvr>
                                      <p:to>
                                        <p:strVal val="visible"/>
                                      </p:to>
                                    </p:set>
                                    <p:animEffect filter="fade" transition="in">
                                      <p:cBhvr>
                                        <p:cTn dur="1000"/>
                                        <p:tgtEl>
                                          <p:spTgt spid="997"/>
                                        </p:tgtEl>
                                      </p:cBhvr>
                                    </p:animEffect>
                                  </p:childTnLst>
                                </p:cTn>
                              </p:par>
                              <p:par>
                                <p:cTn fill="hold" nodeType="withEffect" presetClass="entr" presetID="10" presetSubtype="0">
                                  <p:stCondLst>
                                    <p:cond delay="0"/>
                                  </p:stCondLst>
                                  <p:childTnLst>
                                    <p:set>
                                      <p:cBhvr>
                                        <p:cTn dur="1" fill="hold">
                                          <p:stCondLst>
                                            <p:cond delay="0"/>
                                          </p:stCondLst>
                                        </p:cTn>
                                        <p:tgtEl>
                                          <p:spTgt spid="998"/>
                                        </p:tgtEl>
                                        <p:attrNameLst>
                                          <p:attrName>style.visibility</p:attrName>
                                        </p:attrNameLst>
                                      </p:cBhvr>
                                      <p:to>
                                        <p:strVal val="visible"/>
                                      </p:to>
                                    </p:set>
                                    <p:animEffect filter="fade" transition="in">
                                      <p:cBhvr>
                                        <p:cTn dur="1000"/>
                                        <p:tgtEl>
                                          <p:spTgt spid="9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25"/>
          <p:cNvSpPr/>
          <p:nvPr/>
        </p:nvSpPr>
        <p:spPr>
          <a:xfrm>
            <a:off x="183732" y="4244921"/>
            <a:ext cx="1045163" cy="2613079"/>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06" name="Google Shape;1006;p25"/>
          <p:cNvSpPr txBox="1"/>
          <p:nvPr/>
        </p:nvSpPr>
        <p:spPr>
          <a:xfrm>
            <a:off x="183730" y="5186729"/>
            <a:ext cx="2973634" cy="120032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Commonly Omitted Questions in the Application  Forms </a:t>
            </a:r>
            <a:endParaRPr b="1" sz="1200">
              <a:solidFill>
                <a:schemeClr val="dk1"/>
              </a:solidFill>
              <a:latin typeface="Calibri"/>
              <a:ea typeface="Calibri"/>
              <a:cs typeface="Calibri"/>
              <a:sym typeface="Calibri"/>
            </a:endParaRPr>
          </a:p>
        </p:txBody>
      </p:sp>
      <p:pic>
        <p:nvPicPr>
          <p:cNvPr id="1007" name="Google Shape;1007;p25"/>
          <p:cNvPicPr preferRelativeResize="0"/>
          <p:nvPr/>
        </p:nvPicPr>
        <p:blipFill rotWithShape="1">
          <a:blip r:embed="rId3">
            <a:alphaModFix/>
          </a:blip>
          <a:srcRect b="0" l="0" r="0" t="0"/>
          <a:stretch/>
        </p:blipFill>
        <p:spPr>
          <a:xfrm>
            <a:off x="1337907" y="4468315"/>
            <a:ext cx="917965" cy="914400"/>
          </a:xfrm>
          <a:prstGeom prst="rect">
            <a:avLst/>
          </a:prstGeom>
          <a:noFill/>
          <a:ln>
            <a:noFill/>
          </a:ln>
        </p:spPr>
      </p:pic>
      <p:sp>
        <p:nvSpPr>
          <p:cNvPr id="1008" name="Google Shape;1008;p25"/>
          <p:cNvSpPr/>
          <p:nvPr/>
        </p:nvSpPr>
        <p:spPr>
          <a:xfrm>
            <a:off x="183730" y="4244921"/>
            <a:ext cx="112082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200">
                <a:solidFill>
                  <a:srgbClr val="000000"/>
                </a:solidFill>
                <a:latin typeface="Calibri"/>
                <a:ea typeface="Calibri"/>
                <a:cs typeface="Calibri"/>
                <a:sym typeface="Calibri"/>
              </a:rPr>
              <a:t>04</a:t>
            </a:r>
            <a:endParaRPr sz="4400">
              <a:solidFill>
                <a:srgbClr val="000000"/>
              </a:solidFill>
              <a:latin typeface="Calibri"/>
              <a:ea typeface="Calibri"/>
              <a:cs typeface="Calibri"/>
              <a:sym typeface="Calibri"/>
            </a:endParaRPr>
          </a:p>
        </p:txBody>
      </p:sp>
      <p:pic>
        <p:nvPicPr>
          <p:cNvPr id="1009" name="Google Shape;1009;p25"/>
          <p:cNvPicPr preferRelativeResize="0"/>
          <p:nvPr/>
        </p:nvPicPr>
        <p:blipFill rotWithShape="1">
          <a:blip r:embed="rId4">
            <a:alphaModFix/>
          </a:blip>
          <a:srcRect b="0" l="0" r="0" t="0"/>
          <a:stretch/>
        </p:blipFill>
        <p:spPr>
          <a:xfrm>
            <a:off x="7532450" y="254502"/>
            <a:ext cx="4499324" cy="5804402"/>
          </a:xfrm>
          <a:prstGeom prst="rect">
            <a:avLst/>
          </a:prstGeom>
          <a:noFill/>
          <a:ln>
            <a:noFill/>
          </a:ln>
          <a:effectLst>
            <a:outerShdw blurRad="292100" rotWithShape="0" algn="tl" dir="2700000" dist="139700">
              <a:srgbClr val="333333">
                <a:alpha val="64705"/>
              </a:srgbClr>
            </a:outerShdw>
          </a:effectLst>
        </p:spPr>
      </p:pic>
      <p:sp>
        <p:nvSpPr>
          <p:cNvPr id="1010" name="Google Shape;1010;p25"/>
          <p:cNvSpPr txBox="1"/>
          <p:nvPr/>
        </p:nvSpPr>
        <p:spPr>
          <a:xfrm>
            <a:off x="183730" y="254502"/>
            <a:ext cx="7191434" cy="4124206"/>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FF0000"/>
                </a:solidFill>
                <a:latin typeface="Calibri"/>
                <a:ea typeface="Calibri"/>
                <a:cs typeface="Calibri"/>
                <a:sym typeface="Calibri"/>
              </a:rPr>
              <a:t>To avoid delay in application processing time: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Print clearly</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Use black ink</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AVOID omissions</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If there are given choices, please select accordingly</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Indicate N/A if question is not applicable  </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Any erasures, superimpositions, or alterations must be signed by the insured/applicant</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Advisor’s report is not acceptable for “application form omissions”</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Any yes answers on health information section should be supported with details</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Advisor must use his or her own proposal system access</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Take note of Market Conduct Guidelines re: ownership and beneficiary</a:t>
            </a:r>
            <a:endParaRPr/>
          </a:p>
        </p:txBody>
      </p:sp>
      <p:sp>
        <p:nvSpPr>
          <p:cNvPr descr="Image result for submission icon" id="1011" name="Google Shape;1011;p25"/>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12" name="Google Shape;1012;p25"/>
          <p:cNvPicPr preferRelativeResize="0"/>
          <p:nvPr/>
        </p:nvPicPr>
        <p:blipFill rotWithShape="1">
          <a:blip r:embed="rId5">
            <a:alphaModFix/>
          </a:blip>
          <a:srcRect b="0" l="0" r="0" t="0"/>
          <a:stretch/>
        </p:blipFill>
        <p:spPr>
          <a:xfrm>
            <a:off x="2701046" y="4272329"/>
            <a:ext cx="1828800" cy="1828800"/>
          </a:xfrm>
          <a:prstGeom prst="rect">
            <a:avLst/>
          </a:prstGeom>
          <a:noFill/>
          <a:ln>
            <a:noFill/>
          </a:ln>
        </p:spPr>
      </p:pic>
      <p:sp>
        <p:nvSpPr>
          <p:cNvPr id="1013" name="Google Shape;1013;p25"/>
          <p:cNvSpPr/>
          <p:nvPr/>
        </p:nvSpPr>
        <p:spPr>
          <a:xfrm>
            <a:off x="6003564" y="4901659"/>
            <a:ext cx="1371600" cy="498615"/>
          </a:xfrm>
          <a:prstGeom prst="stripedRightArrow">
            <a:avLst>
              <a:gd fmla="val 50000" name="adj1"/>
              <a:gd fmla="val 50000" name="adj2"/>
            </a:avLst>
          </a:prstGeom>
          <a:gradFill>
            <a:gsLst>
              <a:gs pos="0">
                <a:srgbClr val="474747"/>
              </a:gs>
              <a:gs pos="50000">
                <a:schemeClr val="dk1"/>
              </a:gs>
              <a:gs pos="100000">
                <a:schemeClr val="dk1"/>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014" name="Google Shape;1014;p25"/>
          <p:cNvPicPr preferRelativeResize="0"/>
          <p:nvPr/>
        </p:nvPicPr>
        <p:blipFill rotWithShape="1">
          <a:blip r:embed="rId6">
            <a:alphaModFix/>
          </a:blip>
          <a:srcRect b="0" l="0" r="0" t="0"/>
          <a:stretch/>
        </p:blipFill>
        <p:spPr>
          <a:xfrm>
            <a:off x="4325973" y="4272329"/>
            <a:ext cx="1828800" cy="1828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0"/>
                                        </p:tgtEl>
                                        <p:attrNameLst>
                                          <p:attrName>style.visibility</p:attrName>
                                        </p:attrNameLst>
                                      </p:cBhvr>
                                      <p:to>
                                        <p:strVal val="visible"/>
                                      </p:to>
                                    </p:set>
                                    <p:animEffect filter="fade" transition="in">
                                      <p:cBhvr>
                                        <p:cTn dur="1000"/>
                                        <p:tgtEl>
                                          <p:spTgt spid="10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12"/>
                                        </p:tgtEl>
                                        <p:attrNameLst>
                                          <p:attrName>style.visibility</p:attrName>
                                        </p:attrNameLst>
                                      </p:cBhvr>
                                      <p:to>
                                        <p:strVal val="visible"/>
                                      </p:to>
                                    </p:set>
                                    <p:anim calcmode="lin" valueType="num">
                                      <p:cBhvr additive="base">
                                        <p:cTn dur="500"/>
                                        <p:tgtEl>
                                          <p:spTgt spid="101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014"/>
                                        </p:tgtEl>
                                        <p:attrNameLst>
                                          <p:attrName>style.visibility</p:attrName>
                                        </p:attrNameLst>
                                      </p:cBhvr>
                                      <p:to>
                                        <p:strVal val="visible"/>
                                      </p:to>
                                    </p:set>
                                    <p:anim calcmode="lin" valueType="num">
                                      <p:cBhvr additive="base">
                                        <p:cTn dur="500"/>
                                        <p:tgtEl>
                                          <p:spTgt spid="101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013"/>
                                        </p:tgtEl>
                                        <p:attrNameLst>
                                          <p:attrName>style.visibility</p:attrName>
                                        </p:attrNameLst>
                                      </p:cBhvr>
                                      <p:to>
                                        <p:strVal val="visible"/>
                                      </p:to>
                                    </p:set>
                                    <p:anim calcmode="lin" valueType="num">
                                      <p:cBhvr additive="base">
                                        <p:cTn dur="500"/>
                                        <p:tgtEl>
                                          <p:spTgt spid="101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009"/>
                                        </p:tgtEl>
                                        <p:attrNameLst>
                                          <p:attrName>style.visibility</p:attrName>
                                        </p:attrNameLst>
                                      </p:cBhvr>
                                      <p:to>
                                        <p:strVal val="visible"/>
                                      </p:to>
                                    </p:set>
                                    <p:anim calcmode="lin" valueType="num">
                                      <p:cBhvr additive="base">
                                        <p:cTn dur="500"/>
                                        <p:tgtEl>
                                          <p:spTgt spid="100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26"/>
          <p:cNvSpPr/>
          <p:nvPr/>
        </p:nvSpPr>
        <p:spPr>
          <a:xfrm>
            <a:off x="154702" y="102974"/>
            <a:ext cx="863192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A3838"/>
                </a:solidFill>
                <a:latin typeface="Calibri"/>
                <a:ea typeface="Calibri"/>
                <a:cs typeface="Calibri"/>
                <a:sym typeface="Calibri"/>
              </a:rPr>
              <a:t>Top 30 Application Form Omissions and Discrepancies</a:t>
            </a:r>
            <a:endParaRPr b="1" sz="1800">
              <a:solidFill>
                <a:schemeClr val="dk1"/>
              </a:solidFill>
              <a:latin typeface="Calibri"/>
              <a:ea typeface="Calibri"/>
              <a:cs typeface="Calibri"/>
              <a:sym typeface="Calibri"/>
            </a:endParaRPr>
          </a:p>
        </p:txBody>
      </p:sp>
      <p:sp>
        <p:nvSpPr>
          <p:cNvPr id="1021" name="Google Shape;1021;p26"/>
          <p:cNvSpPr txBox="1"/>
          <p:nvPr/>
        </p:nvSpPr>
        <p:spPr>
          <a:xfrm>
            <a:off x="6737224" y="529582"/>
            <a:ext cx="5275282" cy="6232475"/>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1900"/>
              <a:buFont typeface="Calibri"/>
              <a:buAutoNum type="arabicPeriod"/>
            </a:pPr>
            <a:r>
              <a:rPr lang="en-US" sz="1900">
                <a:solidFill>
                  <a:schemeClr val="dk1"/>
                </a:solidFill>
                <a:latin typeface="Calibri"/>
                <a:ea typeface="Calibri"/>
                <a:cs typeface="Calibri"/>
                <a:sym typeface="Calibri"/>
              </a:rPr>
              <a:t>Discrepancy on the name and birthdate of insured/applicant on submitted ID versus the application form declaration.</a:t>
            </a:r>
            <a:endParaRPr sz="19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1900"/>
              <a:buFont typeface="Calibri"/>
              <a:buAutoNum type="arabicPeriod"/>
            </a:pPr>
            <a:r>
              <a:rPr lang="en-US" sz="1900">
                <a:solidFill>
                  <a:schemeClr val="dk1"/>
                </a:solidFill>
                <a:latin typeface="Calibri"/>
                <a:ea typeface="Calibri"/>
                <a:cs typeface="Calibri"/>
                <a:sym typeface="Calibri"/>
              </a:rPr>
              <a:t>Complete middle name of clients are not declared.</a:t>
            </a:r>
            <a:endParaRPr/>
          </a:p>
          <a:p>
            <a:pPr indent="-457200" lvl="0" marL="457200" marR="0" rtl="0" algn="l">
              <a:spcBef>
                <a:spcPts val="0"/>
              </a:spcBef>
              <a:spcAft>
                <a:spcPts val="0"/>
              </a:spcAft>
              <a:buClr>
                <a:schemeClr val="dk1"/>
              </a:buClr>
              <a:buSzPts val="1900"/>
              <a:buFont typeface="Calibri"/>
              <a:buAutoNum type="arabicPeriod"/>
            </a:pPr>
            <a:r>
              <a:rPr lang="en-US" sz="1900">
                <a:solidFill>
                  <a:schemeClr val="dk1"/>
                </a:solidFill>
                <a:latin typeface="Calibri"/>
                <a:ea typeface="Calibri"/>
                <a:cs typeface="Calibri"/>
                <a:sym typeface="Calibri"/>
              </a:rPr>
              <a:t>TIN and SSS/GSIS number is omitted or answered as N/A but the client is actively or previously employed. </a:t>
            </a:r>
            <a:endParaRPr/>
          </a:p>
          <a:p>
            <a:pPr indent="-457200" lvl="0" marL="457200" marR="0" rtl="0" algn="l">
              <a:spcBef>
                <a:spcPts val="0"/>
              </a:spcBef>
              <a:spcAft>
                <a:spcPts val="0"/>
              </a:spcAft>
              <a:buClr>
                <a:schemeClr val="dk1"/>
              </a:buClr>
              <a:buSzPts val="1900"/>
              <a:buFont typeface="Calibri"/>
              <a:buAutoNum type="arabicPeriod"/>
            </a:pPr>
            <a:r>
              <a:rPr lang="en-US" sz="1900">
                <a:solidFill>
                  <a:schemeClr val="dk1"/>
                </a:solidFill>
                <a:latin typeface="Calibri"/>
                <a:ea typeface="Calibri"/>
                <a:cs typeface="Calibri"/>
                <a:sym typeface="Calibri"/>
              </a:rPr>
              <a:t>Permanent/Present/Business address are mostly incomplete, omitted or answered as N/A or S/A.</a:t>
            </a:r>
            <a:endParaRPr sz="19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1900"/>
              <a:buFont typeface="Calibri"/>
              <a:buAutoNum type="arabicPeriod"/>
            </a:pPr>
            <a:r>
              <a:rPr lang="en-US" sz="1900">
                <a:solidFill>
                  <a:schemeClr val="dk1"/>
                </a:solidFill>
                <a:latin typeface="Calibri"/>
                <a:ea typeface="Calibri"/>
                <a:cs typeface="Calibri"/>
                <a:sym typeface="Calibri"/>
              </a:rPr>
              <a:t>Page 1: Country/ies of Legal Residence</a:t>
            </a:r>
            <a:endParaRPr sz="19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1900"/>
              <a:buFont typeface="Calibri"/>
              <a:buAutoNum type="arabicPeriod"/>
            </a:pPr>
            <a:r>
              <a:rPr lang="en-US" sz="1900">
                <a:solidFill>
                  <a:schemeClr val="dk1"/>
                </a:solidFill>
                <a:latin typeface="Calibri"/>
                <a:ea typeface="Calibri"/>
                <a:cs typeface="Calibri"/>
                <a:sym typeface="Calibri"/>
              </a:rPr>
              <a:t>Page 1: Government Position </a:t>
            </a:r>
            <a:endParaRPr sz="19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1900"/>
              <a:buFont typeface="Calibri"/>
              <a:buAutoNum type="arabicPeriod"/>
            </a:pPr>
            <a:r>
              <a:rPr lang="en-US" sz="1900">
                <a:solidFill>
                  <a:schemeClr val="dk1"/>
                </a:solidFill>
                <a:latin typeface="Calibri"/>
                <a:ea typeface="Calibri"/>
                <a:cs typeface="Calibri"/>
                <a:sym typeface="Calibri"/>
              </a:rPr>
              <a:t>Page 2: Section B Question 70: source of funds</a:t>
            </a:r>
            <a:endParaRPr sz="19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1900"/>
              <a:buFont typeface="Calibri"/>
              <a:buAutoNum type="arabicPeriod"/>
            </a:pPr>
            <a:r>
              <a:rPr lang="en-US" sz="1900">
                <a:solidFill>
                  <a:schemeClr val="dk1"/>
                </a:solidFill>
                <a:latin typeface="Calibri"/>
                <a:ea typeface="Calibri"/>
                <a:cs typeface="Calibri"/>
                <a:sym typeface="Calibri"/>
              </a:rPr>
              <a:t>Page 3: Section E Questions 78-85: Plan details for Traditional Product Applications</a:t>
            </a:r>
            <a:endParaRPr sz="19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1900"/>
              <a:buFont typeface="Calibri"/>
              <a:buAutoNum type="arabicPeriod"/>
            </a:pPr>
            <a:r>
              <a:rPr lang="en-US" sz="1900">
                <a:solidFill>
                  <a:schemeClr val="dk1"/>
                </a:solidFill>
                <a:latin typeface="Calibri"/>
                <a:ea typeface="Calibri"/>
                <a:cs typeface="Calibri"/>
                <a:sym typeface="Calibri"/>
              </a:rPr>
              <a:t>Unit of measurement for height and weight is either omitted or incorrect.</a:t>
            </a:r>
            <a:endParaRPr/>
          </a:p>
          <a:p>
            <a:pPr indent="-457200" lvl="0" marL="457200" marR="0" rtl="0" algn="l">
              <a:spcBef>
                <a:spcPts val="0"/>
              </a:spcBef>
              <a:spcAft>
                <a:spcPts val="0"/>
              </a:spcAft>
              <a:buClr>
                <a:schemeClr val="dk1"/>
              </a:buClr>
              <a:buSzPts val="1900"/>
              <a:buFont typeface="Calibri"/>
              <a:buAutoNum type="arabicPeriod"/>
            </a:pPr>
            <a:r>
              <a:rPr lang="en-US" sz="1900">
                <a:solidFill>
                  <a:schemeClr val="dk1"/>
                </a:solidFill>
                <a:latin typeface="Calibri"/>
                <a:ea typeface="Calibri"/>
                <a:cs typeface="Calibri"/>
                <a:sym typeface="Calibri"/>
              </a:rPr>
              <a:t>Section K: Third party details regarding source of fund - student/Housewife receiving allowance/allotment.</a:t>
            </a:r>
            <a:endParaRPr sz="1900">
              <a:solidFill>
                <a:schemeClr val="dk1"/>
              </a:solidFill>
              <a:latin typeface="Calibri"/>
              <a:ea typeface="Calibri"/>
              <a:cs typeface="Calibri"/>
              <a:sym typeface="Calibri"/>
            </a:endParaRPr>
          </a:p>
        </p:txBody>
      </p:sp>
      <p:pic>
        <p:nvPicPr>
          <p:cNvPr id="1022" name="Google Shape;1022;p26"/>
          <p:cNvPicPr preferRelativeResize="0"/>
          <p:nvPr/>
        </p:nvPicPr>
        <p:blipFill rotWithShape="1">
          <a:blip r:embed="rId3">
            <a:alphaModFix/>
          </a:blip>
          <a:srcRect b="0" l="0" r="0" t="0"/>
          <a:stretch/>
        </p:blipFill>
        <p:spPr>
          <a:xfrm>
            <a:off x="170467" y="572219"/>
            <a:ext cx="6340248" cy="3562267"/>
          </a:xfrm>
          <a:prstGeom prst="rect">
            <a:avLst/>
          </a:prstGeom>
          <a:noFill/>
          <a:ln>
            <a:noFill/>
          </a:ln>
        </p:spPr>
      </p:pic>
      <p:sp>
        <p:nvSpPr>
          <p:cNvPr id="1023" name="Google Shape;1023;p26"/>
          <p:cNvSpPr/>
          <p:nvPr/>
        </p:nvSpPr>
        <p:spPr>
          <a:xfrm>
            <a:off x="3640728" y="852694"/>
            <a:ext cx="1291772" cy="261257"/>
          </a:xfrm>
          <a:prstGeom prst="rect">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024" name="Google Shape;1024;p26"/>
          <p:cNvSpPr/>
          <p:nvPr/>
        </p:nvSpPr>
        <p:spPr>
          <a:xfrm>
            <a:off x="791218" y="1190171"/>
            <a:ext cx="2475745" cy="316277"/>
          </a:xfrm>
          <a:prstGeom prst="rect">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025" name="Google Shape;1025;p26"/>
          <p:cNvSpPr/>
          <p:nvPr/>
        </p:nvSpPr>
        <p:spPr>
          <a:xfrm>
            <a:off x="3396342" y="1565607"/>
            <a:ext cx="3114374" cy="364793"/>
          </a:xfrm>
          <a:prstGeom prst="rect">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026" name="Google Shape;1026;p26"/>
          <p:cNvSpPr/>
          <p:nvPr/>
        </p:nvSpPr>
        <p:spPr>
          <a:xfrm>
            <a:off x="4891196" y="1206401"/>
            <a:ext cx="1619519" cy="359206"/>
          </a:xfrm>
          <a:prstGeom prst="rect">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027" name="Google Shape;1027;p26"/>
          <p:cNvSpPr/>
          <p:nvPr/>
        </p:nvSpPr>
        <p:spPr>
          <a:xfrm>
            <a:off x="132617" y="2136942"/>
            <a:ext cx="3887839" cy="511872"/>
          </a:xfrm>
          <a:prstGeom prst="rect">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028" name="Google Shape;1028;p26"/>
          <p:cNvSpPr/>
          <p:nvPr/>
        </p:nvSpPr>
        <p:spPr>
          <a:xfrm>
            <a:off x="220181" y="3614188"/>
            <a:ext cx="3887839" cy="511872"/>
          </a:xfrm>
          <a:prstGeom prst="rect">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pic>
        <p:nvPicPr>
          <p:cNvPr id="1029" name="Google Shape;1029;p26"/>
          <p:cNvPicPr preferRelativeResize="0"/>
          <p:nvPr/>
        </p:nvPicPr>
        <p:blipFill rotWithShape="1">
          <a:blip r:embed="rId4">
            <a:alphaModFix/>
          </a:blip>
          <a:srcRect b="0" l="0" r="0" t="0"/>
          <a:stretch/>
        </p:blipFill>
        <p:spPr>
          <a:xfrm>
            <a:off x="154702" y="4332602"/>
            <a:ext cx="6428321" cy="921569"/>
          </a:xfrm>
          <a:prstGeom prst="rect">
            <a:avLst/>
          </a:prstGeom>
          <a:noFill/>
          <a:ln>
            <a:noFill/>
          </a:ln>
        </p:spPr>
      </p:pic>
      <p:sp>
        <p:nvSpPr>
          <p:cNvPr id="1030" name="Google Shape;1030;p26"/>
          <p:cNvSpPr/>
          <p:nvPr/>
        </p:nvSpPr>
        <p:spPr>
          <a:xfrm>
            <a:off x="154701" y="4273983"/>
            <a:ext cx="2475745" cy="316277"/>
          </a:xfrm>
          <a:prstGeom prst="rect">
            <a:avLst/>
          </a:prstGeom>
          <a:noFill/>
          <a:ln cap="flat" cmpd="sng" w="5715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pic>
        <p:nvPicPr>
          <p:cNvPr id="1031" name="Google Shape;1031;p26"/>
          <p:cNvPicPr preferRelativeResize="0"/>
          <p:nvPr/>
        </p:nvPicPr>
        <p:blipFill rotWithShape="1">
          <a:blip r:embed="rId5">
            <a:alphaModFix/>
          </a:blip>
          <a:srcRect b="0" l="0" r="0" t="0"/>
          <a:stretch/>
        </p:blipFill>
        <p:spPr>
          <a:xfrm>
            <a:off x="132617" y="5342333"/>
            <a:ext cx="6465421" cy="819560"/>
          </a:xfrm>
          <a:prstGeom prst="rect">
            <a:avLst/>
          </a:prstGeom>
          <a:noFill/>
          <a:ln>
            <a:noFill/>
          </a:ln>
        </p:spPr>
      </p:pic>
      <p:sp>
        <p:nvSpPr>
          <p:cNvPr id="1032" name="Google Shape;1032;p26"/>
          <p:cNvSpPr/>
          <p:nvPr/>
        </p:nvSpPr>
        <p:spPr>
          <a:xfrm>
            <a:off x="132617" y="5296226"/>
            <a:ext cx="4308754" cy="269502"/>
          </a:xfrm>
          <a:prstGeom prst="rect">
            <a:avLst/>
          </a:prstGeom>
          <a:noFill/>
          <a:ln cap="flat" cmpd="sng" w="571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pic>
        <p:nvPicPr>
          <p:cNvPr id="1033" name="Google Shape;1033;p26"/>
          <p:cNvPicPr preferRelativeResize="0"/>
          <p:nvPr/>
        </p:nvPicPr>
        <p:blipFill rotWithShape="1">
          <a:blip r:embed="rId6">
            <a:alphaModFix/>
          </a:blip>
          <a:srcRect b="48275" l="0" r="0" t="1"/>
          <a:stretch/>
        </p:blipFill>
        <p:spPr>
          <a:xfrm>
            <a:off x="154701" y="6250055"/>
            <a:ext cx="6428322" cy="443594"/>
          </a:xfrm>
          <a:prstGeom prst="rect">
            <a:avLst/>
          </a:prstGeom>
          <a:noFill/>
          <a:ln>
            <a:noFill/>
          </a:ln>
        </p:spPr>
      </p:pic>
      <p:sp>
        <p:nvSpPr>
          <p:cNvPr id="1034" name="Google Shape;1034;p26"/>
          <p:cNvSpPr/>
          <p:nvPr/>
        </p:nvSpPr>
        <p:spPr>
          <a:xfrm>
            <a:off x="132616" y="6204322"/>
            <a:ext cx="2813784" cy="312128"/>
          </a:xfrm>
          <a:prstGeom prst="rect">
            <a:avLst/>
          </a:prstGeom>
          <a:noFill/>
          <a:ln cap="flat" cmpd="sng" w="57150">
            <a:solidFill>
              <a:srgbClr val="FF99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1"/>
                                        </p:tgtEl>
                                        <p:attrNameLst>
                                          <p:attrName>style.visibility</p:attrName>
                                        </p:attrNameLst>
                                      </p:cBhvr>
                                      <p:to>
                                        <p:strVal val="visible"/>
                                      </p:to>
                                    </p:set>
                                    <p:animEffect filter="fade" transition="in">
                                      <p:cBhvr>
                                        <p:cTn dur="1000"/>
                                        <p:tgtEl>
                                          <p:spTgt spid="10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pic>
        <p:nvPicPr>
          <p:cNvPr id="1040" name="Google Shape;1040;p27"/>
          <p:cNvPicPr preferRelativeResize="0"/>
          <p:nvPr/>
        </p:nvPicPr>
        <p:blipFill rotWithShape="1">
          <a:blip r:embed="rId3">
            <a:alphaModFix/>
          </a:blip>
          <a:srcRect b="0" l="0" r="0" t="0"/>
          <a:stretch/>
        </p:blipFill>
        <p:spPr>
          <a:xfrm>
            <a:off x="206611" y="644110"/>
            <a:ext cx="6422945" cy="1375562"/>
          </a:xfrm>
          <a:prstGeom prst="rect">
            <a:avLst/>
          </a:prstGeom>
          <a:noFill/>
          <a:ln>
            <a:noFill/>
          </a:ln>
        </p:spPr>
      </p:pic>
      <p:pic>
        <p:nvPicPr>
          <p:cNvPr id="1041" name="Google Shape;1041;p27"/>
          <p:cNvPicPr preferRelativeResize="0"/>
          <p:nvPr/>
        </p:nvPicPr>
        <p:blipFill rotWithShape="1">
          <a:blip r:embed="rId4">
            <a:alphaModFix/>
          </a:blip>
          <a:srcRect b="0" l="0" r="0" t="0"/>
          <a:stretch/>
        </p:blipFill>
        <p:spPr>
          <a:xfrm>
            <a:off x="206611" y="2831676"/>
            <a:ext cx="6422945" cy="2956762"/>
          </a:xfrm>
          <a:prstGeom prst="rect">
            <a:avLst/>
          </a:prstGeom>
          <a:noFill/>
          <a:ln>
            <a:noFill/>
          </a:ln>
        </p:spPr>
      </p:pic>
      <p:sp>
        <p:nvSpPr>
          <p:cNvPr id="1042" name="Google Shape;1042;p27"/>
          <p:cNvSpPr/>
          <p:nvPr/>
        </p:nvSpPr>
        <p:spPr>
          <a:xfrm>
            <a:off x="154702" y="102974"/>
            <a:ext cx="863192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A3838"/>
                </a:solidFill>
                <a:latin typeface="Calibri"/>
                <a:ea typeface="Calibri"/>
                <a:cs typeface="Calibri"/>
                <a:sym typeface="Calibri"/>
              </a:rPr>
              <a:t>Top 30 Application Form Omissions and Discrepancies</a:t>
            </a:r>
            <a:endParaRPr b="1" sz="1800">
              <a:solidFill>
                <a:schemeClr val="dk1"/>
              </a:solidFill>
              <a:latin typeface="Calibri"/>
              <a:ea typeface="Calibri"/>
              <a:cs typeface="Calibri"/>
              <a:sym typeface="Calibri"/>
            </a:endParaRPr>
          </a:p>
        </p:txBody>
      </p:sp>
      <p:sp>
        <p:nvSpPr>
          <p:cNvPr id="1043" name="Google Shape;1043;p27"/>
          <p:cNvSpPr txBox="1"/>
          <p:nvPr/>
        </p:nvSpPr>
        <p:spPr>
          <a:xfrm>
            <a:off x="6724149" y="644110"/>
            <a:ext cx="5275282" cy="4770537"/>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1900"/>
              <a:buFont typeface="Calibri"/>
              <a:buAutoNum type="arabicPeriod" startAt="11"/>
            </a:pPr>
            <a:r>
              <a:rPr lang="en-US" sz="1900">
                <a:solidFill>
                  <a:schemeClr val="dk1"/>
                </a:solidFill>
                <a:latin typeface="Calibri"/>
                <a:ea typeface="Calibri"/>
                <a:cs typeface="Calibri"/>
                <a:sym typeface="Calibri"/>
              </a:rPr>
              <a:t>Page 3 Section D Question 70: Inconsistent smoking habit : smoker or non – smoker on application form vs. proposal rate</a:t>
            </a:r>
            <a:endParaRPr/>
          </a:p>
          <a:p>
            <a:pPr indent="-457200" lvl="0" marL="457200" marR="0" rtl="0" algn="l">
              <a:spcBef>
                <a:spcPts val="0"/>
              </a:spcBef>
              <a:spcAft>
                <a:spcPts val="0"/>
              </a:spcAft>
              <a:buClr>
                <a:schemeClr val="dk1"/>
              </a:buClr>
              <a:buSzPts val="1900"/>
              <a:buFont typeface="Calibri"/>
              <a:buAutoNum type="arabicPeriod" startAt="11"/>
            </a:pPr>
            <a:r>
              <a:rPr lang="en-US" sz="1900">
                <a:solidFill>
                  <a:schemeClr val="dk1"/>
                </a:solidFill>
                <a:latin typeface="Calibri"/>
                <a:ea typeface="Calibri"/>
                <a:cs typeface="Calibri"/>
                <a:sym typeface="Calibri"/>
              </a:rPr>
              <a:t>Page 2 Question 64-69: Mobile number or Philippine mobile number and email address, specially if the elected billing type is </a:t>
            </a:r>
            <a:r>
              <a:rPr b="1" lang="en-US" sz="1900" u="sng">
                <a:solidFill>
                  <a:schemeClr val="dk1"/>
                </a:solidFill>
                <a:latin typeface="Calibri"/>
                <a:ea typeface="Calibri"/>
                <a:cs typeface="Calibri"/>
                <a:sym typeface="Calibri"/>
              </a:rPr>
              <a:t>SMS+E-notice / SMS+Printed Copy. ( Do not use International mobile number if billing type is with SMS.)</a:t>
            </a:r>
            <a:endParaRPr/>
          </a:p>
          <a:p>
            <a:pPr indent="-457200" lvl="0" marL="457200" marR="0" rtl="0" algn="l">
              <a:spcBef>
                <a:spcPts val="0"/>
              </a:spcBef>
              <a:spcAft>
                <a:spcPts val="0"/>
              </a:spcAft>
              <a:buClr>
                <a:schemeClr val="dk1"/>
              </a:buClr>
              <a:buSzPts val="1900"/>
              <a:buFont typeface="Calibri"/>
              <a:buAutoNum type="arabicPeriod" startAt="11"/>
            </a:pPr>
            <a:r>
              <a:rPr lang="en-US" sz="1900">
                <a:solidFill>
                  <a:schemeClr val="dk1"/>
                </a:solidFill>
                <a:latin typeface="Calibri"/>
                <a:ea typeface="Calibri"/>
                <a:cs typeface="Calibri"/>
                <a:sym typeface="Calibri"/>
              </a:rPr>
              <a:t>Page 3 Section F: Insurance History Questions 89-92.</a:t>
            </a:r>
            <a:endParaRPr sz="19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1900"/>
              <a:buFont typeface="Calibri"/>
              <a:buAutoNum type="arabicPeriod" startAt="11"/>
            </a:pPr>
            <a:r>
              <a:rPr lang="en-US" sz="1900">
                <a:solidFill>
                  <a:schemeClr val="dk1"/>
                </a:solidFill>
                <a:latin typeface="Calibri"/>
                <a:ea typeface="Calibri"/>
                <a:cs typeface="Calibri"/>
                <a:sym typeface="Calibri"/>
              </a:rPr>
              <a:t>Page 3 Section F: Question 93 for housewife  and Question 94: insurance details of family and applicant/owner for dependent insured.</a:t>
            </a:r>
            <a:endParaRPr/>
          </a:p>
          <a:p>
            <a:pPr indent="-457200" lvl="0" marL="457200" marR="0" rtl="0" algn="l">
              <a:spcBef>
                <a:spcPts val="0"/>
              </a:spcBef>
              <a:spcAft>
                <a:spcPts val="0"/>
              </a:spcAft>
              <a:buClr>
                <a:schemeClr val="dk1"/>
              </a:buClr>
              <a:buSzPts val="1900"/>
              <a:buFont typeface="Calibri"/>
              <a:buAutoNum type="arabicPeriod" startAt="11"/>
            </a:pPr>
            <a:r>
              <a:rPr lang="en-US" sz="1900">
                <a:solidFill>
                  <a:schemeClr val="dk1"/>
                </a:solidFill>
                <a:latin typeface="Calibri"/>
                <a:ea typeface="Calibri"/>
                <a:cs typeface="Calibri"/>
                <a:sym typeface="Calibri"/>
              </a:rPr>
              <a:t>Annual income of insured/applicant is sometimes declared as monthly income only.</a:t>
            </a:r>
            <a:endParaRPr/>
          </a:p>
        </p:txBody>
      </p:sp>
      <p:sp>
        <p:nvSpPr>
          <p:cNvPr id="1044" name="Google Shape;1044;p27"/>
          <p:cNvSpPr/>
          <p:nvPr/>
        </p:nvSpPr>
        <p:spPr>
          <a:xfrm>
            <a:off x="181401" y="2911771"/>
            <a:ext cx="5000623" cy="2684987"/>
          </a:xfrm>
          <a:prstGeom prst="rect">
            <a:avLst/>
          </a:prstGeom>
          <a:noFill/>
          <a:ln cap="flat" cmpd="sng" w="571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045" name="Google Shape;1045;p27"/>
          <p:cNvSpPr/>
          <p:nvPr/>
        </p:nvSpPr>
        <p:spPr>
          <a:xfrm>
            <a:off x="154703" y="5684574"/>
            <a:ext cx="2346958" cy="795053"/>
          </a:xfrm>
          <a:prstGeom prst="rect">
            <a:avLst/>
          </a:prstGeom>
          <a:noFill/>
          <a:ln cap="flat" cmpd="sng" w="57150">
            <a:solidFill>
              <a:srgbClr val="FF99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pic>
        <p:nvPicPr>
          <p:cNvPr id="1046" name="Google Shape;1046;p27"/>
          <p:cNvPicPr preferRelativeResize="0"/>
          <p:nvPr/>
        </p:nvPicPr>
        <p:blipFill rotWithShape="1">
          <a:blip r:embed="rId5">
            <a:alphaModFix/>
          </a:blip>
          <a:srcRect b="0" l="0" r="0" t="0"/>
          <a:stretch/>
        </p:blipFill>
        <p:spPr>
          <a:xfrm>
            <a:off x="228698" y="1958782"/>
            <a:ext cx="6400860" cy="752887"/>
          </a:xfrm>
          <a:prstGeom prst="rect">
            <a:avLst/>
          </a:prstGeom>
          <a:noFill/>
          <a:ln>
            <a:noFill/>
          </a:ln>
        </p:spPr>
      </p:pic>
      <p:sp>
        <p:nvSpPr>
          <p:cNvPr id="1047" name="Google Shape;1047;p27"/>
          <p:cNvSpPr/>
          <p:nvPr/>
        </p:nvSpPr>
        <p:spPr>
          <a:xfrm>
            <a:off x="154700" y="564639"/>
            <a:ext cx="5973253" cy="1063838"/>
          </a:xfrm>
          <a:prstGeom prst="rect">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048" name="Google Shape;1048;p27"/>
          <p:cNvSpPr/>
          <p:nvPr/>
        </p:nvSpPr>
        <p:spPr>
          <a:xfrm>
            <a:off x="134105" y="1873153"/>
            <a:ext cx="5047920" cy="950802"/>
          </a:xfrm>
          <a:prstGeom prst="rect">
            <a:avLst/>
          </a:prstGeom>
          <a:noFill/>
          <a:ln cap="flat" cmpd="sng" w="5715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pic>
        <p:nvPicPr>
          <p:cNvPr id="1049" name="Google Shape;1049;p27"/>
          <p:cNvPicPr preferRelativeResize="0"/>
          <p:nvPr/>
        </p:nvPicPr>
        <p:blipFill rotWithShape="1">
          <a:blip r:embed="rId6">
            <a:alphaModFix/>
          </a:blip>
          <a:srcRect b="0" l="0" r="0" t="0"/>
          <a:stretch/>
        </p:blipFill>
        <p:spPr>
          <a:xfrm>
            <a:off x="228699" y="5743508"/>
            <a:ext cx="2272962" cy="71411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
                                        </p:tgtEl>
                                        <p:attrNameLst>
                                          <p:attrName>style.visibility</p:attrName>
                                        </p:attrNameLst>
                                      </p:cBhvr>
                                      <p:to>
                                        <p:strVal val="visible"/>
                                      </p:to>
                                    </p:set>
                                    <p:animEffect filter="fade" transition="in">
                                      <p:cBhvr>
                                        <p:cTn dur="1000"/>
                                        <p:tgtEl>
                                          <p:spTgt spid="10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28"/>
          <p:cNvSpPr/>
          <p:nvPr/>
        </p:nvSpPr>
        <p:spPr>
          <a:xfrm>
            <a:off x="154702" y="102974"/>
            <a:ext cx="863192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A3838"/>
                </a:solidFill>
                <a:latin typeface="Calibri"/>
                <a:ea typeface="Calibri"/>
                <a:cs typeface="Calibri"/>
                <a:sym typeface="Calibri"/>
              </a:rPr>
              <a:t>Top 30 Application Form Omissions and Discrepancies</a:t>
            </a:r>
            <a:endParaRPr b="1" sz="1800">
              <a:solidFill>
                <a:schemeClr val="dk1"/>
              </a:solidFill>
              <a:latin typeface="Calibri"/>
              <a:ea typeface="Calibri"/>
              <a:cs typeface="Calibri"/>
              <a:sym typeface="Calibri"/>
            </a:endParaRPr>
          </a:p>
        </p:txBody>
      </p:sp>
      <p:pic>
        <p:nvPicPr>
          <p:cNvPr id="1056" name="Google Shape;1056;p28"/>
          <p:cNvPicPr preferRelativeResize="0"/>
          <p:nvPr/>
        </p:nvPicPr>
        <p:blipFill rotWithShape="1">
          <a:blip r:embed="rId3">
            <a:alphaModFix/>
          </a:blip>
          <a:srcRect b="0" l="0" r="0" t="0"/>
          <a:stretch/>
        </p:blipFill>
        <p:spPr>
          <a:xfrm>
            <a:off x="488639" y="751311"/>
            <a:ext cx="1073207" cy="1073207"/>
          </a:xfrm>
          <a:prstGeom prst="rect">
            <a:avLst/>
          </a:prstGeom>
          <a:noFill/>
          <a:ln>
            <a:noFill/>
          </a:ln>
        </p:spPr>
      </p:pic>
      <p:sp>
        <p:nvSpPr>
          <p:cNvPr id="1057" name="Google Shape;1057;p28"/>
          <p:cNvSpPr txBox="1"/>
          <p:nvPr/>
        </p:nvSpPr>
        <p:spPr>
          <a:xfrm>
            <a:off x="0" y="815065"/>
            <a:ext cx="6725387" cy="92333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5400">
                <a:solidFill>
                  <a:srgbClr val="00B050"/>
                </a:solidFill>
                <a:latin typeface="Impact"/>
                <a:ea typeface="Impact"/>
                <a:cs typeface="Impact"/>
                <a:sym typeface="Impact"/>
              </a:rPr>
              <a:t>Beneficiary</a:t>
            </a:r>
            <a:endParaRPr sz="5400">
              <a:solidFill>
                <a:srgbClr val="00B050"/>
              </a:solidFill>
              <a:latin typeface="Impact"/>
              <a:ea typeface="Impact"/>
              <a:cs typeface="Impact"/>
              <a:sym typeface="Impact"/>
            </a:endParaRPr>
          </a:p>
        </p:txBody>
      </p:sp>
      <p:sp>
        <p:nvSpPr>
          <p:cNvPr id="1058" name="Google Shape;1058;p28"/>
          <p:cNvSpPr txBox="1"/>
          <p:nvPr/>
        </p:nvSpPr>
        <p:spPr>
          <a:xfrm>
            <a:off x="488639" y="1900426"/>
            <a:ext cx="4594745" cy="4770537"/>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1900"/>
              <a:buFont typeface="Calibri"/>
              <a:buAutoNum type="arabicPeriod" startAt="16"/>
            </a:pPr>
            <a:r>
              <a:rPr lang="en-US" sz="1900">
                <a:solidFill>
                  <a:schemeClr val="dk1"/>
                </a:solidFill>
                <a:latin typeface="Calibri"/>
                <a:ea typeface="Calibri"/>
                <a:cs typeface="Calibri"/>
                <a:sym typeface="Calibri"/>
              </a:rPr>
              <a:t>Relationship of beneficiaries to insured, citizenship and birthday of beneficiaries</a:t>
            </a:r>
            <a:endParaRPr/>
          </a:p>
          <a:p>
            <a:pPr indent="-457200" lvl="0" marL="457200" marR="0" rtl="0" algn="l">
              <a:spcBef>
                <a:spcPts val="0"/>
              </a:spcBef>
              <a:spcAft>
                <a:spcPts val="0"/>
              </a:spcAft>
              <a:buClr>
                <a:schemeClr val="dk1"/>
              </a:buClr>
              <a:buSzPts val="1900"/>
              <a:buFont typeface="Calibri"/>
              <a:buAutoNum type="arabicPeriod" startAt="16"/>
            </a:pPr>
            <a:r>
              <a:rPr b="1" lang="en-US" sz="1900">
                <a:solidFill>
                  <a:schemeClr val="dk1"/>
                </a:solidFill>
                <a:latin typeface="Calibri"/>
                <a:ea typeface="Calibri"/>
                <a:cs typeface="Calibri"/>
                <a:sym typeface="Calibri"/>
              </a:rPr>
              <a:t>Different surname</a:t>
            </a:r>
            <a:r>
              <a:rPr lang="en-US" sz="1900">
                <a:solidFill>
                  <a:schemeClr val="dk1"/>
                </a:solidFill>
                <a:latin typeface="Calibri"/>
                <a:ea typeface="Calibri"/>
                <a:cs typeface="Calibri"/>
                <a:sym typeface="Calibri"/>
              </a:rPr>
              <a:t> of insured’s spouse must be supported with marriage certificate.</a:t>
            </a:r>
            <a:endParaRPr/>
          </a:p>
          <a:p>
            <a:pPr indent="-457200" lvl="0" marL="457200" marR="0" rtl="0" algn="l">
              <a:spcBef>
                <a:spcPts val="0"/>
              </a:spcBef>
              <a:spcAft>
                <a:spcPts val="0"/>
              </a:spcAft>
              <a:buClr>
                <a:schemeClr val="dk1"/>
              </a:buClr>
              <a:buSzPts val="1900"/>
              <a:buFont typeface="Calibri"/>
              <a:buAutoNum type="arabicPeriod" startAt="16"/>
            </a:pPr>
            <a:r>
              <a:rPr b="1" lang="en-US" sz="1900">
                <a:solidFill>
                  <a:schemeClr val="dk1"/>
                </a:solidFill>
                <a:latin typeface="Calibri"/>
                <a:ea typeface="Calibri"/>
                <a:cs typeface="Calibri"/>
                <a:sym typeface="Calibri"/>
              </a:rPr>
              <a:t>Violation of Market Conduct Guidelines </a:t>
            </a:r>
            <a:r>
              <a:rPr lang="en-US" sz="1900">
                <a:solidFill>
                  <a:schemeClr val="dk1"/>
                </a:solidFill>
                <a:latin typeface="Calibri"/>
                <a:ea typeface="Calibri"/>
                <a:cs typeface="Calibri"/>
                <a:sym typeface="Calibri"/>
              </a:rPr>
              <a:t>wherein Advisor is declared as beneficiary but not considered already as immediate relative in view of marital status</a:t>
            </a:r>
            <a:endParaRPr/>
          </a:p>
          <a:p>
            <a:pPr indent="-457200" lvl="0" marL="457200" marR="0" rtl="0" algn="l">
              <a:spcBef>
                <a:spcPts val="0"/>
              </a:spcBef>
              <a:spcAft>
                <a:spcPts val="0"/>
              </a:spcAft>
              <a:buClr>
                <a:schemeClr val="dk1"/>
              </a:buClr>
              <a:buSzPts val="1900"/>
              <a:buFont typeface="Calibri"/>
              <a:buAutoNum type="arabicPeriod" startAt="16"/>
            </a:pPr>
            <a:r>
              <a:rPr b="1" lang="en-US" sz="1900">
                <a:solidFill>
                  <a:schemeClr val="dk1"/>
                </a:solidFill>
                <a:latin typeface="Calibri"/>
                <a:ea typeface="Calibri"/>
                <a:cs typeface="Calibri"/>
                <a:sym typeface="Calibri"/>
              </a:rPr>
              <a:t>Additional beneficiaries are declared on page 8 Advisor’s report </a:t>
            </a:r>
            <a:r>
              <a:rPr lang="en-US" sz="1900">
                <a:solidFill>
                  <a:schemeClr val="dk1"/>
                </a:solidFill>
                <a:latin typeface="Calibri"/>
                <a:ea typeface="Calibri"/>
                <a:cs typeface="Calibri"/>
                <a:sym typeface="Calibri"/>
              </a:rPr>
              <a:t>and not on amendment of application form</a:t>
            </a:r>
            <a:endParaRPr/>
          </a:p>
          <a:p>
            <a:pPr indent="-457200" lvl="0" marL="457200" marR="0" rtl="0" algn="l">
              <a:spcBef>
                <a:spcPts val="0"/>
              </a:spcBef>
              <a:spcAft>
                <a:spcPts val="0"/>
              </a:spcAft>
              <a:buClr>
                <a:schemeClr val="dk1"/>
              </a:buClr>
              <a:buSzPts val="1900"/>
              <a:buFont typeface="Calibri"/>
              <a:buAutoNum type="arabicPeriod" startAt="16"/>
            </a:pPr>
            <a:r>
              <a:rPr b="1" lang="en-US" sz="1900">
                <a:solidFill>
                  <a:schemeClr val="dk1"/>
                </a:solidFill>
                <a:latin typeface="Calibri"/>
                <a:ea typeface="Calibri"/>
                <a:cs typeface="Calibri"/>
                <a:sym typeface="Calibri"/>
              </a:rPr>
              <a:t>Additional beneficiaries are listed on blank sheet of paper </a:t>
            </a:r>
            <a:r>
              <a:rPr lang="en-US" sz="1900">
                <a:solidFill>
                  <a:schemeClr val="dk1"/>
                </a:solidFill>
                <a:latin typeface="Calibri"/>
                <a:ea typeface="Calibri"/>
                <a:cs typeface="Calibri"/>
                <a:sym typeface="Calibri"/>
              </a:rPr>
              <a:t>and not on amendment of application form</a:t>
            </a:r>
            <a:endParaRPr sz="1900">
              <a:solidFill>
                <a:schemeClr val="dk1"/>
              </a:solidFill>
              <a:latin typeface="Calibri"/>
              <a:ea typeface="Calibri"/>
              <a:cs typeface="Calibri"/>
              <a:sym typeface="Calibri"/>
            </a:endParaRPr>
          </a:p>
        </p:txBody>
      </p:sp>
      <p:pic>
        <p:nvPicPr>
          <p:cNvPr id="1059" name="Google Shape;1059;p28"/>
          <p:cNvPicPr preferRelativeResize="0"/>
          <p:nvPr/>
        </p:nvPicPr>
        <p:blipFill rotWithShape="1">
          <a:blip r:embed="rId4">
            <a:alphaModFix/>
          </a:blip>
          <a:srcRect b="0" l="0" r="0" t="0"/>
          <a:stretch/>
        </p:blipFill>
        <p:spPr>
          <a:xfrm>
            <a:off x="5237314" y="2723280"/>
            <a:ext cx="6764033" cy="3039166"/>
          </a:xfrm>
          <a:prstGeom prst="rect">
            <a:avLst/>
          </a:prstGeom>
          <a:noFill/>
          <a:ln>
            <a:noFill/>
          </a:ln>
        </p:spPr>
      </p:pic>
      <p:sp>
        <p:nvSpPr>
          <p:cNvPr id="1060" name="Google Shape;1060;p28"/>
          <p:cNvSpPr/>
          <p:nvPr/>
        </p:nvSpPr>
        <p:spPr>
          <a:xfrm>
            <a:off x="5237314" y="2472854"/>
            <a:ext cx="6764033" cy="3048052"/>
          </a:xfrm>
          <a:prstGeom prst="rect">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8"/>
                                        </p:tgtEl>
                                        <p:attrNameLst>
                                          <p:attrName>style.visibility</p:attrName>
                                        </p:attrNameLst>
                                      </p:cBhvr>
                                      <p:to>
                                        <p:strVal val="visible"/>
                                      </p:to>
                                    </p:set>
                                    <p:animEffect filter="fade" transition="in">
                                      <p:cBhvr>
                                        <p:cTn dur="1000"/>
                                        <p:tgtEl>
                                          <p:spTgt spid="10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29"/>
          <p:cNvSpPr/>
          <p:nvPr/>
        </p:nvSpPr>
        <p:spPr>
          <a:xfrm>
            <a:off x="154702" y="102974"/>
            <a:ext cx="863192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A3838"/>
                </a:solidFill>
                <a:latin typeface="Calibri"/>
                <a:ea typeface="Calibri"/>
                <a:cs typeface="Calibri"/>
                <a:sym typeface="Calibri"/>
              </a:rPr>
              <a:t>Top 30 Application Form Omissions and Discrepancies</a:t>
            </a:r>
            <a:endParaRPr b="1" sz="1800">
              <a:solidFill>
                <a:schemeClr val="dk1"/>
              </a:solidFill>
              <a:latin typeface="Calibri"/>
              <a:ea typeface="Calibri"/>
              <a:cs typeface="Calibri"/>
              <a:sym typeface="Calibri"/>
            </a:endParaRPr>
          </a:p>
        </p:txBody>
      </p:sp>
      <p:sp>
        <p:nvSpPr>
          <p:cNvPr id="1067" name="Google Shape;1067;p29"/>
          <p:cNvSpPr txBox="1"/>
          <p:nvPr/>
        </p:nvSpPr>
        <p:spPr>
          <a:xfrm>
            <a:off x="-198216" y="769685"/>
            <a:ext cx="9964811" cy="1015663"/>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6000">
                <a:solidFill>
                  <a:srgbClr val="FFC000"/>
                </a:solidFill>
                <a:latin typeface="Impact"/>
                <a:ea typeface="Impact"/>
                <a:cs typeface="Impact"/>
                <a:sym typeface="Impact"/>
              </a:rPr>
              <a:t>Health Information</a:t>
            </a:r>
            <a:endParaRPr sz="6000">
              <a:solidFill>
                <a:srgbClr val="FFC000"/>
              </a:solidFill>
              <a:latin typeface="Impact"/>
              <a:ea typeface="Impact"/>
              <a:cs typeface="Impact"/>
              <a:sym typeface="Impact"/>
            </a:endParaRPr>
          </a:p>
        </p:txBody>
      </p:sp>
      <p:sp>
        <p:nvSpPr>
          <p:cNvPr id="1068" name="Google Shape;1068;p29"/>
          <p:cNvSpPr txBox="1"/>
          <p:nvPr/>
        </p:nvSpPr>
        <p:spPr>
          <a:xfrm>
            <a:off x="6482074" y="1949633"/>
            <a:ext cx="4594745" cy="3308598"/>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1900"/>
              <a:buFont typeface="Calibri"/>
              <a:buAutoNum type="arabicPeriod" startAt="21"/>
            </a:pPr>
            <a:r>
              <a:rPr lang="en-US" sz="1900">
                <a:solidFill>
                  <a:schemeClr val="dk1"/>
                </a:solidFill>
                <a:latin typeface="Calibri"/>
                <a:ea typeface="Calibri"/>
                <a:cs typeface="Calibri"/>
                <a:sym typeface="Calibri"/>
              </a:rPr>
              <a:t>Question 95: birth weight for insured below age 5.</a:t>
            </a:r>
            <a:endParaRPr/>
          </a:p>
          <a:p>
            <a:pPr indent="-457200" lvl="0" marL="457200" marR="0" rtl="0" algn="l">
              <a:spcBef>
                <a:spcPts val="0"/>
              </a:spcBef>
              <a:spcAft>
                <a:spcPts val="0"/>
              </a:spcAft>
              <a:buClr>
                <a:schemeClr val="dk1"/>
              </a:buClr>
              <a:buSzPts val="1900"/>
              <a:buFont typeface="Calibri"/>
              <a:buAutoNum type="arabicPeriod" startAt="21"/>
            </a:pPr>
            <a:r>
              <a:rPr lang="en-US" sz="1900">
                <a:solidFill>
                  <a:schemeClr val="dk1"/>
                </a:solidFill>
                <a:latin typeface="Calibri"/>
                <a:ea typeface="Calibri"/>
                <a:cs typeface="Calibri"/>
                <a:sym typeface="Calibri"/>
              </a:rPr>
              <a:t>Question 96: for women insured/WPDD or WPD applicant aged 16 years old and above. </a:t>
            </a:r>
            <a:endParaRPr/>
          </a:p>
          <a:p>
            <a:pPr indent="-457200" lvl="0" marL="457200" marR="0" rtl="0" algn="l">
              <a:spcBef>
                <a:spcPts val="0"/>
              </a:spcBef>
              <a:spcAft>
                <a:spcPts val="0"/>
              </a:spcAft>
              <a:buClr>
                <a:schemeClr val="dk1"/>
              </a:buClr>
              <a:buSzPts val="1900"/>
              <a:buFont typeface="Calibri"/>
              <a:buAutoNum type="arabicPeriod" startAt="21"/>
            </a:pPr>
            <a:r>
              <a:rPr lang="en-US" sz="1900">
                <a:solidFill>
                  <a:schemeClr val="dk1"/>
                </a:solidFill>
                <a:latin typeface="Calibri"/>
                <a:ea typeface="Calibri"/>
                <a:cs typeface="Calibri"/>
                <a:sym typeface="Calibri"/>
              </a:rPr>
              <a:t>Question 97: Family history  table is omitted or Question 98 details for yes answer is not provided.  </a:t>
            </a:r>
            <a:endParaRPr sz="19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1900"/>
              <a:buFont typeface="Calibri"/>
              <a:buAutoNum type="arabicPeriod" startAt="21"/>
            </a:pPr>
            <a:r>
              <a:rPr lang="en-US" sz="1900">
                <a:solidFill>
                  <a:schemeClr val="dk1"/>
                </a:solidFill>
                <a:latin typeface="Calibri"/>
                <a:ea typeface="Calibri"/>
                <a:cs typeface="Calibri"/>
                <a:sym typeface="Calibri"/>
              </a:rPr>
              <a:t>Question 99: medication</a:t>
            </a:r>
            <a:endParaRPr/>
          </a:p>
          <a:p>
            <a:pPr indent="-457200" lvl="0" marL="457200" marR="0" rtl="0" algn="l">
              <a:spcBef>
                <a:spcPts val="0"/>
              </a:spcBef>
              <a:spcAft>
                <a:spcPts val="0"/>
              </a:spcAft>
              <a:buClr>
                <a:schemeClr val="dk1"/>
              </a:buClr>
              <a:buSzPts val="1900"/>
              <a:buFont typeface="Calibri"/>
              <a:buAutoNum type="arabicPeriod" startAt="21"/>
            </a:pPr>
            <a:r>
              <a:rPr lang="en-US" sz="1900">
                <a:solidFill>
                  <a:schemeClr val="dk1"/>
                </a:solidFill>
                <a:latin typeface="Calibri"/>
                <a:ea typeface="Calibri"/>
                <a:cs typeface="Calibri"/>
                <a:sym typeface="Calibri"/>
              </a:rPr>
              <a:t>Question 100 and 101: unit of measurement and weight change </a:t>
            </a:r>
            <a:endParaRPr sz="1900">
              <a:solidFill>
                <a:schemeClr val="dk1"/>
              </a:solidFill>
              <a:latin typeface="Calibri"/>
              <a:ea typeface="Calibri"/>
              <a:cs typeface="Calibri"/>
              <a:sym typeface="Calibri"/>
            </a:endParaRPr>
          </a:p>
        </p:txBody>
      </p:sp>
      <p:pic>
        <p:nvPicPr>
          <p:cNvPr id="1069" name="Google Shape;1069;p29"/>
          <p:cNvPicPr preferRelativeResize="0"/>
          <p:nvPr/>
        </p:nvPicPr>
        <p:blipFill rotWithShape="1">
          <a:blip r:embed="rId3">
            <a:alphaModFix/>
          </a:blip>
          <a:srcRect b="0" l="0" r="0" t="0"/>
          <a:stretch/>
        </p:blipFill>
        <p:spPr>
          <a:xfrm>
            <a:off x="719003" y="830714"/>
            <a:ext cx="914400" cy="914400"/>
          </a:xfrm>
          <a:prstGeom prst="ellipse">
            <a:avLst/>
          </a:prstGeom>
          <a:noFill/>
          <a:ln>
            <a:noFill/>
          </a:ln>
        </p:spPr>
      </p:pic>
      <p:pic>
        <p:nvPicPr>
          <p:cNvPr id="1070" name="Google Shape;1070;p29"/>
          <p:cNvPicPr preferRelativeResize="0"/>
          <p:nvPr/>
        </p:nvPicPr>
        <p:blipFill rotWithShape="1">
          <a:blip r:embed="rId4">
            <a:alphaModFix/>
          </a:blip>
          <a:srcRect b="0" l="0" r="0" t="0"/>
          <a:stretch/>
        </p:blipFill>
        <p:spPr>
          <a:xfrm>
            <a:off x="154702" y="1835112"/>
            <a:ext cx="6033722" cy="4288116"/>
          </a:xfrm>
          <a:prstGeom prst="rect">
            <a:avLst/>
          </a:prstGeom>
          <a:noFill/>
          <a:ln>
            <a:noFill/>
          </a:ln>
        </p:spPr>
      </p:pic>
      <p:sp>
        <p:nvSpPr>
          <p:cNvPr id="1071" name="Google Shape;1071;p29"/>
          <p:cNvSpPr/>
          <p:nvPr/>
        </p:nvSpPr>
        <p:spPr>
          <a:xfrm>
            <a:off x="73117" y="2241179"/>
            <a:ext cx="3042171" cy="393164"/>
          </a:xfrm>
          <a:prstGeom prst="rect">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072" name="Google Shape;1072;p29"/>
          <p:cNvSpPr/>
          <p:nvPr/>
        </p:nvSpPr>
        <p:spPr>
          <a:xfrm>
            <a:off x="3298371" y="2241179"/>
            <a:ext cx="2971638" cy="978927"/>
          </a:xfrm>
          <a:prstGeom prst="rect">
            <a:avLst/>
          </a:prstGeom>
          <a:noFill/>
          <a:ln cap="flat" cmpd="sng" w="5715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073" name="Google Shape;1073;p29"/>
          <p:cNvSpPr/>
          <p:nvPr/>
        </p:nvSpPr>
        <p:spPr>
          <a:xfrm>
            <a:off x="154701" y="3286902"/>
            <a:ext cx="6115307" cy="1502811"/>
          </a:xfrm>
          <a:prstGeom prst="rect">
            <a:avLst/>
          </a:prstGeom>
          <a:noFill/>
          <a:ln cap="flat" cmpd="sng" w="571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074" name="Google Shape;1074;p29"/>
          <p:cNvSpPr/>
          <p:nvPr/>
        </p:nvSpPr>
        <p:spPr>
          <a:xfrm>
            <a:off x="133474" y="4955913"/>
            <a:ext cx="6054949" cy="432518"/>
          </a:xfrm>
          <a:prstGeom prst="rect">
            <a:avLst/>
          </a:prstGeom>
          <a:noFill/>
          <a:ln cap="flat" cmpd="sng" w="57150">
            <a:solidFill>
              <a:srgbClr val="FF99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075" name="Google Shape;1075;p29"/>
          <p:cNvSpPr/>
          <p:nvPr/>
        </p:nvSpPr>
        <p:spPr>
          <a:xfrm>
            <a:off x="129392" y="5428028"/>
            <a:ext cx="3042171" cy="393164"/>
          </a:xfrm>
          <a:prstGeom prst="rect">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076" name="Google Shape;1076;p29"/>
          <p:cNvSpPr/>
          <p:nvPr/>
        </p:nvSpPr>
        <p:spPr>
          <a:xfrm>
            <a:off x="1948542" y="5633764"/>
            <a:ext cx="4321465" cy="529061"/>
          </a:xfrm>
          <a:prstGeom prst="rect">
            <a:avLst/>
          </a:prstGeom>
          <a:noFill/>
          <a:ln cap="flat" cmpd="sng" w="5715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pic>
        <p:nvPicPr>
          <p:cNvPr id="1077" name="Google Shape;1077;p29"/>
          <p:cNvPicPr preferRelativeResize="0"/>
          <p:nvPr/>
        </p:nvPicPr>
        <p:blipFill rotWithShape="1">
          <a:blip r:embed="rId5">
            <a:alphaModFix/>
          </a:blip>
          <a:srcRect b="0" l="0" r="0" t="0"/>
          <a:stretch/>
        </p:blipFill>
        <p:spPr>
          <a:xfrm>
            <a:off x="73117" y="6194750"/>
            <a:ext cx="6298582" cy="538759"/>
          </a:xfrm>
          <a:prstGeom prst="rect">
            <a:avLst/>
          </a:prstGeom>
          <a:noFill/>
          <a:ln>
            <a:noFill/>
          </a:ln>
        </p:spPr>
      </p:pic>
      <p:sp>
        <p:nvSpPr>
          <p:cNvPr id="1078" name="Google Shape;1078;p29"/>
          <p:cNvSpPr/>
          <p:nvPr/>
        </p:nvSpPr>
        <p:spPr>
          <a:xfrm>
            <a:off x="73117" y="6225136"/>
            <a:ext cx="6196890" cy="550651"/>
          </a:xfrm>
          <a:prstGeom prst="rect">
            <a:avLst/>
          </a:prstGeom>
          <a:noFill/>
          <a:ln cap="flat" cmpd="sng" w="571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8"/>
                                        </p:tgtEl>
                                        <p:attrNameLst>
                                          <p:attrName>style.visibility</p:attrName>
                                        </p:attrNameLst>
                                      </p:cBhvr>
                                      <p:to>
                                        <p:strVal val="visible"/>
                                      </p:to>
                                    </p:set>
                                    <p:animEffect filter="fade" transition="in">
                                      <p:cBhvr>
                                        <p:cTn dur="1000"/>
                                        <p:tgtEl>
                                          <p:spTgt spid="10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pic>
        <p:nvPicPr>
          <p:cNvPr id="1084" name="Google Shape;1084;p30"/>
          <p:cNvPicPr preferRelativeResize="0"/>
          <p:nvPr/>
        </p:nvPicPr>
        <p:blipFill rotWithShape="1">
          <a:blip r:embed="rId3">
            <a:alphaModFix/>
          </a:blip>
          <a:srcRect b="62558" l="0" r="0" t="0"/>
          <a:stretch/>
        </p:blipFill>
        <p:spPr>
          <a:xfrm>
            <a:off x="122527" y="4481969"/>
            <a:ext cx="6492201" cy="1233032"/>
          </a:xfrm>
          <a:prstGeom prst="rect">
            <a:avLst/>
          </a:prstGeom>
          <a:noFill/>
          <a:ln>
            <a:noFill/>
          </a:ln>
        </p:spPr>
      </p:pic>
      <p:sp>
        <p:nvSpPr>
          <p:cNvPr id="1085" name="Google Shape;1085;p30"/>
          <p:cNvSpPr/>
          <p:nvPr/>
        </p:nvSpPr>
        <p:spPr>
          <a:xfrm>
            <a:off x="154702" y="102974"/>
            <a:ext cx="863192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A3838"/>
                </a:solidFill>
                <a:latin typeface="Calibri"/>
                <a:ea typeface="Calibri"/>
                <a:cs typeface="Calibri"/>
                <a:sym typeface="Calibri"/>
              </a:rPr>
              <a:t>Top 30 Application Form Omissions and Discrepancies</a:t>
            </a:r>
            <a:endParaRPr b="1" sz="1800">
              <a:solidFill>
                <a:schemeClr val="dk1"/>
              </a:solidFill>
              <a:latin typeface="Calibri"/>
              <a:ea typeface="Calibri"/>
              <a:cs typeface="Calibri"/>
              <a:sym typeface="Calibri"/>
            </a:endParaRPr>
          </a:p>
        </p:txBody>
      </p:sp>
      <p:pic>
        <p:nvPicPr>
          <p:cNvPr id="1086" name="Google Shape;1086;p30"/>
          <p:cNvPicPr preferRelativeResize="0"/>
          <p:nvPr/>
        </p:nvPicPr>
        <p:blipFill rotWithShape="1">
          <a:blip r:embed="rId4">
            <a:alphaModFix/>
          </a:blip>
          <a:srcRect b="0" l="0" r="0" t="0"/>
          <a:stretch/>
        </p:blipFill>
        <p:spPr>
          <a:xfrm>
            <a:off x="142046" y="2144261"/>
            <a:ext cx="6472682" cy="2337707"/>
          </a:xfrm>
          <a:prstGeom prst="rect">
            <a:avLst/>
          </a:prstGeom>
          <a:noFill/>
          <a:ln>
            <a:noFill/>
          </a:ln>
        </p:spPr>
      </p:pic>
      <p:sp>
        <p:nvSpPr>
          <p:cNvPr id="1087" name="Google Shape;1087;p30"/>
          <p:cNvSpPr txBox="1"/>
          <p:nvPr/>
        </p:nvSpPr>
        <p:spPr>
          <a:xfrm>
            <a:off x="7059017" y="2023624"/>
            <a:ext cx="4594745" cy="3600986"/>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1900"/>
              <a:buFont typeface="Calibri"/>
              <a:buAutoNum type="arabicPeriod" startAt="26"/>
            </a:pPr>
            <a:r>
              <a:rPr lang="en-US" sz="1900">
                <a:solidFill>
                  <a:schemeClr val="dk1"/>
                </a:solidFill>
                <a:latin typeface="Calibri"/>
                <a:ea typeface="Calibri"/>
                <a:cs typeface="Calibri"/>
                <a:sym typeface="Calibri"/>
              </a:rPr>
              <a:t>Section I Temporary life insurance questions are omitted or with yes answers but details are not provided.</a:t>
            </a:r>
            <a:endParaRPr sz="19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1900"/>
              <a:buFont typeface="Calibri"/>
              <a:buAutoNum type="arabicPeriod" startAt="26"/>
            </a:pPr>
            <a:r>
              <a:rPr lang="en-US" sz="1900">
                <a:solidFill>
                  <a:schemeClr val="dk1"/>
                </a:solidFill>
                <a:latin typeface="Calibri"/>
                <a:ea typeface="Calibri"/>
                <a:cs typeface="Calibri"/>
                <a:sym typeface="Calibri"/>
              </a:rPr>
              <a:t>For insured aged 18 years old and above - make sure to let them sign on page 7, question 130-132.</a:t>
            </a:r>
            <a:endParaRPr sz="19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1900"/>
              <a:buFont typeface="Calibri"/>
              <a:buAutoNum type="arabicPeriod" startAt="26"/>
            </a:pPr>
            <a:r>
              <a:rPr lang="en-US" sz="1900">
                <a:solidFill>
                  <a:schemeClr val="dk1"/>
                </a:solidFill>
                <a:latin typeface="Calibri"/>
                <a:ea typeface="Calibri"/>
                <a:cs typeface="Calibri"/>
                <a:sym typeface="Calibri"/>
              </a:rPr>
              <a:t>If the applicant is insured’s grandparent, consent of insured’s parent must be reflected on page 7, 139-143.</a:t>
            </a:r>
            <a:endParaRPr/>
          </a:p>
          <a:p>
            <a:pPr indent="-457200" lvl="0" marL="457200" marR="0" rtl="0" algn="l">
              <a:spcBef>
                <a:spcPts val="0"/>
              </a:spcBef>
              <a:spcAft>
                <a:spcPts val="0"/>
              </a:spcAft>
              <a:buClr>
                <a:schemeClr val="dk1"/>
              </a:buClr>
              <a:buSzPts val="1900"/>
              <a:buFont typeface="Calibri"/>
              <a:buAutoNum type="arabicPeriod" startAt="26"/>
            </a:pPr>
            <a:r>
              <a:rPr lang="en-US" sz="1900">
                <a:solidFill>
                  <a:schemeClr val="dk1"/>
                </a:solidFill>
                <a:latin typeface="Calibri"/>
                <a:ea typeface="Calibri"/>
                <a:cs typeface="Calibri"/>
                <a:sym typeface="Calibri"/>
              </a:rPr>
              <a:t>FATCA questions </a:t>
            </a:r>
            <a:endParaRPr sz="19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1900"/>
              <a:buFont typeface="Calibri"/>
              <a:buAutoNum type="arabicPeriod" startAt="26"/>
            </a:pPr>
            <a:r>
              <a:rPr lang="en-US" sz="1900">
                <a:solidFill>
                  <a:schemeClr val="dk1"/>
                </a:solidFill>
                <a:latin typeface="Calibri"/>
                <a:ea typeface="Calibri"/>
                <a:cs typeface="Calibri"/>
                <a:sym typeface="Calibri"/>
              </a:rPr>
              <a:t>Page 7 questions 157-159 - signature of applicant and advisor as witness.</a:t>
            </a:r>
            <a:endParaRPr/>
          </a:p>
        </p:txBody>
      </p:sp>
      <p:sp>
        <p:nvSpPr>
          <p:cNvPr id="1088" name="Google Shape;1088;p30"/>
          <p:cNvSpPr/>
          <p:nvPr/>
        </p:nvSpPr>
        <p:spPr>
          <a:xfrm>
            <a:off x="154701" y="2195053"/>
            <a:ext cx="6509811" cy="393164"/>
          </a:xfrm>
          <a:prstGeom prst="rect">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089" name="Google Shape;1089;p30"/>
          <p:cNvSpPr/>
          <p:nvPr/>
        </p:nvSpPr>
        <p:spPr>
          <a:xfrm>
            <a:off x="189309" y="4272717"/>
            <a:ext cx="5329747" cy="978927"/>
          </a:xfrm>
          <a:prstGeom prst="rect">
            <a:avLst/>
          </a:prstGeom>
          <a:noFill/>
          <a:ln cap="flat" cmpd="sng" w="5715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090" name="Google Shape;1090;p30"/>
          <p:cNvSpPr/>
          <p:nvPr/>
        </p:nvSpPr>
        <p:spPr>
          <a:xfrm>
            <a:off x="142046" y="2992162"/>
            <a:ext cx="6535120" cy="609772"/>
          </a:xfrm>
          <a:prstGeom prst="rect">
            <a:avLst/>
          </a:prstGeom>
          <a:noFill/>
          <a:ln cap="flat" cmpd="sng" w="571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pic>
        <p:nvPicPr>
          <p:cNvPr id="1091" name="Google Shape;1091;p30"/>
          <p:cNvPicPr preferRelativeResize="0"/>
          <p:nvPr/>
        </p:nvPicPr>
        <p:blipFill rotWithShape="1">
          <a:blip r:embed="rId5">
            <a:alphaModFix/>
          </a:blip>
          <a:srcRect b="0" l="0" r="0" t="0"/>
          <a:stretch/>
        </p:blipFill>
        <p:spPr>
          <a:xfrm>
            <a:off x="129392" y="663594"/>
            <a:ext cx="6535120" cy="1411385"/>
          </a:xfrm>
          <a:prstGeom prst="rect">
            <a:avLst/>
          </a:prstGeom>
          <a:noFill/>
          <a:ln>
            <a:noFill/>
          </a:ln>
        </p:spPr>
      </p:pic>
      <p:pic>
        <p:nvPicPr>
          <p:cNvPr id="1092" name="Google Shape;1092;p30"/>
          <p:cNvPicPr preferRelativeResize="0"/>
          <p:nvPr/>
        </p:nvPicPr>
        <p:blipFill rotWithShape="1">
          <a:blip r:embed="rId6">
            <a:alphaModFix/>
          </a:blip>
          <a:srcRect b="0" l="0" r="0" t="52978"/>
          <a:stretch/>
        </p:blipFill>
        <p:spPr>
          <a:xfrm>
            <a:off x="122527" y="5306355"/>
            <a:ext cx="6492201" cy="1510469"/>
          </a:xfrm>
          <a:prstGeom prst="rect">
            <a:avLst/>
          </a:prstGeom>
          <a:noFill/>
          <a:ln>
            <a:noFill/>
          </a:ln>
        </p:spPr>
      </p:pic>
      <p:sp>
        <p:nvSpPr>
          <p:cNvPr id="1093" name="Google Shape;1093;p30"/>
          <p:cNvSpPr/>
          <p:nvPr/>
        </p:nvSpPr>
        <p:spPr>
          <a:xfrm>
            <a:off x="189309" y="6323128"/>
            <a:ext cx="6425419" cy="432518"/>
          </a:xfrm>
          <a:prstGeom prst="rect">
            <a:avLst/>
          </a:prstGeom>
          <a:noFill/>
          <a:ln cap="flat" cmpd="sng" w="57150">
            <a:solidFill>
              <a:srgbClr val="FF99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094" name="Google Shape;1094;p30"/>
          <p:cNvSpPr txBox="1"/>
          <p:nvPr/>
        </p:nvSpPr>
        <p:spPr>
          <a:xfrm>
            <a:off x="5993695" y="1291758"/>
            <a:ext cx="6725387" cy="707886"/>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4000">
                <a:solidFill>
                  <a:srgbClr val="00B050"/>
                </a:solidFill>
                <a:latin typeface="Impact"/>
                <a:ea typeface="Impact"/>
                <a:cs typeface="Impact"/>
                <a:sym typeface="Impact"/>
              </a:rPr>
              <a:t>Signature and Consent</a:t>
            </a:r>
            <a:endParaRPr sz="4000">
              <a:solidFill>
                <a:srgbClr val="00B050"/>
              </a:solidFill>
              <a:latin typeface="Impact"/>
              <a:ea typeface="Impact"/>
              <a:cs typeface="Impact"/>
              <a:sym typeface="Impac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pic>
        <p:nvPicPr>
          <p:cNvPr id="1100" name="Google Shape;1100;p31"/>
          <p:cNvPicPr preferRelativeResize="0"/>
          <p:nvPr/>
        </p:nvPicPr>
        <p:blipFill rotWithShape="1">
          <a:blip r:embed="rId3">
            <a:alphaModFix/>
          </a:blip>
          <a:srcRect b="0" l="0" r="0" t="0"/>
          <a:stretch/>
        </p:blipFill>
        <p:spPr>
          <a:xfrm>
            <a:off x="183730" y="772886"/>
            <a:ext cx="1828800" cy="1828800"/>
          </a:xfrm>
          <a:prstGeom prst="rect">
            <a:avLst/>
          </a:prstGeom>
          <a:noFill/>
          <a:ln>
            <a:noFill/>
          </a:ln>
        </p:spPr>
      </p:pic>
      <p:sp>
        <p:nvSpPr>
          <p:cNvPr id="1101" name="Google Shape;1101;p31"/>
          <p:cNvSpPr/>
          <p:nvPr/>
        </p:nvSpPr>
        <p:spPr>
          <a:xfrm>
            <a:off x="154702" y="102974"/>
            <a:ext cx="863192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A3838"/>
                </a:solidFill>
                <a:latin typeface="Calibri"/>
                <a:ea typeface="Calibri"/>
                <a:cs typeface="Calibri"/>
                <a:sym typeface="Calibri"/>
              </a:rPr>
              <a:t>Additional Reminders</a:t>
            </a:r>
            <a:endParaRPr b="1" sz="1800">
              <a:solidFill>
                <a:schemeClr val="dk1"/>
              </a:solidFill>
              <a:latin typeface="Calibri"/>
              <a:ea typeface="Calibri"/>
              <a:cs typeface="Calibri"/>
              <a:sym typeface="Calibri"/>
            </a:endParaRPr>
          </a:p>
        </p:txBody>
      </p:sp>
      <p:sp>
        <p:nvSpPr>
          <p:cNvPr id="1102" name="Google Shape;1102;p31"/>
          <p:cNvSpPr txBox="1"/>
          <p:nvPr/>
        </p:nvSpPr>
        <p:spPr>
          <a:xfrm>
            <a:off x="1522901" y="847360"/>
            <a:ext cx="5606144" cy="230832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Previous occupation, name of company and annual income prior to retirement </a:t>
            </a:r>
            <a:r>
              <a:rPr lang="en-US" sz="1800">
                <a:solidFill>
                  <a:schemeClr val="dk1"/>
                </a:solidFill>
                <a:latin typeface="Calibri"/>
                <a:ea typeface="Calibri"/>
                <a:cs typeface="Calibri"/>
                <a:sym typeface="Calibri"/>
              </a:rPr>
              <a:t>should be declared for </a:t>
            </a:r>
            <a:r>
              <a:rPr lang="en-US" sz="1800" u="sng">
                <a:solidFill>
                  <a:schemeClr val="dk1"/>
                </a:solidFill>
                <a:latin typeface="Calibri"/>
                <a:ea typeface="Calibri"/>
                <a:cs typeface="Calibri"/>
                <a:sym typeface="Calibri"/>
              </a:rPr>
              <a:t>retired or unemployed clients</a:t>
            </a:r>
            <a:r>
              <a:rPr lang="en-US" sz="1800">
                <a:solidFill>
                  <a:schemeClr val="dk1"/>
                </a:solidFill>
                <a:latin typeface="Calibri"/>
                <a:ea typeface="Calibri"/>
                <a:cs typeface="Calibri"/>
                <a:sym typeface="Calibri"/>
              </a:rPr>
              <a:t>, especially for GIO product applicant.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Nature of business, business name and products sold </a:t>
            </a:r>
            <a:r>
              <a:rPr lang="en-US" sz="1800">
                <a:solidFill>
                  <a:schemeClr val="dk1"/>
                </a:solidFill>
                <a:latin typeface="Calibri"/>
                <a:ea typeface="Calibri"/>
                <a:cs typeface="Calibri"/>
                <a:sym typeface="Calibri"/>
              </a:rPr>
              <a:t>should be listed if insured/applicant is a </a:t>
            </a:r>
            <a:r>
              <a:rPr lang="en-US" sz="1800" u="sng">
                <a:solidFill>
                  <a:schemeClr val="dk1"/>
                </a:solidFill>
                <a:latin typeface="Calibri"/>
                <a:ea typeface="Calibri"/>
                <a:cs typeface="Calibri"/>
                <a:sym typeface="Calibri"/>
              </a:rPr>
              <a:t>businessman, self-employed or generating income from online selling</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1103" name="Google Shape;1103;p31"/>
          <p:cNvSpPr txBox="1"/>
          <p:nvPr/>
        </p:nvSpPr>
        <p:spPr>
          <a:xfrm>
            <a:off x="1522901" y="3242357"/>
            <a:ext cx="6095773" cy="830997"/>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B050"/>
                </a:solidFill>
                <a:latin typeface="Calibri"/>
                <a:ea typeface="Calibri"/>
                <a:cs typeface="Calibri"/>
                <a:sym typeface="Calibri"/>
              </a:rPr>
              <a:t>FNA + RPQ </a:t>
            </a:r>
            <a:r>
              <a:rPr lang="en-US" sz="1600">
                <a:solidFill>
                  <a:schemeClr val="dk1"/>
                </a:solidFill>
                <a:latin typeface="Calibri"/>
                <a:ea typeface="Calibri"/>
                <a:cs typeface="Calibri"/>
                <a:sym typeface="Calibri"/>
              </a:rPr>
              <a:t>should be completed and must be signed by the client.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Page 1 – Financial Need</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Page 2 – Total Score</a:t>
            </a:r>
            <a:endParaRPr/>
          </a:p>
        </p:txBody>
      </p:sp>
      <p:sp>
        <p:nvSpPr>
          <p:cNvPr id="1104" name="Google Shape;1104;p31"/>
          <p:cNvSpPr txBox="1"/>
          <p:nvPr/>
        </p:nvSpPr>
        <p:spPr>
          <a:xfrm>
            <a:off x="183730" y="5186729"/>
            <a:ext cx="2973634" cy="120032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Commonly Omitted Questions in the Application  Forms </a:t>
            </a:r>
            <a:endParaRPr b="1" sz="1200">
              <a:solidFill>
                <a:schemeClr val="dk1"/>
              </a:solidFill>
              <a:latin typeface="Calibri"/>
              <a:ea typeface="Calibri"/>
              <a:cs typeface="Calibri"/>
              <a:sym typeface="Calibri"/>
            </a:endParaRPr>
          </a:p>
        </p:txBody>
      </p:sp>
      <p:sp>
        <p:nvSpPr>
          <p:cNvPr id="1105" name="Google Shape;1105;p31"/>
          <p:cNvSpPr/>
          <p:nvPr/>
        </p:nvSpPr>
        <p:spPr>
          <a:xfrm>
            <a:off x="183732" y="4244921"/>
            <a:ext cx="1045163" cy="2613079"/>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106" name="Google Shape;1106;p31"/>
          <p:cNvPicPr preferRelativeResize="0"/>
          <p:nvPr/>
        </p:nvPicPr>
        <p:blipFill rotWithShape="1">
          <a:blip r:embed="rId4">
            <a:alphaModFix/>
          </a:blip>
          <a:srcRect b="0" l="0" r="0" t="0"/>
          <a:stretch/>
        </p:blipFill>
        <p:spPr>
          <a:xfrm>
            <a:off x="1337907" y="4468315"/>
            <a:ext cx="917965" cy="914400"/>
          </a:xfrm>
          <a:prstGeom prst="rect">
            <a:avLst/>
          </a:prstGeom>
          <a:noFill/>
          <a:ln>
            <a:noFill/>
          </a:ln>
        </p:spPr>
      </p:pic>
      <p:sp>
        <p:nvSpPr>
          <p:cNvPr id="1107" name="Google Shape;1107;p31"/>
          <p:cNvSpPr/>
          <p:nvPr/>
        </p:nvSpPr>
        <p:spPr>
          <a:xfrm>
            <a:off x="183730" y="4244921"/>
            <a:ext cx="112082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200">
                <a:solidFill>
                  <a:srgbClr val="000000"/>
                </a:solidFill>
                <a:latin typeface="Calibri"/>
                <a:ea typeface="Calibri"/>
                <a:cs typeface="Calibri"/>
                <a:sym typeface="Calibri"/>
              </a:rPr>
              <a:t>04</a:t>
            </a:r>
            <a:endParaRPr sz="4400">
              <a:solidFill>
                <a:srgbClr val="000000"/>
              </a:solidFill>
              <a:latin typeface="Calibri"/>
              <a:ea typeface="Calibri"/>
              <a:cs typeface="Calibri"/>
              <a:sym typeface="Calibri"/>
            </a:endParaRPr>
          </a:p>
        </p:txBody>
      </p:sp>
      <p:pic>
        <p:nvPicPr>
          <p:cNvPr id="1108" name="Google Shape;1108;p31"/>
          <p:cNvPicPr preferRelativeResize="0"/>
          <p:nvPr/>
        </p:nvPicPr>
        <p:blipFill rotWithShape="1">
          <a:blip r:embed="rId5">
            <a:alphaModFix/>
          </a:blip>
          <a:srcRect b="0" l="0" r="0" t="0"/>
          <a:stretch/>
        </p:blipFill>
        <p:spPr>
          <a:xfrm>
            <a:off x="2701046" y="4272329"/>
            <a:ext cx="1828800" cy="1828800"/>
          </a:xfrm>
          <a:prstGeom prst="rect">
            <a:avLst/>
          </a:prstGeom>
          <a:noFill/>
          <a:ln>
            <a:noFill/>
          </a:ln>
        </p:spPr>
      </p:pic>
      <p:sp>
        <p:nvSpPr>
          <p:cNvPr id="1109" name="Google Shape;1109;p31"/>
          <p:cNvSpPr/>
          <p:nvPr/>
        </p:nvSpPr>
        <p:spPr>
          <a:xfrm>
            <a:off x="6003564" y="4901659"/>
            <a:ext cx="1371600" cy="498615"/>
          </a:xfrm>
          <a:prstGeom prst="stripedRightArrow">
            <a:avLst>
              <a:gd fmla="val 50000" name="adj1"/>
              <a:gd fmla="val 50000" name="adj2"/>
            </a:avLst>
          </a:prstGeom>
          <a:gradFill>
            <a:gsLst>
              <a:gs pos="0">
                <a:srgbClr val="474747"/>
              </a:gs>
              <a:gs pos="50000">
                <a:schemeClr val="dk1"/>
              </a:gs>
              <a:gs pos="100000">
                <a:schemeClr val="dk1"/>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110" name="Google Shape;1110;p31"/>
          <p:cNvPicPr preferRelativeResize="0"/>
          <p:nvPr/>
        </p:nvPicPr>
        <p:blipFill rotWithShape="1">
          <a:blip r:embed="rId6">
            <a:alphaModFix/>
          </a:blip>
          <a:srcRect b="0" l="0" r="0" t="0"/>
          <a:stretch/>
        </p:blipFill>
        <p:spPr>
          <a:xfrm>
            <a:off x="4325973" y="4272329"/>
            <a:ext cx="1828800" cy="1828800"/>
          </a:xfrm>
          <a:prstGeom prst="rect">
            <a:avLst/>
          </a:prstGeom>
          <a:noFill/>
          <a:ln>
            <a:noFill/>
          </a:ln>
        </p:spPr>
      </p:pic>
      <p:pic>
        <p:nvPicPr>
          <p:cNvPr id="1111" name="Google Shape;1111;p31"/>
          <p:cNvPicPr preferRelativeResize="0"/>
          <p:nvPr/>
        </p:nvPicPr>
        <p:blipFill rotWithShape="1">
          <a:blip r:embed="rId7">
            <a:alphaModFix/>
          </a:blip>
          <a:srcRect b="0" l="0" r="0" t="0"/>
          <a:stretch/>
        </p:blipFill>
        <p:spPr>
          <a:xfrm>
            <a:off x="7628491" y="333806"/>
            <a:ext cx="4357590" cy="6287663"/>
          </a:xfrm>
          <a:prstGeom prst="rect">
            <a:avLst/>
          </a:prstGeom>
          <a:noFill/>
          <a:ln cap="flat" cmpd="sng" w="9525">
            <a:solidFill>
              <a:srgbClr val="7F7F7F"/>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2"/>
                                        </p:tgtEl>
                                        <p:attrNameLst>
                                          <p:attrName>style.visibility</p:attrName>
                                        </p:attrNameLst>
                                      </p:cBhvr>
                                      <p:to>
                                        <p:strVal val="visible"/>
                                      </p:to>
                                    </p:set>
                                    <p:animEffect filter="fade" transition="in">
                                      <p:cBhvr>
                                        <p:cTn dur="1000"/>
                                        <p:tgtEl>
                                          <p:spTgt spid="1102"/>
                                        </p:tgtEl>
                                      </p:cBhvr>
                                    </p:animEffect>
                                  </p:childTnLst>
                                </p:cTn>
                              </p:par>
                              <p:par>
                                <p:cTn fill="hold" nodeType="withEffect" presetClass="entr" presetID="10" presetSubtype="0">
                                  <p:stCondLst>
                                    <p:cond delay="0"/>
                                  </p:stCondLst>
                                  <p:childTnLst>
                                    <p:set>
                                      <p:cBhvr>
                                        <p:cTn dur="1" fill="hold">
                                          <p:stCondLst>
                                            <p:cond delay="0"/>
                                          </p:stCondLst>
                                        </p:cTn>
                                        <p:tgtEl>
                                          <p:spTgt spid="1103"/>
                                        </p:tgtEl>
                                        <p:attrNameLst>
                                          <p:attrName>style.visibility</p:attrName>
                                        </p:attrNameLst>
                                      </p:cBhvr>
                                      <p:to>
                                        <p:strVal val="visible"/>
                                      </p:to>
                                    </p:set>
                                    <p:animEffect filter="fade" transition="in">
                                      <p:cBhvr>
                                        <p:cTn dur="1000"/>
                                        <p:tgtEl>
                                          <p:spTgt spid="11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08"/>
                                        </p:tgtEl>
                                        <p:attrNameLst>
                                          <p:attrName>style.visibility</p:attrName>
                                        </p:attrNameLst>
                                      </p:cBhvr>
                                      <p:to>
                                        <p:strVal val="visible"/>
                                      </p:to>
                                    </p:set>
                                    <p:anim calcmode="lin" valueType="num">
                                      <p:cBhvr additive="base">
                                        <p:cTn dur="500"/>
                                        <p:tgtEl>
                                          <p:spTgt spid="110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10"/>
                                        </p:tgtEl>
                                        <p:attrNameLst>
                                          <p:attrName>style.visibility</p:attrName>
                                        </p:attrNameLst>
                                      </p:cBhvr>
                                      <p:to>
                                        <p:strVal val="visible"/>
                                      </p:to>
                                    </p:set>
                                    <p:anim calcmode="lin" valueType="num">
                                      <p:cBhvr additive="base">
                                        <p:cTn dur="500"/>
                                        <p:tgtEl>
                                          <p:spTgt spid="111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09"/>
                                        </p:tgtEl>
                                        <p:attrNameLst>
                                          <p:attrName>style.visibility</p:attrName>
                                        </p:attrNameLst>
                                      </p:cBhvr>
                                      <p:to>
                                        <p:strVal val="visible"/>
                                      </p:to>
                                    </p:set>
                                    <p:anim calcmode="lin" valueType="num">
                                      <p:cBhvr additive="base">
                                        <p:cTn dur="500"/>
                                        <p:tgtEl>
                                          <p:spTgt spid="110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11"/>
                                        </p:tgtEl>
                                        <p:attrNameLst>
                                          <p:attrName>style.visibility</p:attrName>
                                        </p:attrNameLst>
                                      </p:cBhvr>
                                      <p:to>
                                        <p:strVal val="visible"/>
                                      </p:to>
                                    </p:set>
                                    <p:anim calcmode="lin" valueType="num">
                                      <p:cBhvr additive="base">
                                        <p:cTn dur="500"/>
                                        <p:tgtEl>
                                          <p:spTgt spid="111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32"/>
          <p:cNvSpPr/>
          <p:nvPr/>
        </p:nvSpPr>
        <p:spPr>
          <a:xfrm>
            <a:off x="183732" y="4244921"/>
            <a:ext cx="1045163" cy="2613079"/>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18" name="Google Shape;1118;p32"/>
          <p:cNvSpPr/>
          <p:nvPr/>
        </p:nvSpPr>
        <p:spPr>
          <a:xfrm>
            <a:off x="154702" y="102974"/>
            <a:ext cx="863192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A3838"/>
                </a:solidFill>
                <a:latin typeface="Calibri"/>
                <a:ea typeface="Calibri"/>
                <a:cs typeface="Calibri"/>
                <a:sym typeface="Calibri"/>
              </a:rPr>
              <a:t>Additional Reminders</a:t>
            </a:r>
            <a:endParaRPr b="1" sz="1800">
              <a:solidFill>
                <a:schemeClr val="dk1"/>
              </a:solidFill>
              <a:latin typeface="Calibri"/>
              <a:ea typeface="Calibri"/>
              <a:cs typeface="Calibri"/>
              <a:sym typeface="Calibri"/>
            </a:endParaRPr>
          </a:p>
        </p:txBody>
      </p:sp>
      <p:sp>
        <p:nvSpPr>
          <p:cNvPr id="1119" name="Google Shape;1119;p32"/>
          <p:cNvSpPr txBox="1"/>
          <p:nvPr/>
        </p:nvSpPr>
        <p:spPr>
          <a:xfrm>
            <a:off x="183730" y="5186729"/>
            <a:ext cx="2973634" cy="120032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Commonly Omitted Questions in the Application  Forms </a:t>
            </a:r>
            <a:endParaRPr b="1" sz="1200">
              <a:solidFill>
                <a:schemeClr val="dk1"/>
              </a:solidFill>
              <a:latin typeface="Calibri"/>
              <a:ea typeface="Calibri"/>
              <a:cs typeface="Calibri"/>
              <a:sym typeface="Calibri"/>
            </a:endParaRPr>
          </a:p>
        </p:txBody>
      </p:sp>
      <p:pic>
        <p:nvPicPr>
          <p:cNvPr id="1120" name="Google Shape;1120;p32"/>
          <p:cNvPicPr preferRelativeResize="0"/>
          <p:nvPr/>
        </p:nvPicPr>
        <p:blipFill rotWithShape="1">
          <a:blip r:embed="rId3">
            <a:alphaModFix/>
          </a:blip>
          <a:srcRect b="0" l="0" r="0" t="0"/>
          <a:stretch/>
        </p:blipFill>
        <p:spPr>
          <a:xfrm>
            <a:off x="1337907" y="4468315"/>
            <a:ext cx="917965" cy="914400"/>
          </a:xfrm>
          <a:prstGeom prst="rect">
            <a:avLst/>
          </a:prstGeom>
          <a:noFill/>
          <a:ln>
            <a:noFill/>
          </a:ln>
        </p:spPr>
      </p:pic>
      <p:sp>
        <p:nvSpPr>
          <p:cNvPr id="1121" name="Google Shape;1121;p32"/>
          <p:cNvSpPr/>
          <p:nvPr/>
        </p:nvSpPr>
        <p:spPr>
          <a:xfrm>
            <a:off x="183730" y="4244921"/>
            <a:ext cx="112082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200">
                <a:solidFill>
                  <a:srgbClr val="000000"/>
                </a:solidFill>
                <a:latin typeface="Calibri"/>
                <a:ea typeface="Calibri"/>
                <a:cs typeface="Calibri"/>
                <a:sym typeface="Calibri"/>
              </a:rPr>
              <a:t>04</a:t>
            </a:r>
            <a:endParaRPr sz="4400">
              <a:solidFill>
                <a:srgbClr val="000000"/>
              </a:solidFill>
              <a:latin typeface="Calibri"/>
              <a:ea typeface="Calibri"/>
              <a:cs typeface="Calibri"/>
              <a:sym typeface="Calibri"/>
            </a:endParaRPr>
          </a:p>
        </p:txBody>
      </p:sp>
      <p:pic>
        <p:nvPicPr>
          <p:cNvPr id="1122" name="Google Shape;1122;p32"/>
          <p:cNvPicPr preferRelativeResize="0"/>
          <p:nvPr/>
        </p:nvPicPr>
        <p:blipFill rotWithShape="1">
          <a:blip r:embed="rId4">
            <a:alphaModFix/>
          </a:blip>
          <a:srcRect b="0" l="0" r="0" t="0"/>
          <a:stretch/>
        </p:blipFill>
        <p:spPr>
          <a:xfrm>
            <a:off x="2675906" y="4674300"/>
            <a:ext cx="1828800" cy="1828800"/>
          </a:xfrm>
          <a:prstGeom prst="rect">
            <a:avLst/>
          </a:prstGeom>
          <a:noFill/>
          <a:ln>
            <a:noFill/>
          </a:ln>
        </p:spPr>
      </p:pic>
      <p:sp>
        <p:nvSpPr>
          <p:cNvPr id="1123" name="Google Shape;1123;p32"/>
          <p:cNvSpPr/>
          <p:nvPr/>
        </p:nvSpPr>
        <p:spPr>
          <a:xfrm>
            <a:off x="5978424" y="5303630"/>
            <a:ext cx="1371600" cy="498615"/>
          </a:xfrm>
          <a:prstGeom prst="stripedRightArrow">
            <a:avLst>
              <a:gd fmla="val 50000" name="adj1"/>
              <a:gd fmla="val 50000" name="adj2"/>
            </a:avLst>
          </a:prstGeom>
          <a:gradFill>
            <a:gsLst>
              <a:gs pos="0">
                <a:srgbClr val="474747"/>
              </a:gs>
              <a:gs pos="50000">
                <a:schemeClr val="dk1"/>
              </a:gs>
              <a:gs pos="100000">
                <a:schemeClr val="dk1"/>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124" name="Google Shape;1124;p32"/>
          <p:cNvPicPr preferRelativeResize="0"/>
          <p:nvPr/>
        </p:nvPicPr>
        <p:blipFill rotWithShape="1">
          <a:blip r:embed="rId5">
            <a:alphaModFix/>
          </a:blip>
          <a:srcRect b="0" l="0" r="0" t="0"/>
          <a:stretch/>
        </p:blipFill>
        <p:spPr>
          <a:xfrm>
            <a:off x="4300833" y="4674300"/>
            <a:ext cx="1828800" cy="1828800"/>
          </a:xfrm>
          <a:prstGeom prst="rect">
            <a:avLst/>
          </a:prstGeom>
          <a:noFill/>
          <a:ln>
            <a:noFill/>
          </a:ln>
        </p:spPr>
      </p:pic>
      <p:pic>
        <p:nvPicPr>
          <p:cNvPr id="1125" name="Google Shape;1125;p32"/>
          <p:cNvPicPr preferRelativeResize="0"/>
          <p:nvPr/>
        </p:nvPicPr>
        <p:blipFill rotWithShape="1">
          <a:blip r:embed="rId6">
            <a:alphaModFix/>
          </a:blip>
          <a:srcRect b="0" l="0" r="0" t="0"/>
          <a:stretch/>
        </p:blipFill>
        <p:spPr>
          <a:xfrm>
            <a:off x="7375164" y="477554"/>
            <a:ext cx="4593772" cy="6011207"/>
          </a:xfrm>
          <a:prstGeom prst="rect">
            <a:avLst/>
          </a:prstGeom>
          <a:noFill/>
          <a:ln>
            <a:noFill/>
          </a:ln>
          <a:effectLst>
            <a:outerShdw blurRad="292100" rotWithShape="0" algn="tl" dir="2700000" dist="139700">
              <a:srgbClr val="333333">
                <a:alpha val="64705"/>
              </a:srgbClr>
            </a:outerShdw>
          </a:effectLst>
        </p:spPr>
      </p:pic>
      <p:sp>
        <p:nvSpPr>
          <p:cNvPr id="1126" name="Google Shape;1126;p32"/>
          <p:cNvSpPr txBox="1"/>
          <p:nvPr/>
        </p:nvSpPr>
        <p:spPr>
          <a:xfrm>
            <a:off x="230585" y="573983"/>
            <a:ext cx="7011726" cy="3785652"/>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B050"/>
                </a:solidFill>
                <a:latin typeface="Calibri"/>
                <a:ea typeface="Calibri"/>
                <a:cs typeface="Calibri"/>
                <a:sym typeface="Calibri"/>
              </a:rPr>
              <a:t>Advisor’s report:</a:t>
            </a:r>
            <a:endParaRPr b="1" sz="1600">
              <a:solidFill>
                <a:srgbClr val="00B050"/>
              </a:solidFill>
              <a:latin typeface="Calibri"/>
              <a:ea typeface="Calibri"/>
              <a:cs typeface="Calibri"/>
              <a:sym typeface="Calibri"/>
            </a:endParaRPr>
          </a:p>
          <a:p>
            <a:pPr indent="-342900" lvl="0" marL="342900" marR="0" rtl="0" algn="l">
              <a:spcBef>
                <a:spcPts val="0"/>
              </a:spcBef>
              <a:spcAft>
                <a:spcPts val="0"/>
              </a:spcAft>
              <a:buClr>
                <a:schemeClr val="dk1"/>
              </a:buClr>
              <a:buSzPts val="1600"/>
              <a:buFont typeface="Calibri"/>
              <a:buAutoNum type="arabicPeriod"/>
            </a:pPr>
            <a:r>
              <a:rPr lang="en-US" sz="1600">
                <a:solidFill>
                  <a:schemeClr val="dk1"/>
                </a:solidFill>
                <a:latin typeface="Calibri"/>
                <a:ea typeface="Calibri"/>
                <a:cs typeface="Calibri"/>
                <a:sym typeface="Calibri"/>
              </a:rPr>
              <a:t>Specify name, position and relationship to applicant if Question A.2 (relative of government officials). </a:t>
            </a:r>
            <a:endParaRPr sz="16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600"/>
              <a:buFont typeface="Calibri"/>
              <a:buAutoNum type="arabicPeriod"/>
            </a:pPr>
            <a:r>
              <a:rPr lang="en-US" sz="1600">
                <a:solidFill>
                  <a:schemeClr val="dk1"/>
                </a:solidFill>
                <a:latin typeface="Calibri"/>
                <a:ea typeface="Calibri"/>
                <a:cs typeface="Calibri"/>
                <a:sym typeface="Calibri"/>
              </a:rPr>
              <a:t>Source of sale</a:t>
            </a:r>
            <a:endParaRPr sz="16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600"/>
              <a:buFont typeface="Calibri"/>
              <a:buAutoNum type="arabicPeriod"/>
            </a:pPr>
            <a:r>
              <a:rPr lang="en-US" sz="1600">
                <a:solidFill>
                  <a:schemeClr val="dk1"/>
                </a:solidFill>
                <a:latin typeface="Calibri"/>
                <a:ea typeface="Calibri"/>
                <a:cs typeface="Calibri"/>
                <a:sym typeface="Calibri"/>
              </a:rPr>
              <a:t>Source of cash if payment is made via validated deposit slip</a:t>
            </a:r>
            <a:endParaRPr/>
          </a:p>
          <a:p>
            <a:pPr indent="-342900" lvl="0" marL="342900" marR="0" rtl="0" algn="l">
              <a:spcBef>
                <a:spcPts val="0"/>
              </a:spcBef>
              <a:spcAft>
                <a:spcPts val="0"/>
              </a:spcAft>
              <a:buClr>
                <a:schemeClr val="dk1"/>
              </a:buClr>
              <a:buSzPts val="1600"/>
              <a:buFont typeface="Calibri"/>
              <a:buAutoNum type="arabicPeriod"/>
            </a:pPr>
            <a:r>
              <a:rPr lang="en-US" sz="1600">
                <a:solidFill>
                  <a:schemeClr val="dk1"/>
                </a:solidFill>
                <a:latin typeface="Calibri"/>
                <a:ea typeface="Calibri"/>
                <a:cs typeface="Calibri"/>
                <a:sym typeface="Calibri"/>
              </a:rPr>
              <a:t>Correct advisor’s code and commission sharing percentage should be written clearly</a:t>
            </a:r>
            <a:endParaRPr/>
          </a:p>
          <a:p>
            <a:pPr indent="-342900" lvl="0" marL="342900" marR="0" rtl="0" algn="l">
              <a:spcBef>
                <a:spcPts val="0"/>
              </a:spcBef>
              <a:spcAft>
                <a:spcPts val="0"/>
              </a:spcAft>
              <a:buClr>
                <a:schemeClr val="dk1"/>
              </a:buClr>
              <a:buSzPts val="1600"/>
              <a:buFont typeface="Calibri"/>
              <a:buAutoNum type="arabicPeriod"/>
            </a:pPr>
            <a:r>
              <a:rPr lang="en-US" sz="1600">
                <a:solidFill>
                  <a:schemeClr val="dk1"/>
                </a:solidFill>
                <a:latin typeface="Calibri"/>
                <a:ea typeface="Calibri"/>
                <a:cs typeface="Calibri"/>
                <a:sym typeface="Calibri"/>
              </a:rPr>
              <a:t>Incorrect mode of payment based on initial payment e.g. declared quarterly mode but paid for the whole year (Annual)</a:t>
            </a:r>
            <a:endParaRPr/>
          </a:p>
          <a:p>
            <a:pPr indent="-342900" lvl="0" marL="342900" marR="0" rtl="0" algn="l">
              <a:spcBef>
                <a:spcPts val="0"/>
              </a:spcBef>
              <a:spcAft>
                <a:spcPts val="0"/>
              </a:spcAft>
              <a:buClr>
                <a:schemeClr val="dk1"/>
              </a:buClr>
              <a:buSzPts val="1600"/>
              <a:buFont typeface="Calibri"/>
              <a:buAutoNum type="arabicPeriod"/>
            </a:pPr>
            <a:r>
              <a:rPr lang="en-US" sz="1600">
                <a:solidFill>
                  <a:schemeClr val="dk1"/>
                </a:solidFill>
                <a:latin typeface="Calibri"/>
                <a:ea typeface="Calibri"/>
                <a:cs typeface="Calibri"/>
                <a:sym typeface="Calibri"/>
              </a:rPr>
              <a:t>Declared as family member of advisor – but relationship to the applicant is not indicated </a:t>
            </a:r>
            <a:endParaRPr sz="16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600"/>
              <a:buFont typeface="Calibri"/>
              <a:buAutoNum type="arabicPeriod"/>
            </a:pPr>
            <a:r>
              <a:rPr lang="en-US" sz="1600">
                <a:solidFill>
                  <a:schemeClr val="dk1"/>
                </a:solidFill>
                <a:latin typeface="Calibri"/>
                <a:ea typeface="Calibri"/>
                <a:cs typeface="Calibri"/>
                <a:sym typeface="Calibri"/>
              </a:rPr>
              <a:t>Use the remarks or additional comments tab to list the details for: </a:t>
            </a:r>
            <a:endParaRPr/>
          </a:p>
          <a:p>
            <a:pPr indent="-342900" lvl="1" marL="800100" marR="0" rtl="0" algn="l">
              <a:spcBef>
                <a:spcPts val="0"/>
              </a:spcBef>
              <a:spcAft>
                <a:spcPts val="0"/>
              </a:spcAft>
              <a:buClr>
                <a:schemeClr val="dk1"/>
              </a:buClr>
              <a:buSzPts val="1600"/>
              <a:buFont typeface="Arial"/>
              <a:buChar char="•"/>
            </a:pPr>
            <a:r>
              <a:rPr b="0" i="0" lang="en-US" sz="1600" u="none" cap="none" strike="noStrike">
                <a:solidFill>
                  <a:schemeClr val="dk1"/>
                </a:solidFill>
                <a:latin typeface="Calibri"/>
                <a:ea typeface="Calibri"/>
                <a:cs typeface="Calibri"/>
                <a:sym typeface="Calibri"/>
              </a:rPr>
              <a:t>JFW, beneficiary details, simultaneous applications, maiden name vs. married name, instructions for excess payment, details of duties, vehicles used or job position of client.</a:t>
            </a:r>
            <a:endParaRPr b="0" i="0" sz="1600" u="none" cap="none" strike="noStrike">
              <a:solidFill>
                <a:schemeClr val="dk1"/>
              </a:solidFill>
              <a:latin typeface="Calibri"/>
              <a:ea typeface="Calibri"/>
              <a:cs typeface="Calibri"/>
              <a:sym typeface="Calibri"/>
            </a:endParaRPr>
          </a:p>
        </p:txBody>
      </p:sp>
      <p:sp>
        <p:nvSpPr>
          <p:cNvPr id="1127" name="Google Shape;1127;p32"/>
          <p:cNvSpPr/>
          <p:nvPr/>
        </p:nvSpPr>
        <p:spPr>
          <a:xfrm>
            <a:off x="7356103" y="1012024"/>
            <a:ext cx="4520211" cy="393164"/>
          </a:xfrm>
          <a:prstGeom prst="rect">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128" name="Google Shape;1128;p32"/>
          <p:cNvSpPr/>
          <p:nvPr/>
        </p:nvSpPr>
        <p:spPr>
          <a:xfrm>
            <a:off x="7398443" y="2116291"/>
            <a:ext cx="4477872" cy="801079"/>
          </a:xfrm>
          <a:prstGeom prst="rect">
            <a:avLst/>
          </a:prstGeom>
          <a:noFill/>
          <a:ln cap="flat" cmpd="sng" w="5715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129" name="Google Shape;1129;p32"/>
          <p:cNvSpPr/>
          <p:nvPr/>
        </p:nvSpPr>
        <p:spPr>
          <a:xfrm>
            <a:off x="7377272" y="3914659"/>
            <a:ext cx="4477872" cy="247938"/>
          </a:xfrm>
          <a:prstGeom prst="rect">
            <a:avLst/>
          </a:prstGeom>
          <a:noFill/>
          <a:ln cap="flat" cmpd="sng" w="571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130" name="Google Shape;1130;p32"/>
          <p:cNvSpPr/>
          <p:nvPr/>
        </p:nvSpPr>
        <p:spPr>
          <a:xfrm>
            <a:off x="7398443" y="4349887"/>
            <a:ext cx="4477872" cy="801079"/>
          </a:xfrm>
          <a:prstGeom prst="rect">
            <a:avLst/>
          </a:prstGeom>
          <a:noFill/>
          <a:ln cap="flat" cmpd="sng" w="57150">
            <a:solidFill>
              <a:srgbClr val="FF99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131" name="Google Shape;1131;p32"/>
          <p:cNvSpPr/>
          <p:nvPr/>
        </p:nvSpPr>
        <p:spPr>
          <a:xfrm>
            <a:off x="7423583" y="4148360"/>
            <a:ext cx="4477872" cy="247938"/>
          </a:xfrm>
          <a:prstGeom prst="rect">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6"/>
                                        </p:tgtEl>
                                        <p:attrNameLst>
                                          <p:attrName>style.visibility</p:attrName>
                                        </p:attrNameLst>
                                      </p:cBhvr>
                                      <p:to>
                                        <p:strVal val="visible"/>
                                      </p:to>
                                    </p:set>
                                    <p:animEffect filter="fade" transition="in">
                                      <p:cBhvr>
                                        <p:cTn dur="1000"/>
                                        <p:tgtEl>
                                          <p:spTgt spid="1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sp>
        <p:nvSpPr>
          <p:cNvPr id="1137" name="Google Shape;1137;p33"/>
          <p:cNvSpPr/>
          <p:nvPr/>
        </p:nvSpPr>
        <p:spPr>
          <a:xfrm>
            <a:off x="183732" y="4244921"/>
            <a:ext cx="1045163" cy="2613079"/>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38" name="Google Shape;1138;p33"/>
          <p:cNvSpPr/>
          <p:nvPr/>
        </p:nvSpPr>
        <p:spPr>
          <a:xfrm>
            <a:off x="154702" y="102974"/>
            <a:ext cx="863192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A3838"/>
                </a:solidFill>
                <a:latin typeface="Calibri"/>
                <a:ea typeface="Calibri"/>
                <a:cs typeface="Calibri"/>
                <a:sym typeface="Calibri"/>
              </a:rPr>
              <a:t>Additional Reminders</a:t>
            </a:r>
            <a:endParaRPr b="1" sz="1800">
              <a:solidFill>
                <a:schemeClr val="dk1"/>
              </a:solidFill>
              <a:latin typeface="Calibri"/>
              <a:ea typeface="Calibri"/>
              <a:cs typeface="Calibri"/>
              <a:sym typeface="Calibri"/>
            </a:endParaRPr>
          </a:p>
        </p:txBody>
      </p:sp>
      <p:sp>
        <p:nvSpPr>
          <p:cNvPr id="1139" name="Google Shape;1139;p33"/>
          <p:cNvSpPr txBox="1"/>
          <p:nvPr/>
        </p:nvSpPr>
        <p:spPr>
          <a:xfrm>
            <a:off x="183730" y="5186729"/>
            <a:ext cx="2973634" cy="120032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Commonly Omitted Questions in the Application  Forms </a:t>
            </a:r>
            <a:endParaRPr b="1" sz="1200">
              <a:solidFill>
                <a:schemeClr val="dk1"/>
              </a:solidFill>
              <a:latin typeface="Calibri"/>
              <a:ea typeface="Calibri"/>
              <a:cs typeface="Calibri"/>
              <a:sym typeface="Calibri"/>
            </a:endParaRPr>
          </a:p>
        </p:txBody>
      </p:sp>
      <p:pic>
        <p:nvPicPr>
          <p:cNvPr id="1140" name="Google Shape;1140;p33"/>
          <p:cNvPicPr preferRelativeResize="0"/>
          <p:nvPr/>
        </p:nvPicPr>
        <p:blipFill rotWithShape="1">
          <a:blip r:embed="rId3">
            <a:alphaModFix/>
          </a:blip>
          <a:srcRect b="0" l="0" r="0" t="0"/>
          <a:stretch/>
        </p:blipFill>
        <p:spPr>
          <a:xfrm>
            <a:off x="1337907" y="4468315"/>
            <a:ext cx="917965" cy="914400"/>
          </a:xfrm>
          <a:prstGeom prst="rect">
            <a:avLst/>
          </a:prstGeom>
          <a:noFill/>
          <a:ln>
            <a:noFill/>
          </a:ln>
        </p:spPr>
      </p:pic>
      <p:sp>
        <p:nvSpPr>
          <p:cNvPr id="1141" name="Google Shape;1141;p33"/>
          <p:cNvSpPr/>
          <p:nvPr/>
        </p:nvSpPr>
        <p:spPr>
          <a:xfrm>
            <a:off x="183730" y="4244921"/>
            <a:ext cx="112082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200">
                <a:solidFill>
                  <a:srgbClr val="000000"/>
                </a:solidFill>
                <a:latin typeface="Calibri"/>
                <a:ea typeface="Calibri"/>
                <a:cs typeface="Calibri"/>
                <a:sym typeface="Calibri"/>
              </a:rPr>
              <a:t>04</a:t>
            </a:r>
            <a:endParaRPr sz="4400">
              <a:solidFill>
                <a:srgbClr val="000000"/>
              </a:solidFill>
              <a:latin typeface="Calibri"/>
              <a:ea typeface="Calibri"/>
              <a:cs typeface="Calibri"/>
              <a:sym typeface="Calibri"/>
            </a:endParaRPr>
          </a:p>
        </p:txBody>
      </p:sp>
      <p:pic>
        <p:nvPicPr>
          <p:cNvPr id="1142" name="Google Shape;1142;p33"/>
          <p:cNvPicPr preferRelativeResize="0"/>
          <p:nvPr/>
        </p:nvPicPr>
        <p:blipFill rotWithShape="1">
          <a:blip r:embed="rId4">
            <a:alphaModFix/>
          </a:blip>
          <a:srcRect b="0" l="0" r="0" t="0"/>
          <a:stretch/>
        </p:blipFill>
        <p:spPr>
          <a:xfrm>
            <a:off x="2701046" y="4272329"/>
            <a:ext cx="1828800" cy="1828800"/>
          </a:xfrm>
          <a:prstGeom prst="rect">
            <a:avLst/>
          </a:prstGeom>
          <a:noFill/>
          <a:ln>
            <a:noFill/>
          </a:ln>
        </p:spPr>
      </p:pic>
      <p:sp>
        <p:nvSpPr>
          <p:cNvPr id="1143" name="Google Shape;1143;p33"/>
          <p:cNvSpPr/>
          <p:nvPr/>
        </p:nvSpPr>
        <p:spPr>
          <a:xfrm>
            <a:off x="6003564" y="4901659"/>
            <a:ext cx="1371600" cy="498615"/>
          </a:xfrm>
          <a:prstGeom prst="stripedRightArrow">
            <a:avLst>
              <a:gd fmla="val 50000" name="adj1"/>
              <a:gd fmla="val 50000" name="adj2"/>
            </a:avLst>
          </a:prstGeom>
          <a:gradFill>
            <a:gsLst>
              <a:gs pos="0">
                <a:srgbClr val="474747"/>
              </a:gs>
              <a:gs pos="50000">
                <a:schemeClr val="dk1"/>
              </a:gs>
              <a:gs pos="100000">
                <a:schemeClr val="dk1"/>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144" name="Google Shape;1144;p33"/>
          <p:cNvPicPr preferRelativeResize="0"/>
          <p:nvPr/>
        </p:nvPicPr>
        <p:blipFill rotWithShape="1">
          <a:blip r:embed="rId5">
            <a:alphaModFix/>
          </a:blip>
          <a:srcRect b="0" l="0" r="0" t="0"/>
          <a:stretch/>
        </p:blipFill>
        <p:spPr>
          <a:xfrm>
            <a:off x="4325973" y="4272329"/>
            <a:ext cx="1828800" cy="1828800"/>
          </a:xfrm>
          <a:prstGeom prst="rect">
            <a:avLst/>
          </a:prstGeom>
          <a:noFill/>
          <a:ln>
            <a:noFill/>
          </a:ln>
        </p:spPr>
      </p:pic>
      <p:sp>
        <p:nvSpPr>
          <p:cNvPr id="1145" name="Google Shape;1145;p33"/>
          <p:cNvSpPr txBox="1"/>
          <p:nvPr/>
        </p:nvSpPr>
        <p:spPr>
          <a:xfrm>
            <a:off x="183731" y="760955"/>
            <a:ext cx="7011726" cy="3477875"/>
          </a:xfrm>
          <a:prstGeom prst="rect">
            <a:avLst/>
          </a:prstGeom>
          <a:noFill/>
          <a:ln cap="flat" cmpd="sng" w="12700">
            <a:solidFill>
              <a:schemeClr val="accent6"/>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0B050"/>
                </a:solidFill>
                <a:latin typeface="Calibri"/>
                <a:ea typeface="Calibri"/>
                <a:cs typeface="Calibri"/>
                <a:sym typeface="Calibri"/>
              </a:rPr>
              <a:t>Proposal:</a:t>
            </a:r>
            <a:endParaRPr/>
          </a:p>
          <a:p>
            <a:pPr indent="0" lvl="0" marL="0" marR="0" rtl="0" algn="l">
              <a:spcBef>
                <a:spcPts val="0"/>
              </a:spcBef>
              <a:spcAft>
                <a:spcPts val="0"/>
              </a:spcAft>
              <a:buNone/>
            </a:pPr>
            <a:r>
              <a:t/>
            </a:r>
            <a:endParaRPr sz="1400">
              <a:solidFill>
                <a:srgbClr val="00B050"/>
              </a:solidFill>
              <a:latin typeface="Calibri"/>
              <a:ea typeface="Calibri"/>
              <a:cs typeface="Calibri"/>
              <a:sym typeface="Calibri"/>
            </a:endParaRPr>
          </a:p>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Calibri"/>
                <a:ea typeface="Calibri"/>
                <a:cs typeface="Calibri"/>
                <a:sym typeface="Calibri"/>
              </a:rPr>
              <a:t>Name, Age, Smoker/Non-smoker’s rate, Signature on last page</a:t>
            </a:r>
            <a:endParaRPr/>
          </a:p>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Calibri"/>
                <a:ea typeface="Calibri"/>
                <a:cs typeface="Calibri"/>
                <a:sym typeface="Calibri"/>
              </a:rPr>
              <a:t>Plan name and riders/ face amount – check the riders on application form, especially for Traditional plan</a:t>
            </a:r>
            <a:endParaRPr/>
          </a:p>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Calibri"/>
                <a:ea typeface="Calibri"/>
                <a:cs typeface="Calibri"/>
                <a:sym typeface="Calibri"/>
              </a:rPr>
              <a:t>Extra Occupational or Medical Rating (per thousand, per mil or multiple extra)</a:t>
            </a:r>
            <a:endParaRPr/>
          </a:p>
          <a:p>
            <a:pPr indent="0" lvl="1" marL="45720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FLAT EXTRA (/th) vs. MULTIPLE EXTRA (x)</a:t>
            </a:r>
            <a:endParaRPr b="0" i="0" sz="24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Calibri"/>
                <a:ea typeface="Calibri"/>
                <a:cs typeface="Calibri"/>
                <a:sym typeface="Calibri"/>
              </a:rPr>
              <a:t>Gender</a:t>
            </a:r>
            <a:endParaRPr sz="1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Calibri"/>
                <a:ea typeface="Calibri"/>
                <a:cs typeface="Calibri"/>
                <a:sym typeface="Calibri"/>
              </a:rPr>
              <a:t>Version</a:t>
            </a:r>
            <a:endParaRPr/>
          </a:p>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Calibri"/>
                <a:ea typeface="Calibri"/>
                <a:cs typeface="Calibri"/>
                <a:sym typeface="Calibri"/>
              </a:rPr>
              <a:t>Servicing advisor vs. Advisor who generated the proposal. Indicate on advisor’s report if application was solicited under JFW</a:t>
            </a:r>
            <a:endParaRPr/>
          </a:p>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Calibri"/>
                <a:ea typeface="Calibri"/>
                <a:cs typeface="Calibri"/>
                <a:sym typeface="Calibri"/>
              </a:rPr>
              <a:t>Applying for FCM/FCI rider but FMBQ is not submitted</a:t>
            </a:r>
            <a:endParaRPr sz="1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Calibri"/>
                <a:ea typeface="Calibri"/>
                <a:cs typeface="Calibri"/>
                <a:sym typeface="Calibri"/>
              </a:rPr>
              <a:t>Applying for Sun Maiden but FMBQ is not submitted</a:t>
            </a:r>
            <a:endParaRPr/>
          </a:p>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Calibri"/>
                <a:ea typeface="Calibri"/>
                <a:cs typeface="Calibri"/>
                <a:sym typeface="Calibri"/>
              </a:rPr>
              <a:t>Different serial numbers</a:t>
            </a:r>
            <a:endParaRPr/>
          </a:p>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Calibri"/>
                <a:ea typeface="Calibri"/>
                <a:cs typeface="Calibri"/>
                <a:sym typeface="Calibri"/>
              </a:rPr>
              <a:t>Incomplete proposal pages</a:t>
            </a:r>
            <a:endParaRPr sz="1400">
              <a:solidFill>
                <a:schemeClr val="dk1"/>
              </a:solidFill>
              <a:latin typeface="Calibri"/>
              <a:ea typeface="Calibri"/>
              <a:cs typeface="Calibri"/>
              <a:sym typeface="Calibri"/>
            </a:endParaRPr>
          </a:p>
        </p:txBody>
      </p:sp>
      <p:pic>
        <p:nvPicPr>
          <p:cNvPr id="1146" name="Google Shape;1146;p33"/>
          <p:cNvPicPr preferRelativeResize="0"/>
          <p:nvPr/>
        </p:nvPicPr>
        <p:blipFill rotWithShape="1">
          <a:blip r:embed="rId6">
            <a:alphaModFix/>
          </a:blip>
          <a:srcRect b="0" l="0" r="0" t="0"/>
          <a:stretch/>
        </p:blipFill>
        <p:spPr>
          <a:xfrm>
            <a:off x="7372333" y="333806"/>
            <a:ext cx="2828595" cy="3657600"/>
          </a:xfrm>
          <a:prstGeom prst="rect">
            <a:avLst/>
          </a:prstGeom>
          <a:noFill/>
          <a:ln>
            <a:noFill/>
          </a:ln>
        </p:spPr>
      </p:pic>
      <p:pic>
        <p:nvPicPr>
          <p:cNvPr id="1147" name="Google Shape;1147;p33"/>
          <p:cNvPicPr preferRelativeResize="0"/>
          <p:nvPr/>
        </p:nvPicPr>
        <p:blipFill rotWithShape="1">
          <a:blip r:embed="rId7">
            <a:alphaModFix/>
          </a:blip>
          <a:srcRect b="0" l="0" r="0" t="0"/>
          <a:stretch/>
        </p:blipFill>
        <p:spPr>
          <a:xfrm>
            <a:off x="7640631" y="938227"/>
            <a:ext cx="4181427" cy="5608941"/>
          </a:xfrm>
          <a:prstGeom prst="rect">
            <a:avLst/>
          </a:prstGeom>
          <a:noFill/>
          <a:ln cap="flat" cmpd="sng" w="9525">
            <a:solidFill>
              <a:srgbClr val="0070C0"/>
            </a:solidFill>
            <a:prstDash val="solid"/>
            <a:round/>
            <a:headEnd len="sm" w="sm" type="none"/>
            <a:tailEnd len="sm" w="sm" type="none"/>
          </a:ln>
        </p:spPr>
      </p:pic>
      <p:sp>
        <p:nvSpPr>
          <p:cNvPr id="1148" name="Google Shape;1148;p33"/>
          <p:cNvSpPr/>
          <p:nvPr/>
        </p:nvSpPr>
        <p:spPr>
          <a:xfrm>
            <a:off x="8522181" y="1763486"/>
            <a:ext cx="1536219" cy="193089"/>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9" name="Google Shape;1149;p33"/>
          <p:cNvSpPr/>
          <p:nvPr/>
        </p:nvSpPr>
        <p:spPr>
          <a:xfrm>
            <a:off x="7749488" y="2057400"/>
            <a:ext cx="4181427" cy="495563"/>
          </a:xfrm>
          <a:prstGeom prst="rect">
            <a:avLst/>
          </a:prstGeom>
          <a:noFill/>
          <a:ln cap="flat" cmpd="sng" w="5715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150" name="Google Shape;1150;p33"/>
          <p:cNvSpPr/>
          <p:nvPr/>
        </p:nvSpPr>
        <p:spPr>
          <a:xfrm>
            <a:off x="7695059" y="2650295"/>
            <a:ext cx="1906141" cy="276256"/>
          </a:xfrm>
          <a:prstGeom prst="rect">
            <a:avLst/>
          </a:prstGeom>
          <a:noFill/>
          <a:ln cap="flat" cmpd="sng" w="571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rgbClr val="002060"/>
                </a:solidFill>
                <a:latin typeface="Calibri"/>
                <a:ea typeface="Calibri"/>
                <a:cs typeface="Calibri"/>
                <a:sym typeface="Calibri"/>
              </a:rPr>
              <a:t>rating</a:t>
            </a:r>
            <a:endParaRPr sz="1400">
              <a:solidFill>
                <a:srgbClr val="002060"/>
              </a:solidFill>
              <a:latin typeface="Calibri"/>
              <a:ea typeface="Calibri"/>
              <a:cs typeface="Calibri"/>
              <a:sym typeface="Calibri"/>
            </a:endParaRPr>
          </a:p>
        </p:txBody>
      </p:sp>
      <p:sp>
        <p:nvSpPr>
          <p:cNvPr id="1151" name="Google Shape;1151;p33"/>
          <p:cNvSpPr/>
          <p:nvPr/>
        </p:nvSpPr>
        <p:spPr>
          <a:xfrm>
            <a:off x="7678160" y="5735761"/>
            <a:ext cx="4181427" cy="495563"/>
          </a:xfrm>
          <a:prstGeom prst="rect">
            <a:avLst/>
          </a:prstGeom>
          <a:noFill/>
          <a:ln cap="flat" cmpd="sng" w="57150">
            <a:solidFill>
              <a:srgbClr val="FF99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152" name="Google Shape;1152;p33"/>
          <p:cNvSpPr/>
          <p:nvPr/>
        </p:nvSpPr>
        <p:spPr>
          <a:xfrm>
            <a:off x="7659396" y="6248187"/>
            <a:ext cx="1517262" cy="298981"/>
          </a:xfrm>
          <a:prstGeom prst="rect">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153" name="Google Shape;1153;p33"/>
          <p:cNvSpPr/>
          <p:nvPr/>
        </p:nvSpPr>
        <p:spPr>
          <a:xfrm>
            <a:off x="9214187" y="6147363"/>
            <a:ext cx="1517262" cy="298981"/>
          </a:xfrm>
          <a:prstGeom prst="rect">
            <a:avLst/>
          </a:prstGeom>
          <a:noFill/>
          <a:ln cap="flat" cmpd="sng" w="5715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154" name="Google Shape;1154;p33"/>
          <p:cNvSpPr/>
          <p:nvPr/>
        </p:nvSpPr>
        <p:spPr>
          <a:xfrm>
            <a:off x="10731449" y="6189344"/>
            <a:ext cx="1165667" cy="298981"/>
          </a:xfrm>
          <a:prstGeom prst="rect">
            <a:avLst/>
          </a:prstGeom>
          <a:noFill/>
          <a:ln cap="flat" cmpd="sng" w="57150">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
        <p:nvSpPr>
          <p:cNvPr id="1155" name="Google Shape;1155;p33"/>
          <p:cNvSpPr/>
          <p:nvPr/>
        </p:nvSpPr>
        <p:spPr>
          <a:xfrm>
            <a:off x="7640631" y="1566904"/>
            <a:ext cx="4181427" cy="393164"/>
          </a:xfrm>
          <a:prstGeom prst="rect">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6"/>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gtEl>
                                        <p:attrNameLst>
                                          <p:attrName>style.visibility</p:attrName>
                                        </p:attrNameLst>
                                      </p:cBhvr>
                                      <p:to>
                                        <p:strVal val="visible"/>
                                      </p:to>
                                    </p:set>
                                    <p:animEffect filter="fade" transition="in">
                                      <p:cBhvr>
                                        <p:cTn dur="1000"/>
                                        <p:tgtEl>
                                          <p:spTgt spid="11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cxnSp>
        <p:nvCxnSpPr>
          <p:cNvPr id="1161" name="Google Shape;1161;p34"/>
          <p:cNvCxnSpPr>
            <a:stCxn id="1162" idx="2"/>
            <a:endCxn id="1163" idx="2"/>
          </p:cNvCxnSpPr>
          <p:nvPr/>
        </p:nvCxnSpPr>
        <p:spPr>
          <a:xfrm flipH="1" rot="10800000">
            <a:off x="1263945" y="3416839"/>
            <a:ext cx="9318300" cy="900"/>
          </a:xfrm>
          <a:prstGeom prst="straightConnector1">
            <a:avLst/>
          </a:prstGeom>
          <a:noFill/>
          <a:ln cap="flat" cmpd="sng" w="9525">
            <a:solidFill>
              <a:schemeClr val="dk1"/>
            </a:solidFill>
            <a:prstDash val="solid"/>
            <a:miter lim="800000"/>
            <a:headEnd len="sm" w="sm" type="none"/>
            <a:tailEnd len="sm" w="sm" type="none"/>
          </a:ln>
        </p:spPr>
      </p:cxnSp>
      <p:pic>
        <p:nvPicPr>
          <p:cNvPr id="1164" name="Google Shape;1164;p34"/>
          <p:cNvPicPr preferRelativeResize="0"/>
          <p:nvPr/>
        </p:nvPicPr>
        <p:blipFill rotWithShape="1">
          <a:blip r:embed="rId3">
            <a:alphaModFix/>
          </a:blip>
          <a:srcRect b="0" l="0" r="0" t="0"/>
          <a:stretch/>
        </p:blipFill>
        <p:spPr>
          <a:xfrm>
            <a:off x="3745745" y="415051"/>
            <a:ext cx="4722283" cy="2720035"/>
          </a:xfrm>
          <a:prstGeom prst="rect">
            <a:avLst/>
          </a:prstGeom>
          <a:noFill/>
          <a:ln>
            <a:noFill/>
          </a:ln>
        </p:spPr>
      </p:pic>
      <p:sp>
        <p:nvSpPr>
          <p:cNvPr id="1165" name="Google Shape;1165;p34"/>
          <p:cNvSpPr/>
          <p:nvPr/>
        </p:nvSpPr>
        <p:spPr>
          <a:xfrm>
            <a:off x="609600" y="957942"/>
            <a:ext cx="10972800" cy="1632858"/>
          </a:xfrm>
          <a:prstGeom prst="rect">
            <a:avLst/>
          </a:prstGeom>
          <a:solidFill>
            <a:srgbClr val="FFF2CC">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4400">
                <a:solidFill>
                  <a:schemeClr val="dk1"/>
                </a:solidFill>
                <a:latin typeface="Impact"/>
                <a:ea typeface="Impact"/>
                <a:cs typeface="Impact"/>
                <a:sym typeface="Impact"/>
              </a:rPr>
              <a:t>New Business Application Processing and  </a:t>
            </a:r>
            <a:endParaRPr sz="4400">
              <a:solidFill>
                <a:schemeClr val="dk1"/>
              </a:solidFill>
              <a:latin typeface="Impact"/>
              <a:ea typeface="Impact"/>
              <a:cs typeface="Impact"/>
              <a:sym typeface="Impact"/>
            </a:endParaRPr>
          </a:p>
          <a:p>
            <a:pPr indent="0" lvl="0" marL="0" marR="0" rtl="0" algn="ctr">
              <a:spcBef>
                <a:spcPts val="0"/>
              </a:spcBef>
              <a:spcAft>
                <a:spcPts val="0"/>
              </a:spcAft>
              <a:buNone/>
            </a:pPr>
            <a:r>
              <a:rPr lang="en-US" sz="4400">
                <a:solidFill>
                  <a:schemeClr val="dk1"/>
                </a:solidFill>
                <a:latin typeface="Impact"/>
                <a:ea typeface="Impact"/>
                <a:cs typeface="Impact"/>
                <a:sym typeface="Impact"/>
              </a:rPr>
              <a:t>Turnaround Time (TAT)</a:t>
            </a:r>
            <a:endParaRPr/>
          </a:p>
        </p:txBody>
      </p:sp>
      <p:sp>
        <p:nvSpPr>
          <p:cNvPr id="1166" name="Google Shape;1166;p34"/>
          <p:cNvSpPr/>
          <p:nvPr/>
        </p:nvSpPr>
        <p:spPr>
          <a:xfrm>
            <a:off x="1164771" y="696686"/>
            <a:ext cx="9851572" cy="2231571"/>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67" name="Google Shape;1167;p34"/>
          <p:cNvSpPr/>
          <p:nvPr/>
        </p:nvSpPr>
        <p:spPr>
          <a:xfrm>
            <a:off x="49395" y="-110308"/>
            <a:ext cx="112082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200">
                <a:solidFill>
                  <a:srgbClr val="000000"/>
                </a:solidFill>
                <a:latin typeface="Calibri"/>
                <a:ea typeface="Calibri"/>
                <a:cs typeface="Calibri"/>
                <a:sym typeface="Calibri"/>
              </a:rPr>
              <a:t>05</a:t>
            </a:r>
            <a:endParaRPr sz="4400">
              <a:solidFill>
                <a:srgbClr val="000000"/>
              </a:solidFill>
              <a:latin typeface="Calibri"/>
              <a:ea typeface="Calibri"/>
              <a:cs typeface="Calibri"/>
              <a:sym typeface="Calibri"/>
            </a:endParaRPr>
          </a:p>
        </p:txBody>
      </p:sp>
      <p:sp>
        <p:nvSpPr>
          <p:cNvPr id="1162" name="Google Shape;1162;p34"/>
          <p:cNvSpPr/>
          <p:nvPr/>
        </p:nvSpPr>
        <p:spPr>
          <a:xfrm>
            <a:off x="1263945" y="3303439"/>
            <a:ext cx="228600" cy="228600"/>
          </a:xfrm>
          <a:prstGeom prst="ellipse">
            <a:avLst/>
          </a:prstGeom>
          <a:gradFill>
            <a:gsLst>
              <a:gs pos="0">
                <a:srgbClr val="474747"/>
              </a:gs>
              <a:gs pos="50000">
                <a:schemeClr val="dk1"/>
              </a:gs>
              <a:gs pos="100000">
                <a:schemeClr val="dk1"/>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8" name="Google Shape;1168;p34"/>
          <p:cNvSpPr/>
          <p:nvPr/>
        </p:nvSpPr>
        <p:spPr>
          <a:xfrm>
            <a:off x="3593488" y="3317553"/>
            <a:ext cx="228600" cy="228600"/>
          </a:xfrm>
          <a:prstGeom prst="ellipse">
            <a:avLst/>
          </a:prstGeom>
          <a:gradFill>
            <a:gsLst>
              <a:gs pos="0">
                <a:srgbClr val="474747"/>
              </a:gs>
              <a:gs pos="50000">
                <a:schemeClr val="dk1"/>
              </a:gs>
              <a:gs pos="100000">
                <a:schemeClr val="dk1"/>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69" name="Google Shape;1169;p34"/>
          <p:cNvSpPr/>
          <p:nvPr/>
        </p:nvSpPr>
        <p:spPr>
          <a:xfrm>
            <a:off x="5923031" y="3317553"/>
            <a:ext cx="228600" cy="228600"/>
          </a:xfrm>
          <a:prstGeom prst="ellipse">
            <a:avLst/>
          </a:prstGeom>
          <a:gradFill>
            <a:gsLst>
              <a:gs pos="0">
                <a:srgbClr val="474747"/>
              </a:gs>
              <a:gs pos="50000">
                <a:schemeClr val="dk1"/>
              </a:gs>
              <a:gs pos="100000">
                <a:schemeClr val="dk1"/>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0" name="Google Shape;1170;p34"/>
          <p:cNvSpPr/>
          <p:nvPr/>
        </p:nvSpPr>
        <p:spPr>
          <a:xfrm>
            <a:off x="8252574" y="3317553"/>
            <a:ext cx="228600" cy="228600"/>
          </a:xfrm>
          <a:prstGeom prst="ellipse">
            <a:avLst/>
          </a:prstGeom>
          <a:gradFill>
            <a:gsLst>
              <a:gs pos="0">
                <a:srgbClr val="474747"/>
              </a:gs>
              <a:gs pos="50000">
                <a:schemeClr val="dk1"/>
              </a:gs>
              <a:gs pos="100000">
                <a:schemeClr val="dk1"/>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171" name="Google Shape;1171;p34"/>
          <p:cNvPicPr preferRelativeResize="0"/>
          <p:nvPr/>
        </p:nvPicPr>
        <p:blipFill rotWithShape="1">
          <a:blip r:embed="rId4">
            <a:alphaModFix/>
          </a:blip>
          <a:srcRect b="0" l="0" r="0" t="0"/>
          <a:stretch/>
        </p:blipFill>
        <p:spPr>
          <a:xfrm>
            <a:off x="7563209" y="481848"/>
            <a:ext cx="917965" cy="914400"/>
          </a:xfrm>
          <a:prstGeom prst="rect">
            <a:avLst/>
          </a:prstGeom>
          <a:noFill/>
          <a:ln>
            <a:noFill/>
          </a:ln>
        </p:spPr>
      </p:pic>
      <p:sp>
        <p:nvSpPr>
          <p:cNvPr id="1163" name="Google Shape;1163;p34"/>
          <p:cNvSpPr/>
          <p:nvPr/>
        </p:nvSpPr>
        <p:spPr>
          <a:xfrm>
            <a:off x="10582117" y="3302421"/>
            <a:ext cx="228600" cy="228600"/>
          </a:xfrm>
          <a:prstGeom prst="ellipse">
            <a:avLst/>
          </a:prstGeom>
          <a:gradFill>
            <a:gsLst>
              <a:gs pos="0">
                <a:srgbClr val="474747"/>
              </a:gs>
              <a:gs pos="50000">
                <a:schemeClr val="dk1"/>
              </a:gs>
              <a:gs pos="100000">
                <a:schemeClr val="dk1"/>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2" name="Google Shape;1172;p34"/>
          <p:cNvSpPr txBox="1"/>
          <p:nvPr/>
        </p:nvSpPr>
        <p:spPr>
          <a:xfrm>
            <a:off x="442074" y="3638531"/>
            <a:ext cx="1828800" cy="1661993"/>
          </a:xfrm>
          <a:prstGeom prst="rect">
            <a:avLst/>
          </a:prstGeom>
          <a:noFill/>
          <a:ln cap="flat" cmpd="sng" w="9525">
            <a:solidFill>
              <a:srgbClr val="0070C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02060"/>
                </a:solidFill>
                <a:latin typeface="Calibri"/>
                <a:ea typeface="Calibri"/>
                <a:cs typeface="Calibri"/>
                <a:sym typeface="Calibri"/>
              </a:rPr>
              <a:t>Client Service Centers/ ISO</a:t>
            </a:r>
            <a:endParaRPr/>
          </a:p>
          <a:p>
            <a:pPr indent="0" lvl="0" marL="0" marR="0" rtl="0" algn="l">
              <a:spcBef>
                <a:spcPts val="0"/>
              </a:spcBef>
              <a:spcAft>
                <a:spcPts val="0"/>
              </a:spcAft>
              <a:buNone/>
            </a:pPr>
            <a:r>
              <a:t/>
            </a:r>
            <a:endParaRPr b="1" sz="1400">
              <a:solidFill>
                <a:srgbClr val="002060"/>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Payment and Scanning</a:t>
            </a:r>
            <a:endParaRPr b="1"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Application /  document will be routed for data entry (no SMS)</a:t>
            </a:r>
            <a:endParaRPr b="1" sz="1200">
              <a:solidFill>
                <a:schemeClr val="dk1"/>
              </a:solidFill>
              <a:latin typeface="Calibri"/>
              <a:ea typeface="Calibri"/>
              <a:cs typeface="Calibri"/>
              <a:sym typeface="Calibri"/>
            </a:endParaRPr>
          </a:p>
        </p:txBody>
      </p:sp>
      <p:sp>
        <p:nvSpPr>
          <p:cNvPr id="1173" name="Google Shape;1173;p34"/>
          <p:cNvSpPr txBox="1"/>
          <p:nvPr/>
        </p:nvSpPr>
        <p:spPr>
          <a:xfrm>
            <a:off x="2771617" y="3638532"/>
            <a:ext cx="1828800" cy="2000548"/>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385623"/>
                </a:solidFill>
                <a:latin typeface="Calibri"/>
                <a:ea typeface="Calibri"/>
                <a:cs typeface="Calibri"/>
                <a:sym typeface="Calibri"/>
              </a:rPr>
              <a:t>Encoding</a:t>
            </a:r>
            <a:endParaRPr/>
          </a:p>
          <a:p>
            <a:pPr indent="0" lvl="0" marL="0" marR="0" rtl="0" algn="l">
              <a:spcBef>
                <a:spcPts val="0"/>
              </a:spcBef>
              <a:spcAft>
                <a:spcPts val="0"/>
              </a:spcAft>
              <a:buNone/>
            </a:pPr>
            <a:r>
              <a:t/>
            </a:r>
            <a:endParaRPr b="1" sz="1400">
              <a:solidFill>
                <a:srgbClr val="002060"/>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Assignment of Policy Number (with SMS Notification)</a:t>
            </a:r>
            <a:endParaRPr/>
          </a:p>
          <a:p>
            <a:pPr indent="0" lvl="0" marL="0" marR="0" rtl="0" algn="l">
              <a:spcBef>
                <a:spcPts val="0"/>
              </a:spcBef>
              <a:spcAft>
                <a:spcPts val="0"/>
              </a:spcAft>
              <a:buNone/>
            </a:pPr>
            <a:r>
              <a:t/>
            </a:r>
            <a:endParaRPr b="1"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Policy Nos. Ending in 00  – proceed with random medical &amp; cotinine testing upon receipt of SMS</a:t>
            </a:r>
            <a:endParaRPr b="1" sz="1200">
              <a:solidFill>
                <a:schemeClr val="dk1"/>
              </a:solidFill>
              <a:latin typeface="Calibri"/>
              <a:ea typeface="Calibri"/>
              <a:cs typeface="Calibri"/>
              <a:sym typeface="Calibri"/>
            </a:endParaRPr>
          </a:p>
        </p:txBody>
      </p:sp>
      <p:sp>
        <p:nvSpPr>
          <p:cNvPr id="1174" name="Google Shape;1174;p34"/>
          <p:cNvSpPr txBox="1"/>
          <p:nvPr/>
        </p:nvSpPr>
        <p:spPr>
          <a:xfrm>
            <a:off x="5097837" y="3652646"/>
            <a:ext cx="1828800" cy="2308324"/>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C55A11"/>
                </a:solidFill>
                <a:latin typeface="Calibri"/>
                <a:ea typeface="Calibri"/>
                <a:cs typeface="Calibri"/>
                <a:sym typeface="Calibri"/>
              </a:rPr>
              <a:t>Initial New Business Review and Speedy Appraisal*</a:t>
            </a:r>
            <a:endParaRPr/>
          </a:p>
          <a:p>
            <a:pPr indent="0" lvl="0" marL="0" marR="0" rtl="0" algn="l">
              <a:spcBef>
                <a:spcPts val="0"/>
              </a:spcBef>
              <a:spcAft>
                <a:spcPts val="0"/>
              </a:spcAft>
              <a:buNone/>
            </a:pPr>
            <a:r>
              <a:t/>
            </a:r>
            <a:endParaRPr b="1" sz="1400">
              <a:solidFill>
                <a:srgbClr val="002060"/>
              </a:solidFill>
              <a:latin typeface="Calibri"/>
              <a:ea typeface="Calibri"/>
              <a:cs typeface="Calibri"/>
              <a:sym typeface="Calibri"/>
            </a:endParaRPr>
          </a:p>
          <a:p>
            <a:pPr indent="0" lvl="0" marL="0" marR="0" rtl="0" algn="l">
              <a:spcBef>
                <a:spcPts val="0"/>
              </a:spcBef>
              <a:spcAft>
                <a:spcPts val="0"/>
              </a:spcAft>
              <a:buNone/>
            </a:pPr>
            <a:r>
              <a:rPr b="1" lang="en-US" sz="1100">
                <a:solidFill>
                  <a:schemeClr val="dk1"/>
                </a:solidFill>
                <a:latin typeface="Calibri"/>
                <a:ea typeface="Calibri"/>
                <a:cs typeface="Calibri"/>
                <a:sym typeface="Calibri"/>
              </a:rPr>
              <a:t>Automated by the system</a:t>
            </a:r>
            <a:endParaRPr/>
          </a:p>
          <a:p>
            <a:pPr indent="0" lvl="0" marL="0" marR="0" rtl="0" algn="l">
              <a:spcBef>
                <a:spcPts val="0"/>
              </a:spcBef>
              <a:spcAft>
                <a:spcPts val="0"/>
              </a:spcAft>
              <a:buNone/>
            </a:pPr>
            <a:r>
              <a:t/>
            </a:r>
            <a:endParaRPr b="1" sz="11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100">
                <a:solidFill>
                  <a:schemeClr val="dk1"/>
                </a:solidFill>
                <a:latin typeface="Calibri"/>
                <a:ea typeface="Calibri"/>
                <a:cs typeface="Calibri"/>
                <a:sym typeface="Calibri"/>
              </a:rPr>
              <a:t>Review of mandatory requirements</a:t>
            </a:r>
            <a:endParaRPr/>
          </a:p>
          <a:p>
            <a:pPr indent="0" lvl="0" marL="0" marR="0" rtl="0" algn="l">
              <a:spcBef>
                <a:spcPts val="0"/>
              </a:spcBef>
              <a:spcAft>
                <a:spcPts val="0"/>
              </a:spcAft>
              <a:buNone/>
            </a:pPr>
            <a:r>
              <a:t/>
            </a:r>
            <a:endParaRPr b="1" sz="11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100">
                <a:solidFill>
                  <a:srgbClr val="FF0000"/>
                </a:solidFill>
                <a:latin typeface="Calibri"/>
                <a:ea typeface="Calibri"/>
                <a:cs typeface="Calibri"/>
                <a:sym typeface="Calibri"/>
              </a:rPr>
              <a:t>15-day deadline of submission for initial requirements</a:t>
            </a:r>
            <a:endParaRPr b="1" sz="1100">
              <a:solidFill>
                <a:srgbClr val="FF0000"/>
              </a:solidFill>
              <a:latin typeface="Calibri"/>
              <a:ea typeface="Calibri"/>
              <a:cs typeface="Calibri"/>
              <a:sym typeface="Calibri"/>
            </a:endParaRPr>
          </a:p>
        </p:txBody>
      </p:sp>
      <p:sp>
        <p:nvSpPr>
          <p:cNvPr id="1175" name="Google Shape;1175;p34"/>
          <p:cNvSpPr txBox="1"/>
          <p:nvPr/>
        </p:nvSpPr>
        <p:spPr>
          <a:xfrm>
            <a:off x="7430703" y="3652645"/>
            <a:ext cx="1828800" cy="2446824"/>
          </a:xfrm>
          <a:prstGeom prst="rect">
            <a:avLst/>
          </a:prstGeom>
          <a:noFill/>
          <a:ln cap="flat" cmpd="sng" w="9525">
            <a:solidFill>
              <a:srgbClr val="C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C00000"/>
                </a:solidFill>
                <a:latin typeface="Calibri"/>
                <a:ea typeface="Calibri"/>
                <a:cs typeface="Calibri"/>
                <a:sym typeface="Calibri"/>
              </a:rPr>
              <a:t>Initial Underwriting Appraisal </a:t>
            </a:r>
            <a:endParaRPr/>
          </a:p>
          <a:p>
            <a:pPr indent="0" lvl="0" marL="0" marR="0" rtl="0" algn="l">
              <a:spcBef>
                <a:spcPts val="0"/>
              </a:spcBef>
              <a:spcAft>
                <a:spcPts val="0"/>
              </a:spcAft>
              <a:buNone/>
            </a:pPr>
            <a:r>
              <a:t/>
            </a:r>
            <a:endParaRPr b="1" sz="1400">
              <a:solidFill>
                <a:srgbClr val="002060"/>
              </a:solidFill>
              <a:latin typeface="Calibri"/>
              <a:ea typeface="Calibri"/>
              <a:cs typeface="Calibri"/>
              <a:sym typeface="Calibri"/>
            </a:endParaRPr>
          </a:p>
          <a:p>
            <a:pPr indent="0" lvl="0" marL="0" marR="0" rtl="0" algn="l">
              <a:spcBef>
                <a:spcPts val="0"/>
              </a:spcBef>
              <a:spcAft>
                <a:spcPts val="0"/>
              </a:spcAft>
              <a:buNone/>
            </a:pPr>
            <a:r>
              <a:rPr b="1" lang="en-US" sz="1100">
                <a:solidFill>
                  <a:schemeClr val="dk1"/>
                </a:solidFill>
                <a:latin typeface="Calibri"/>
                <a:ea typeface="Calibri"/>
                <a:cs typeface="Calibri"/>
                <a:sym typeface="Calibri"/>
              </a:rPr>
              <a:t>Medical cases and application rejected by auto appraisal system</a:t>
            </a:r>
            <a:endParaRPr/>
          </a:p>
          <a:p>
            <a:pPr indent="0" lvl="0" marL="0" marR="0" rtl="0" algn="l">
              <a:spcBef>
                <a:spcPts val="0"/>
              </a:spcBef>
              <a:spcAft>
                <a:spcPts val="0"/>
              </a:spcAft>
              <a:buNone/>
            </a:pPr>
            <a:r>
              <a:t/>
            </a:r>
            <a:endParaRPr b="1" sz="11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100">
                <a:solidFill>
                  <a:schemeClr val="dk1"/>
                </a:solidFill>
                <a:latin typeface="Calibri"/>
                <a:ea typeface="Calibri"/>
                <a:cs typeface="Calibri"/>
                <a:sym typeface="Calibri"/>
              </a:rPr>
              <a:t>Review of routine requirements based on published UW guidelines</a:t>
            </a:r>
            <a:endParaRPr/>
          </a:p>
          <a:p>
            <a:pPr indent="0" lvl="0" marL="0" marR="0" rtl="0" algn="l">
              <a:spcBef>
                <a:spcPts val="0"/>
              </a:spcBef>
              <a:spcAft>
                <a:spcPts val="0"/>
              </a:spcAft>
              <a:buNone/>
            </a:pPr>
            <a:r>
              <a:t/>
            </a:r>
            <a:endParaRPr b="1" sz="11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100">
                <a:solidFill>
                  <a:schemeClr val="dk1"/>
                </a:solidFill>
                <a:latin typeface="Calibri"/>
                <a:ea typeface="Calibri"/>
                <a:cs typeface="Calibri"/>
                <a:sym typeface="Calibri"/>
              </a:rPr>
              <a:t>10-day deadline to submit UW requirements</a:t>
            </a:r>
            <a:r>
              <a:rPr b="1" lang="en-US" sz="1200">
                <a:solidFill>
                  <a:schemeClr val="dk1"/>
                </a:solidFill>
                <a:latin typeface="Calibri"/>
                <a:ea typeface="Calibri"/>
                <a:cs typeface="Calibri"/>
                <a:sym typeface="Calibri"/>
              </a:rPr>
              <a:t>.</a:t>
            </a:r>
            <a:endParaRPr b="1" sz="1200">
              <a:solidFill>
                <a:schemeClr val="dk1"/>
              </a:solidFill>
              <a:latin typeface="Calibri"/>
              <a:ea typeface="Calibri"/>
              <a:cs typeface="Calibri"/>
              <a:sym typeface="Calibri"/>
            </a:endParaRPr>
          </a:p>
        </p:txBody>
      </p:sp>
      <p:sp>
        <p:nvSpPr>
          <p:cNvPr id="1176" name="Google Shape;1176;p34"/>
          <p:cNvSpPr txBox="1"/>
          <p:nvPr/>
        </p:nvSpPr>
        <p:spPr>
          <a:xfrm>
            <a:off x="9753600" y="3638531"/>
            <a:ext cx="1828800" cy="2400657"/>
          </a:xfrm>
          <a:prstGeom prst="rect">
            <a:avLst/>
          </a:prstGeom>
          <a:noFill/>
          <a:ln cap="flat" cmpd="sng" w="9525">
            <a:solidFill>
              <a:srgbClr val="7030A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7030A0"/>
                </a:solidFill>
                <a:latin typeface="Calibri"/>
                <a:ea typeface="Calibri"/>
                <a:cs typeface="Calibri"/>
                <a:sym typeface="Calibri"/>
              </a:rPr>
              <a:t>Policy Contract Issue </a:t>
            </a:r>
            <a:endParaRPr/>
          </a:p>
          <a:p>
            <a:pPr indent="0" lvl="0" marL="0" marR="0" rtl="0" algn="l">
              <a:spcBef>
                <a:spcPts val="0"/>
              </a:spcBef>
              <a:spcAft>
                <a:spcPts val="0"/>
              </a:spcAft>
              <a:buNone/>
            </a:pPr>
            <a:r>
              <a:rPr b="1" lang="en-US" sz="1400">
                <a:solidFill>
                  <a:srgbClr val="7030A0"/>
                </a:solidFill>
                <a:latin typeface="Calibri"/>
                <a:ea typeface="Calibri"/>
                <a:cs typeface="Calibri"/>
                <a:sym typeface="Calibri"/>
              </a:rPr>
              <a:t>(with SMS notification)</a:t>
            </a:r>
            <a:endParaRPr/>
          </a:p>
          <a:p>
            <a:pPr indent="0" lvl="0" marL="0" marR="0" rtl="0" algn="l">
              <a:spcBef>
                <a:spcPts val="0"/>
              </a:spcBef>
              <a:spcAft>
                <a:spcPts val="0"/>
              </a:spcAft>
              <a:buNone/>
            </a:pPr>
            <a:r>
              <a:t/>
            </a:r>
            <a:endParaRPr b="1" sz="1400">
              <a:solidFill>
                <a:srgbClr val="002060"/>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Delivery date is within 2 weeks to advisor’s Preferred Mailing Location (PML). </a:t>
            </a:r>
            <a:endParaRPr b="1"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Please return to the acknowledgement receipt 10 days after delivery of the policy contract.</a:t>
            </a:r>
            <a:endParaRPr b="1" sz="1200">
              <a:solidFill>
                <a:schemeClr val="dk1"/>
              </a:solidFill>
              <a:latin typeface="Calibri"/>
              <a:ea typeface="Calibri"/>
              <a:cs typeface="Calibri"/>
              <a:sym typeface="Calibri"/>
            </a:endParaRPr>
          </a:p>
        </p:txBody>
      </p:sp>
      <p:sp>
        <p:nvSpPr>
          <p:cNvPr id="1177" name="Google Shape;1177;p34"/>
          <p:cNvSpPr/>
          <p:nvPr/>
        </p:nvSpPr>
        <p:spPr>
          <a:xfrm>
            <a:off x="442074" y="5339044"/>
            <a:ext cx="1832123" cy="8194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050">
                <a:solidFill>
                  <a:schemeClr val="dk1"/>
                </a:solidFill>
                <a:latin typeface="Calibri"/>
                <a:ea typeface="Calibri"/>
                <a:cs typeface="Calibri"/>
                <a:sym typeface="Calibri"/>
              </a:rPr>
              <a:t>Turn-Around Time (TAT): within 24 hours                            </a:t>
            </a:r>
            <a:endParaRPr/>
          </a:p>
          <a:p>
            <a:pPr indent="0" lvl="0" marL="0" marR="0" rtl="0" algn="l">
              <a:spcBef>
                <a:spcPts val="525"/>
              </a:spcBef>
              <a:spcAft>
                <a:spcPts val="0"/>
              </a:spcAft>
              <a:buNone/>
            </a:pPr>
            <a:r>
              <a:rPr b="1" i="1" lang="en-US" sz="1050">
                <a:solidFill>
                  <a:schemeClr val="dk1"/>
                </a:solidFill>
                <a:latin typeface="Calibri"/>
                <a:ea typeface="Calibri"/>
                <a:cs typeface="Calibri"/>
                <a:sym typeface="Calibri"/>
              </a:rPr>
              <a:t>During peak submission days– up to 48 hours</a:t>
            </a:r>
            <a:endParaRPr b="1" i="1" sz="1050">
              <a:solidFill>
                <a:schemeClr val="dk1"/>
              </a:solidFill>
              <a:latin typeface="Calibri"/>
              <a:ea typeface="Calibri"/>
              <a:cs typeface="Calibri"/>
              <a:sym typeface="Calibri"/>
            </a:endParaRPr>
          </a:p>
        </p:txBody>
      </p:sp>
      <p:sp>
        <p:nvSpPr>
          <p:cNvPr id="1178" name="Google Shape;1178;p34"/>
          <p:cNvSpPr/>
          <p:nvPr/>
        </p:nvSpPr>
        <p:spPr>
          <a:xfrm>
            <a:off x="2769955" y="5669856"/>
            <a:ext cx="1832123"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050">
                <a:solidFill>
                  <a:schemeClr val="dk1"/>
                </a:solidFill>
                <a:latin typeface="Calibri"/>
                <a:ea typeface="Calibri"/>
                <a:cs typeface="Calibri"/>
                <a:sym typeface="Calibri"/>
              </a:rPr>
              <a:t>Turn-Around Time (TAT): Non-contest Month: within 24 hours            </a:t>
            </a:r>
            <a:endParaRPr b="1" i="1" sz="1050">
              <a:solidFill>
                <a:schemeClr val="dk1"/>
              </a:solidFill>
              <a:latin typeface="Calibri"/>
              <a:ea typeface="Calibri"/>
              <a:cs typeface="Calibri"/>
              <a:sym typeface="Calibri"/>
            </a:endParaRPr>
          </a:p>
          <a:p>
            <a:pPr indent="0" lvl="0" marL="0" marR="0" rtl="0" algn="l">
              <a:spcBef>
                <a:spcPts val="0"/>
              </a:spcBef>
              <a:spcAft>
                <a:spcPts val="0"/>
              </a:spcAft>
              <a:buNone/>
            </a:pPr>
            <a:r>
              <a:rPr b="1" i="1" lang="en-US" sz="1050">
                <a:solidFill>
                  <a:schemeClr val="dk1"/>
                </a:solidFill>
                <a:latin typeface="Calibri"/>
                <a:ea typeface="Calibri"/>
                <a:cs typeface="Calibri"/>
                <a:sym typeface="Calibri"/>
              </a:rPr>
              <a:t>Contest Month: 72 hours</a:t>
            </a:r>
            <a:endParaRPr b="1" i="1" sz="1050">
              <a:solidFill>
                <a:schemeClr val="dk1"/>
              </a:solidFill>
              <a:latin typeface="Calibri"/>
              <a:ea typeface="Calibri"/>
              <a:cs typeface="Calibri"/>
              <a:sym typeface="Calibri"/>
            </a:endParaRPr>
          </a:p>
        </p:txBody>
      </p:sp>
      <p:sp>
        <p:nvSpPr>
          <p:cNvPr id="1179" name="Google Shape;1179;p34"/>
          <p:cNvSpPr/>
          <p:nvPr/>
        </p:nvSpPr>
        <p:spPr>
          <a:xfrm>
            <a:off x="5094514" y="5960970"/>
            <a:ext cx="1832123" cy="90024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050">
                <a:solidFill>
                  <a:schemeClr val="dk1"/>
                </a:solidFill>
                <a:latin typeface="Calibri"/>
                <a:ea typeface="Calibri"/>
                <a:cs typeface="Calibri"/>
                <a:sym typeface="Calibri"/>
              </a:rPr>
              <a:t>GIO: 95% in 3 days; </a:t>
            </a:r>
            <a:endParaRPr b="1" i="1" sz="1050">
              <a:solidFill>
                <a:schemeClr val="dk1"/>
              </a:solidFill>
              <a:latin typeface="Calibri"/>
              <a:ea typeface="Calibri"/>
              <a:cs typeface="Calibri"/>
              <a:sym typeface="Calibri"/>
            </a:endParaRPr>
          </a:p>
          <a:p>
            <a:pPr indent="0" lvl="0" marL="0" marR="0" rtl="0" algn="l">
              <a:spcBef>
                <a:spcPts val="0"/>
              </a:spcBef>
              <a:spcAft>
                <a:spcPts val="0"/>
              </a:spcAft>
              <a:buNone/>
            </a:pPr>
            <a:r>
              <a:rPr b="1" i="1" lang="en-US" sz="1050">
                <a:solidFill>
                  <a:schemeClr val="dk1"/>
                </a:solidFill>
                <a:latin typeface="Calibri"/>
                <a:ea typeface="Calibri"/>
                <a:cs typeface="Calibri"/>
                <a:sym typeface="Calibri"/>
              </a:rPr>
              <a:t>SIO: 95% in 3days</a:t>
            </a:r>
            <a:br>
              <a:rPr b="1" i="1" lang="en-US" sz="1050">
                <a:solidFill>
                  <a:schemeClr val="dk1"/>
                </a:solidFill>
                <a:latin typeface="Calibri"/>
                <a:ea typeface="Calibri"/>
                <a:cs typeface="Calibri"/>
                <a:sym typeface="Calibri"/>
              </a:rPr>
            </a:br>
            <a:r>
              <a:rPr b="1" lang="en-US" sz="1050">
                <a:solidFill>
                  <a:schemeClr val="dk1"/>
                </a:solidFill>
                <a:latin typeface="Calibri"/>
                <a:ea typeface="Calibri"/>
                <a:cs typeface="Calibri"/>
                <a:sym typeface="Calibri"/>
              </a:rPr>
              <a:t>Non-med cases: </a:t>
            </a:r>
            <a:endParaRPr b="1" sz="1050">
              <a:solidFill>
                <a:schemeClr val="dk1"/>
              </a:solidFill>
              <a:latin typeface="Calibri"/>
              <a:ea typeface="Calibri"/>
              <a:cs typeface="Calibri"/>
              <a:sym typeface="Calibri"/>
            </a:endParaRPr>
          </a:p>
          <a:p>
            <a:pPr indent="0" lvl="0" marL="0" marR="0" rtl="0" algn="l">
              <a:spcBef>
                <a:spcPts val="0"/>
              </a:spcBef>
              <a:spcAft>
                <a:spcPts val="0"/>
              </a:spcAft>
              <a:buNone/>
            </a:pPr>
            <a:r>
              <a:rPr b="1" i="1" lang="en-US" sz="1050">
                <a:solidFill>
                  <a:schemeClr val="dk1"/>
                </a:solidFill>
                <a:latin typeface="Calibri"/>
                <a:ea typeface="Calibri"/>
                <a:cs typeface="Calibri"/>
                <a:sym typeface="Calibri"/>
              </a:rPr>
              <a:t>W/o reqts: 90% in 4 days</a:t>
            </a:r>
            <a:endParaRPr/>
          </a:p>
          <a:p>
            <a:pPr indent="0" lvl="0" marL="0" marR="0" rtl="0" algn="l">
              <a:spcBef>
                <a:spcPts val="0"/>
              </a:spcBef>
              <a:spcAft>
                <a:spcPts val="0"/>
              </a:spcAft>
              <a:buNone/>
            </a:pPr>
            <a:r>
              <a:rPr b="1" i="1" lang="en-US" sz="1050">
                <a:solidFill>
                  <a:schemeClr val="dk1"/>
                </a:solidFill>
                <a:latin typeface="Calibri"/>
                <a:ea typeface="Calibri"/>
                <a:cs typeface="Calibri"/>
                <a:sym typeface="Calibri"/>
              </a:rPr>
              <a:t>W/ reqts: 90% in 14 days </a:t>
            </a:r>
            <a:endParaRPr b="1" i="1" sz="1050">
              <a:solidFill>
                <a:schemeClr val="dk1"/>
              </a:solidFill>
              <a:latin typeface="Calibri"/>
              <a:ea typeface="Calibri"/>
              <a:cs typeface="Calibri"/>
              <a:sym typeface="Calibri"/>
            </a:endParaRPr>
          </a:p>
        </p:txBody>
      </p:sp>
      <p:sp>
        <p:nvSpPr>
          <p:cNvPr id="1180" name="Google Shape;1180;p34"/>
          <p:cNvSpPr/>
          <p:nvPr/>
        </p:nvSpPr>
        <p:spPr>
          <a:xfrm>
            <a:off x="7419073" y="6099469"/>
            <a:ext cx="1832123" cy="5770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050">
                <a:solidFill>
                  <a:schemeClr val="dk1"/>
                </a:solidFill>
                <a:latin typeface="Calibri"/>
                <a:ea typeface="Calibri"/>
                <a:cs typeface="Calibri"/>
                <a:sym typeface="Calibri"/>
              </a:rPr>
              <a:t>Turn-Around Time (TAT): </a:t>
            </a:r>
            <a:endParaRPr/>
          </a:p>
          <a:p>
            <a:pPr indent="0" lvl="0" marL="0" marR="0" rtl="0" algn="l">
              <a:spcBef>
                <a:spcPts val="0"/>
              </a:spcBef>
              <a:spcAft>
                <a:spcPts val="0"/>
              </a:spcAft>
              <a:buNone/>
            </a:pPr>
            <a:r>
              <a:rPr b="1" i="1" lang="en-US" sz="1050">
                <a:solidFill>
                  <a:schemeClr val="dk1"/>
                </a:solidFill>
                <a:latin typeface="Calibri"/>
                <a:ea typeface="Calibri"/>
                <a:cs typeface="Calibri"/>
                <a:sym typeface="Calibri"/>
              </a:rPr>
              <a:t>W/o reqts: 90% in 7days  </a:t>
            </a:r>
            <a:endParaRPr b="1" i="1" sz="1050">
              <a:solidFill>
                <a:schemeClr val="dk1"/>
              </a:solidFill>
              <a:latin typeface="Calibri"/>
              <a:ea typeface="Calibri"/>
              <a:cs typeface="Calibri"/>
              <a:sym typeface="Calibri"/>
            </a:endParaRPr>
          </a:p>
          <a:p>
            <a:pPr indent="0" lvl="0" marL="0" marR="0" rtl="0" algn="l">
              <a:spcBef>
                <a:spcPts val="0"/>
              </a:spcBef>
              <a:spcAft>
                <a:spcPts val="0"/>
              </a:spcAft>
              <a:buNone/>
            </a:pPr>
            <a:r>
              <a:rPr b="1" i="1" lang="en-US" sz="1050">
                <a:solidFill>
                  <a:schemeClr val="dk1"/>
                </a:solidFill>
                <a:latin typeface="Calibri"/>
                <a:ea typeface="Calibri"/>
                <a:cs typeface="Calibri"/>
                <a:sym typeface="Calibri"/>
              </a:rPr>
              <a:t>W/ reqts: 80% in 20 days </a:t>
            </a:r>
            <a:endParaRPr/>
          </a:p>
        </p:txBody>
      </p:sp>
      <p:sp>
        <p:nvSpPr>
          <p:cNvPr id="1181" name="Google Shape;1181;p34"/>
          <p:cNvSpPr/>
          <p:nvPr/>
        </p:nvSpPr>
        <p:spPr>
          <a:xfrm>
            <a:off x="9743632" y="6099468"/>
            <a:ext cx="1832123" cy="4154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050">
                <a:solidFill>
                  <a:schemeClr val="dk1"/>
                </a:solidFill>
                <a:latin typeface="Calibri"/>
                <a:ea typeface="Calibri"/>
                <a:cs typeface="Calibri"/>
                <a:sym typeface="Calibri"/>
              </a:rPr>
              <a:t>Turn-Around Time (TAT): </a:t>
            </a:r>
            <a:endParaRPr/>
          </a:p>
          <a:p>
            <a:pPr indent="0" lvl="0" marL="0" marR="0" rtl="0" algn="l">
              <a:spcBef>
                <a:spcPts val="0"/>
              </a:spcBef>
              <a:spcAft>
                <a:spcPts val="0"/>
              </a:spcAft>
              <a:buNone/>
            </a:pPr>
            <a:r>
              <a:rPr b="1" i="1" lang="en-US" sz="1050">
                <a:solidFill>
                  <a:schemeClr val="dk1"/>
                </a:solidFill>
                <a:latin typeface="Calibri"/>
                <a:ea typeface="Calibri"/>
                <a:cs typeface="Calibri"/>
                <a:sym typeface="Calibri"/>
              </a:rPr>
              <a:t>2 to 7 days after settlement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gtEl>
                                        <p:attrNameLst>
                                          <p:attrName>style.visibility</p:attrName>
                                        </p:attrNameLst>
                                      </p:cBhvr>
                                      <p:to>
                                        <p:strVal val="visible"/>
                                      </p:to>
                                    </p:set>
                                    <p:animEffect filter="fade" transition="in">
                                      <p:cBhvr>
                                        <p:cTn dur="1000"/>
                                        <p:tgtEl>
                                          <p:spTgt spid="1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62"/>
                                        </p:tgtEl>
                                        <p:attrNameLst>
                                          <p:attrName>style.visibility</p:attrName>
                                        </p:attrNameLst>
                                      </p:cBhvr>
                                      <p:to>
                                        <p:strVal val="visible"/>
                                      </p:to>
                                    </p:set>
                                    <p:anim calcmode="lin" valueType="num">
                                      <p:cBhvr additive="base">
                                        <p:cTn dur="500"/>
                                        <p:tgtEl>
                                          <p:spTgt spid="116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72"/>
                                        </p:tgtEl>
                                        <p:attrNameLst>
                                          <p:attrName>style.visibility</p:attrName>
                                        </p:attrNameLst>
                                      </p:cBhvr>
                                      <p:to>
                                        <p:strVal val="visible"/>
                                      </p:to>
                                    </p:set>
                                    <p:anim calcmode="lin" valueType="num">
                                      <p:cBhvr additive="base">
                                        <p:cTn dur="500"/>
                                        <p:tgtEl>
                                          <p:spTgt spid="117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77"/>
                                        </p:tgtEl>
                                        <p:attrNameLst>
                                          <p:attrName>style.visibility</p:attrName>
                                        </p:attrNameLst>
                                      </p:cBhvr>
                                      <p:to>
                                        <p:strVal val="visible"/>
                                      </p:to>
                                    </p:set>
                                    <p:anim calcmode="lin" valueType="num">
                                      <p:cBhvr additive="base">
                                        <p:cTn dur="500"/>
                                        <p:tgtEl>
                                          <p:spTgt spid="117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68"/>
                                        </p:tgtEl>
                                        <p:attrNameLst>
                                          <p:attrName>style.visibility</p:attrName>
                                        </p:attrNameLst>
                                      </p:cBhvr>
                                      <p:to>
                                        <p:strVal val="visible"/>
                                      </p:to>
                                    </p:set>
                                    <p:anim calcmode="lin" valueType="num">
                                      <p:cBhvr additive="base">
                                        <p:cTn dur="500"/>
                                        <p:tgtEl>
                                          <p:spTgt spid="116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73"/>
                                        </p:tgtEl>
                                        <p:attrNameLst>
                                          <p:attrName>style.visibility</p:attrName>
                                        </p:attrNameLst>
                                      </p:cBhvr>
                                      <p:to>
                                        <p:strVal val="visible"/>
                                      </p:to>
                                    </p:set>
                                    <p:anim calcmode="lin" valueType="num">
                                      <p:cBhvr additive="base">
                                        <p:cTn dur="500"/>
                                        <p:tgtEl>
                                          <p:spTgt spid="117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78"/>
                                        </p:tgtEl>
                                        <p:attrNameLst>
                                          <p:attrName>style.visibility</p:attrName>
                                        </p:attrNameLst>
                                      </p:cBhvr>
                                      <p:to>
                                        <p:strVal val="visible"/>
                                      </p:to>
                                    </p:set>
                                    <p:anim calcmode="lin" valueType="num">
                                      <p:cBhvr additive="base">
                                        <p:cTn dur="500"/>
                                        <p:tgtEl>
                                          <p:spTgt spid="117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69"/>
                                        </p:tgtEl>
                                        <p:attrNameLst>
                                          <p:attrName>style.visibility</p:attrName>
                                        </p:attrNameLst>
                                      </p:cBhvr>
                                      <p:to>
                                        <p:strVal val="visible"/>
                                      </p:to>
                                    </p:set>
                                    <p:anim calcmode="lin" valueType="num">
                                      <p:cBhvr additive="base">
                                        <p:cTn dur="500"/>
                                        <p:tgtEl>
                                          <p:spTgt spid="116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74"/>
                                        </p:tgtEl>
                                        <p:attrNameLst>
                                          <p:attrName>style.visibility</p:attrName>
                                        </p:attrNameLst>
                                      </p:cBhvr>
                                      <p:to>
                                        <p:strVal val="visible"/>
                                      </p:to>
                                    </p:set>
                                    <p:anim calcmode="lin" valueType="num">
                                      <p:cBhvr additive="base">
                                        <p:cTn dur="500"/>
                                        <p:tgtEl>
                                          <p:spTgt spid="117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79"/>
                                        </p:tgtEl>
                                        <p:attrNameLst>
                                          <p:attrName>style.visibility</p:attrName>
                                        </p:attrNameLst>
                                      </p:cBhvr>
                                      <p:to>
                                        <p:strVal val="visible"/>
                                      </p:to>
                                    </p:set>
                                    <p:anim calcmode="lin" valueType="num">
                                      <p:cBhvr additive="base">
                                        <p:cTn dur="500"/>
                                        <p:tgtEl>
                                          <p:spTgt spid="117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70"/>
                                        </p:tgtEl>
                                        <p:attrNameLst>
                                          <p:attrName>style.visibility</p:attrName>
                                        </p:attrNameLst>
                                      </p:cBhvr>
                                      <p:to>
                                        <p:strVal val="visible"/>
                                      </p:to>
                                    </p:set>
                                    <p:anim calcmode="lin" valueType="num">
                                      <p:cBhvr additive="base">
                                        <p:cTn dur="500"/>
                                        <p:tgtEl>
                                          <p:spTgt spid="117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75"/>
                                        </p:tgtEl>
                                        <p:attrNameLst>
                                          <p:attrName>style.visibility</p:attrName>
                                        </p:attrNameLst>
                                      </p:cBhvr>
                                      <p:to>
                                        <p:strVal val="visible"/>
                                      </p:to>
                                    </p:set>
                                    <p:anim calcmode="lin" valueType="num">
                                      <p:cBhvr additive="base">
                                        <p:cTn dur="500"/>
                                        <p:tgtEl>
                                          <p:spTgt spid="117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80"/>
                                        </p:tgtEl>
                                        <p:attrNameLst>
                                          <p:attrName>style.visibility</p:attrName>
                                        </p:attrNameLst>
                                      </p:cBhvr>
                                      <p:to>
                                        <p:strVal val="visible"/>
                                      </p:to>
                                    </p:set>
                                    <p:anim calcmode="lin" valueType="num">
                                      <p:cBhvr additive="base">
                                        <p:cTn dur="500"/>
                                        <p:tgtEl>
                                          <p:spTgt spid="118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63"/>
                                        </p:tgtEl>
                                        <p:attrNameLst>
                                          <p:attrName>style.visibility</p:attrName>
                                        </p:attrNameLst>
                                      </p:cBhvr>
                                      <p:to>
                                        <p:strVal val="visible"/>
                                      </p:to>
                                    </p:set>
                                    <p:anim calcmode="lin" valueType="num">
                                      <p:cBhvr additive="base">
                                        <p:cTn dur="500"/>
                                        <p:tgtEl>
                                          <p:spTgt spid="116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76"/>
                                        </p:tgtEl>
                                        <p:attrNameLst>
                                          <p:attrName>style.visibility</p:attrName>
                                        </p:attrNameLst>
                                      </p:cBhvr>
                                      <p:to>
                                        <p:strVal val="visible"/>
                                      </p:to>
                                    </p:set>
                                    <p:anim calcmode="lin" valueType="num">
                                      <p:cBhvr additive="base">
                                        <p:cTn dur="500"/>
                                        <p:tgtEl>
                                          <p:spTgt spid="117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81"/>
                                        </p:tgtEl>
                                        <p:attrNameLst>
                                          <p:attrName>style.visibility</p:attrName>
                                        </p:attrNameLst>
                                      </p:cBhvr>
                                      <p:to>
                                        <p:strVal val="visible"/>
                                      </p:to>
                                    </p:set>
                                    <p:anim calcmode="lin" valueType="num">
                                      <p:cBhvr additive="base">
                                        <p:cTn dur="500"/>
                                        <p:tgtEl>
                                          <p:spTgt spid="118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35"/>
          <p:cNvSpPr/>
          <p:nvPr/>
        </p:nvSpPr>
        <p:spPr>
          <a:xfrm>
            <a:off x="183732" y="4244921"/>
            <a:ext cx="1045163" cy="2613079"/>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188" name="Google Shape;1188;p35"/>
          <p:cNvPicPr preferRelativeResize="0"/>
          <p:nvPr/>
        </p:nvPicPr>
        <p:blipFill rotWithShape="1">
          <a:blip r:embed="rId3">
            <a:alphaModFix/>
          </a:blip>
          <a:srcRect b="0" l="0" r="0" t="0"/>
          <a:stretch/>
        </p:blipFill>
        <p:spPr>
          <a:xfrm>
            <a:off x="6110234" y="3810000"/>
            <a:ext cx="6081766" cy="3040883"/>
          </a:xfrm>
          <a:prstGeom prst="rect">
            <a:avLst/>
          </a:prstGeom>
          <a:noFill/>
          <a:ln>
            <a:noFill/>
          </a:ln>
        </p:spPr>
      </p:pic>
      <p:sp>
        <p:nvSpPr>
          <p:cNvPr id="1189" name="Google Shape;1189;p35"/>
          <p:cNvSpPr/>
          <p:nvPr/>
        </p:nvSpPr>
        <p:spPr>
          <a:xfrm>
            <a:off x="154702" y="255374"/>
            <a:ext cx="9272327" cy="461665"/>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A3838"/>
                </a:solidFill>
                <a:latin typeface="Calibri"/>
                <a:ea typeface="Calibri"/>
                <a:cs typeface="Calibri"/>
                <a:sym typeface="Calibri"/>
              </a:rPr>
              <a:t>Comparison of Speedy New Business Review and Underwriting Cases*</a:t>
            </a:r>
            <a:endParaRPr b="1" sz="1800">
              <a:solidFill>
                <a:schemeClr val="dk1"/>
              </a:solidFill>
              <a:latin typeface="Calibri"/>
              <a:ea typeface="Calibri"/>
              <a:cs typeface="Calibri"/>
              <a:sym typeface="Calibri"/>
            </a:endParaRPr>
          </a:p>
        </p:txBody>
      </p:sp>
      <p:sp>
        <p:nvSpPr>
          <p:cNvPr id="1190" name="Google Shape;1190;p35"/>
          <p:cNvSpPr txBox="1"/>
          <p:nvPr/>
        </p:nvSpPr>
        <p:spPr>
          <a:xfrm>
            <a:off x="328928" y="870858"/>
            <a:ext cx="5486400" cy="523220"/>
          </a:xfrm>
          <a:prstGeom prst="rect">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745"/>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lt1"/>
                </a:solidFill>
                <a:latin typeface="Calibri"/>
                <a:ea typeface="Calibri"/>
                <a:cs typeface="Calibri"/>
                <a:sym typeface="Calibri"/>
              </a:rPr>
              <a:t>Speedy New Business Review Cases </a:t>
            </a:r>
            <a:endParaRPr/>
          </a:p>
        </p:txBody>
      </p:sp>
      <p:sp>
        <p:nvSpPr>
          <p:cNvPr id="1191" name="Google Shape;1191;p35"/>
          <p:cNvSpPr txBox="1"/>
          <p:nvPr/>
        </p:nvSpPr>
        <p:spPr>
          <a:xfrm>
            <a:off x="6389915" y="870858"/>
            <a:ext cx="5486400" cy="523220"/>
          </a:xfrm>
          <a:prstGeom prst="rect">
            <a:avLst/>
          </a:prstGeom>
          <a:solidFill>
            <a:srgbClr val="3A3838"/>
          </a:solidFill>
          <a:ln cap="flat" cmpd="sng" w="9525">
            <a:solidFill>
              <a:srgbClr val="75707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lt1"/>
                </a:solidFill>
                <a:latin typeface="Calibri"/>
                <a:ea typeface="Calibri"/>
                <a:cs typeface="Calibri"/>
                <a:sym typeface="Calibri"/>
              </a:rPr>
              <a:t>Underwriting Cases</a:t>
            </a:r>
            <a:endParaRPr b="1" sz="2800">
              <a:solidFill>
                <a:schemeClr val="lt1"/>
              </a:solidFill>
              <a:latin typeface="Calibri"/>
              <a:ea typeface="Calibri"/>
              <a:cs typeface="Calibri"/>
              <a:sym typeface="Calibri"/>
            </a:endParaRPr>
          </a:p>
        </p:txBody>
      </p:sp>
      <p:sp>
        <p:nvSpPr>
          <p:cNvPr id="1192" name="Google Shape;1192;p35"/>
          <p:cNvSpPr txBox="1"/>
          <p:nvPr/>
        </p:nvSpPr>
        <p:spPr>
          <a:xfrm>
            <a:off x="331283" y="1394078"/>
            <a:ext cx="5484045" cy="3693319"/>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Non-medical cases</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Risk rating: Low and Medium</a:t>
            </a:r>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No underwriting concerns</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All questions in the application form are completely answered</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No inconsistent details provided in the current application form vs. the proposal or previous applications</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No MID findings</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Complete basic mandatory requirements</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Payment submitted is exact for initial/modal premium; if with excess premium, provide appropriate instructions in the Advisor’s Report</a:t>
            </a:r>
            <a:endParaRPr sz="1800">
              <a:solidFill>
                <a:schemeClr val="dk1"/>
              </a:solidFill>
              <a:latin typeface="Calibri"/>
              <a:ea typeface="Calibri"/>
              <a:cs typeface="Calibri"/>
              <a:sym typeface="Calibri"/>
            </a:endParaRPr>
          </a:p>
        </p:txBody>
      </p:sp>
      <p:sp>
        <p:nvSpPr>
          <p:cNvPr id="1193" name="Google Shape;1193;p35"/>
          <p:cNvSpPr txBox="1"/>
          <p:nvPr/>
        </p:nvSpPr>
        <p:spPr>
          <a:xfrm>
            <a:off x="6389915" y="1394078"/>
            <a:ext cx="5486400" cy="2862322"/>
          </a:xfrm>
          <a:prstGeom prst="rect">
            <a:avLst/>
          </a:prstGeom>
          <a:solidFill>
            <a:schemeClr val="lt1"/>
          </a:solidFill>
          <a:ln cap="flat" cmpd="sng" w="12700">
            <a:solidFill>
              <a:srgbClr val="757070"/>
            </a:solidFill>
            <a:prstDash val="solid"/>
            <a:miter lim="800000"/>
            <a:headEnd len="sm" w="sm" type="none"/>
            <a:tailEnd len="sm" w="sm" type="none"/>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Medical cases, and cases with additional medical requirements based on the published UW Limits and Guidelines</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Risk rating: High risk – Regular application</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Non-medical cases with underwriting concerns, or not approved under Auto Appraisal</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With MID findings</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Additional requirements not listed in published UW Limits &amp; Guidelines may be required depending on the review of each requirement submitted.</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0"/>
                                        </p:tgtEl>
                                        <p:attrNameLst>
                                          <p:attrName>style.visibility</p:attrName>
                                        </p:attrNameLst>
                                      </p:cBhvr>
                                      <p:to>
                                        <p:strVal val="visible"/>
                                      </p:to>
                                    </p:set>
                                    <p:animEffect filter="fade" transition="in">
                                      <p:cBhvr>
                                        <p:cTn dur="1000"/>
                                        <p:tgtEl>
                                          <p:spTgt spid="1190"/>
                                        </p:tgtEl>
                                      </p:cBhvr>
                                    </p:animEffect>
                                  </p:childTnLst>
                                </p:cTn>
                              </p:par>
                              <p:par>
                                <p:cTn fill="hold" nodeType="withEffect" presetClass="entr" presetID="10" presetSubtype="0">
                                  <p:stCondLst>
                                    <p:cond delay="0"/>
                                  </p:stCondLst>
                                  <p:childTnLst>
                                    <p:set>
                                      <p:cBhvr>
                                        <p:cTn dur="1" fill="hold">
                                          <p:stCondLst>
                                            <p:cond delay="0"/>
                                          </p:stCondLst>
                                        </p:cTn>
                                        <p:tgtEl>
                                          <p:spTgt spid="1192"/>
                                        </p:tgtEl>
                                        <p:attrNameLst>
                                          <p:attrName>style.visibility</p:attrName>
                                        </p:attrNameLst>
                                      </p:cBhvr>
                                      <p:to>
                                        <p:strVal val="visible"/>
                                      </p:to>
                                    </p:set>
                                    <p:animEffect filter="fade" transition="in">
                                      <p:cBhvr>
                                        <p:cTn dur="1000"/>
                                        <p:tgtEl>
                                          <p:spTgt spid="11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1"/>
                                        </p:tgtEl>
                                        <p:attrNameLst>
                                          <p:attrName>style.visibility</p:attrName>
                                        </p:attrNameLst>
                                      </p:cBhvr>
                                      <p:to>
                                        <p:strVal val="visible"/>
                                      </p:to>
                                    </p:set>
                                    <p:animEffect filter="fade" transition="in">
                                      <p:cBhvr>
                                        <p:cTn dur="1000"/>
                                        <p:tgtEl>
                                          <p:spTgt spid="1191"/>
                                        </p:tgtEl>
                                      </p:cBhvr>
                                    </p:animEffect>
                                  </p:childTnLst>
                                </p:cTn>
                              </p:par>
                              <p:par>
                                <p:cTn fill="hold" nodeType="withEffect" presetClass="entr" presetID="10" presetSubtype="0">
                                  <p:stCondLst>
                                    <p:cond delay="0"/>
                                  </p:stCondLst>
                                  <p:childTnLst>
                                    <p:set>
                                      <p:cBhvr>
                                        <p:cTn dur="1" fill="hold">
                                          <p:stCondLst>
                                            <p:cond delay="0"/>
                                          </p:stCondLst>
                                        </p:cTn>
                                        <p:tgtEl>
                                          <p:spTgt spid="1193"/>
                                        </p:tgtEl>
                                        <p:attrNameLst>
                                          <p:attrName>style.visibility</p:attrName>
                                        </p:attrNameLst>
                                      </p:cBhvr>
                                      <p:to>
                                        <p:strVal val="visible"/>
                                      </p:to>
                                    </p:set>
                                    <p:animEffect filter="fade" transition="in">
                                      <p:cBhvr>
                                        <p:cTn dur="1000"/>
                                        <p:tgtEl>
                                          <p:spTgt spid="11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36"/>
          <p:cNvSpPr/>
          <p:nvPr/>
        </p:nvSpPr>
        <p:spPr>
          <a:xfrm>
            <a:off x="706313" y="780935"/>
            <a:ext cx="3876573" cy="2114665"/>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99" name="Google Shape;1199;p36"/>
          <p:cNvSpPr/>
          <p:nvPr/>
        </p:nvSpPr>
        <p:spPr>
          <a:xfrm>
            <a:off x="154703" y="255374"/>
            <a:ext cx="3512730" cy="461665"/>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A3838"/>
                </a:solidFill>
                <a:latin typeface="Calibri"/>
                <a:ea typeface="Calibri"/>
                <a:cs typeface="Calibri"/>
                <a:sym typeface="Calibri"/>
              </a:rPr>
              <a:t>Application Status Inquiry</a:t>
            </a:r>
            <a:endParaRPr b="1" sz="1800">
              <a:solidFill>
                <a:schemeClr val="dk1"/>
              </a:solidFill>
              <a:latin typeface="Calibri"/>
              <a:ea typeface="Calibri"/>
              <a:cs typeface="Calibri"/>
              <a:sym typeface="Calibri"/>
            </a:endParaRPr>
          </a:p>
        </p:txBody>
      </p:sp>
      <p:sp>
        <p:nvSpPr>
          <p:cNvPr id="1200" name="Google Shape;1200;p36"/>
          <p:cNvSpPr/>
          <p:nvPr/>
        </p:nvSpPr>
        <p:spPr>
          <a:xfrm>
            <a:off x="183732" y="4244921"/>
            <a:ext cx="1045163" cy="2613079"/>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1" name="Google Shape;1201;p36"/>
          <p:cNvSpPr txBox="1"/>
          <p:nvPr/>
        </p:nvSpPr>
        <p:spPr>
          <a:xfrm>
            <a:off x="4790865" y="1106691"/>
            <a:ext cx="6960632" cy="3139321"/>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285750" lvl="0" marL="285750" marR="0" rtl="0" algn="l">
              <a:spcBef>
                <a:spcPts val="0"/>
              </a:spcBef>
              <a:spcAft>
                <a:spcPts val="0"/>
              </a:spcAft>
              <a:buClr>
                <a:srgbClr val="00B050"/>
              </a:buClr>
              <a:buSzPts val="1800"/>
              <a:buFont typeface="Arial"/>
              <a:buChar char="•"/>
            </a:pPr>
            <a:r>
              <a:rPr b="1" lang="en-US" sz="1800">
                <a:solidFill>
                  <a:srgbClr val="00B050"/>
                </a:solidFill>
                <a:latin typeface="Calibri"/>
                <a:ea typeface="Calibri"/>
                <a:cs typeface="Calibri"/>
                <a:sym typeface="Calibri"/>
              </a:rPr>
              <a:t>Utilize the Advisor’s Portal Status Inquiry Feature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rgbClr val="FF0000"/>
              </a:buClr>
              <a:buSzPts val="1800"/>
              <a:buFont typeface="Arial"/>
              <a:buChar char="•"/>
            </a:pPr>
            <a:r>
              <a:rPr b="1" lang="en-US" sz="1800">
                <a:solidFill>
                  <a:srgbClr val="FF0000"/>
                </a:solidFill>
                <a:latin typeface="Calibri"/>
                <a:ea typeface="Calibri"/>
                <a:cs typeface="Calibri"/>
                <a:sym typeface="Calibri"/>
              </a:rPr>
              <a:t>Call Client Care.</a:t>
            </a:r>
            <a:endParaRPr/>
          </a:p>
          <a:p>
            <a:pPr indent="-171450" lvl="0" marL="285750" marR="0" rtl="0" algn="l">
              <a:spcBef>
                <a:spcPts val="0"/>
              </a:spcBef>
              <a:spcAft>
                <a:spcPts val="0"/>
              </a:spcAft>
              <a:buClr>
                <a:schemeClr val="dk1"/>
              </a:buClr>
              <a:buSzPts val="1800"/>
              <a:buFont typeface="Arial"/>
              <a:buNone/>
            </a:pPr>
            <a:r>
              <a:t/>
            </a:r>
            <a:endParaRPr b="1" sz="1800">
              <a:solidFill>
                <a:srgbClr val="FF0000"/>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b="1" lang="en-US" sz="1800">
                <a:solidFill>
                  <a:schemeClr val="dk1"/>
                </a:solidFill>
                <a:latin typeface="Calibri"/>
                <a:ea typeface="Calibri"/>
                <a:cs typeface="Calibri"/>
                <a:sym typeface="Calibri"/>
              </a:rPr>
              <a:t>Email</a:t>
            </a:r>
            <a:r>
              <a:rPr b="1" lang="en-US" sz="1800">
                <a:solidFill>
                  <a:srgbClr val="FF0000"/>
                </a:solidFill>
                <a:latin typeface="Calibri"/>
                <a:ea typeface="Calibri"/>
                <a:cs typeface="Calibri"/>
                <a:sym typeface="Calibri"/>
              </a:rPr>
              <a:t> </a:t>
            </a:r>
            <a:r>
              <a:rPr b="1" lang="en-US" sz="1800" u="sng">
                <a:solidFill>
                  <a:schemeClr val="dk1"/>
                </a:solidFill>
                <a:latin typeface="Calibri"/>
                <a:ea typeface="Calibri"/>
                <a:cs typeface="Calibri"/>
                <a:sym typeface="Calibri"/>
                <a:hlinkClick r:id="rId3">
                  <a:extLst>
                    <a:ext uri="{A12FA001-AC4F-418D-AE19-62706E023703}">
                      <ahyp:hlinkClr val="tx"/>
                    </a:ext>
                  </a:extLst>
                </a:hlinkClick>
              </a:rPr>
              <a:t>Phil-Followup@sunlife.com</a:t>
            </a:r>
            <a:r>
              <a:rPr b="1" lang="en-US" sz="1800">
                <a:solidFill>
                  <a:schemeClr val="dk1"/>
                </a:solidFill>
                <a:latin typeface="Calibri"/>
                <a:ea typeface="Calibri"/>
                <a:cs typeface="Calibri"/>
                <a:sym typeface="Calibri"/>
              </a:rPr>
              <a:t> following this format: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2400">
                <a:solidFill>
                  <a:schemeClr val="dk1"/>
                </a:solidFill>
                <a:latin typeface="Calibri"/>
                <a:ea typeface="Calibri"/>
                <a:cs typeface="Calibri"/>
                <a:sym typeface="Calibri"/>
              </a:rPr>
              <a:t>SUBJECT:  </a:t>
            </a:r>
            <a:r>
              <a:rPr lang="en-US" sz="2400">
                <a:solidFill>
                  <a:schemeClr val="dk1"/>
                </a:solidFill>
                <a:latin typeface="Calibri"/>
                <a:ea typeface="Calibri"/>
                <a:cs typeface="Calibri"/>
                <a:sym typeface="Calibri"/>
              </a:rPr>
              <a:t>Follow-up: Policy No./Name/ </a:t>
            </a:r>
            <a:endParaRPr/>
          </a:p>
          <a:p>
            <a:pPr indent="0" lvl="0" marL="0" marR="0" rtl="0" algn="l">
              <a:spcBef>
                <a:spcPts val="0"/>
              </a:spcBef>
              <a:spcAft>
                <a:spcPts val="0"/>
              </a:spcAft>
              <a:buNone/>
            </a:pPr>
            <a:r>
              <a:rPr lang="en-US" sz="2400">
                <a:solidFill>
                  <a:schemeClr val="dk1"/>
                </a:solidFill>
                <a:latin typeface="Calibri"/>
                <a:ea typeface="Calibri"/>
                <a:cs typeface="Calibri"/>
                <a:sym typeface="Calibri"/>
              </a:rPr>
              <a:t>Date of App Submission/Date of Submission of Last Requirement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2" name="Google Shape;1202;p36"/>
          <p:cNvSpPr/>
          <p:nvPr/>
        </p:nvSpPr>
        <p:spPr>
          <a:xfrm>
            <a:off x="272142" y="4484407"/>
            <a:ext cx="4310744" cy="1384995"/>
          </a:xfrm>
          <a:prstGeom prst="rect">
            <a:avLst/>
          </a:prstGeom>
          <a:solidFill>
            <a:schemeClr val="lt1"/>
          </a:solidFill>
          <a:ln cap="flat" cmpd="sng" w="12700">
            <a:solidFill>
              <a:srgbClr val="C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00"/>
                </a:solidFill>
                <a:latin typeface="Calibri"/>
                <a:ea typeface="Calibri"/>
                <a:cs typeface="Calibri"/>
                <a:sym typeface="Calibri"/>
              </a:rPr>
              <a:t>Send FOLLOW-UP inquiry to: </a:t>
            </a:r>
            <a:r>
              <a:rPr b="1" lang="en-US" sz="2800" u="sng">
                <a:solidFill>
                  <a:srgbClr val="000000"/>
                </a:solidFill>
                <a:latin typeface="Arial"/>
                <a:ea typeface="Arial"/>
                <a:cs typeface="Arial"/>
                <a:sym typeface="Arial"/>
                <a:hlinkClick r:id="rId4">
                  <a:extLst>
                    <a:ext uri="{A12FA001-AC4F-418D-AE19-62706E023703}">
                      <ahyp:hlinkClr val="tx"/>
                    </a:ext>
                  </a:extLst>
                </a:hlinkClick>
              </a:rPr>
              <a:t>Phil-Followup@sunlife.com</a:t>
            </a:r>
            <a:r>
              <a:rPr b="1" lang="en-US" sz="2800">
                <a:solidFill>
                  <a:srgbClr val="000000"/>
                </a:solidFill>
                <a:latin typeface="Arial"/>
                <a:ea typeface="Arial"/>
                <a:cs typeface="Arial"/>
                <a:sym typeface="Arial"/>
              </a:rPr>
              <a:t> </a:t>
            </a:r>
            <a:endParaRPr/>
          </a:p>
        </p:txBody>
      </p:sp>
      <p:pic>
        <p:nvPicPr>
          <p:cNvPr id="1203" name="Google Shape;1203;p36"/>
          <p:cNvPicPr preferRelativeResize="0"/>
          <p:nvPr/>
        </p:nvPicPr>
        <p:blipFill rotWithShape="1">
          <a:blip r:embed="rId5">
            <a:alphaModFix/>
          </a:blip>
          <a:srcRect b="0" l="0" r="0" t="0"/>
          <a:stretch/>
        </p:blipFill>
        <p:spPr>
          <a:xfrm>
            <a:off x="272142" y="1117324"/>
            <a:ext cx="4164250" cy="27432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p37"/>
          <p:cNvSpPr/>
          <p:nvPr/>
        </p:nvSpPr>
        <p:spPr>
          <a:xfrm>
            <a:off x="706313" y="780935"/>
            <a:ext cx="3876573" cy="2114665"/>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09" name="Google Shape;1209;p37"/>
          <p:cNvSpPr/>
          <p:nvPr/>
        </p:nvSpPr>
        <p:spPr>
          <a:xfrm>
            <a:off x="154702" y="255374"/>
            <a:ext cx="3384911" cy="461665"/>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A3838"/>
                </a:solidFill>
                <a:latin typeface="Calibri"/>
                <a:ea typeface="Calibri"/>
                <a:cs typeface="Calibri"/>
                <a:sym typeface="Calibri"/>
              </a:rPr>
              <a:t>Requirements Processing</a:t>
            </a:r>
            <a:endParaRPr b="1" sz="1800">
              <a:solidFill>
                <a:schemeClr val="dk1"/>
              </a:solidFill>
              <a:latin typeface="Calibri"/>
              <a:ea typeface="Calibri"/>
              <a:cs typeface="Calibri"/>
              <a:sym typeface="Calibri"/>
            </a:endParaRPr>
          </a:p>
        </p:txBody>
      </p:sp>
      <p:sp>
        <p:nvSpPr>
          <p:cNvPr id="1210" name="Google Shape;1210;p37"/>
          <p:cNvSpPr/>
          <p:nvPr/>
        </p:nvSpPr>
        <p:spPr>
          <a:xfrm>
            <a:off x="183732" y="4244921"/>
            <a:ext cx="1045163" cy="2613079"/>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1" name="Google Shape;1211;p37"/>
          <p:cNvSpPr txBox="1"/>
          <p:nvPr/>
        </p:nvSpPr>
        <p:spPr>
          <a:xfrm>
            <a:off x="4867799" y="780935"/>
            <a:ext cx="6960632" cy="452431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285750" lvl="0" marL="285750" marR="0" rtl="0" algn="l">
              <a:spcBef>
                <a:spcPts val="0"/>
              </a:spcBef>
              <a:spcAft>
                <a:spcPts val="0"/>
              </a:spcAft>
              <a:buClr>
                <a:srgbClr val="00B050"/>
              </a:buClr>
              <a:buSzPts val="1800"/>
              <a:buFont typeface="Arial"/>
              <a:buChar char="•"/>
            </a:pPr>
            <a:r>
              <a:rPr b="1" lang="en-US" sz="1800">
                <a:solidFill>
                  <a:srgbClr val="00B050"/>
                </a:solidFill>
                <a:latin typeface="Calibri"/>
                <a:ea typeface="Calibri"/>
                <a:cs typeface="Calibri"/>
                <a:sym typeface="Calibri"/>
              </a:rPr>
              <a:t>Regular Application - NEW BUSINESS REVIEW</a:t>
            </a:r>
            <a:endParaRPr/>
          </a:p>
          <a:p>
            <a:pPr indent="-285750" lvl="1" marL="7429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Calibri"/>
                <a:ea typeface="Calibri"/>
                <a:cs typeface="Calibri"/>
                <a:sym typeface="Calibri"/>
              </a:rPr>
              <a:t>Fifteen (15) calendar days from the date of the initial SMS/email requirement notification</a:t>
            </a: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Automated follow – up on 7</a:t>
            </a:r>
            <a:r>
              <a:rPr b="0" baseline="30000" i="0" lang="en-US" sz="1800" u="none" cap="none" strike="noStrike">
                <a:solidFill>
                  <a:schemeClr val="dk1"/>
                </a:solidFill>
                <a:latin typeface="Calibri"/>
                <a:ea typeface="Calibri"/>
                <a:cs typeface="Calibri"/>
                <a:sym typeface="Calibri"/>
              </a:rPr>
              <a:t>th</a:t>
            </a:r>
            <a:r>
              <a:rPr b="0" i="0" lang="en-US" sz="1800" u="none" cap="none" strike="noStrike">
                <a:solidFill>
                  <a:schemeClr val="dk1"/>
                </a:solidFill>
                <a:latin typeface="Calibri"/>
                <a:ea typeface="Calibri"/>
                <a:cs typeface="Calibri"/>
                <a:sym typeface="Calibri"/>
              </a:rPr>
              <a:t> day will be sent</a:t>
            </a:r>
            <a:endParaRPr b="0" i="0" sz="1800" u="none" cap="none" strike="noStrike">
              <a:solidFill>
                <a:schemeClr val="dk1"/>
              </a:solidFill>
              <a:latin typeface="Calibri"/>
              <a:ea typeface="Calibri"/>
              <a:cs typeface="Calibri"/>
              <a:sym typeface="Calibri"/>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If the requirements are not submitted within the deadline, NPW (Not Proceeded With) notification will be sent </a:t>
            </a:r>
            <a:r>
              <a:rPr b="0" i="0" lang="en-US" sz="1800" u="none" cap="none" strike="noStrike">
                <a:solidFill>
                  <a:srgbClr val="C00000"/>
                </a:solidFill>
                <a:latin typeface="Calibri"/>
                <a:ea typeface="Calibri"/>
                <a:cs typeface="Calibri"/>
                <a:sym typeface="Calibri"/>
              </a:rPr>
              <a:t>on the 16th day.  </a:t>
            </a:r>
            <a:endParaRPr b="0" i="0" sz="1800" u="none" cap="none" strike="noStrike">
              <a:solidFill>
                <a:srgbClr val="C00000"/>
              </a:solidFill>
              <a:latin typeface="Calibri"/>
              <a:ea typeface="Calibri"/>
              <a:cs typeface="Calibri"/>
              <a:sym typeface="Calibri"/>
            </a:endParaRPr>
          </a:p>
          <a:p>
            <a:pPr indent="-171450" lvl="1" marL="742950" marR="0" rtl="0" algn="l">
              <a:spcBef>
                <a:spcPts val="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a:p>
            <a:pPr indent="-285750" lvl="0" marL="285750" marR="0" rtl="0" algn="l">
              <a:spcBef>
                <a:spcPts val="0"/>
              </a:spcBef>
              <a:spcAft>
                <a:spcPts val="0"/>
              </a:spcAft>
              <a:buClr>
                <a:srgbClr val="1E4E79"/>
              </a:buClr>
              <a:buSzPts val="1800"/>
              <a:buFont typeface="Arial"/>
              <a:buChar char="•"/>
            </a:pPr>
            <a:r>
              <a:rPr b="1" lang="en-US" sz="1800">
                <a:solidFill>
                  <a:srgbClr val="1E4E79"/>
                </a:solidFill>
                <a:latin typeface="Calibri"/>
                <a:ea typeface="Calibri"/>
                <a:cs typeface="Calibri"/>
                <a:sym typeface="Calibri"/>
              </a:rPr>
              <a:t>Structured Notes:  </a:t>
            </a:r>
            <a:r>
              <a:rPr lang="en-US" sz="1800">
                <a:solidFill>
                  <a:schemeClr val="dk1"/>
                </a:solidFill>
                <a:latin typeface="Calibri"/>
                <a:ea typeface="Calibri"/>
                <a:cs typeface="Calibri"/>
                <a:sym typeface="Calibri"/>
              </a:rPr>
              <a:t>Within specified deadline in the campaign.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rgbClr val="FF0000"/>
              </a:buClr>
              <a:buSzPts val="1800"/>
              <a:buFont typeface="Arial"/>
              <a:buChar char="•"/>
            </a:pPr>
            <a:r>
              <a:rPr b="1" lang="en-US" sz="1800">
                <a:solidFill>
                  <a:srgbClr val="FF0000"/>
                </a:solidFill>
                <a:latin typeface="Calibri"/>
                <a:ea typeface="Calibri"/>
                <a:cs typeface="Calibri"/>
                <a:sym typeface="Calibri"/>
              </a:rPr>
              <a:t>Request for extension </a:t>
            </a:r>
            <a:r>
              <a:rPr lang="en-US" sz="1800">
                <a:solidFill>
                  <a:schemeClr val="dk1"/>
                </a:solidFill>
                <a:latin typeface="Calibri"/>
                <a:ea typeface="Calibri"/>
                <a:cs typeface="Calibri"/>
                <a:sym typeface="Calibri"/>
              </a:rPr>
              <a:t>should be </a:t>
            </a:r>
            <a:r>
              <a:rPr lang="en-US" sz="1800" u="sng">
                <a:solidFill>
                  <a:schemeClr val="dk1"/>
                </a:solidFill>
                <a:latin typeface="Calibri"/>
                <a:ea typeface="Calibri"/>
                <a:cs typeface="Calibri"/>
                <a:sym typeface="Calibri"/>
              </a:rPr>
              <a:t>filed before expiration </a:t>
            </a:r>
            <a:r>
              <a:rPr lang="en-US" sz="1800">
                <a:solidFill>
                  <a:schemeClr val="dk1"/>
                </a:solidFill>
                <a:latin typeface="Calibri"/>
                <a:ea typeface="Calibri"/>
                <a:cs typeface="Calibri"/>
                <a:sym typeface="Calibri"/>
              </a:rPr>
              <a:t>of the deadline of the requirement, preferably </a:t>
            </a:r>
            <a:r>
              <a:rPr lang="en-US" sz="1800" u="sng">
                <a:solidFill>
                  <a:schemeClr val="dk1"/>
                </a:solidFill>
                <a:latin typeface="Calibri"/>
                <a:ea typeface="Calibri"/>
                <a:cs typeface="Calibri"/>
                <a:sym typeface="Calibri"/>
              </a:rPr>
              <a:t>three (3) days before the deadline</a:t>
            </a:r>
            <a:r>
              <a:rPr lang="en-US" sz="1800">
                <a:solidFill>
                  <a:schemeClr val="dk1"/>
                </a:solidFill>
                <a:latin typeface="Calibri"/>
                <a:ea typeface="Calibri"/>
                <a:cs typeface="Calibri"/>
                <a:sym typeface="Calibri"/>
              </a:rPr>
              <a:t>; otherwise, NPW (Not Proceeded With) notification will be sent on the 16th day. </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i="1" lang="en-US" sz="1800">
                <a:solidFill>
                  <a:schemeClr val="dk1"/>
                </a:solidFill>
                <a:latin typeface="Calibri"/>
                <a:ea typeface="Calibri"/>
                <a:cs typeface="Calibri"/>
                <a:sym typeface="Calibri"/>
              </a:rPr>
              <a:t>NOTE: We cannot hold processing of the refund check once the check request has been sent to Finance Department.</a:t>
            </a:r>
            <a:endParaRPr b="1" i="1" sz="1800">
              <a:solidFill>
                <a:schemeClr val="dk1"/>
              </a:solidFill>
              <a:latin typeface="Calibri"/>
              <a:ea typeface="Calibri"/>
              <a:cs typeface="Calibri"/>
              <a:sym typeface="Calibri"/>
            </a:endParaRPr>
          </a:p>
        </p:txBody>
      </p:sp>
      <p:pic>
        <p:nvPicPr>
          <p:cNvPr id="1212" name="Google Shape;1212;p37"/>
          <p:cNvPicPr preferRelativeResize="0"/>
          <p:nvPr/>
        </p:nvPicPr>
        <p:blipFill rotWithShape="1">
          <a:blip r:embed="rId3">
            <a:alphaModFix/>
          </a:blip>
          <a:srcRect b="0" l="0" r="0" t="0"/>
          <a:stretch/>
        </p:blipFill>
        <p:spPr>
          <a:xfrm>
            <a:off x="154703" y="1130696"/>
            <a:ext cx="4161486" cy="2722847"/>
          </a:xfrm>
          <a:prstGeom prst="rect">
            <a:avLst/>
          </a:prstGeom>
          <a:noFill/>
          <a:ln>
            <a:noFill/>
          </a:ln>
        </p:spPr>
      </p:pic>
      <p:sp>
        <p:nvSpPr>
          <p:cNvPr id="1213" name="Google Shape;1213;p37"/>
          <p:cNvSpPr/>
          <p:nvPr/>
        </p:nvSpPr>
        <p:spPr>
          <a:xfrm>
            <a:off x="272142" y="4484407"/>
            <a:ext cx="4310744" cy="1384995"/>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00"/>
                </a:solidFill>
                <a:latin typeface="Calibri"/>
                <a:ea typeface="Calibri"/>
                <a:cs typeface="Calibri"/>
                <a:sym typeface="Calibri"/>
              </a:rPr>
              <a:t>send EXTENSION request to: </a:t>
            </a:r>
            <a:r>
              <a:rPr b="1" lang="en-US" sz="2800" u="sng">
                <a:solidFill>
                  <a:srgbClr val="000000"/>
                </a:solidFill>
                <a:latin typeface="Arial"/>
                <a:ea typeface="Arial"/>
                <a:cs typeface="Arial"/>
                <a:sym typeface="Arial"/>
                <a:hlinkClick r:id="rId4">
                  <a:extLst>
                    <a:ext uri="{A12FA001-AC4F-418D-AE19-62706E023703}">
                      <ahyp:hlinkClr val="tx"/>
                    </a:ext>
                  </a:extLst>
                </a:hlinkClick>
              </a:rPr>
              <a:t>PHIL-ePDS-Scanning@sunlife.com</a:t>
            </a:r>
            <a:endParaRPr b="1" sz="2800">
              <a:solidFill>
                <a:srgbClr val="000000"/>
              </a:solidFill>
              <a:latin typeface="Arial"/>
              <a:ea typeface="Arial"/>
              <a:cs typeface="Arial"/>
              <a:sym typeface="Arial"/>
            </a:endParaRPr>
          </a:p>
        </p:txBody>
      </p:sp>
      <p:sp>
        <p:nvSpPr>
          <p:cNvPr id="1214" name="Google Shape;1214;p37"/>
          <p:cNvSpPr/>
          <p:nvPr/>
        </p:nvSpPr>
        <p:spPr>
          <a:xfrm>
            <a:off x="4867799" y="5475358"/>
            <a:ext cx="6960632" cy="400110"/>
          </a:xfrm>
          <a:prstGeom prst="rect">
            <a:avLst/>
          </a:prstGeom>
          <a:noFill/>
          <a:ln cap="flat" cmpd="sng" w="9525">
            <a:solidFill>
              <a:srgbClr val="C00000"/>
            </a:solidFill>
            <a:prstDash val="solid"/>
            <a:round/>
            <a:headEnd len="sm" w="sm" type="none"/>
            <a:tailEnd len="sm" w="sm" type="none"/>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Deadline for Underwriting Requirements is for enhancement.</a:t>
            </a:r>
            <a:endParaRPr b="1" sz="20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38"/>
          <p:cNvSpPr/>
          <p:nvPr/>
        </p:nvSpPr>
        <p:spPr>
          <a:xfrm>
            <a:off x="8269487" y="100410"/>
            <a:ext cx="3876573" cy="2114665"/>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21" name="Google Shape;1221;p38"/>
          <p:cNvSpPr/>
          <p:nvPr/>
        </p:nvSpPr>
        <p:spPr>
          <a:xfrm>
            <a:off x="183732" y="4244921"/>
            <a:ext cx="1045163" cy="2613079"/>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222" name="Google Shape;1222;p38"/>
          <p:cNvPicPr preferRelativeResize="0"/>
          <p:nvPr/>
        </p:nvPicPr>
        <p:blipFill rotWithShape="1">
          <a:blip r:embed="rId3">
            <a:alphaModFix/>
          </a:blip>
          <a:srcRect b="0" l="0" r="0" t="0"/>
          <a:stretch/>
        </p:blipFill>
        <p:spPr>
          <a:xfrm>
            <a:off x="5164914" y="486206"/>
            <a:ext cx="6809912" cy="3864761"/>
          </a:xfrm>
          <a:prstGeom prst="rect">
            <a:avLst/>
          </a:prstGeom>
          <a:noFill/>
          <a:ln>
            <a:noFill/>
          </a:ln>
        </p:spPr>
      </p:pic>
      <p:sp>
        <p:nvSpPr>
          <p:cNvPr id="1223" name="Google Shape;1223;p38"/>
          <p:cNvSpPr txBox="1"/>
          <p:nvPr/>
        </p:nvSpPr>
        <p:spPr>
          <a:xfrm>
            <a:off x="1377255" y="872003"/>
            <a:ext cx="9628201" cy="5355312"/>
          </a:xfrm>
          <a:prstGeom prst="rect">
            <a:avLst/>
          </a:prstGeom>
          <a:solidFill>
            <a:srgbClr val="FFFFFF">
              <a:alpha val="89803"/>
            </a:srgbClr>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285750" lvl="0" marL="285750" marR="0" rtl="0" algn="l">
              <a:spcBef>
                <a:spcPts val="0"/>
              </a:spcBef>
              <a:spcAft>
                <a:spcPts val="0"/>
              </a:spcAft>
              <a:buClr>
                <a:srgbClr val="00B050"/>
              </a:buClr>
              <a:buSzPts val="1800"/>
              <a:buFont typeface="Arial"/>
              <a:buChar char="•"/>
            </a:pPr>
            <a:r>
              <a:rPr b="1" lang="en-US" sz="1800">
                <a:solidFill>
                  <a:srgbClr val="00B050"/>
                </a:solidFill>
                <a:latin typeface="Calibri"/>
                <a:ea typeface="Calibri"/>
                <a:cs typeface="Calibri"/>
                <a:sym typeface="Calibri"/>
              </a:rPr>
              <a:t>Reimbursement</a:t>
            </a:r>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Official receipts (OR) should be issued under </a:t>
            </a:r>
            <a:r>
              <a:rPr b="1" i="0" lang="en-US" sz="1800" u="none" cap="none" strike="noStrike">
                <a:solidFill>
                  <a:schemeClr val="dk1"/>
                </a:solidFill>
                <a:latin typeface="Calibri"/>
                <a:ea typeface="Calibri"/>
                <a:cs typeface="Calibri"/>
                <a:sym typeface="Calibri"/>
              </a:rPr>
              <a:t>Sun Life of Canada Philippines, Inc. (SLOCPI) or Sun Life Financial.</a:t>
            </a:r>
            <a:endParaRPr/>
          </a:p>
          <a:p>
            <a:pPr indent="-171450" lvl="1" marL="742950" marR="0" rtl="0" algn="l">
              <a:spcBef>
                <a:spcPts val="0"/>
              </a:spcBef>
              <a:spcAft>
                <a:spcPts val="0"/>
              </a:spcAft>
              <a:buClr>
                <a:schemeClr val="dk1"/>
              </a:buClr>
              <a:buSzPts val="1800"/>
              <a:buFont typeface="Arial"/>
              <a:buNone/>
            </a:pPr>
            <a:r>
              <a:t/>
            </a:r>
            <a:endParaRPr b="1" i="0" sz="1800" u="none" cap="none" strike="noStrike">
              <a:solidFill>
                <a:schemeClr val="dk1"/>
              </a:solidFill>
              <a:latin typeface="Calibri"/>
              <a:ea typeface="Calibri"/>
              <a:cs typeface="Calibri"/>
              <a:sym typeface="Calibri"/>
            </a:endParaRPr>
          </a:p>
          <a:p>
            <a:pPr indent="-285750" lvl="0" marL="285750" marR="0" rtl="0" algn="l">
              <a:spcBef>
                <a:spcPts val="0"/>
              </a:spcBef>
              <a:spcAft>
                <a:spcPts val="0"/>
              </a:spcAft>
              <a:buClr>
                <a:srgbClr val="1E4E79"/>
              </a:buClr>
              <a:buSzPts val="1800"/>
              <a:buFont typeface="Arial"/>
              <a:buChar char="•"/>
            </a:pPr>
            <a:r>
              <a:rPr b="1" lang="en-US" sz="1800">
                <a:solidFill>
                  <a:srgbClr val="1E4E79"/>
                </a:solidFill>
                <a:latin typeface="Calibri"/>
                <a:ea typeface="Calibri"/>
                <a:cs typeface="Calibri"/>
                <a:sym typeface="Calibri"/>
              </a:rPr>
              <a:t>Attending Physician Statement (APS):</a:t>
            </a:r>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Advance APS &amp; Php1,000 and up doctor’s fee – obtain approval from assigned UW.</a:t>
            </a:r>
            <a:endParaRPr/>
          </a:p>
          <a:p>
            <a:pPr indent="-171450" lvl="1" marL="742950" marR="0" rtl="0" algn="l">
              <a:spcBef>
                <a:spcPts val="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APS payment (Doctor's fee) - request the secretary or the  attending physician to complete the details on the second page lower portion of the APS. (Doctor's name, TIN number, and complete address). Please write legibly.</a:t>
            </a:r>
            <a:endParaRPr b="0" i="0" sz="1800" u="none" cap="none" strike="noStrike">
              <a:solidFill>
                <a:schemeClr val="dk1"/>
              </a:solidFill>
              <a:latin typeface="Calibri"/>
              <a:ea typeface="Calibri"/>
              <a:cs typeface="Calibri"/>
              <a:sym typeface="Calibri"/>
            </a:endParaRPr>
          </a:p>
          <a:p>
            <a:pPr indent="-171450" lvl="1" marL="742950" marR="0" rtl="0" algn="l">
              <a:spcBef>
                <a:spcPts val="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a:p>
            <a:pPr indent="-285750" lvl="0" marL="285750" marR="0" rtl="0" algn="l">
              <a:spcBef>
                <a:spcPts val="0"/>
              </a:spcBef>
              <a:spcAft>
                <a:spcPts val="0"/>
              </a:spcAft>
              <a:buClr>
                <a:srgbClr val="FF0000"/>
              </a:buClr>
              <a:buSzPts val="1800"/>
              <a:buFont typeface="Arial"/>
              <a:buChar char="•"/>
            </a:pPr>
            <a:r>
              <a:rPr b="1" lang="en-US" sz="1800">
                <a:solidFill>
                  <a:srgbClr val="FF0000"/>
                </a:solidFill>
                <a:latin typeface="Calibri"/>
                <a:ea typeface="Calibri"/>
                <a:cs typeface="Calibri"/>
                <a:sym typeface="Calibri"/>
              </a:rPr>
              <a:t>Other Requests and Concerns:</a:t>
            </a:r>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Submission of medical requirements which are not routine and/or not required by UW will be charged to advisor</a:t>
            </a:r>
            <a:endParaRPr b="0" i="0" sz="1800" u="none" cap="none" strike="noStrike">
              <a:solidFill>
                <a:schemeClr val="dk1"/>
              </a:solidFill>
              <a:latin typeface="Calibri"/>
              <a:ea typeface="Calibri"/>
              <a:cs typeface="Calibri"/>
              <a:sym typeface="Calibri"/>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Medical records should be clear and readable.</a:t>
            </a:r>
            <a:endParaRPr b="0" i="0" sz="1800" u="none" cap="none" strike="noStrike">
              <a:solidFill>
                <a:schemeClr val="dk1"/>
              </a:solidFill>
              <a:latin typeface="Calibri"/>
              <a:ea typeface="Calibri"/>
              <a:cs typeface="Calibri"/>
              <a:sym typeface="Calibri"/>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Request for uncrossing of check – client should be personally present and should presents 2 valid government IDs.</a:t>
            </a:r>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Short payment – charging to ACS is not anymore allowed. </a:t>
            </a:r>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Submit Advisor’s Change Request (ACR) Form – if status of advisor is inactive </a:t>
            </a:r>
            <a:endParaRPr/>
          </a:p>
        </p:txBody>
      </p:sp>
      <p:sp>
        <p:nvSpPr>
          <p:cNvPr id="1224" name="Google Shape;1224;p38"/>
          <p:cNvSpPr/>
          <p:nvPr/>
        </p:nvSpPr>
        <p:spPr>
          <a:xfrm>
            <a:off x="154702" y="255374"/>
            <a:ext cx="3384911" cy="461665"/>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A3838"/>
                </a:solidFill>
                <a:latin typeface="Calibri"/>
                <a:ea typeface="Calibri"/>
                <a:cs typeface="Calibri"/>
                <a:sym typeface="Calibri"/>
              </a:rPr>
              <a:t>Requirements Processing</a:t>
            </a:r>
            <a:endParaRPr b="1"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sp>
        <p:nvSpPr>
          <p:cNvPr id="1230" name="Google Shape;1230;p39"/>
          <p:cNvSpPr/>
          <p:nvPr/>
        </p:nvSpPr>
        <p:spPr>
          <a:xfrm>
            <a:off x="706313" y="780935"/>
            <a:ext cx="3876573" cy="2114665"/>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1231" name="Google Shape;1231;p39"/>
          <p:cNvPicPr preferRelativeResize="0"/>
          <p:nvPr/>
        </p:nvPicPr>
        <p:blipFill rotWithShape="1">
          <a:blip r:embed="rId3">
            <a:alphaModFix/>
          </a:blip>
          <a:srcRect b="0" l="0" r="0" t="0"/>
          <a:stretch/>
        </p:blipFill>
        <p:spPr>
          <a:xfrm>
            <a:off x="373516" y="1106691"/>
            <a:ext cx="3826949" cy="2376737"/>
          </a:xfrm>
          <a:prstGeom prst="rect">
            <a:avLst/>
          </a:prstGeom>
          <a:noFill/>
          <a:ln>
            <a:noFill/>
          </a:ln>
          <a:effectLst>
            <a:outerShdw blurRad="292100" rotWithShape="0" algn="tl" dir="2700000" dist="139700">
              <a:srgbClr val="333333">
                <a:alpha val="64705"/>
              </a:srgbClr>
            </a:outerShdw>
          </a:effectLst>
        </p:spPr>
      </p:pic>
      <p:sp>
        <p:nvSpPr>
          <p:cNvPr id="1232" name="Google Shape;1232;p39"/>
          <p:cNvSpPr/>
          <p:nvPr/>
        </p:nvSpPr>
        <p:spPr>
          <a:xfrm>
            <a:off x="183732" y="4244921"/>
            <a:ext cx="1045163" cy="2613079"/>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33" name="Google Shape;1233;p39"/>
          <p:cNvSpPr txBox="1"/>
          <p:nvPr/>
        </p:nvSpPr>
        <p:spPr>
          <a:xfrm>
            <a:off x="4790865" y="1106691"/>
            <a:ext cx="6960632" cy="3970318"/>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We will not entertain requests to hold processing of refund checks once the check request has been forwarded to the Finance Department.</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Authorization letter signed by the client is needed if check will be c/o thru advisor.</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Quit claim form is required for request to change payee name, or if to deposit to client’s account.</a:t>
            </a:r>
            <a:endParaRPr/>
          </a:p>
          <a:p>
            <a:pPr indent="-171450" lvl="0" marL="285750" marR="0" rtl="0" algn="l">
              <a:spcBef>
                <a:spcPts val="0"/>
              </a:spcBef>
              <a:spcAft>
                <a:spcPts val="0"/>
              </a:spcAft>
              <a:buClr>
                <a:schemeClr val="dk1"/>
              </a:buClr>
              <a:buSzPts val="1800"/>
              <a:buFont typeface="Arial"/>
              <a:buNone/>
            </a:pPr>
            <a:r>
              <a:t/>
            </a:r>
            <a:endParaRPr b="1" sz="1800">
              <a:solidFill>
                <a:srgbClr val="FF0000"/>
              </a:solidFill>
              <a:latin typeface="Calibri"/>
              <a:ea typeface="Calibri"/>
              <a:cs typeface="Calibri"/>
              <a:sym typeface="Calibri"/>
            </a:endParaRPr>
          </a:p>
          <a:p>
            <a:pPr indent="-285750" lvl="0" marL="285750" marR="0" rtl="0" algn="l">
              <a:spcBef>
                <a:spcPts val="0"/>
              </a:spcBef>
              <a:spcAft>
                <a:spcPts val="0"/>
              </a:spcAft>
              <a:buClr>
                <a:srgbClr val="FF0000"/>
              </a:buClr>
              <a:buSzPts val="1800"/>
              <a:buFont typeface="Arial"/>
              <a:buChar char="•"/>
            </a:pPr>
            <a:r>
              <a:rPr b="1" lang="en-US" sz="1800">
                <a:solidFill>
                  <a:srgbClr val="FF0000"/>
                </a:solidFill>
                <a:latin typeface="Calibri"/>
                <a:ea typeface="Calibri"/>
                <a:cs typeface="Calibri"/>
                <a:sym typeface="Calibri"/>
              </a:rPr>
              <a:t>Authorization letters for transfer of payment </a:t>
            </a:r>
            <a:r>
              <a:rPr lang="en-US" sz="1800">
                <a:solidFill>
                  <a:schemeClr val="dk1"/>
                </a:solidFill>
                <a:latin typeface="Calibri"/>
                <a:ea typeface="Calibri"/>
                <a:cs typeface="Calibri"/>
                <a:sym typeface="Calibri"/>
              </a:rPr>
              <a:t>should indicate the following: </a:t>
            </a:r>
            <a:endParaRPr sz="1800">
              <a:solidFill>
                <a:schemeClr val="dk1"/>
              </a:solidFill>
              <a:latin typeface="Calibri"/>
              <a:ea typeface="Calibri"/>
              <a:cs typeface="Calibri"/>
              <a:sym typeface="Calibri"/>
            </a:endParaRPr>
          </a:p>
          <a:p>
            <a:pPr indent="-285750" lvl="1" marL="7429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Calibri"/>
                <a:ea typeface="Calibri"/>
                <a:cs typeface="Calibri"/>
                <a:sym typeface="Calibri"/>
              </a:rPr>
              <a:t>amount to be transferred</a:t>
            </a:r>
            <a:endParaRPr/>
          </a:p>
          <a:p>
            <a:pPr indent="-285750" lvl="1" marL="7429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Calibri"/>
                <a:ea typeface="Calibri"/>
                <a:cs typeface="Calibri"/>
                <a:sym typeface="Calibri"/>
              </a:rPr>
              <a:t>source policy/application serial number, and </a:t>
            </a:r>
            <a:endParaRPr/>
          </a:p>
          <a:p>
            <a:pPr indent="-285750" lvl="1" marL="7429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Calibri"/>
                <a:ea typeface="Calibri"/>
                <a:cs typeface="Calibri"/>
                <a:sym typeface="Calibri"/>
              </a:rPr>
              <a:t>policy/application serial number where payment will be transferred</a:t>
            </a:r>
            <a:endParaRPr b="1" i="0" sz="1800" u="none" cap="none" strike="noStrike">
              <a:solidFill>
                <a:schemeClr val="dk1"/>
              </a:solidFill>
              <a:latin typeface="Calibri"/>
              <a:ea typeface="Calibri"/>
              <a:cs typeface="Calibri"/>
              <a:sym typeface="Calibri"/>
            </a:endParaRPr>
          </a:p>
        </p:txBody>
      </p:sp>
      <p:sp>
        <p:nvSpPr>
          <p:cNvPr id="1234" name="Google Shape;1234;p39"/>
          <p:cNvSpPr/>
          <p:nvPr/>
        </p:nvSpPr>
        <p:spPr>
          <a:xfrm>
            <a:off x="692425" y="5908005"/>
            <a:ext cx="3803240" cy="738664"/>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1" lang="en-US" sz="1050">
                <a:solidFill>
                  <a:schemeClr val="dk1"/>
                </a:solidFill>
                <a:latin typeface="Calibri"/>
                <a:ea typeface="Calibri"/>
                <a:cs typeface="Calibri"/>
                <a:sym typeface="Calibri"/>
              </a:rPr>
              <a:t>Turn-Around Time (TAT):  </a:t>
            </a:r>
            <a:endParaRPr b="1" i="1" sz="1050">
              <a:solidFill>
                <a:schemeClr val="dk1"/>
              </a:solidFill>
              <a:latin typeface="Calibri"/>
              <a:ea typeface="Calibri"/>
              <a:cs typeface="Calibri"/>
              <a:sym typeface="Calibri"/>
            </a:endParaRPr>
          </a:p>
          <a:p>
            <a:pPr indent="0" lvl="0" marL="0" marR="0" rtl="0" algn="r">
              <a:spcBef>
                <a:spcPts val="0"/>
              </a:spcBef>
              <a:spcAft>
                <a:spcPts val="0"/>
              </a:spcAft>
              <a:buNone/>
            </a:pPr>
            <a:r>
              <a:rPr b="1" i="1" lang="en-US" sz="1050">
                <a:solidFill>
                  <a:schemeClr val="dk1"/>
                </a:solidFill>
                <a:latin typeface="Calibri"/>
                <a:ea typeface="Calibri"/>
                <a:cs typeface="Calibri"/>
                <a:sym typeface="Calibri"/>
              </a:rPr>
              <a:t>7days - below 50K</a:t>
            </a:r>
            <a:endParaRPr/>
          </a:p>
          <a:p>
            <a:pPr indent="0" lvl="0" marL="0" marR="0" rtl="0" algn="r">
              <a:spcBef>
                <a:spcPts val="0"/>
              </a:spcBef>
              <a:spcAft>
                <a:spcPts val="0"/>
              </a:spcAft>
              <a:buNone/>
            </a:pPr>
            <a:r>
              <a:rPr b="1" i="1" lang="en-US" sz="1050">
                <a:solidFill>
                  <a:schemeClr val="dk1"/>
                </a:solidFill>
                <a:latin typeface="Calibri"/>
                <a:ea typeface="Calibri"/>
                <a:cs typeface="Calibri"/>
                <a:sym typeface="Calibri"/>
              </a:rPr>
              <a:t> 15days - 50k and up (For check payments, check must be cleared before processing the refund.)</a:t>
            </a:r>
            <a:endParaRPr/>
          </a:p>
        </p:txBody>
      </p:sp>
      <p:sp>
        <p:nvSpPr>
          <p:cNvPr id="1235" name="Google Shape;1235;p39"/>
          <p:cNvSpPr/>
          <p:nvPr/>
        </p:nvSpPr>
        <p:spPr>
          <a:xfrm>
            <a:off x="272142" y="4484407"/>
            <a:ext cx="4310744" cy="1384995"/>
          </a:xfrm>
          <a:prstGeom prst="rect">
            <a:avLst/>
          </a:prstGeom>
          <a:solidFill>
            <a:schemeClr val="lt1"/>
          </a:solidFill>
          <a:ln cap="flat" cmpd="sng" w="12700">
            <a:solidFill>
              <a:srgbClr val="C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00000"/>
                </a:solidFill>
                <a:latin typeface="Calibri"/>
                <a:ea typeface="Calibri"/>
                <a:cs typeface="Calibri"/>
                <a:sym typeface="Calibri"/>
              </a:rPr>
              <a:t>send REFUND inquiries to: </a:t>
            </a:r>
            <a:r>
              <a:rPr b="1" lang="en-US" sz="2800" u="sng">
                <a:solidFill>
                  <a:srgbClr val="000000"/>
                </a:solidFill>
                <a:latin typeface="Arial"/>
                <a:ea typeface="Arial"/>
                <a:cs typeface="Arial"/>
                <a:sym typeface="Arial"/>
                <a:hlinkClick r:id="rId4">
                  <a:extLst>
                    <a:ext uri="{A12FA001-AC4F-418D-AE19-62706E023703}">
                      <ahyp:hlinkClr val="tx"/>
                    </a:ext>
                  </a:extLst>
                </a:hlinkClick>
              </a:rPr>
              <a:t>phil-usd-facilitating@sunlife.com</a:t>
            </a:r>
            <a:endParaRPr b="1" sz="2800">
              <a:solidFill>
                <a:srgbClr val="000000"/>
              </a:solidFill>
              <a:latin typeface="Arial"/>
              <a:ea typeface="Arial"/>
              <a:cs typeface="Arial"/>
              <a:sym typeface="Arial"/>
            </a:endParaRPr>
          </a:p>
        </p:txBody>
      </p:sp>
      <p:sp>
        <p:nvSpPr>
          <p:cNvPr id="1236" name="Google Shape;1236;p39"/>
          <p:cNvSpPr/>
          <p:nvPr/>
        </p:nvSpPr>
        <p:spPr>
          <a:xfrm>
            <a:off x="4790864" y="5307840"/>
            <a:ext cx="6960633" cy="1200329"/>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3 criteria for an application to be submitted on a COD basis</a:t>
            </a:r>
            <a:endParaRPr/>
          </a:p>
          <a:p>
            <a:pPr indent="-285750" lvl="1" marL="7429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Calibri"/>
                <a:ea typeface="Calibri"/>
                <a:cs typeface="Calibri"/>
                <a:sym typeface="Calibri"/>
              </a:rPr>
              <a:t>With Yes answer in TLI Questions</a:t>
            </a:r>
            <a:endParaRPr/>
          </a:p>
          <a:p>
            <a:pPr indent="-285750" lvl="1" marL="7429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Calibri"/>
                <a:ea typeface="Calibri"/>
                <a:cs typeface="Calibri"/>
                <a:sym typeface="Calibri"/>
              </a:rPr>
              <a:t>With 1M and above annual premium</a:t>
            </a:r>
            <a:endParaRPr/>
          </a:p>
          <a:p>
            <a:pPr indent="-285750" lvl="1" marL="74295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Calibri"/>
                <a:ea typeface="Calibri"/>
                <a:cs typeface="Calibri"/>
                <a:sym typeface="Calibri"/>
              </a:rPr>
              <a:t>Over retention limit</a:t>
            </a:r>
            <a:endParaRPr/>
          </a:p>
        </p:txBody>
      </p:sp>
      <p:sp>
        <p:nvSpPr>
          <p:cNvPr id="1237" name="Google Shape;1237;p39"/>
          <p:cNvSpPr/>
          <p:nvPr/>
        </p:nvSpPr>
        <p:spPr>
          <a:xfrm>
            <a:off x="154703" y="255374"/>
            <a:ext cx="2519672" cy="461665"/>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A3838"/>
                </a:solidFill>
                <a:latin typeface="Calibri"/>
                <a:ea typeface="Calibri"/>
                <a:cs typeface="Calibri"/>
                <a:sym typeface="Calibri"/>
              </a:rPr>
              <a:t>Refund Processing</a:t>
            </a:r>
            <a:endParaRPr b="1"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40"/>
          <p:cNvSpPr/>
          <p:nvPr/>
        </p:nvSpPr>
        <p:spPr>
          <a:xfrm>
            <a:off x="183732" y="4244921"/>
            <a:ext cx="1045163" cy="2613079"/>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244" name="Google Shape;1244;p40"/>
          <p:cNvPicPr preferRelativeResize="0"/>
          <p:nvPr/>
        </p:nvPicPr>
        <p:blipFill rotWithShape="1">
          <a:blip r:embed="rId3">
            <a:alphaModFix/>
          </a:blip>
          <a:srcRect b="0" l="0" r="0" t="0"/>
          <a:stretch/>
        </p:blipFill>
        <p:spPr>
          <a:xfrm>
            <a:off x="6110234" y="3810000"/>
            <a:ext cx="6081766" cy="3040883"/>
          </a:xfrm>
          <a:prstGeom prst="rect">
            <a:avLst/>
          </a:prstGeom>
          <a:noFill/>
          <a:ln>
            <a:noFill/>
          </a:ln>
        </p:spPr>
      </p:pic>
      <p:sp>
        <p:nvSpPr>
          <p:cNvPr id="1245" name="Google Shape;1245;p40"/>
          <p:cNvSpPr/>
          <p:nvPr/>
        </p:nvSpPr>
        <p:spPr>
          <a:xfrm>
            <a:off x="154702" y="255374"/>
            <a:ext cx="3630717" cy="461665"/>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A3838"/>
                </a:solidFill>
                <a:latin typeface="Calibri"/>
                <a:ea typeface="Calibri"/>
                <a:cs typeface="Calibri"/>
                <a:sym typeface="Calibri"/>
              </a:rPr>
              <a:t>NPW, NTU, and Cooling Off</a:t>
            </a:r>
            <a:endParaRPr b="1" sz="1800">
              <a:solidFill>
                <a:schemeClr val="dk1"/>
              </a:solidFill>
              <a:latin typeface="Calibri"/>
              <a:ea typeface="Calibri"/>
              <a:cs typeface="Calibri"/>
              <a:sym typeface="Calibri"/>
            </a:endParaRPr>
          </a:p>
        </p:txBody>
      </p:sp>
      <p:sp>
        <p:nvSpPr>
          <p:cNvPr id="1246" name="Google Shape;1246;p40"/>
          <p:cNvSpPr txBox="1"/>
          <p:nvPr/>
        </p:nvSpPr>
        <p:spPr>
          <a:xfrm>
            <a:off x="328928" y="870858"/>
            <a:ext cx="5486400" cy="523220"/>
          </a:xfrm>
          <a:prstGeom prst="rect">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745"/>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lt1"/>
                </a:solidFill>
                <a:latin typeface="Calibri"/>
                <a:ea typeface="Calibri"/>
                <a:cs typeface="Calibri"/>
                <a:sym typeface="Calibri"/>
              </a:rPr>
              <a:t>Not Proceeded With (NPW)</a:t>
            </a:r>
            <a:endParaRPr/>
          </a:p>
        </p:txBody>
      </p:sp>
      <p:sp>
        <p:nvSpPr>
          <p:cNvPr id="1247" name="Google Shape;1247;p40"/>
          <p:cNvSpPr txBox="1"/>
          <p:nvPr/>
        </p:nvSpPr>
        <p:spPr>
          <a:xfrm>
            <a:off x="6389915" y="870858"/>
            <a:ext cx="5486400" cy="523220"/>
          </a:xfrm>
          <a:prstGeom prst="rect">
            <a:avLst/>
          </a:prstGeom>
          <a:solidFill>
            <a:srgbClr val="3A3838"/>
          </a:solidFill>
          <a:ln cap="flat" cmpd="sng" w="9525">
            <a:solidFill>
              <a:srgbClr val="75707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lt1"/>
                </a:solidFill>
                <a:latin typeface="Calibri"/>
                <a:ea typeface="Calibri"/>
                <a:cs typeface="Calibri"/>
                <a:sym typeface="Calibri"/>
              </a:rPr>
              <a:t>Not Taken Up (NTU)</a:t>
            </a:r>
            <a:endParaRPr b="1" sz="2800">
              <a:solidFill>
                <a:schemeClr val="lt1"/>
              </a:solidFill>
              <a:latin typeface="Calibri"/>
              <a:ea typeface="Calibri"/>
              <a:cs typeface="Calibri"/>
              <a:sym typeface="Calibri"/>
            </a:endParaRPr>
          </a:p>
        </p:txBody>
      </p:sp>
      <p:sp>
        <p:nvSpPr>
          <p:cNvPr id="1248" name="Google Shape;1248;p40"/>
          <p:cNvSpPr txBox="1"/>
          <p:nvPr/>
        </p:nvSpPr>
        <p:spPr>
          <a:xfrm>
            <a:off x="331283" y="1394078"/>
            <a:ext cx="5484045" cy="1754326"/>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If the client fails to submit a requirement  which is necessary to assess the insurability of the insured; </a:t>
            </a:r>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If the client fails to complete or pay the initial premium;</a:t>
            </a:r>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If the client withdraws the application while still being processed.</a:t>
            </a:r>
            <a:endParaRPr sz="1800">
              <a:solidFill>
                <a:schemeClr val="dk1"/>
              </a:solidFill>
              <a:latin typeface="Calibri"/>
              <a:ea typeface="Calibri"/>
              <a:cs typeface="Calibri"/>
              <a:sym typeface="Calibri"/>
            </a:endParaRPr>
          </a:p>
        </p:txBody>
      </p:sp>
      <p:sp>
        <p:nvSpPr>
          <p:cNvPr id="1249" name="Google Shape;1249;p40"/>
          <p:cNvSpPr txBox="1"/>
          <p:nvPr/>
        </p:nvSpPr>
        <p:spPr>
          <a:xfrm>
            <a:off x="6389915" y="1394078"/>
            <a:ext cx="5486400" cy="646331"/>
          </a:xfrm>
          <a:prstGeom prst="rect">
            <a:avLst/>
          </a:prstGeom>
          <a:solidFill>
            <a:schemeClr val="lt1"/>
          </a:solidFill>
          <a:ln cap="flat" cmpd="sng" w="12700">
            <a:solidFill>
              <a:srgbClr val="757070"/>
            </a:solidFill>
            <a:prstDash val="solid"/>
            <a:miter lim="800000"/>
            <a:headEnd len="sm" w="sm" type="none"/>
            <a:tailEnd len="sm" w="sm" type="none"/>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If initial check payment for the approved application bounced and no replacement payment were made.</a:t>
            </a:r>
            <a:endParaRPr/>
          </a:p>
        </p:txBody>
      </p:sp>
      <p:sp>
        <p:nvSpPr>
          <p:cNvPr id="1250" name="Google Shape;1250;p40"/>
          <p:cNvSpPr txBox="1"/>
          <p:nvPr/>
        </p:nvSpPr>
        <p:spPr>
          <a:xfrm>
            <a:off x="6389915" y="2340429"/>
            <a:ext cx="5486400" cy="523220"/>
          </a:xfrm>
          <a:prstGeom prst="rect">
            <a:avLst/>
          </a:prstGeom>
          <a:solidFill>
            <a:srgbClr val="FF9933"/>
          </a:solidFill>
          <a:ln cap="flat" cmpd="sng" w="9525">
            <a:solidFill>
              <a:srgbClr val="75707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lt1"/>
                </a:solidFill>
                <a:latin typeface="Calibri"/>
                <a:ea typeface="Calibri"/>
                <a:cs typeface="Calibri"/>
                <a:sym typeface="Calibri"/>
              </a:rPr>
              <a:t>Not Taken Up (NTU) – Cooling Off</a:t>
            </a:r>
            <a:endParaRPr b="1" sz="2800">
              <a:solidFill>
                <a:schemeClr val="lt1"/>
              </a:solidFill>
              <a:latin typeface="Calibri"/>
              <a:ea typeface="Calibri"/>
              <a:cs typeface="Calibri"/>
              <a:sym typeface="Calibri"/>
            </a:endParaRPr>
          </a:p>
        </p:txBody>
      </p:sp>
      <p:sp>
        <p:nvSpPr>
          <p:cNvPr id="1251" name="Google Shape;1251;p40"/>
          <p:cNvSpPr txBox="1"/>
          <p:nvPr/>
        </p:nvSpPr>
        <p:spPr>
          <a:xfrm>
            <a:off x="6389915" y="2863649"/>
            <a:ext cx="5486400" cy="1200329"/>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Applicable for VUL applications only.</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This is when the client decides to withdraw the application within 15 days from receipt of the policy contract.</a:t>
            </a:r>
            <a:endParaRPr sz="1800">
              <a:solidFill>
                <a:schemeClr val="dk1"/>
              </a:solidFill>
              <a:latin typeface="Calibri"/>
              <a:ea typeface="Calibri"/>
              <a:cs typeface="Calibri"/>
              <a:sym typeface="Calibri"/>
            </a:endParaRPr>
          </a:p>
        </p:txBody>
      </p:sp>
      <p:sp>
        <p:nvSpPr>
          <p:cNvPr id="1252" name="Google Shape;1252;p40"/>
          <p:cNvSpPr txBox="1"/>
          <p:nvPr/>
        </p:nvSpPr>
        <p:spPr>
          <a:xfrm>
            <a:off x="336541" y="3548390"/>
            <a:ext cx="5486400" cy="523220"/>
          </a:xfrm>
          <a:prstGeom prst="rect">
            <a:avLst/>
          </a:prstGeom>
          <a:solidFill>
            <a:srgbClr val="00B050"/>
          </a:solidFill>
          <a:ln>
            <a:noFill/>
          </a:ln>
          <a:effectLst>
            <a:outerShdw blurRad="57150" rotWithShape="0" algn="ctr" dir="5400000" dist="19050">
              <a:srgbClr val="000000">
                <a:alpha val="62745"/>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chemeClr val="lt1"/>
                </a:solidFill>
                <a:latin typeface="Calibri"/>
                <a:ea typeface="Calibri"/>
                <a:cs typeface="Calibri"/>
                <a:sym typeface="Calibri"/>
              </a:rPr>
              <a:t>Cases without NPW fee</a:t>
            </a:r>
            <a:endParaRPr/>
          </a:p>
        </p:txBody>
      </p:sp>
      <p:sp>
        <p:nvSpPr>
          <p:cNvPr id="1253" name="Google Shape;1253;p40"/>
          <p:cNvSpPr txBox="1"/>
          <p:nvPr/>
        </p:nvSpPr>
        <p:spPr>
          <a:xfrm>
            <a:off x="338896" y="4071610"/>
            <a:ext cx="5484045" cy="923330"/>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Non-submission of discretionary requirements ordered by the Underwriter.</a:t>
            </a:r>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Non-acceptance of offer.</a:t>
            </a:r>
            <a:endParaRPr/>
          </a:p>
        </p:txBody>
      </p:sp>
      <p:sp>
        <p:nvSpPr>
          <p:cNvPr id="1254" name="Google Shape;1254;p40"/>
          <p:cNvSpPr/>
          <p:nvPr/>
        </p:nvSpPr>
        <p:spPr>
          <a:xfrm>
            <a:off x="477918" y="5310279"/>
            <a:ext cx="5112177"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rgbClr val="FF0000"/>
                </a:solidFill>
                <a:latin typeface="Calibri"/>
                <a:ea typeface="Calibri"/>
                <a:cs typeface="Calibri"/>
                <a:sym typeface="Calibri"/>
              </a:rPr>
              <a:t>Note: NPW/NTU fee of Ps750.00, plus all expenses incurred is charged to the advisor’s commission on the above cases.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8" name="Shape 1258"/>
        <p:cNvGrpSpPr/>
        <p:nvPr/>
      </p:nvGrpSpPr>
      <p:grpSpPr>
        <a:xfrm>
          <a:off x="0" y="0"/>
          <a:ext cx="0" cy="0"/>
          <a:chOff x="0" y="0"/>
          <a:chExt cx="0" cy="0"/>
        </a:xfrm>
      </p:grpSpPr>
      <p:pic>
        <p:nvPicPr>
          <p:cNvPr id="1259" name="Google Shape;1259;p41"/>
          <p:cNvPicPr preferRelativeResize="0"/>
          <p:nvPr/>
        </p:nvPicPr>
        <p:blipFill rotWithShape="1">
          <a:blip r:embed="rId3">
            <a:alphaModFix/>
          </a:blip>
          <a:srcRect b="0" l="0" r="0" t="31968"/>
          <a:stretch/>
        </p:blipFill>
        <p:spPr>
          <a:xfrm>
            <a:off x="7200176" y="4251767"/>
            <a:ext cx="4953089" cy="2546981"/>
          </a:xfrm>
          <a:prstGeom prst="rect">
            <a:avLst/>
          </a:prstGeom>
          <a:noFill/>
          <a:ln>
            <a:noFill/>
          </a:ln>
        </p:spPr>
      </p:pic>
      <p:sp>
        <p:nvSpPr>
          <p:cNvPr id="1260" name="Google Shape;1260;p41"/>
          <p:cNvSpPr/>
          <p:nvPr/>
        </p:nvSpPr>
        <p:spPr>
          <a:xfrm>
            <a:off x="183732" y="4244921"/>
            <a:ext cx="1045163" cy="2613079"/>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1" name="Google Shape;1261;p41"/>
          <p:cNvSpPr/>
          <p:nvPr/>
        </p:nvSpPr>
        <p:spPr>
          <a:xfrm>
            <a:off x="154702" y="5385836"/>
            <a:ext cx="112082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200">
                <a:solidFill>
                  <a:srgbClr val="000000"/>
                </a:solidFill>
                <a:latin typeface="Calibri"/>
                <a:ea typeface="Calibri"/>
                <a:cs typeface="Calibri"/>
                <a:sym typeface="Calibri"/>
              </a:rPr>
              <a:t>06</a:t>
            </a:r>
            <a:endParaRPr sz="4400">
              <a:solidFill>
                <a:srgbClr val="000000"/>
              </a:solidFill>
              <a:latin typeface="Calibri"/>
              <a:ea typeface="Calibri"/>
              <a:cs typeface="Calibri"/>
              <a:sym typeface="Calibri"/>
            </a:endParaRPr>
          </a:p>
        </p:txBody>
      </p:sp>
      <p:sp>
        <p:nvSpPr>
          <p:cNvPr id="1262" name="Google Shape;1262;p41"/>
          <p:cNvSpPr txBox="1"/>
          <p:nvPr/>
        </p:nvSpPr>
        <p:spPr>
          <a:xfrm>
            <a:off x="227018" y="6249123"/>
            <a:ext cx="2973634" cy="461665"/>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Our Scorecard</a:t>
            </a:r>
            <a:endParaRPr b="1" sz="1200">
              <a:solidFill>
                <a:schemeClr val="dk1"/>
              </a:solidFill>
              <a:latin typeface="Calibri"/>
              <a:ea typeface="Calibri"/>
              <a:cs typeface="Calibri"/>
              <a:sym typeface="Calibri"/>
            </a:endParaRPr>
          </a:p>
        </p:txBody>
      </p:sp>
      <p:sp>
        <p:nvSpPr>
          <p:cNvPr id="1263" name="Google Shape;1263;p41"/>
          <p:cNvSpPr/>
          <p:nvPr/>
        </p:nvSpPr>
        <p:spPr>
          <a:xfrm>
            <a:off x="154703" y="255374"/>
            <a:ext cx="7045474" cy="584775"/>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3A3838"/>
                </a:solidFill>
                <a:latin typeface="Calibri"/>
                <a:ea typeface="Calibri"/>
                <a:cs typeface="Calibri"/>
                <a:sym typeface="Calibri"/>
              </a:rPr>
              <a:t>ISSUE TIME ANALYSIS REPORT FOR 2018</a:t>
            </a:r>
            <a:endParaRPr/>
          </a:p>
        </p:txBody>
      </p:sp>
      <p:grpSp>
        <p:nvGrpSpPr>
          <p:cNvPr id="1264" name="Google Shape;1264;p41"/>
          <p:cNvGrpSpPr/>
          <p:nvPr/>
        </p:nvGrpSpPr>
        <p:grpSpPr>
          <a:xfrm>
            <a:off x="108075" y="1094790"/>
            <a:ext cx="2249692" cy="1918192"/>
            <a:chOff x="108074" y="1007915"/>
            <a:chExt cx="2249692" cy="1918192"/>
          </a:xfrm>
        </p:grpSpPr>
        <p:sp>
          <p:nvSpPr>
            <p:cNvPr id="1265" name="Google Shape;1265;p41"/>
            <p:cNvSpPr/>
            <p:nvPr/>
          </p:nvSpPr>
          <p:spPr>
            <a:xfrm>
              <a:off x="492804" y="1554507"/>
              <a:ext cx="1371600" cy="1371600"/>
            </a:xfrm>
            <a:prstGeom prst="ellipse">
              <a:avLst/>
            </a:prstGeom>
            <a:solidFill>
              <a:schemeClr val="lt1"/>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cxnSp>
          <p:nvCxnSpPr>
            <p:cNvPr id="1266" name="Google Shape;1266;p41"/>
            <p:cNvCxnSpPr>
              <a:stCxn id="1265" idx="0"/>
              <a:endCxn id="1265" idx="4"/>
            </p:cNvCxnSpPr>
            <p:nvPr/>
          </p:nvCxnSpPr>
          <p:spPr>
            <a:xfrm>
              <a:off x="1178604" y="1554507"/>
              <a:ext cx="0" cy="1371600"/>
            </a:xfrm>
            <a:prstGeom prst="straightConnector1">
              <a:avLst/>
            </a:prstGeom>
            <a:noFill/>
            <a:ln cap="flat" cmpd="sng" w="9525">
              <a:solidFill>
                <a:schemeClr val="accent3"/>
              </a:solidFill>
              <a:prstDash val="solid"/>
              <a:miter lim="800000"/>
              <a:headEnd len="sm" w="sm" type="none"/>
              <a:tailEnd len="sm" w="sm" type="none"/>
            </a:ln>
          </p:spPr>
        </p:cxnSp>
        <p:sp>
          <p:nvSpPr>
            <p:cNvPr id="1267" name="Google Shape;1267;p41"/>
            <p:cNvSpPr/>
            <p:nvPr/>
          </p:nvSpPr>
          <p:spPr>
            <a:xfrm flipH="1" rot="10800000">
              <a:off x="108074" y="1857349"/>
              <a:ext cx="685800" cy="914400"/>
            </a:xfrm>
            <a:prstGeom prst="upArrow">
              <a:avLst>
                <a:gd fmla="val 50000" name="adj1"/>
                <a:gd fmla="val 50000" name="adj2"/>
              </a:avLst>
            </a:prstGeom>
            <a:solidFill>
              <a:srgbClr val="FFFF00"/>
            </a:solidFill>
            <a:ln cap="flat" cmpd="sng" w="12700">
              <a:solidFill>
                <a:srgbClr val="BA8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68" name="Google Shape;1268;p41"/>
            <p:cNvSpPr/>
            <p:nvPr/>
          </p:nvSpPr>
          <p:spPr>
            <a:xfrm flipH="1" rot="10800000">
              <a:off x="1621566" y="1857349"/>
              <a:ext cx="685800" cy="914400"/>
            </a:xfrm>
            <a:prstGeom prst="upArrow">
              <a:avLst>
                <a:gd fmla="val 50000" name="adj1"/>
                <a:gd fmla="val 50000" name="adj2"/>
              </a:avLst>
            </a:prstGeom>
            <a:solidFill>
              <a:srgbClr val="FFFF00"/>
            </a:soli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69" name="Google Shape;1269;p41"/>
            <p:cNvSpPr txBox="1"/>
            <p:nvPr/>
          </p:nvSpPr>
          <p:spPr>
            <a:xfrm>
              <a:off x="173985" y="1007915"/>
              <a:ext cx="105337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C00000"/>
                  </a:solidFill>
                  <a:latin typeface="Calibri"/>
                  <a:ea typeface="Calibri"/>
                  <a:cs typeface="Calibri"/>
                  <a:sym typeface="Calibri"/>
                </a:rPr>
                <a:t>GIO w/o requirements</a:t>
              </a:r>
              <a:endParaRPr/>
            </a:p>
            <a:p>
              <a:pPr indent="0" lvl="0" marL="0" marR="0" rtl="0" algn="l">
                <a:spcBef>
                  <a:spcPts val="0"/>
                </a:spcBef>
                <a:spcAft>
                  <a:spcPts val="0"/>
                </a:spcAft>
                <a:buNone/>
              </a:pPr>
              <a:r>
                <a:rPr lang="en-US" sz="1200">
                  <a:solidFill>
                    <a:srgbClr val="C00000"/>
                  </a:solidFill>
                  <a:latin typeface="Calibri"/>
                  <a:ea typeface="Calibri"/>
                  <a:cs typeface="Calibri"/>
                  <a:sym typeface="Calibri"/>
                </a:rPr>
                <a:t>3 working days</a:t>
              </a:r>
              <a:endParaRPr/>
            </a:p>
          </p:txBody>
        </p:sp>
        <p:sp>
          <p:nvSpPr>
            <p:cNvPr id="1270" name="Google Shape;1270;p41"/>
            <p:cNvSpPr txBox="1"/>
            <p:nvPr/>
          </p:nvSpPr>
          <p:spPr>
            <a:xfrm>
              <a:off x="634234" y="2053863"/>
              <a:ext cx="6444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95%</a:t>
              </a:r>
              <a:endParaRPr b="1" sz="1800">
                <a:solidFill>
                  <a:srgbClr val="002060"/>
                </a:solidFill>
                <a:latin typeface="Calibri"/>
                <a:ea typeface="Calibri"/>
                <a:cs typeface="Calibri"/>
                <a:sym typeface="Calibri"/>
              </a:endParaRPr>
            </a:p>
          </p:txBody>
        </p:sp>
        <p:sp>
          <p:nvSpPr>
            <p:cNvPr id="1271" name="Google Shape;1271;p41"/>
            <p:cNvSpPr txBox="1"/>
            <p:nvPr/>
          </p:nvSpPr>
          <p:spPr>
            <a:xfrm>
              <a:off x="1161453" y="2058239"/>
              <a:ext cx="6444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95%</a:t>
              </a:r>
              <a:endParaRPr b="1" sz="1800">
                <a:solidFill>
                  <a:srgbClr val="002060"/>
                </a:solidFill>
                <a:latin typeface="Calibri"/>
                <a:ea typeface="Calibri"/>
                <a:cs typeface="Calibri"/>
                <a:sym typeface="Calibri"/>
              </a:endParaRPr>
            </a:p>
          </p:txBody>
        </p:sp>
        <p:sp>
          <p:nvSpPr>
            <p:cNvPr id="1272" name="Google Shape;1272;p41"/>
            <p:cNvSpPr txBox="1"/>
            <p:nvPr/>
          </p:nvSpPr>
          <p:spPr>
            <a:xfrm>
              <a:off x="173985" y="2328494"/>
              <a:ext cx="6444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82%</a:t>
              </a:r>
              <a:endParaRPr b="1" sz="1800">
                <a:solidFill>
                  <a:schemeClr val="dk1"/>
                </a:solidFill>
                <a:latin typeface="Calibri"/>
                <a:ea typeface="Calibri"/>
                <a:cs typeface="Calibri"/>
                <a:sym typeface="Calibri"/>
              </a:endParaRPr>
            </a:p>
          </p:txBody>
        </p:sp>
        <p:sp>
          <p:nvSpPr>
            <p:cNvPr id="1273" name="Google Shape;1273;p41"/>
            <p:cNvSpPr txBox="1"/>
            <p:nvPr/>
          </p:nvSpPr>
          <p:spPr>
            <a:xfrm>
              <a:off x="1713334" y="2330820"/>
              <a:ext cx="6444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94%</a:t>
              </a:r>
              <a:endParaRPr b="1" sz="1800">
                <a:solidFill>
                  <a:schemeClr val="dk1"/>
                </a:solidFill>
                <a:latin typeface="Calibri"/>
                <a:ea typeface="Calibri"/>
                <a:cs typeface="Calibri"/>
                <a:sym typeface="Calibri"/>
              </a:endParaRPr>
            </a:p>
          </p:txBody>
        </p:sp>
        <p:sp>
          <p:nvSpPr>
            <p:cNvPr id="1274" name="Google Shape;1274;p41"/>
            <p:cNvSpPr/>
            <p:nvPr/>
          </p:nvSpPr>
          <p:spPr>
            <a:xfrm>
              <a:off x="1200643" y="1038200"/>
              <a:ext cx="1025381" cy="83099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200">
                  <a:solidFill>
                    <a:schemeClr val="dk1"/>
                  </a:solidFill>
                  <a:latin typeface="Calibri"/>
                  <a:ea typeface="Calibri"/>
                  <a:cs typeface="Calibri"/>
                  <a:sym typeface="Calibri"/>
                </a:rPr>
                <a:t>GIO w/ requirements </a:t>
              </a:r>
              <a:endParaRPr/>
            </a:p>
            <a:p>
              <a:pPr indent="0" lvl="0" marL="0" marR="0" rtl="0" algn="r">
                <a:spcBef>
                  <a:spcPts val="0"/>
                </a:spcBef>
                <a:spcAft>
                  <a:spcPts val="0"/>
                </a:spcAft>
                <a:buNone/>
              </a:pPr>
              <a:r>
                <a:rPr lang="en-US" sz="1200">
                  <a:solidFill>
                    <a:schemeClr val="dk1"/>
                  </a:solidFill>
                  <a:latin typeface="Calibri"/>
                  <a:ea typeface="Calibri"/>
                  <a:cs typeface="Calibri"/>
                  <a:sym typeface="Calibri"/>
                </a:rPr>
                <a:t>14 working days</a:t>
              </a:r>
              <a:endParaRPr/>
            </a:p>
          </p:txBody>
        </p:sp>
      </p:grpSp>
      <p:grpSp>
        <p:nvGrpSpPr>
          <p:cNvPr id="1275" name="Google Shape;1275;p41"/>
          <p:cNvGrpSpPr/>
          <p:nvPr/>
        </p:nvGrpSpPr>
        <p:grpSpPr>
          <a:xfrm>
            <a:off x="2591990" y="1125075"/>
            <a:ext cx="2247579" cy="1918192"/>
            <a:chOff x="110187" y="1007915"/>
            <a:chExt cx="2247579" cy="1918192"/>
          </a:xfrm>
        </p:grpSpPr>
        <p:sp>
          <p:nvSpPr>
            <p:cNvPr id="1276" name="Google Shape;1276;p41"/>
            <p:cNvSpPr/>
            <p:nvPr/>
          </p:nvSpPr>
          <p:spPr>
            <a:xfrm>
              <a:off x="492804" y="1554507"/>
              <a:ext cx="1371600" cy="1371600"/>
            </a:xfrm>
            <a:prstGeom prst="ellipse">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cxnSp>
          <p:nvCxnSpPr>
            <p:cNvPr id="1277" name="Google Shape;1277;p41"/>
            <p:cNvCxnSpPr>
              <a:stCxn id="1276" idx="0"/>
              <a:endCxn id="1276" idx="4"/>
            </p:cNvCxnSpPr>
            <p:nvPr/>
          </p:nvCxnSpPr>
          <p:spPr>
            <a:xfrm>
              <a:off x="1178604" y="1554507"/>
              <a:ext cx="0" cy="1371600"/>
            </a:xfrm>
            <a:prstGeom prst="straightConnector1">
              <a:avLst/>
            </a:prstGeom>
            <a:noFill/>
            <a:ln cap="flat" cmpd="sng" w="9525">
              <a:solidFill>
                <a:schemeClr val="accent2"/>
              </a:solidFill>
              <a:prstDash val="solid"/>
              <a:miter lim="800000"/>
              <a:headEnd len="sm" w="sm" type="none"/>
              <a:tailEnd len="sm" w="sm" type="none"/>
            </a:ln>
          </p:spPr>
        </p:cxnSp>
        <p:sp>
          <p:nvSpPr>
            <p:cNvPr id="1278" name="Google Shape;1278;p41"/>
            <p:cNvSpPr/>
            <p:nvPr/>
          </p:nvSpPr>
          <p:spPr>
            <a:xfrm>
              <a:off x="110187" y="1785752"/>
              <a:ext cx="685800" cy="914400"/>
            </a:xfrm>
            <a:prstGeom prst="upArrow">
              <a:avLst>
                <a:gd fmla="val 50000" name="adj1"/>
                <a:gd fmla="val 50000" name="adj2"/>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79" name="Google Shape;1279;p41"/>
            <p:cNvSpPr/>
            <p:nvPr/>
          </p:nvSpPr>
          <p:spPr>
            <a:xfrm flipH="1" rot="10800000">
              <a:off x="1621566" y="1857349"/>
              <a:ext cx="685800" cy="914400"/>
            </a:xfrm>
            <a:prstGeom prst="upArrow">
              <a:avLst>
                <a:gd fmla="val 50000" name="adj1"/>
                <a:gd fmla="val 50000" name="adj2"/>
              </a:avLst>
            </a:prstGeom>
            <a:solidFill>
              <a:srgbClr val="FFFF00"/>
            </a:soli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80" name="Google Shape;1280;p41"/>
            <p:cNvSpPr txBox="1"/>
            <p:nvPr/>
          </p:nvSpPr>
          <p:spPr>
            <a:xfrm>
              <a:off x="173985" y="1007915"/>
              <a:ext cx="105337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C00000"/>
                  </a:solidFill>
                  <a:latin typeface="Calibri"/>
                  <a:ea typeface="Calibri"/>
                  <a:cs typeface="Calibri"/>
                  <a:sym typeface="Calibri"/>
                </a:rPr>
                <a:t>SIO w/o requirements</a:t>
              </a:r>
              <a:endParaRPr/>
            </a:p>
            <a:p>
              <a:pPr indent="0" lvl="0" marL="0" marR="0" rtl="0" algn="l">
                <a:spcBef>
                  <a:spcPts val="0"/>
                </a:spcBef>
                <a:spcAft>
                  <a:spcPts val="0"/>
                </a:spcAft>
                <a:buNone/>
              </a:pPr>
              <a:r>
                <a:rPr lang="en-US" sz="1200">
                  <a:solidFill>
                    <a:srgbClr val="C00000"/>
                  </a:solidFill>
                  <a:latin typeface="Calibri"/>
                  <a:ea typeface="Calibri"/>
                  <a:cs typeface="Calibri"/>
                  <a:sym typeface="Calibri"/>
                </a:rPr>
                <a:t>3 working days</a:t>
              </a:r>
              <a:endParaRPr/>
            </a:p>
          </p:txBody>
        </p:sp>
        <p:sp>
          <p:nvSpPr>
            <p:cNvPr id="1281" name="Google Shape;1281;p41"/>
            <p:cNvSpPr txBox="1"/>
            <p:nvPr/>
          </p:nvSpPr>
          <p:spPr>
            <a:xfrm>
              <a:off x="634234" y="2053863"/>
              <a:ext cx="6444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95%</a:t>
              </a:r>
              <a:endParaRPr b="1" sz="1800">
                <a:solidFill>
                  <a:srgbClr val="002060"/>
                </a:solidFill>
                <a:latin typeface="Calibri"/>
                <a:ea typeface="Calibri"/>
                <a:cs typeface="Calibri"/>
                <a:sym typeface="Calibri"/>
              </a:endParaRPr>
            </a:p>
          </p:txBody>
        </p:sp>
        <p:sp>
          <p:nvSpPr>
            <p:cNvPr id="1282" name="Google Shape;1282;p41"/>
            <p:cNvSpPr txBox="1"/>
            <p:nvPr/>
          </p:nvSpPr>
          <p:spPr>
            <a:xfrm>
              <a:off x="1161453" y="2058239"/>
              <a:ext cx="6444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95%</a:t>
              </a:r>
              <a:endParaRPr b="1" sz="1800">
                <a:solidFill>
                  <a:srgbClr val="002060"/>
                </a:solidFill>
                <a:latin typeface="Calibri"/>
                <a:ea typeface="Calibri"/>
                <a:cs typeface="Calibri"/>
                <a:sym typeface="Calibri"/>
              </a:endParaRPr>
            </a:p>
          </p:txBody>
        </p:sp>
        <p:sp>
          <p:nvSpPr>
            <p:cNvPr id="1283" name="Google Shape;1283;p41"/>
            <p:cNvSpPr txBox="1"/>
            <p:nvPr/>
          </p:nvSpPr>
          <p:spPr>
            <a:xfrm>
              <a:off x="202089" y="1902316"/>
              <a:ext cx="6444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97%</a:t>
              </a:r>
              <a:endParaRPr b="1" sz="1800">
                <a:solidFill>
                  <a:schemeClr val="dk1"/>
                </a:solidFill>
                <a:latin typeface="Calibri"/>
                <a:ea typeface="Calibri"/>
                <a:cs typeface="Calibri"/>
                <a:sym typeface="Calibri"/>
              </a:endParaRPr>
            </a:p>
          </p:txBody>
        </p:sp>
        <p:sp>
          <p:nvSpPr>
            <p:cNvPr id="1284" name="Google Shape;1284;p41"/>
            <p:cNvSpPr txBox="1"/>
            <p:nvPr/>
          </p:nvSpPr>
          <p:spPr>
            <a:xfrm>
              <a:off x="1713334" y="2330820"/>
              <a:ext cx="6444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89%</a:t>
              </a:r>
              <a:endParaRPr b="1" sz="1800">
                <a:solidFill>
                  <a:schemeClr val="dk1"/>
                </a:solidFill>
                <a:latin typeface="Calibri"/>
                <a:ea typeface="Calibri"/>
                <a:cs typeface="Calibri"/>
                <a:sym typeface="Calibri"/>
              </a:endParaRPr>
            </a:p>
          </p:txBody>
        </p:sp>
        <p:sp>
          <p:nvSpPr>
            <p:cNvPr id="1285" name="Google Shape;1285;p41"/>
            <p:cNvSpPr/>
            <p:nvPr/>
          </p:nvSpPr>
          <p:spPr>
            <a:xfrm>
              <a:off x="1200643" y="1038200"/>
              <a:ext cx="1025381" cy="83099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200">
                  <a:solidFill>
                    <a:schemeClr val="dk1"/>
                  </a:solidFill>
                  <a:latin typeface="Calibri"/>
                  <a:ea typeface="Calibri"/>
                  <a:cs typeface="Calibri"/>
                  <a:sym typeface="Calibri"/>
                </a:rPr>
                <a:t>SIO w/ requirements </a:t>
              </a:r>
              <a:endParaRPr/>
            </a:p>
            <a:p>
              <a:pPr indent="0" lvl="0" marL="0" marR="0" rtl="0" algn="r">
                <a:spcBef>
                  <a:spcPts val="0"/>
                </a:spcBef>
                <a:spcAft>
                  <a:spcPts val="0"/>
                </a:spcAft>
                <a:buNone/>
              </a:pPr>
              <a:r>
                <a:rPr lang="en-US" sz="1200">
                  <a:solidFill>
                    <a:schemeClr val="dk1"/>
                  </a:solidFill>
                  <a:latin typeface="Calibri"/>
                  <a:ea typeface="Calibri"/>
                  <a:cs typeface="Calibri"/>
                  <a:sym typeface="Calibri"/>
                </a:rPr>
                <a:t>14 working days</a:t>
              </a:r>
              <a:endParaRPr/>
            </a:p>
          </p:txBody>
        </p:sp>
      </p:grpSp>
      <p:grpSp>
        <p:nvGrpSpPr>
          <p:cNvPr id="1286" name="Google Shape;1286;p41"/>
          <p:cNvGrpSpPr/>
          <p:nvPr/>
        </p:nvGrpSpPr>
        <p:grpSpPr>
          <a:xfrm>
            <a:off x="5099831" y="1094790"/>
            <a:ext cx="2237881" cy="1918192"/>
            <a:chOff x="119884" y="1007915"/>
            <a:chExt cx="2237881" cy="1918192"/>
          </a:xfrm>
        </p:grpSpPr>
        <p:sp>
          <p:nvSpPr>
            <p:cNvPr id="1287" name="Google Shape;1287;p41"/>
            <p:cNvSpPr/>
            <p:nvPr/>
          </p:nvSpPr>
          <p:spPr>
            <a:xfrm>
              <a:off x="492804" y="1554507"/>
              <a:ext cx="1371600" cy="1371600"/>
            </a:xfrm>
            <a:prstGeom prst="ellipse">
              <a:avLst/>
            </a:prstGeom>
            <a:solidFill>
              <a:schemeClr val="lt1"/>
            </a:solid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cxnSp>
          <p:nvCxnSpPr>
            <p:cNvPr id="1288" name="Google Shape;1288;p41"/>
            <p:cNvCxnSpPr>
              <a:stCxn id="1287" idx="0"/>
              <a:endCxn id="1287" idx="4"/>
            </p:cNvCxnSpPr>
            <p:nvPr/>
          </p:nvCxnSpPr>
          <p:spPr>
            <a:xfrm>
              <a:off x="1178604" y="1554507"/>
              <a:ext cx="0" cy="1371600"/>
            </a:xfrm>
            <a:prstGeom prst="straightConnector1">
              <a:avLst/>
            </a:prstGeom>
            <a:noFill/>
            <a:ln cap="flat" cmpd="sng" w="9525">
              <a:solidFill>
                <a:schemeClr val="accent5"/>
              </a:solidFill>
              <a:prstDash val="solid"/>
              <a:miter lim="800000"/>
              <a:headEnd len="sm" w="sm" type="none"/>
              <a:tailEnd len="sm" w="sm" type="none"/>
            </a:ln>
          </p:spPr>
        </p:cxnSp>
        <p:sp>
          <p:nvSpPr>
            <p:cNvPr id="1289" name="Google Shape;1289;p41"/>
            <p:cNvSpPr/>
            <p:nvPr/>
          </p:nvSpPr>
          <p:spPr>
            <a:xfrm flipH="1" rot="10800000">
              <a:off x="119884" y="1827064"/>
              <a:ext cx="685800" cy="914400"/>
            </a:xfrm>
            <a:prstGeom prst="upArrow">
              <a:avLst>
                <a:gd fmla="val 50000" name="adj1"/>
                <a:gd fmla="val 50000" name="adj2"/>
              </a:avLst>
            </a:prstGeom>
            <a:solidFill>
              <a:srgbClr val="FFFF00"/>
            </a:soli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90" name="Google Shape;1290;p41"/>
            <p:cNvSpPr/>
            <p:nvPr/>
          </p:nvSpPr>
          <p:spPr>
            <a:xfrm>
              <a:off x="1621566" y="1827064"/>
              <a:ext cx="685800" cy="914400"/>
            </a:xfrm>
            <a:prstGeom prst="upArrow">
              <a:avLst>
                <a:gd fmla="val 50000" name="adj1"/>
                <a:gd fmla="val 50000" name="adj2"/>
              </a:avLst>
            </a:prstGeom>
            <a:gradFill>
              <a:gsLst>
                <a:gs pos="0">
                  <a:srgbClr val="7FB75F"/>
                </a:gs>
                <a:gs pos="50000">
                  <a:srgbClr val="6EB141"/>
                </a:gs>
                <a:gs pos="100000">
                  <a:srgbClr val="5FA134"/>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91" name="Google Shape;1291;p41"/>
            <p:cNvSpPr txBox="1"/>
            <p:nvPr/>
          </p:nvSpPr>
          <p:spPr>
            <a:xfrm>
              <a:off x="173985" y="1007915"/>
              <a:ext cx="105337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C00000"/>
                  </a:solidFill>
                  <a:latin typeface="Calibri"/>
                  <a:ea typeface="Calibri"/>
                  <a:cs typeface="Calibri"/>
                  <a:sym typeface="Calibri"/>
                </a:rPr>
                <a:t>NM w/o requirements</a:t>
              </a:r>
              <a:endParaRPr/>
            </a:p>
            <a:p>
              <a:pPr indent="0" lvl="0" marL="0" marR="0" rtl="0" algn="l">
                <a:spcBef>
                  <a:spcPts val="0"/>
                </a:spcBef>
                <a:spcAft>
                  <a:spcPts val="0"/>
                </a:spcAft>
                <a:buNone/>
              </a:pPr>
              <a:r>
                <a:rPr lang="en-US" sz="1200">
                  <a:solidFill>
                    <a:srgbClr val="C00000"/>
                  </a:solidFill>
                  <a:latin typeface="Calibri"/>
                  <a:ea typeface="Calibri"/>
                  <a:cs typeface="Calibri"/>
                  <a:sym typeface="Calibri"/>
                </a:rPr>
                <a:t>4 working days</a:t>
              </a:r>
              <a:endParaRPr/>
            </a:p>
          </p:txBody>
        </p:sp>
        <p:sp>
          <p:nvSpPr>
            <p:cNvPr id="1292" name="Google Shape;1292;p41"/>
            <p:cNvSpPr txBox="1"/>
            <p:nvPr/>
          </p:nvSpPr>
          <p:spPr>
            <a:xfrm>
              <a:off x="634234" y="2053863"/>
              <a:ext cx="6444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90%</a:t>
              </a:r>
              <a:endParaRPr b="1" sz="1800">
                <a:solidFill>
                  <a:srgbClr val="002060"/>
                </a:solidFill>
                <a:latin typeface="Calibri"/>
                <a:ea typeface="Calibri"/>
                <a:cs typeface="Calibri"/>
                <a:sym typeface="Calibri"/>
              </a:endParaRPr>
            </a:p>
          </p:txBody>
        </p:sp>
        <p:sp>
          <p:nvSpPr>
            <p:cNvPr id="1293" name="Google Shape;1293;p41"/>
            <p:cNvSpPr txBox="1"/>
            <p:nvPr/>
          </p:nvSpPr>
          <p:spPr>
            <a:xfrm>
              <a:off x="1161453" y="2058239"/>
              <a:ext cx="6444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90%</a:t>
              </a:r>
              <a:endParaRPr b="1" sz="1800">
                <a:solidFill>
                  <a:srgbClr val="002060"/>
                </a:solidFill>
                <a:latin typeface="Calibri"/>
                <a:ea typeface="Calibri"/>
                <a:cs typeface="Calibri"/>
                <a:sym typeface="Calibri"/>
              </a:endParaRPr>
            </a:p>
          </p:txBody>
        </p:sp>
        <p:sp>
          <p:nvSpPr>
            <p:cNvPr id="1294" name="Google Shape;1294;p41"/>
            <p:cNvSpPr txBox="1"/>
            <p:nvPr/>
          </p:nvSpPr>
          <p:spPr>
            <a:xfrm>
              <a:off x="172012" y="2308152"/>
              <a:ext cx="6444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80%</a:t>
              </a:r>
              <a:endParaRPr b="1" sz="1800">
                <a:solidFill>
                  <a:schemeClr val="dk1"/>
                </a:solidFill>
                <a:latin typeface="Calibri"/>
                <a:ea typeface="Calibri"/>
                <a:cs typeface="Calibri"/>
                <a:sym typeface="Calibri"/>
              </a:endParaRPr>
            </a:p>
          </p:txBody>
        </p:sp>
        <p:sp>
          <p:nvSpPr>
            <p:cNvPr id="1295" name="Google Shape;1295;p41"/>
            <p:cNvSpPr txBox="1"/>
            <p:nvPr/>
          </p:nvSpPr>
          <p:spPr>
            <a:xfrm>
              <a:off x="1713333" y="1882301"/>
              <a:ext cx="6444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91%</a:t>
              </a:r>
              <a:endParaRPr b="1" sz="1800">
                <a:solidFill>
                  <a:schemeClr val="dk1"/>
                </a:solidFill>
                <a:latin typeface="Calibri"/>
                <a:ea typeface="Calibri"/>
                <a:cs typeface="Calibri"/>
                <a:sym typeface="Calibri"/>
              </a:endParaRPr>
            </a:p>
          </p:txBody>
        </p:sp>
        <p:sp>
          <p:nvSpPr>
            <p:cNvPr id="1296" name="Google Shape;1296;p41"/>
            <p:cNvSpPr/>
            <p:nvPr/>
          </p:nvSpPr>
          <p:spPr>
            <a:xfrm>
              <a:off x="1200643" y="1038200"/>
              <a:ext cx="1025381" cy="83099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200">
                  <a:solidFill>
                    <a:schemeClr val="dk1"/>
                  </a:solidFill>
                  <a:latin typeface="Calibri"/>
                  <a:ea typeface="Calibri"/>
                  <a:cs typeface="Calibri"/>
                  <a:sym typeface="Calibri"/>
                </a:rPr>
                <a:t>NM w/ requirements </a:t>
              </a:r>
              <a:endParaRPr/>
            </a:p>
            <a:p>
              <a:pPr indent="0" lvl="0" marL="0" marR="0" rtl="0" algn="r">
                <a:spcBef>
                  <a:spcPts val="0"/>
                </a:spcBef>
                <a:spcAft>
                  <a:spcPts val="0"/>
                </a:spcAft>
                <a:buNone/>
              </a:pPr>
              <a:r>
                <a:rPr lang="en-US" sz="1200">
                  <a:solidFill>
                    <a:schemeClr val="dk1"/>
                  </a:solidFill>
                  <a:latin typeface="Calibri"/>
                  <a:ea typeface="Calibri"/>
                  <a:cs typeface="Calibri"/>
                  <a:sym typeface="Calibri"/>
                </a:rPr>
                <a:t>14 working days</a:t>
              </a:r>
              <a:endParaRPr/>
            </a:p>
          </p:txBody>
        </p:sp>
      </p:grpSp>
      <p:grpSp>
        <p:nvGrpSpPr>
          <p:cNvPr id="1297" name="Google Shape;1297;p41"/>
          <p:cNvGrpSpPr/>
          <p:nvPr/>
        </p:nvGrpSpPr>
        <p:grpSpPr>
          <a:xfrm>
            <a:off x="7589389" y="1125075"/>
            <a:ext cx="2237881" cy="1918192"/>
            <a:chOff x="119884" y="1007915"/>
            <a:chExt cx="2237881" cy="1918192"/>
          </a:xfrm>
        </p:grpSpPr>
        <p:sp>
          <p:nvSpPr>
            <p:cNvPr id="1298" name="Google Shape;1298;p41"/>
            <p:cNvSpPr/>
            <p:nvPr/>
          </p:nvSpPr>
          <p:spPr>
            <a:xfrm>
              <a:off x="492804" y="1554507"/>
              <a:ext cx="1371600" cy="1371600"/>
            </a:xfrm>
            <a:prstGeom prst="ellipse">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cxnSp>
          <p:nvCxnSpPr>
            <p:cNvPr id="1299" name="Google Shape;1299;p41"/>
            <p:cNvCxnSpPr>
              <a:stCxn id="1298" idx="0"/>
              <a:endCxn id="1298" idx="4"/>
            </p:cNvCxnSpPr>
            <p:nvPr/>
          </p:nvCxnSpPr>
          <p:spPr>
            <a:xfrm>
              <a:off x="1178604" y="1554507"/>
              <a:ext cx="0" cy="1371600"/>
            </a:xfrm>
            <a:prstGeom prst="straightConnector1">
              <a:avLst/>
            </a:prstGeom>
            <a:noFill/>
            <a:ln cap="flat" cmpd="sng" w="9525">
              <a:solidFill>
                <a:schemeClr val="accent6"/>
              </a:solidFill>
              <a:prstDash val="solid"/>
              <a:miter lim="800000"/>
              <a:headEnd len="sm" w="sm" type="none"/>
              <a:tailEnd len="sm" w="sm" type="none"/>
            </a:ln>
          </p:spPr>
        </p:cxnSp>
        <p:sp>
          <p:nvSpPr>
            <p:cNvPr id="1300" name="Google Shape;1300;p41"/>
            <p:cNvSpPr/>
            <p:nvPr/>
          </p:nvSpPr>
          <p:spPr>
            <a:xfrm>
              <a:off x="119884" y="1827064"/>
              <a:ext cx="685800" cy="914400"/>
            </a:xfrm>
            <a:prstGeom prst="upArrow">
              <a:avLst>
                <a:gd fmla="val 50000" name="adj1"/>
                <a:gd fmla="val 50000" name="adj2"/>
              </a:avLst>
            </a:prstGeom>
            <a:gradFill>
              <a:gsLst>
                <a:gs pos="0">
                  <a:srgbClr val="7FB75F"/>
                </a:gs>
                <a:gs pos="50000">
                  <a:srgbClr val="6EB141"/>
                </a:gs>
                <a:gs pos="100000">
                  <a:srgbClr val="5FA134"/>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01" name="Google Shape;1301;p41"/>
            <p:cNvSpPr/>
            <p:nvPr/>
          </p:nvSpPr>
          <p:spPr>
            <a:xfrm>
              <a:off x="1621566" y="1827064"/>
              <a:ext cx="685800" cy="914400"/>
            </a:xfrm>
            <a:prstGeom prst="upArrow">
              <a:avLst>
                <a:gd fmla="val 50000" name="adj1"/>
                <a:gd fmla="val 50000" name="adj2"/>
              </a:avLst>
            </a:prstGeom>
            <a:gradFill>
              <a:gsLst>
                <a:gs pos="0">
                  <a:srgbClr val="7FB75F"/>
                </a:gs>
                <a:gs pos="50000">
                  <a:srgbClr val="6EB141"/>
                </a:gs>
                <a:gs pos="100000">
                  <a:srgbClr val="5FA134"/>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2" name="Google Shape;1302;p41"/>
            <p:cNvSpPr txBox="1"/>
            <p:nvPr/>
          </p:nvSpPr>
          <p:spPr>
            <a:xfrm>
              <a:off x="173985" y="1007915"/>
              <a:ext cx="105337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C00000"/>
                  </a:solidFill>
                  <a:latin typeface="Calibri"/>
                  <a:ea typeface="Calibri"/>
                  <a:cs typeface="Calibri"/>
                  <a:sym typeface="Calibri"/>
                </a:rPr>
                <a:t>Med w/o requirements</a:t>
              </a:r>
              <a:endParaRPr/>
            </a:p>
            <a:p>
              <a:pPr indent="0" lvl="0" marL="0" marR="0" rtl="0" algn="l">
                <a:spcBef>
                  <a:spcPts val="0"/>
                </a:spcBef>
                <a:spcAft>
                  <a:spcPts val="0"/>
                </a:spcAft>
                <a:buNone/>
              </a:pPr>
              <a:r>
                <a:rPr lang="en-US" sz="1200">
                  <a:solidFill>
                    <a:srgbClr val="C00000"/>
                  </a:solidFill>
                  <a:latin typeface="Calibri"/>
                  <a:ea typeface="Calibri"/>
                  <a:cs typeface="Calibri"/>
                  <a:sym typeface="Calibri"/>
                </a:rPr>
                <a:t>7 working days</a:t>
              </a:r>
              <a:endParaRPr/>
            </a:p>
          </p:txBody>
        </p:sp>
        <p:sp>
          <p:nvSpPr>
            <p:cNvPr id="1303" name="Google Shape;1303;p41"/>
            <p:cNvSpPr txBox="1"/>
            <p:nvPr/>
          </p:nvSpPr>
          <p:spPr>
            <a:xfrm>
              <a:off x="634234" y="2053863"/>
              <a:ext cx="6444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90%</a:t>
              </a:r>
              <a:endParaRPr b="1" sz="1800">
                <a:solidFill>
                  <a:srgbClr val="002060"/>
                </a:solidFill>
                <a:latin typeface="Calibri"/>
                <a:ea typeface="Calibri"/>
                <a:cs typeface="Calibri"/>
                <a:sym typeface="Calibri"/>
              </a:endParaRPr>
            </a:p>
          </p:txBody>
        </p:sp>
        <p:sp>
          <p:nvSpPr>
            <p:cNvPr id="1304" name="Google Shape;1304;p41"/>
            <p:cNvSpPr txBox="1"/>
            <p:nvPr/>
          </p:nvSpPr>
          <p:spPr>
            <a:xfrm>
              <a:off x="1161453" y="2058239"/>
              <a:ext cx="6444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80%</a:t>
              </a:r>
              <a:endParaRPr b="1" sz="1800">
                <a:solidFill>
                  <a:srgbClr val="002060"/>
                </a:solidFill>
                <a:latin typeface="Calibri"/>
                <a:ea typeface="Calibri"/>
                <a:cs typeface="Calibri"/>
                <a:sym typeface="Calibri"/>
              </a:endParaRPr>
            </a:p>
          </p:txBody>
        </p:sp>
        <p:sp>
          <p:nvSpPr>
            <p:cNvPr id="1305" name="Google Shape;1305;p41"/>
            <p:cNvSpPr txBox="1"/>
            <p:nvPr/>
          </p:nvSpPr>
          <p:spPr>
            <a:xfrm>
              <a:off x="190728" y="1901414"/>
              <a:ext cx="6444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97%</a:t>
              </a:r>
              <a:endParaRPr b="1" sz="1800">
                <a:solidFill>
                  <a:schemeClr val="dk1"/>
                </a:solidFill>
                <a:latin typeface="Calibri"/>
                <a:ea typeface="Calibri"/>
                <a:cs typeface="Calibri"/>
                <a:sym typeface="Calibri"/>
              </a:endParaRPr>
            </a:p>
          </p:txBody>
        </p:sp>
        <p:sp>
          <p:nvSpPr>
            <p:cNvPr id="1306" name="Google Shape;1306;p41"/>
            <p:cNvSpPr txBox="1"/>
            <p:nvPr/>
          </p:nvSpPr>
          <p:spPr>
            <a:xfrm>
              <a:off x="1713333" y="1872435"/>
              <a:ext cx="6444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86%</a:t>
              </a:r>
              <a:endParaRPr b="1" sz="1800">
                <a:solidFill>
                  <a:schemeClr val="dk1"/>
                </a:solidFill>
                <a:latin typeface="Calibri"/>
                <a:ea typeface="Calibri"/>
                <a:cs typeface="Calibri"/>
                <a:sym typeface="Calibri"/>
              </a:endParaRPr>
            </a:p>
          </p:txBody>
        </p:sp>
        <p:sp>
          <p:nvSpPr>
            <p:cNvPr id="1307" name="Google Shape;1307;p41"/>
            <p:cNvSpPr/>
            <p:nvPr/>
          </p:nvSpPr>
          <p:spPr>
            <a:xfrm>
              <a:off x="1200643" y="1038200"/>
              <a:ext cx="1025381" cy="83099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200">
                  <a:solidFill>
                    <a:schemeClr val="dk1"/>
                  </a:solidFill>
                  <a:latin typeface="Calibri"/>
                  <a:ea typeface="Calibri"/>
                  <a:cs typeface="Calibri"/>
                  <a:sym typeface="Calibri"/>
                </a:rPr>
                <a:t>Med w/ requirements </a:t>
              </a:r>
              <a:endParaRPr/>
            </a:p>
            <a:p>
              <a:pPr indent="0" lvl="0" marL="0" marR="0" rtl="0" algn="r">
                <a:spcBef>
                  <a:spcPts val="0"/>
                </a:spcBef>
                <a:spcAft>
                  <a:spcPts val="0"/>
                </a:spcAft>
                <a:buNone/>
              </a:pPr>
              <a:r>
                <a:rPr lang="en-US" sz="1200">
                  <a:solidFill>
                    <a:schemeClr val="dk1"/>
                  </a:solidFill>
                  <a:latin typeface="Calibri"/>
                  <a:ea typeface="Calibri"/>
                  <a:cs typeface="Calibri"/>
                  <a:sym typeface="Calibri"/>
                </a:rPr>
                <a:t>20 working days</a:t>
              </a:r>
              <a:endParaRPr/>
            </a:p>
          </p:txBody>
        </p:sp>
      </p:grpSp>
      <p:grpSp>
        <p:nvGrpSpPr>
          <p:cNvPr id="1308" name="Google Shape;1308;p41"/>
          <p:cNvGrpSpPr/>
          <p:nvPr/>
        </p:nvGrpSpPr>
        <p:grpSpPr>
          <a:xfrm>
            <a:off x="10190339" y="1205395"/>
            <a:ext cx="1908201" cy="1887907"/>
            <a:chOff x="358495" y="1038200"/>
            <a:chExt cx="1908201" cy="1887907"/>
          </a:xfrm>
        </p:grpSpPr>
        <p:sp>
          <p:nvSpPr>
            <p:cNvPr id="1309" name="Google Shape;1309;p41"/>
            <p:cNvSpPr/>
            <p:nvPr/>
          </p:nvSpPr>
          <p:spPr>
            <a:xfrm>
              <a:off x="492804" y="1554507"/>
              <a:ext cx="1371600" cy="1371600"/>
            </a:xfrm>
            <a:prstGeom prst="ellipse">
              <a:avLst/>
            </a:prstGeom>
            <a:solidFill>
              <a:schemeClr val="lt1"/>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2060"/>
                </a:solidFill>
                <a:latin typeface="Calibri"/>
                <a:ea typeface="Calibri"/>
                <a:cs typeface="Calibri"/>
                <a:sym typeface="Calibri"/>
              </a:endParaRPr>
            </a:p>
          </p:txBody>
        </p:sp>
        <p:sp>
          <p:nvSpPr>
            <p:cNvPr id="1310" name="Google Shape;1310;p41"/>
            <p:cNvSpPr/>
            <p:nvPr/>
          </p:nvSpPr>
          <p:spPr>
            <a:xfrm>
              <a:off x="1521504" y="1720759"/>
              <a:ext cx="685800" cy="914400"/>
            </a:xfrm>
            <a:prstGeom prst="upArrow">
              <a:avLst>
                <a:gd fmla="val 50000" name="adj1"/>
                <a:gd fmla="val 50000" name="adj2"/>
              </a:avLst>
            </a:prstGeom>
            <a:gradFill>
              <a:gsLst>
                <a:gs pos="0">
                  <a:srgbClr val="7FB75F"/>
                </a:gs>
                <a:gs pos="50000">
                  <a:srgbClr val="6EB141"/>
                </a:gs>
                <a:gs pos="100000">
                  <a:srgbClr val="5FA134"/>
                </a:gs>
              </a:gsLst>
              <a:lin ang="5400000" scaled="0"/>
            </a:gradFill>
            <a:ln>
              <a:noFill/>
            </a:ln>
            <a:effectLst>
              <a:outerShdw blurRad="57150" rotWithShape="0" algn="ctr"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1" name="Google Shape;1311;p41"/>
            <p:cNvSpPr txBox="1"/>
            <p:nvPr/>
          </p:nvSpPr>
          <p:spPr>
            <a:xfrm>
              <a:off x="931251" y="2073081"/>
              <a:ext cx="6444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2060"/>
                  </a:solidFill>
                  <a:latin typeface="Calibri"/>
                  <a:ea typeface="Calibri"/>
                  <a:cs typeface="Calibri"/>
                  <a:sym typeface="Calibri"/>
                </a:rPr>
                <a:t>85%</a:t>
              </a:r>
              <a:endParaRPr b="1" sz="1800">
                <a:solidFill>
                  <a:srgbClr val="002060"/>
                </a:solidFill>
                <a:latin typeface="Calibri"/>
                <a:ea typeface="Calibri"/>
                <a:cs typeface="Calibri"/>
                <a:sym typeface="Calibri"/>
              </a:endParaRPr>
            </a:p>
          </p:txBody>
        </p:sp>
        <p:sp>
          <p:nvSpPr>
            <p:cNvPr id="1312" name="Google Shape;1312;p41"/>
            <p:cNvSpPr txBox="1"/>
            <p:nvPr/>
          </p:nvSpPr>
          <p:spPr>
            <a:xfrm>
              <a:off x="1622264" y="1884647"/>
              <a:ext cx="64443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95%</a:t>
              </a:r>
              <a:endParaRPr b="1" sz="1800">
                <a:solidFill>
                  <a:schemeClr val="dk1"/>
                </a:solidFill>
                <a:latin typeface="Calibri"/>
                <a:ea typeface="Calibri"/>
                <a:cs typeface="Calibri"/>
                <a:sym typeface="Calibri"/>
              </a:endParaRPr>
            </a:p>
          </p:txBody>
        </p:sp>
        <p:sp>
          <p:nvSpPr>
            <p:cNvPr id="1313" name="Google Shape;1313;p41"/>
            <p:cNvSpPr/>
            <p:nvPr/>
          </p:nvSpPr>
          <p:spPr>
            <a:xfrm>
              <a:off x="358495" y="1038200"/>
              <a:ext cx="1867529"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Worksite w/ requirements </a:t>
              </a:r>
              <a:endParaRPr/>
            </a:p>
            <a:p>
              <a:pPr indent="0" lvl="0" marL="0" marR="0" rtl="0" algn="ctr">
                <a:spcBef>
                  <a:spcPts val="0"/>
                </a:spcBef>
                <a:spcAft>
                  <a:spcPts val="0"/>
                </a:spcAft>
                <a:buNone/>
              </a:pPr>
              <a:r>
                <a:rPr lang="en-US" sz="1200">
                  <a:solidFill>
                    <a:schemeClr val="dk1"/>
                  </a:solidFill>
                  <a:latin typeface="Calibri"/>
                  <a:ea typeface="Calibri"/>
                  <a:cs typeface="Calibri"/>
                  <a:sym typeface="Calibri"/>
                </a:rPr>
                <a:t>60 working days</a:t>
              </a:r>
              <a:endParaRPr/>
            </a:p>
          </p:txBody>
        </p:sp>
      </p:grpSp>
      <p:sp>
        <p:nvSpPr>
          <p:cNvPr id="1314" name="Google Shape;1314;p41"/>
          <p:cNvSpPr/>
          <p:nvPr/>
        </p:nvSpPr>
        <p:spPr>
          <a:xfrm>
            <a:off x="205928" y="3063045"/>
            <a:ext cx="1936590" cy="2462213"/>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Data Interpretation for GIO</a:t>
            </a:r>
            <a:endParaRPr b="1" sz="1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Calibri"/>
                <a:ea typeface="Calibri"/>
                <a:cs typeface="Calibri"/>
                <a:sym typeface="Calibri"/>
              </a:rPr>
              <a:t>Primo Structured Notes</a:t>
            </a:r>
            <a:endParaRPr/>
          </a:p>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Calibri"/>
                <a:ea typeface="Calibri"/>
                <a:cs typeface="Calibri"/>
                <a:sym typeface="Calibri"/>
              </a:rPr>
              <a:t>Primo 2 Tranche</a:t>
            </a:r>
            <a:endParaRPr/>
          </a:p>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Calibri"/>
                <a:ea typeface="Calibri"/>
                <a:cs typeface="Calibri"/>
                <a:sym typeface="Calibri"/>
              </a:rPr>
              <a:t>Extension of requirements and posting of payment (transfer from other application or COD)</a:t>
            </a:r>
            <a:endParaRPr/>
          </a:p>
        </p:txBody>
      </p:sp>
      <p:sp>
        <p:nvSpPr>
          <p:cNvPr id="1315" name="Google Shape;1315;p41"/>
          <p:cNvSpPr/>
          <p:nvPr/>
        </p:nvSpPr>
        <p:spPr>
          <a:xfrm>
            <a:off x="2697157" y="3121536"/>
            <a:ext cx="1936590" cy="2031325"/>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Data Interpretation for SIO</a:t>
            </a:r>
            <a:endParaRPr/>
          </a:p>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Calibri"/>
                <a:ea typeface="Calibri"/>
                <a:cs typeface="Calibri"/>
                <a:sym typeface="Calibri"/>
              </a:rPr>
              <a:t>Re-extension of submission of requirements </a:t>
            </a:r>
            <a:endParaRPr/>
          </a:p>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Calibri"/>
                <a:ea typeface="Calibri"/>
                <a:cs typeface="Calibri"/>
                <a:sym typeface="Calibri"/>
              </a:rPr>
              <a:t>Transfer of payment</a:t>
            </a:r>
            <a:endParaRPr/>
          </a:p>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Calibri"/>
                <a:ea typeface="Calibri"/>
                <a:cs typeface="Calibri"/>
                <a:sym typeface="Calibri"/>
              </a:rPr>
              <a:t>Reconsideration of decision</a:t>
            </a:r>
            <a:endParaRPr sz="1400">
              <a:solidFill>
                <a:schemeClr val="dk1"/>
              </a:solidFill>
              <a:latin typeface="Calibri"/>
              <a:ea typeface="Calibri"/>
              <a:cs typeface="Calibri"/>
              <a:sym typeface="Calibri"/>
            </a:endParaRPr>
          </a:p>
        </p:txBody>
      </p:sp>
      <p:sp>
        <p:nvSpPr>
          <p:cNvPr id="1316" name="Google Shape;1316;p41"/>
          <p:cNvSpPr/>
          <p:nvPr/>
        </p:nvSpPr>
        <p:spPr>
          <a:xfrm>
            <a:off x="5228802" y="3152972"/>
            <a:ext cx="1936590" cy="954107"/>
          </a:xfrm>
          <a:prstGeom prst="rect">
            <a:avLst/>
          </a:prstGeom>
          <a:solidFill>
            <a:schemeClr val="lt1"/>
          </a:solidFill>
          <a:ln cap="flat" cmpd="sng" w="12700">
            <a:solidFill>
              <a:schemeClr val="accent5"/>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Data Interpretation for Non-Medical</a:t>
            </a:r>
            <a:endParaRPr b="1" sz="14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400"/>
              <a:buFont typeface="Calibri"/>
              <a:buAutoNum type="arabicPeriod"/>
            </a:pPr>
            <a:r>
              <a:rPr lang="en-US" sz="1400">
                <a:solidFill>
                  <a:schemeClr val="dk1"/>
                </a:solidFill>
                <a:latin typeface="Calibri"/>
                <a:ea typeface="Calibri"/>
                <a:cs typeface="Calibri"/>
                <a:sym typeface="Calibri"/>
              </a:rPr>
              <a:t>Bulk of application submission</a:t>
            </a:r>
            <a:endParaRPr/>
          </a:p>
        </p:txBody>
      </p:sp>
      <p:sp>
        <p:nvSpPr>
          <p:cNvPr id="1317" name="Google Shape;1317;p41"/>
          <p:cNvSpPr/>
          <p:nvPr/>
        </p:nvSpPr>
        <p:spPr>
          <a:xfrm>
            <a:off x="7728574" y="3152972"/>
            <a:ext cx="1936590" cy="954107"/>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Data Interpretation for Medical</a:t>
            </a:r>
            <a:endParaRPr/>
          </a:p>
          <a:p>
            <a:pPr indent="0" lvl="0" marL="0" marR="0" rtl="0" algn="l">
              <a:spcBef>
                <a:spcPts val="0"/>
              </a:spcBef>
              <a:spcAft>
                <a:spcPts val="0"/>
              </a:spcAft>
              <a:buNone/>
            </a:pPr>
            <a:r>
              <a:t/>
            </a:r>
            <a:endParaRPr b="1"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Above TAT</a:t>
            </a:r>
            <a:endParaRPr sz="1400">
              <a:solidFill>
                <a:schemeClr val="dk1"/>
              </a:solidFill>
              <a:latin typeface="Calibri"/>
              <a:ea typeface="Calibri"/>
              <a:cs typeface="Calibri"/>
              <a:sym typeface="Calibri"/>
            </a:endParaRPr>
          </a:p>
        </p:txBody>
      </p:sp>
      <p:sp>
        <p:nvSpPr>
          <p:cNvPr id="1318" name="Google Shape;1318;p41"/>
          <p:cNvSpPr/>
          <p:nvPr/>
        </p:nvSpPr>
        <p:spPr>
          <a:xfrm>
            <a:off x="10102558" y="3154676"/>
            <a:ext cx="1936590" cy="954107"/>
          </a:xfrm>
          <a:prstGeom prst="rect">
            <a:avLst/>
          </a:prstGeom>
          <a:solidFill>
            <a:schemeClr val="lt1"/>
          </a:solidFill>
          <a:ln cap="flat" cmpd="sng" w="12700">
            <a:solidFill>
              <a:schemeClr val="accent4"/>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Calibri"/>
                <a:ea typeface="Calibri"/>
                <a:cs typeface="Calibri"/>
                <a:sym typeface="Calibri"/>
              </a:rPr>
              <a:t>Data Interpretation for Worksite</a:t>
            </a:r>
            <a:endParaRPr/>
          </a:p>
          <a:p>
            <a:pPr indent="0" lvl="0" marL="0" marR="0" rtl="0" algn="l">
              <a:spcBef>
                <a:spcPts val="0"/>
              </a:spcBef>
              <a:spcAft>
                <a:spcPts val="0"/>
              </a:spcAft>
              <a:buNone/>
            </a:pPr>
            <a:r>
              <a:t/>
            </a:r>
            <a:endParaRPr b="1"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Above TAT</a:t>
            </a:r>
            <a:endParaRPr sz="1400">
              <a:solidFill>
                <a:schemeClr val="dk1"/>
              </a:solidFill>
              <a:latin typeface="Calibri"/>
              <a:ea typeface="Calibri"/>
              <a:cs typeface="Calibri"/>
              <a:sym typeface="Calibri"/>
            </a:endParaRPr>
          </a:p>
        </p:txBody>
      </p:sp>
      <p:pic>
        <p:nvPicPr>
          <p:cNvPr id="1319" name="Google Shape;1319;p41"/>
          <p:cNvPicPr preferRelativeResize="0"/>
          <p:nvPr/>
        </p:nvPicPr>
        <p:blipFill rotWithShape="1">
          <a:blip r:embed="rId4">
            <a:alphaModFix/>
          </a:blip>
          <a:srcRect b="0" l="0" r="0" t="0"/>
          <a:stretch/>
        </p:blipFill>
        <p:spPr>
          <a:xfrm>
            <a:off x="1080035" y="5598511"/>
            <a:ext cx="917965" cy="914400"/>
          </a:xfrm>
          <a:prstGeom prst="rect">
            <a:avLst/>
          </a:prstGeom>
          <a:noFill/>
          <a:ln>
            <a:noFill/>
          </a:ln>
        </p:spPr>
      </p:pic>
      <p:sp>
        <p:nvSpPr>
          <p:cNvPr id="1320" name="Google Shape;1320;p41"/>
          <p:cNvSpPr/>
          <p:nvPr/>
        </p:nvSpPr>
        <p:spPr>
          <a:xfrm>
            <a:off x="2307367" y="5292851"/>
            <a:ext cx="4748291" cy="523220"/>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3A3838"/>
                </a:solidFill>
                <a:latin typeface="Calibri"/>
                <a:ea typeface="Calibri"/>
                <a:cs typeface="Calibri"/>
                <a:sym typeface="Calibri"/>
              </a:rPr>
              <a:t>AVERAGE ISSUE AGE FOR 2018</a:t>
            </a:r>
            <a:endParaRPr b="1" sz="2800">
              <a:solidFill>
                <a:srgbClr val="3A3838"/>
              </a:solidFill>
              <a:latin typeface="Calibri"/>
              <a:ea typeface="Calibri"/>
              <a:cs typeface="Calibri"/>
              <a:sym typeface="Calibri"/>
            </a:endParaRPr>
          </a:p>
        </p:txBody>
      </p:sp>
      <p:sp>
        <p:nvSpPr>
          <p:cNvPr id="1321" name="Google Shape;1321;p41"/>
          <p:cNvSpPr/>
          <p:nvPr/>
        </p:nvSpPr>
        <p:spPr>
          <a:xfrm>
            <a:off x="2307367" y="5824945"/>
            <a:ext cx="4748291"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SLOCPI:</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Average issue age by policy amount: </a:t>
            </a:r>
            <a:r>
              <a:rPr lang="en-US" sz="1800">
                <a:solidFill>
                  <a:srgbClr val="C00000"/>
                </a:solidFill>
                <a:latin typeface="Calibri"/>
                <a:ea typeface="Calibri"/>
                <a:cs typeface="Calibri"/>
                <a:sym typeface="Calibri"/>
              </a:rPr>
              <a:t>31 years old</a:t>
            </a:r>
            <a:endParaRPr sz="1800">
              <a:solidFill>
                <a:srgbClr val="C00000"/>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Average face amount: </a:t>
            </a:r>
            <a:r>
              <a:rPr lang="en-US" sz="1800">
                <a:solidFill>
                  <a:srgbClr val="C00000"/>
                </a:solidFill>
                <a:latin typeface="Calibri"/>
                <a:ea typeface="Calibri"/>
                <a:cs typeface="Calibri"/>
                <a:sym typeface="Calibri"/>
              </a:rPr>
              <a:t>Ps. 663,770</a:t>
            </a:r>
            <a:endParaRPr sz="1800">
              <a:solidFill>
                <a:srgbClr val="C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4"/>
                                        </p:tgtEl>
                                        <p:attrNameLst>
                                          <p:attrName>style.visibility</p:attrName>
                                        </p:attrNameLst>
                                      </p:cBhvr>
                                      <p:to>
                                        <p:strVal val="visible"/>
                                      </p:to>
                                    </p:set>
                                    <p:anim calcmode="lin" valueType="num">
                                      <p:cBhvr additive="base">
                                        <p:cTn dur="500"/>
                                        <p:tgtEl>
                                          <p:spTgt spid="126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14"/>
                                        </p:tgtEl>
                                        <p:attrNameLst>
                                          <p:attrName>style.visibility</p:attrName>
                                        </p:attrNameLst>
                                      </p:cBhvr>
                                      <p:to>
                                        <p:strVal val="visible"/>
                                      </p:to>
                                    </p:set>
                                    <p:anim calcmode="lin" valueType="num">
                                      <p:cBhvr additive="base">
                                        <p:cTn dur="500"/>
                                        <p:tgtEl>
                                          <p:spTgt spid="131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75"/>
                                        </p:tgtEl>
                                        <p:attrNameLst>
                                          <p:attrName>style.visibility</p:attrName>
                                        </p:attrNameLst>
                                      </p:cBhvr>
                                      <p:to>
                                        <p:strVal val="visible"/>
                                      </p:to>
                                    </p:set>
                                    <p:anim calcmode="lin" valueType="num">
                                      <p:cBhvr additive="base">
                                        <p:cTn dur="500"/>
                                        <p:tgtEl>
                                          <p:spTgt spid="127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15"/>
                                        </p:tgtEl>
                                        <p:attrNameLst>
                                          <p:attrName>style.visibility</p:attrName>
                                        </p:attrNameLst>
                                      </p:cBhvr>
                                      <p:to>
                                        <p:strVal val="visible"/>
                                      </p:to>
                                    </p:set>
                                    <p:anim calcmode="lin" valueType="num">
                                      <p:cBhvr additive="base">
                                        <p:cTn dur="500"/>
                                        <p:tgtEl>
                                          <p:spTgt spid="131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6"/>
                                        </p:tgtEl>
                                        <p:attrNameLst>
                                          <p:attrName>style.visibility</p:attrName>
                                        </p:attrNameLst>
                                      </p:cBhvr>
                                      <p:to>
                                        <p:strVal val="visible"/>
                                      </p:to>
                                    </p:set>
                                    <p:animEffect filter="fade" transition="in">
                                      <p:cBhvr>
                                        <p:cTn dur="1000"/>
                                        <p:tgtEl>
                                          <p:spTgt spid="1316"/>
                                        </p:tgtEl>
                                      </p:cBhvr>
                                    </p:animEffect>
                                  </p:childTnLst>
                                </p:cTn>
                              </p:par>
                              <p:par>
                                <p:cTn fill="hold" nodeType="withEffect" presetClass="entr" presetID="10" presetSubtype="0">
                                  <p:stCondLst>
                                    <p:cond delay="0"/>
                                  </p:stCondLst>
                                  <p:childTnLst>
                                    <p:set>
                                      <p:cBhvr>
                                        <p:cTn dur="1" fill="hold">
                                          <p:stCondLst>
                                            <p:cond delay="0"/>
                                          </p:stCondLst>
                                        </p:cTn>
                                        <p:tgtEl>
                                          <p:spTgt spid="1286"/>
                                        </p:tgtEl>
                                        <p:attrNameLst>
                                          <p:attrName>style.visibility</p:attrName>
                                        </p:attrNameLst>
                                      </p:cBhvr>
                                      <p:to>
                                        <p:strVal val="visible"/>
                                      </p:to>
                                    </p:set>
                                    <p:animEffect filter="fade" transition="in">
                                      <p:cBhvr>
                                        <p:cTn dur="1000"/>
                                        <p:tgtEl>
                                          <p:spTgt spid="12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7"/>
                                        </p:tgtEl>
                                        <p:attrNameLst>
                                          <p:attrName>style.visibility</p:attrName>
                                        </p:attrNameLst>
                                      </p:cBhvr>
                                      <p:to>
                                        <p:strVal val="visible"/>
                                      </p:to>
                                    </p:set>
                                    <p:animEffect filter="fade" transition="in">
                                      <p:cBhvr>
                                        <p:cTn dur="1000"/>
                                        <p:tgtEl>
                                          <p:spTgt spid="1317"/>
                                        </p:tgtEl>
                                      </p:cBhvr>
                                    </p:animEffect>
                                  </p:childTnLst>
                                </p:cTn>
                              </p:par>
                              <p:par>
                                <p:cTn fill="hold" nodeType="withEffect" presetClass="entr" presetID="10" presetSubtype="0">
                                  <p:stCondLst>
                                    <p:cond delay="0"/>
                                  </p:stCondLst>
                                  <p:childTnLst>
                                    <p:set>
                                      <p:cBhvr>
                                        <p:cTn dur="1" fill="hold">
                                          <p:stCondLst>
                                            <p:cond delay="0"/>
                                          </p:stCondLst>
                                        </p:cTn>
                                        <p:tgtEl>
                                          <p:spTgt spid="1297"/>
                                        </p:tgtEl>
                                        <p:attrNameLst>
                                          <p:attrName>style.visibility</p:attrName>
                                        </p:attrNameLst>
                                      </p:cBhvr>
                                      <p:to>
                                        <p:strVal val="visible"/>
                                      </p:to>
                                    </p:set>
                                    <p:animEffect filter="fade" transition="in">
                                      <p:cBhvr>
                                        <p:cTn dur="1000"/>
                                        <p:tgtEl>
                                          <p:spTgt spid="1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gtEl>
                                        <p:attrNameLst>
                                          <p:attrName>style.visibility</p:attrName>
                                        </p:attrNameLst>
                                      </p:cBhvr>
                                      <p:to>
                                        <p:strVal val="visible"/>
                                      </p:to>
                                    </p:set>
                                    <p:animEffect filter="fade" transition="in">
                                      <p:cBhvr>
                                        <p:cTn dur="1000"/>
                                        <p:tgtEl>
                                          <p:spTgt spid="1308"/>
                                        </p:tgtEl>
                                      </p:cBhvr>
                                    </p:animEffect>
                                  </p:childTnLst>
                                </p:cTn>
                              </p:par>
                              <p:par>
                                <p:cTn fill="hold" nodeType="withEffect" presetClass="entr" presetID="10" presetSubtype="0">
                                  <p:stCondLst>
                                    <p:cond delay="0"/>
                                  </p:stCondLst>
                                  <p:childTnLst>
                                    <p:set>
                                      <p:cBhvr>
                                        <p:cTn dur="1" fill="hold">
                                          <p:stCondLst>
                                            <p:cond delay="0"/>
                                          </p:stCondLst>
                                        </p:cTn>
                                        <p:tgtEl>
                                          <p:spTgt spid="1318"/>
                                        </p:tgtEl>
                                        <p:attrNameLst>
                                          <p:attrName>style.visibility</p:attrName>
                                        </p:attrNameLst>
                                      </p:cBhvr>
                                      <p:to>
                                        <p:strVal val="visible"/>
                                      </p:to>
                                    </p:set>
                                    <p:animEffect filter="fade" transition="in">
                                      <p:cBhvr>
                                        <p:cTn dur="1000"/>
                                        <p:tgtEl>
                                          <p:spTgt spid="13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20"/>
                                        </p:tgtEl>
                                        <p:attrNameLst>
                                          <p:attrName>style.visibility</p:attrName>
                                        </p:attrNameLst>
                                      </p:cBhvr>
                                      <p:to>
                                        <p:strVal val="visible"/>
                                      </p:to>
                                    </p:set>
                                    <p:anim calcmode="lin" valueType="num">
                                      <p:cBhvr additive="base">
                                        <p:cTn dur="500"/>
                                        <p:tgtEl>
                                          <p:spTgt spid="132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21"/>
                                        </p:tgtEl>
                                        <p:attrNameLst>
                                          <p:attrName>style.visibility</p:attrName>
                                        </p:attrNameLst>
                                      </p:cBhvr>
                                      <p:to>
                                        <p:strVal val="visible"/>
                                      </p:to>
                                    </p:set>
                                    <p:anim calcmode="lin" valueType="num">
                                      <p:cBhvr additive="base">
                                        <p:cTn dur="500"/>
                                        <p:tgtEl>
                                          <p:spTgt spid="132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sp>
        <p:nvSpPr>
          <p:cNvPr id="1327" name="Google Shape;1327;p42"/>
          <p:cNvSpPr/>
          <p:nvPr/>
        </p:nvSpPr>
        <p:spPr>
          <a:xfrm>
            <a:off x="183732" y="4244921"/>
            <a:ext cx="1045163" cy="2613079"/>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328" name="Google Shape;1328;p42"/>
          <p:cNvPicPr preferRelativeResize="0"/>
          <p:nvPr/>
        </p:nvPicPr>
        <p:blipFill rotWithShape="1">
          <a:blip r:embed="rId3">
            <a:alphaModFix/>
          </a:blip>
          <a:srcRect b="0" l="0" r="0" t="31968"/>
          <a:stretch/>
        </p:blipFill>
        <p:spPr>
          <a:xfrm>
            <a:off x="7200176" y="4251767"/>
            <a:ext cx="4953089" cy="2546981"/>
          </a:xfrm>
          <a:prstGeom prst="rect">
            <a:avLst/>
          </a:prstGeom>
          <a:noFill/>
          <a:ln>
            <a:noFill/>
          </a:ln>
        </p:spPr>
      </p:pic>
      <p:sp>
        <p:nvSpPr>
          <p:cNvPr id="1329" name="Google Shape;1329;p42"/>
          <p:cNvSpPr/>
          <p:nvPr/>
        </p:nvSpPr>
        <p:spPr>
          <a:xfrm>
            <a:off x="154702" y="5385836"/>
            <a:ext cx="112082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200">
                <a:solidFill>
                  <a:srgbClr val="000000"/>
                </a:solidFill>
                <a:latin typeface="Calibri"/>
                <a:ea typeface="Calibri"/>
                <a:cs typeface="Calibri"/>
                <a:sym typeface="Calibri"/>
              </a:rPr>
              <a:t>06</a:t>
            </a:r>
            <a:endParaRPr sz="4400">
              <a:solidFill>
                <a:srgbClr val="000000"/>
              </a:solidFill>
              <a:latin typeface="Calibri"/>
              <a:ea typeface="Calibri"/>
              <a:cs typeface="Calibri"/>
              <a:sym typeface="Calibri"/>
            </a:endParaRPr>
          </a:p>
        </p:txBody>
      </p:sp>
      <p:sp>
        <p:nvSpPr>
          <p:cNvPr id="1330" name="Google Shape;1330;p42"/>
          <p:cNvSpPr txBox="1"/>
          <p:nvPr/>
        </p:nvSpPr>
        <p:spPr>
          <a:xfrm>
            <a:off x="227018" y="6249123"/>
            <a:ext cx="2973634" cy="461665"/>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Your Scorecard</a:t>
            </a:r>
            <a:endParaRPr b="1" sz="1200">
              <a:solidFill>
                <a:schemeClr val="dk1"/>
              </a:solidFill>
              <a:latin typeface="Calibri"/>
              <a:ea typeface="Calibri"/>
              <a:cs typeface="Calibri"/>
              <a:sym typeface="Calibri"/>
            </a:endParaRPr>
          </a:p>
        </p:txBody>
      </p:sp>
      <p:sp>
        <p:nvSpPr>
          <p:cNvPr id="1331" name="Google Shape;1331;p42"/>
          <p:cNvSpPr/>
          <p:nvPr/>
        </p:nvSpPr>
        <p:spPr>
          <a:xfrm>
            <a:off x="154702" y="255374"/>
            <a:ext cx="5032439" cy="461665"/>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A3838"/>
                </a:solidFill>
                <a:latin typeface="Calibri"/>
                <a:ea typeface="Calibri"/>
                <a:cs typeface="Calibri"/>
                <a:sym typeface="Calibri"/>
              </a:rPr>
              <a:t>Branch SCORECARD - HYPERION</a:t>
            </a:r>
            <a:endParaRPr b="1" sz="2400">
              <a:solidFill>
                <a:srgbClr val="3A3838"/>
              </a:solidFill>
              <a:latin typeface="Calibri"/>
              <a:ea typeface="Calibri"/>
              <a:cs typeface="Calibri"/>
              <a:sym typeface="Calibri"/>
            </a:endParaRPr>
          </a:p>
        </p:txBody>
      </p:sp>
      <p:pic>
        <p:nvPicPr>
          <p:cNvPr id="1332" name="Google Shape;1332;p42"/>
          <p:cNvPicPr preferRelativeResize="0"/>
          <p:nvPr/>
        </p:nvPicPr>
        <p:blipFill rotWithShape="1">
          <a:blip r:embed="rId4">
            <a:alphaModFix/>
          </a:blip>
          <a:srcRect b="0" l="0" r="0" t="0"/>
          <a:stretch/>
        </p:blipFill>
        <p:spPr>
          <a:xfrm>
            <a:off x="973276" y="5560006"/>
            <a:ext cx="917965" cy="914400"/>
          </a:xfrm>
          <a:prstGeom prst="rect">
            <a:avLst/>
          </a:prstGeom>
          <a:noFill/>
          <a:ln>
            <a:noFill/>
          </a:ln>
        </p:spPr>
      </p:pic>
      <p:pic>
        <p:nvPicPr>
          <p:cNvPr id="1333" name="Google Shape;1333;p42"/>
          <p:cNvPicPr preferRelativeResize="0"/>
          <p:nvPr/>
        </p:nvPicPr>
        <p:blipFill rotWithShape="1">
          <a:blip r:embed="rId5">
            <a:alphaModFix/>
          </a:blip>
          <a:srcRect b="0" l="0" r="0" t="0"/>
          <a:stretch/>
        </p:blipFill>
        <p:spPr>
          <a:xfrm>
            <a:off x="183732" y="891209"/>
            <a:ext cx="2303304" cy="2373101"/>
          </a:xfrm>
          <a:prstGeom prst="rect">
            <a:avLst/>
          </a:prstGeom>
          <a:noFill/>
          <a:ln>
            <a:noFill/>
          </a:ln>
        </p:spPr>
      </p:pic>
      <p:graphicFrame>
        <p:nvGraphicFramePr>
          <p:cNvPr id="1334" name="Google Shape;1334;p42"/>
          <p:cNvGraphicFramePr/>
          <p:nvPr/>
        </p:nvGraphicFramePr>
        <p:xfrm>
          <a:off x="2103197" y="957990"/>
          <a:ext cx="3000000" cy="3000000"/>
        </p:xfrm>
        <a:graphic>
          <a:graphicData uri="http://schemas.openxmlformats.org/drawingml/2006/table">
            <a:tbl>
              <a:tblPr bandRow="1" firstRow="1">
                <a:noFill/>
                <a:tableStyleId>{B7E1684D-5046-4E9B-AD58-42CE886D0D3C}</a:tableStyleId>
              </a:tblPr>
              <a:tblGrid>
                <a:gridCol w="1625600"/>
                <a:gridCol w="1625600"/>
                <a:gridCol w="1625600"/>
                <a:gridCol w="1625600"/>
                <a:gridCol w="1625600"/>
              </a:tblGrid>
              <a:tr h="370850">
                <a:tc>
                  <a:txBody>
                    <a:bodyPr/>
                    <a:lstStyle/>
                    <a:p>
                      <a:pPr indent="0" lvl="0" marL="0" marR="0" rtl="0" algn="ctr">
                        <a:spcBef>
                          <a:spcPts val="0"/>
                        </a:spcBef>
                        <a:spcAft>
                          <a:spcPts val="0"/>
                        </a:spcAft>
                        <a:buNone/>
                      </a:pPr>
                      <a:r>
                        <a:rPr lang="en-US" sz="1600"/>
                        <a:t>SCORE</a:t>
                      </a:r>
                      <a:endParaRPr sz="1600"/>
                    </a:p>
                  </a:txBody>
                  <a:tcPr marT="45725" marB="45725" marR="91450" marL="91450" anchor="ctr"/>
                </a:tc>
                <a:tc>
                  <a:txBody>
                    <a:bodyPr/>
                    <a:lstStyle/>
                    <a:p>
                      <a:pPr indent="0" lvl="0" marL="0" marR="0" rtl="0" algn="ctr">
                        <a:spcBef>
                          <a:spcPts val="0"/>
                        </a:spcBef>
                        <a:spcAft>
                          <a:spcPts val="0"/>
                        </a:spcAft>
                        <a:buNone/>
                      </a:pPr>
                      <a:r>
                        <a:rPr lang="en-US" sz="1600"/>
                        <a:t>NUMBER OF</a:t>
                      </a:r>
                      <a:r>
                        <a:rPr lang="en-US" sz="1600"/>
                        <a:t> APPS SCORED FOR 2018</a:t>
                      </a:r>
                      <a:endParaRPr sz="1600"/>
                    </a:p>
                  </a:txBody>
                  <a:tcPr marT="45725" marB="45725" marR="91450" marL="91450" anchor="ctr"/>
                </a:tc>
                <a:tc>
                  <a:txBody>
                    <a:bodyPr/>
                    <a:lstStyle/>
                    <a:p>
                      <a:pPr indent="0" lvl="0" marL="0" marR="0" rtl="0" algn="ctr">
                        <a:spcBef>
                          <a:spcPts val="0"/>
                        </a:spcBef>
                        <a:spcAft>
                          <a:spcPts val="0"/>
                        </a:spcAft>
                        <a:buNone/>
                      </a:pPr>
                      <a:r>
                        <a:rPr lang="en-US" sz="1600"/>
                        <a:t>PERCENTAGE</a:t>
                      </a:r>
                      <a:endParaRPr sz="1600"/>
                    </a:p>
                  </a:txBody>
                  <a:tcPr marT="45725" marB="45725" marR="91450" marL="91450" anchor="ctr"/>
                </a:tc>
                <a:tc>
                  <a:txBody>
                    <a:bodyPr/>
                    <a:lstStyle/>
                    <a:p>
                      <a:pPr indent="0" lvl="0" marL="0" marR="0" rtl="0" algn="ctr">
                        <a:spcBef>
                          <a:spcPts val="0"/>
                        </a:spcBef>
                        <a:spcAft>
                          <a:spcPts val="0"/>
                        </a:spcAft>
                        <a:buNone/>
                      </a:pPr>
                      <a:r>
                        <a:rPr lang="en-US" sz="1600"/>
                        <a:t>NUMBER OF</a:t>
                      </a:r>
                      <a:r>
                        <a:rPr lang="en-US" sz="1600"/>
                        <a:t> APPS SCORED as of Apr 2019</a:t>
                      </a:r>
                      <a:endParaRPr sz="1600"/>
                    </a:p>
                  </a:txBody>
                  <a:tcPr marT="45725" marB="45725" marR="91450" marL="91450" anchor="ctr"/>
                </a:tc>
                <a:tc>
                  <a:txBody>
                    <a:bodyPr/>
                    <a:lstStyle/>
                    <a:p>
                      <a:pPr indent="0" lvl="0" marL="0" marR="0" rtl="0" algn="ctr">
                        <a:spcBef>
                          <a:spcPts val="0"/>
                        </a:spcBef>
                        <a:spcAft>
                          <a:spcPts val="0"/>
                        </a:spcAft>
                        <a:buNone/>
                      </a:pPr>
                      <a:r>
                        <a:rPr lang="en-US" sz="1600"/>
                        <a:t>PERCENTAGE</a:t>
                      </a:r>
                      <a:endParaRPr sz="1600"/>
                    </a:p>
                  </a:txBody>
                  <a:tcPr marT="45725" marB="45725" marR="91450" marL="91450" anchor="ctr"/>
                </a:tc>
              </a:tr>
              <a:tr h="370850">
                <a:tc>
                  <a:txBody>
                    <a:bodyPr/>
                    <a:lstStyle/>
                    <a:p>
                      <a:pPr indent="0" lvl="0" marL="0" marR="0" rtl="0" algn="ctr">
                        <a:spcBef>
                          <a:spcPts val="0"/>
                        </a:spcBef>
                        <a:spcAft>
                          <a:spcPts val="0"/>
                        </a:spcAft>
                        <a:buNone/>
                      </a:pPr>
                      <a:r>
                        <a:rPr b="1" lang="en-US" sz="1600"/>
                        <a:t>1</a:t>
                      </a:r>
                      <a:endParaRPr b="1" sz="1600"/>
                    </a:p>
                  </a:txBody>
                  <a:tcPr marT="45725" marB="45725" marR="91450" marL="91450" anchor="ctr"/>
                </a:tc>
                <a:tc>
                  <a:txBody>
                    <a:bodyPr/>
                    <a:lstStyle/>
                    <a:p>
                      <a:pPr indent="0" lvl="0" marL="0" marR="0" rtl="0" algn="ctr">
                        <a:spcBef>
                          <a:spcPts val="0"/>
                        </a:spcBef>
                        <a:spcAft>
                          <a:spcPts val="0"/>
                        </a:spcAft>
                        <a:buNone/>
                      </a:pPr>
                      <a:r>
                        <a:t/>
                      </a:r>
                      <a:endParaRPr sz="1600"/>
                    </a:p>
                  </a:txBody>
                  <a:tcPr marT="45725" marB="45725" marR="91450" marL="91450" anchor="ctr"/>
                </a:tc>
                <a:tc>
                  <a:txBody>
                    <a:bodyPr/>
                    <a:lstStyle/>
                    <a:p>
                      <a:pPr indent="0" lvl="0" marL="0" marR="0" rtl="0" algn="ctr">
                        <a:spcBef>
                          <a:spcPts val="0"/>
                        </a:spcBef>
                        <a:spcAft>
                          <a:spcPts val="0"/>
                        </a:spcAft>
                        <a:buNone/>
                      </a:pPr>
                      <a:r>
                        <a:t/>
                      </a:r>
                      <a:endParaRPr sz="1600"/>
                    </a:p>
                  </a:txBody>
                  <a:tcPr marT="45725" marB="45725" marR="91450" marL="91450" anchor="ctr"/>
                </a:tc>
                <a:tc>
                  <a:txBody>
                    <a:bodyPr/>
                    <a:lstStyle/>
                    <a:p>
                      <a:pPr indent="0" lvl="0" marL="0" marR="0" rtl="0" algn="ctr">
                        <a:spcBef>
                          <a:spcPts val="0"/>
                        </a:spcBef>
                        <a:spcAft>
                          <a:spcPts val="0"/>
                        </a:spcAft>
                        <a:buNone/>
                      </a:pPr>
                      <a:r>
                        <a:rPr lang="en-US" sz="1600"/>
                        <a:t>29</a:t>
                      </a:r>
                      <a:endParaRPr sz="1600"/>
                    </a:p>
                  </a:txBody>
                  <a:tcPr marT="45725" marB="45725" marR="91450" marL="91450" anchor="ctr"/>
                </a:tc>
                <a:tc>
                  <a:txBody>
                    <a:bodyPr/>
                    <a:lstStyle/>
                    <a:p>
                      <a:pPr indent="0" lvl="0" marL="0" marR="0" rtl="0" algn="ctr">
                        <a:spcBef>
                          <a:spcPts val="0"/>
                        </a:spcBef>
                        <a:spcAft>
                          <a:spcPts val="0"/>
                        </a:spcAft>
                        <a:buNone/>
                      </a:pPr>
                      <a:r>
                        <a:rPr lang="en-US" sz="1600"/>
                        <a:t>3%</a:t>
                      </a:r>
                      <a:endParaRPr sz="1600"/>
                    </a:p>
                  </a:txBody>
                  <a:tcPr marT="45725" marB="45725" marR="91450" marL="91450" anchor="ctr"/>
                </a:tc>
              </a:tr>
              <a:tr h="370850">
                <a:tc>
                  <a:txBody>
                    <a:bodyPr/>
                    <a:lstStyle/>
                    <a:p>
                      <a:pPr indent="0" lvl="0" marL="0" marR="0" rtl="0" algn="ctr">
                        <a:spcBef>
                          <a:spcPts val="0"/>
                        </a:spcBef>
                        <a:spcAft>
                          <a:spcPts val="0"/>
                        </a:spcAft>
                        <a:buNone/>
                      </a:pPr>
                      <a:r>
                        <a:rPr b="1" lang="en-US" sz="1600"/>
                        <a:t>2</a:t>
                      </a:r>
                      <a:endParaRPr b="1" sz="1600"/>
                    </a:p>
                  </a:txBody>
                  <a:tcPr marT="45725" marB="45725" marR="91450" marL="91450" anchor="ctr"/>
                </a:tc>
                <a:tc>
                  <a:txBody>
                    <a:bodyPr/>
                    <a:lstStyle/>
                    <a:p>
                      <a:pPr indent="0" lvl="0" marL="0" marR="0" rtl="0" algn="ctr">
                        <a:spcBef>
                          <a:spcPts val="0"/>
                        </a:spcBef>
                        <a:spcAft>
                          <a:spcPts val="0"/>
                        </a:spcAft>
                        <a:buNone/>
                      </a:pPr>
                      <a:r>
                        <a:t/>
                      </a:r>
                      <a:endParaRPr sz="1600"/>
                    </a:p>
                  </a:txBody>
                  <a:tcPr marT="45725" marB="45725" marR="91450" marL="91450" anchor="ctr"/>
                </a:tc>
                <a:tc>
                  <a:txBody>
                    <a:bodyPr/>
                    <a:lstStyle/>
                    <a:p>
                      <a:pPr indent="0" lvl="0" marL="0" marR="0" rtl="0" algn="ctr">
                        <a:spcBef>
                          <a:spcPts val="0"/>
                        </a:spcBef>
                        <a:spcAft>
                          <a:spcPts val="0"/>
                        </a:spcAft>
                        <a:buNone/>
                      </a:pPr>
                      <a:r>
                        <a:t/>
                      </a:r>
                      <a:endParaRPr sz="1600"/>
                    </a:p>
                  </a:txBody>
                  <a:tcPr marT="45725" marB="45725" marR="91450" marL="91450" anchor="ctr"/>
                </a:tc>
                <a:tc>
                  <a:txBody>
                    <a:bodyPr/>
                    <a:lstStyle/>
                    <a:p>
                      <a:pPr indent="0" lvl="0" marL="0" marR="0" rtl="0" algn="ctr">
                        <a:spcBef>
                          <a:spcPts val="0"/>
                        </a:spcBef>
                        <a:spcAft>
                          <a:spcPts val="0"/>
                        </a:spcAft>
                        <a:buNone/>
                      </a:pPr>
                      <a:r>
                        <a:rPr lang="en-US" sz="1600"/>
                        <a:t>443</a:t>
                      </a:r>
                      <a:endParaRPr sz="1600"/>
                    </a:p>
                  </a:txBody>
                  <a:tcPr marT="45725" marB="45725" marR="91450" marL="91450" anchor="ctr"/>
                </a:tc>
                <a:tc>
                  <a:txBody>
                    <a:bodyPr/>
                    <a:lstStyle/>
                    <a:p>
                      <a:pPr indent="0" lvl="0" marL="0" marR="0" rtl="0" algn="ctr">
                        <a:spcBef>
                          <a:spcPts val="0"/>
                        </a:spcBef>
                        <a:spcAft>
                          <a:spcPts val="0"/>
                        </a:spcAft>
                        <a:buNone/>
                      </a:pPr>
                      <a:r>
                        <a:rPr b="0" lang="en-US" sz="1600">
                          <a:solidFill>
                            <a:schemeClr val="dk1"/>
                          </a:solidFill>
                        </a:rPr>
                        <a:t>40%</a:t>
                      </a:r>
                      <a:endParaRPr b="0" sz="1600">
                        <a:solidFill>
                          <a:schemeClr val="dk1"/>
                        </a:solidFill>
                      </a:endParaRPr>
                    </a:p>
                  </a:txBody>
                  <a:tcPr marT="45725" marB="45725" marR="91450" marL="91450" anchor="ctr"/>
                </a:tc>
              </a:tr>
              <a:tr h="370850">
                <a:tc>
                  <a:txBody>
                    <a:bodyPr/>
                    <a:lstStyle/>
                    <a:p>
                      <a:pPr indent="0" lvl="0" marL="0" marR="0" rtl="0" algn="ctr">
                        <a:spcBef>
                          <a:spcPts val="0"/>
                        </a:spcBef>
                        <a:spcAft>
                          <a:spcPts val="0"/>
                        </a:spcAft>
                        <a:buNone/>
                      </a:pPr>
                      <a:r>
                        <a:rPr b="1" lang="en-US" sz="1600"/>
                        <a:t>3</a:t>
                      </a:r>
                      <a:endParaRPr b="1" sz="1600"/>
                    </a:p>
                  </a:txBody>
                  <a:tcPr marT="45725" marB="45725" marR="91450" marL="91450" anchor="ctr"/>
                </a:tc>
                <a:tc>
                  <a:txBody>
                    <a:bodyPr/>
                    <a:lstStyle/>
                    <a:p>
                      <a:pPr indent="0" lvl="0" marL="0" marR="0" rtl="0" algn="ctr">
                        <a:spcBef>
                          <a:spcPts val="0"/>
                        </a:spcBef>
                        <a:spcAft>
                          <a:spcPts val="0"/>
                        </a:spcAft>
                        <a:buNone/>
                      </a:pPr>
                      <a:r>
                        <a:t/>
                      </a:r>
                      <a:endParaRPr sz="1600"/>
                    </a:p>
                  </a:txBody>
                  <a:tcPr marT="45725" marB="45725" marR="91450" marL="91450" anchor="ctr"/>
                </a:tc>
                <a:tc>
                  <a:txBody>
                    <a:bodyPr/>
                    <a:lstStyle/>
                    <a:p>
                      <a:pPr indent="0" lvl="0" marL="0" marR="0" rtl="0" algn="ctr">
                        <a:spcBef>
                          <a:spcPts val="0"/>
                        </a:spcBef>
                        <a:spcAft>
                          <a:spcPts val="0"/>
                        </a:spcAft>
                        <a:buNone/>
                      </a:pPr>
                      <a:r>
                        <a:t/>
                      </a:r>
                      <a:endParaRPr b="1" sz="1600">
                        <a:solidFill>
                          <a:srgbClr val="C00000"/>
                        </a:solidFill>
                      </a:endParaRPr>
                    </a:p>
                  </a:txBody>
                  <a:tcPr marT="45725" marB="45725" marR="91450" marL="91450" anchor="ctr"/>
                </a:tc>
                <a:tc>
                  <a:txBody>
                    <a:bodyPr/>
                    <a:lstStyle/>
                    <a:p>
                      <a:pPr indent="0" lvl="0" marL="0" marR="0" rtl="0" algn="ctr">
                        <a:spcBef>
                          <a:spcPts val="0"/>
                        </a:spcBef>
                        <a:spcAft>
                          <a:spcPts val="0"/>
                        </a:spcAft>
                        <a:buNone/>
                      </a:pPr>
                      <a:r>
                        <a:rPr lang="en-US" sz="1600"/>
                        <a:t>555</a:t>
                      </a:r>
                      <a:endParaRPr sz="1600"/>
                    </a:p>
                  </a:txBody>
                  <a:tcPr marT="45725" marB="45725" marR="91450" marL="91450" anchor="ctr"/>
                </a:tc>
                <a:tc>
                  <a:txBody>
                    <a:bodyPr/>
                    <a:lstStyle/>
                    <a:p>
                      <a:pPr indent="0" lvl="0" marL="0" marR="0" rtl="0" algn="ctr">
                        <a:spcBef>
                          <a:spcPts val="0"/>
                        </a:spcBef>
                        <a:spcAft>
                          <a:spcPts val="0"/>
                        </a:spcAft>
                        <a:buNone/>
                      </a:pPr>
                      <a:r>
                        <a:rPr lang="en-US" sz="1600"/>
                        <a:t>51%</a:t>
                      </a:r>
                      <a:endParaRPr sz="1600"/>
                    </a:p>
                  </a:txBody>
                  <a:tcPr marT="45725" marB="45725" marR="91450" marL="91450" anchor="ctr"/>
                </a:tc>
              </a:tr>
              <a:tr h="370850">
                <a:tc>
                  <a:txBody>
                    <a:bodyPr/>
                    <a:lstStyle/>
                    <a:p>
                      <a:pPr indent="0" lvl="0" marL="0" marR="0" rtl="0" algn="ctr">
                        <a:spcBef>
                          <a:spcPts val="0"/>
                        </a:spcBef>
                        <a:spcAft>
                          <a:spcPts val="0"/>
                        </a:spcAft>
                        <a:buNone/>
                      </a:pPr>
                      <a:r>
                        <a:rPr b="1" lang="en-US" sz="1600"/>
                        <a:t>4</a:t>
                      </a:r>
                      <a:endParaRPr b="1" sz="1600"/>
                    </a:p>
                  </a:txBody>
                  <a:tcPr marT="45725" marB="45725" marR="91450" marL="91450" anchor="ctr"/>
                </a:tc>
                <a:tc>
                  <a:txBody>
                    <a:bodyPr/>
                    <a:lstStyle/>
                    <a:p>
                      <a:pPr indent="0" lvl="0" marL="0" marR="0" rtl="0" algn="ctr">
                        <a:spcBef>
                          <a:spcPts val="0"/>
                        </a:spcBef>
                        <a:spcAft>
                          <a:spcPts val="0"/>
                        </a:spcAft>
                        <a:buNone/>
                      </a:pPr>
                      <a:r>
                        <a:t/>
                      </a:r>
                      <a:endParaRPr sz="1600"/>
                    </a:p>
                  </a:txBody>
                  <a:tcPr marT="45725" marB="45725" marR="91450" marL="91450" anchor="ctr"/>
                </a:tc>
                <a:tc>
                  <a:txBody>
                    <a:bodyPr/>
                    <a:lstStyle/>
                    <a:p>
                      <a:pPr indent="0" lvl="0" marL="0" marR="0" rtl="0" algn="ctr">
                        <a:spcBef>
                          <a:spcPts val="0"/>
                        </a:spcBef>
                        <a:spcAft>
                          <a:spcPts val="0"/>
                        </a:spcAft>
                        <a:buNone/>
                      </a:pPr>
                      <a:r>
                        <a:t/>
                      </a:r>
                      <a:endParaRPr sz="1600"/>
                    </a:p>
                  </a:txBody>
                  <a:tcPr marT="45725" marB="45725" marR="91450" marL="91450" anchor="ctr"/>
                </a:tc>
                <a:tc>
                  <a:txBody>
                    <a:bodyPr/>
                    <a:lstStyle/>
                    <a:p>
                      <a:pPr indent="0" lvl="0" marL="0" marR="0" rtl="0" algn="ctr">
                        <a:spcBef>
                          <a:spcPts val="0"/>
                        </a:spcBef>
                        <a:spcAft>
                          <a:spcPts val="0"/>
                        </a:spcAft>
                        <a:buNone/>
                      </a:pPr>
                      <a:r>
                        <a:rPr lang="en-US" sz="1600"/>
                        <a:t>71</a:t>
                      </a:r>
                      <a:endParaRPr sz="1600"/>
                    </a:p>
                  </a:txBody>
                  <a:tcPr marT="45725" marB="45725" marR="91450" marL="91450" anchor="ctr"/>
                </a:tc>
                <a:tc>
                  <a:txBody>
                    <a:bodyPr/>
                    <a:lstStyle/>
                    <a:p>
                      <a:pPr indent="0" lvl="0" marL="0" marR="0" rtl="0" algn="ctr">
                        <a:spcBef>
                          <a:spcPts val="0"/>
                        </a:spcBef>
                        <a:spcAft>
                          <a:spcPts val="0"/>
                        </a:spcAft>
                        <a:buNone/>
                      </a:pPr>
                      <a:r>
                        <a:rPr lang="en-US" sz="1600"/>
                        <a:t>6%</a:t>
                      </a:r>
                      <a:endParaRPr/>
                    </a:p>
                  </a:txBody>
                  <a:tcPr marT="45725" marB="45725" marR="91450" marL="91450" anchor="ctr"/>
                </a:tc>
              </a:tr>
            </a:tbl>
          </a:graphicData>
        </a:graphic>
      </p:graphicFrame>
      <p:sp>
        <p:nvSpPr>
          <p:cNvPr id="1335" name="Google Shape;1335;p42"/>
          <p:cNvSpPr/>
          <p:nvPr/>
        </p:nvSpPr>
        <p:spPr>
          <a:xfrm>
            <a:off x="1304552" y="3396495"/>
            <a:ext cx="5767917" cy="2031325"/>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C00000"/>
                </a:solidFill>
                <a:latin typeface="Calibri"/>
                <a:ea typeface="Calibri"/>
                <a:cs typeface="Calibri"/>
                <a:sym typeface="Calibri"/>
              </a:rPr>
              <a:t>SCORE LEGEND:</a:t>
            </a:r>
            <a:endParaRPr b="1" sz="1400">
              <a:solidFill>
                <a:srgbClr val="C00000"/>
              </a:solidFill>
              <a:latin typeface="Calibri"/>
              <a:ea typeface="Calibri"/>
              <a:cs typeface="Calibri"/>
              <a:sym typeface="Calibri"/>
            </a:endParaRPr>
          </a:p>
          <a:p>
            <a:pPr indent="0" lvl="0" marL="0" marR="0" rtl="0" algn="l">
              <a:spcBef>
                <a:spcPts val="0"/>
              </a:spcBef>
              <a:spcAft>
                <a:spcPts val="0"/>
              </a:spcAft>
              <a:buNone/>
            </a:pPr>
            <a:r>
              <a:rPr b="1" lang="en-US" sz="1400">
                <a:solidFill>
                  <a:schemeClr val="dk1"/>
                </a:solidFill>
                <a:latin typeface="Calibri"/>
                <a:ea typeface="Calibri"/>
                <a:cs typeface="Calibri"/>
                <a:sym typeface="Calibri"/>
              </a:rPr>
              <a:t>1 - Exceeds Expectation </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Advisor did a very good job; submitted routine requirements with application</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400">
                <a:solidFill>
                  <a:schemeClr val="dk1"/>
                </a:solidFill>
                <a:latin typeface="Calibri"/>
                <a:ea typeface="Calibri"/>
                <a:cs typeface="Calibri"/>
                <a:sym typeface="Calibri"/>
              </a:rPr>
              <a:t>2 - Meets Expectation</a:t>
            </a:r>
            <a:endParaRPr/>
          </a:p>
          <a:p>
            <a:pPr indent="0" lvl="0" marL="0" marR="0" rtl="0" algn="l">
              <a:spcBef>
                <a:spcPts val="0"/>
              </a:spcBef>
              <a:spcAft>
                <a:spcPts val="0"/>
              </a:spcAft>
              <a:buNone/>
            </a:pPr>
            <a:r>
              <a:rPr b="1" lang="en-US" sz="1400">
                <a:solidFill>
                  <a:schemeClr val="dk1"/>
                </a:solidFill>
                <a:latin typeface="Calibri"/>
                <a:ea typeface="Calibri"/>
                <a:cs typeface="Calibri"/>
                <a:sym typeface="Calibri"/>
              </a:rPr>
              <a:t>3 - Needs Improvement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Omissions in the application, wrong application used,</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Routine requirements are not submitted with application</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400">
                <a:solidFill>
                  <a:schemeClr val="dk1"/>
                </a:solidFill>
                <a:latin typeface="Calibri"/>
                <a:ea typeface="Calibri"/>
                <a:cs typeface="Calibri"/>
                <a:sym typeface="Calibri"/>
              </a:rPr>
              <a:t>4 - Below Expectation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Non-disclosure, major omissions in the application, suspected forgery</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0" name="Shape 1340"/>
        <p:cNvGrpSpPr/>
        <p:nvPr/>
      </p:nvGrpSpPr>
      <p:grpSpPr>
        <a:xfrm>
          <a:off x="0" y="0"/>
          <a:ext cx="0" cy="0"/>
          <a:chOff x="0" y="0"/>
          <a:chExt cx="0" cy="0"/>
        </a:xfrm>
      </p:grpSpPr>
      <p:sp>
        <p:nvSpPr>
          <p:cNvPr id="1341" name="Google Shape;1341;p43"/>
          <p:cNvSpPr/>
          <p:nvPr/>
        </p:nvSpPr>
        <p:spPr>
          <a:xfrm>
            <a:off x="183732" y="4244921"/>
            <a:ext cx="1045163" cy="2613079"/>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2" name="Google Shape;1342;p43"/>
          <p:cNvSpPr/>
          <p:nvPr/>
        </p:nvSpPr>
        <p:spPr>
          <a:xfrm>
            <a:off x="154702" y="5385836"/>
            <a:ext cx="112082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200">
                <a:solidFill>
                  <a:srgbClr val="000000"/>
                </a:solidFill>
                <a:latin typeface="Calibri"/>
                <a:ea typeface="Calibri"/>
                <a:cs typeface="Calibri"/>
                <a:sym typeface="Calibri"/>
              </a:rPr>
              <a:t>07</a:t>
            </a:r>
            <a:endParaRPr sz="4400">
              <a:solidFill>
                <a:srgbClr val="000000"/>
              </a:solidFill>
              <a:latin typeface="Calibri"/>
              <a:ea typeface="Calibri"/>
              <a:cs typeface="Calibri"/>
              <a:sym typeface="Calibri"/>
            </a:endParaRPr>
          </a:p>
        </p:txBody>
      </p:sp>
      <p:sp>
        <p:nvSpPr>
          <p:cNvPr id="1343" name="Google Shape;1343;p43"/>
          <p:cNvSpPr txBox="1"/>
          <p:nvPr/>
        </p:nvSpPr>
        <p:spPr>
          <a:xfrm>
            <a:off x="227017" y="6249123"/>
            <a:ext cx="4439251" cy="461665"/>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Quiz</a:t>
            </a:r>
            <a:endParaRPr b="1" sz="1200">
              <a:solidFill>
                <a:schemeClr val="dk1"/>
              </a:solidFill>
              <a:latin typeface="Calibri"/>
              <a:ea typeface="Calibri"/>
              <a:cs typeface="Calibri"/>
              <a:sym typeface="Calibri"/>
            </a:endParaRPr>
          </a:p>
        </p:txBody>
      </p:sp>
      <p:sp>
        <p:nvSpPr>
          <p:cNvPr id="1344" name="Google Shape;1344;p43"/>
          <p:cNvSpPr/>
          <p:nvPr/>
        </p:nvSpPr>
        <p:spPr>
          <a:xfrm>
            <a:off x="154703" y="255374"/>
            <a:ext cx="3581556" cy="461665"/>
          </a:xfrm>
          <a:prstGeom prst="rect">
            <a:avLst/>
          </a:prstGeom>
          <a:solidFill>
            <a:srgbClr val="F2F2F2"/>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3A3838"/>
                </a:solidFill>
                <a:latin typeface="Calibri"/>
                <a:ea typeface="Calibri"/>
                <a:cs typeface="Calibri"/>
                <a:sym typeface="Calibri"/>
              </a:rPr>
              <a:t>Ready to Test Your Skills?</a:t>
            </a:r>
            <a:endParaRPr b="1" sz="2400">
              <a:solidFill>
                <a:srgbClr val="3A3838"/>
              </a:solidFill>
              <a:latin typeface="Calibri"/>
              <a:ea typeface="Calibri"/>
              <a:cs typeface="Calibri"/>
              <a:sym typeface="Calibri"/>
            </a:endParaRPr>
          </a:p>
        </p:txBody>
      </p:sp>
      <p:sp>
        <p:nvSpPr>
          <p:cNvPr id="1345" name="Google Shape;1345;p43"/>
          <p:cNvSpPr txBox="1"/>
          <p:nvPr/>
        </p:nvSpPr>
        <p:spPr>
          <a:xfrm>
            <a:off x="328928" y="870858"/>
            <a:ext cx="5486400" cy="646331"/>
          </a:xfrm>
          <a:prstGeom prst="rect">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745"/>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Give the list of mandatory requirements or documents in submission of NB application.</a:t>
            </a:r>
            <a:endParaRPr/>
          </a:p>
        </p:txBody>
      </p:sp>
      <p:sp>
        <p:nvSpPr>
          <p:cNvPr id="1346" name="Google Shape;1346;p43"/>
          <p:cNvSpPr txBox="1"/>
          <p:nvPr/>
        </p:nvSpPr>
        <p:spPr>
          <a:xfrm>
            <a:off x="328928" y="1517189"/>
            <a:ext cx="5486400" cy="1477328"/>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Application form</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Valid Id</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Proposal</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FNA and RPQ</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Pre-submission Checklist</a:t>
            </a:r>
            <a:endParaRPr sz="1800">
              <a:solidFill>
                <a:schemeClr val="dk1"/>
              </a:solidFill>
              <a:latin typeface="Calibri"/>
              <a:ea typeface="Calibri"/>
              <a:cs typeface="Calibri"/>
              <a:sym typeface="Calibri"/>
            </a:endParaRPr>
          </a:p>
        </p:txBody>
      </p:sp>
      <p:sp>
        <p:nvSpPr>
          <p:cNvPr id="1347" name="Google Shape;1347;p43"/>
          <p:cNvSpPr txBox="1"/>
          <p:nvPr/>
        </p:nvSpPr>
        <p:spPr>
          <a:xfrm>
            <a:off x="5911167" y="870858"/>
            <a:ext cx="5486400" cy="646331"/>
          </a:xfrm>
          <a:prstGeom prst="rect">
            <a:avLst/>
          </a:prstGeom>
          <a:solidFill>
            <a:srgbClr val="00B050"/>
          </a:solidFill>
          <a:ln>
            <a:noFill/>
          </a:ln>
          <a:effectLst>
            <a:outerShdw blurRad="57150" rotWithShape="0" algn="ctr" dir="5400000" dist="19050">
              <a:srgbClr val="000000">
                <a:alpha val="62745"/>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What are the three sections in New Business and Underwriting Services?</a:t>
            </a:r>
            <a:endParaRPr b="1" sz="1800">
              <a:solidFill>
                <a:schemeClr val="lt1"/>
              </a:solidFill>
              <a:latin typeface="Calibri"/>
              <a:ea typeface="Calibri"/>
              <a:cs typeface="Calibri"/>
              <a:sym typeface="Calibri"/>
            </a:endParaRPr>
          </a:p>
        </p:txBody>
      </p:sp>
      <p:sp>
        <p:nvSpPr>
          <p:cNvPr id="1348" name="Google Shape;1348;p43"/>
          <p:cNvSpPr txBox="1"/>
          <p:nvPr/>
        </p:nvSpPr>
        <p:spPr>
          <a:xfrm>
            <a:off x="5911167" y="1520036"/>
            <a:ext cx="5486400" cy="923330"/>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New Business Review Associate and Analyst</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Underwriter</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Facilitator</a:t>
            </a:r>
            <a:endParaRPr sz="1800">
              <a:solidFill>
                <a:schemeClr val="dk1"/>
              </a:solidFill>
              <a:latin typeface="Calibri"/>
              <a:ea typeface="Calibri"/>
              <a:cs typeface="Calibri"/>
              <a:sym typeface="Calibri"/>
            </a:endParaRPr>
          </a:p>
        </p:txBody>
      </p:sp>
      <p:sp>
        <p:nvSpPr>
          <p:cNvPr id="1349" name="Google Shape;1349;p43"/>
          <p:cNvSpPr txBox="1"/>
          <p:nvPr/>
        </p:nvSpPr>
        <p:spPr>
          <a:xfrm>
            <a:off x="5911167" y="2612684"/>
            <a:ext cx="5486400" cy="646331"/>
          </a:xfrm>
          <a:prstGeom prst="rect">
            <a:avLst/>
          </a:prstGeom>
          <a:solidFill>
            <a:schemeClr val="accent2"/>
          </a:solidFill>
          <a:ln>
            <a:noFill/>
          </a:ln>
          <a:effectLst>
            <a:outerShdw blurRad="57150" rotWithShape="0" algn="ctr" dir="5400000" dist="19050">
              <a:srgbClr val="000000">
                <a:alpha val="62745"/>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Give the essential components of Authorization Letter to transfer payment.</a:t>
            </a:r>
            <a:endParaRPr b="1" sz="1800">
              <a:solidFill>
                <a:schemeClr val="lt1"/>
              </a:solidFill>
              <a:latin typeface="Calibri"/>
              <a:ea typeface="Calibri"/>
              <a:cs typeface="Calibri"/>
              <a:sym typeface="Calibri"/>
            </a:endParaRPr>
          </a:p>
        </p:txBody>
      </p:sp>
      <p:sp>
        <p:nvSpPr>
          <p:cNvPr id="1350" name="Google Shape;1350;p43"/>
          <p:cNvSpPr txBox="1"/>
          <p:nvPr/>
        </p:nvSpPr>
        <p:spPr>
          <a:xfrm>
            <a:off x="5911167" y="3259015"/>
            <a:ext cx="5486400" cy="1200329"/>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amount to be transferred</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source policy/application serial number, and </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policy/application serial number where payment will be transferred</a:t>
            </a:r>
            <a:endParaRPr/>
          </a:p>
        </p:txBody>
      </p:sp>
      <p:sp>
        <p:nvSpPr>
          <p:cNvPr id="1351" name="Google Shape;1351;p43"/>
          <p:cNvSpPr txBox="1"/>
          <p:nvPr/>
        </p:nvSpPr>
        <p:spPr>
          <a:xfrm>
            <a:off x="328928" y="3166946"/>
            <a:ext cx="5486400" cy="646331"/>
          </a:xfrm>
          <a:prstGeom prst="rect">
            <a:avLst/>
          </a:prstGeom>
          <a:solidFill>
            <a:srgbClr val="3A3838"/>
          </a:solidFill>
          <a:ln cap="flat" cmpd="sng" w="9525">
            <a:solidFill>
              <a:srgbClr val="75707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Identify if the following cases are for Speedy NB Review Processing or for Underwriter Appraisal</a:t>
            </a:r>
            <a:endParaRPr b="1" sz="1800">
              <a:solidFill>
                <a:schemeClr val="lt1"/>
              </a:solidFill>
              <a:latin typeface="Calibri"/>
              <a:ea typeface="Calibri"/>
              <a:cs typeface="Calibri"/>
              <a:sym typeface="Calibri"/>
            </a:endParaRPr>
          </a:p>
        </p:txBody>
      </p:sp>
      <p:sp>
        <p:nvSpPr>
          <p:cNvPr id="1352" name="Google Shape;1352;p43"/>
          <p:cNvSpPr txBox="1"/>
          <p:nvPr/>
        </p:nvSpPr>
        <p:spPr>
          <a:xfrm>
            <a:off x="328928" y="3805996"/>
            <a:ext cx="5486400" cy="1754326"/>
          </a:xfrm>
          <a:prstGeom prst="rect">
            <a:avLst/>
          </a:prstGeom>
          <a:solidFill>
            <a:schemeClr val="lt1"/>
          </a:solidFill>
          <a:ln cap="flat" cmpd="sng" w="12700">
            <a:solidFill>
              <a:srgbClr val="757070"/>
            </a:solidFill>
            <a:prstDash val="solid"/>
            <a:miter lim="800000"/>
            <a:headEnd len="sm" w="sm" type="none"/>
            <a:tailEnd len="sm" w="sm" type="none"/>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Cancer-survivor client</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Only concern is the omitted present residence address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Occupation concern only – working as ordinary seaman</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Beneficiary is romantic or same-sex partner</a:t>
            </a:r>
            <a:endParaRPr sz="1800">
              <a:solidFill>
                <a:schemeClr val="dk1"/>
              </a:solidFill>
              <a:latin typeface="Calibri"/>
              <a:ea typeface="Calibri"/>
              <a:cs typeface="Calibri"/>
              <a:sym typeface="Calibri"/>
            </a:endParaRPr>
          </a:p>
        </p:txBody>
      </p:sp>
      <p:sp>
        <p:nvSpPr>
          <p:cNvPr id="1353" name="Google Shape;1353;p43"/>
          <p:cNvSpPr txBox="1"/>
          <p:nvPr/>
        </p:nvSpPr>
        <p:spPr>
          <a:xfrm>
            <a:off x="5911167" y="4627391"/>
            <a:ext cx="5486400" cy="369332"/>
          </a:xfrm>
          <a:prstGeom prst="rect">
            <a:avLst/>
          </a:prstGeom>
          <a:solidFill>
            <a:schemeClr val="accen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lt1"/>
                </a:solidFill>
                <a:latin typeface="Calibri"/>
                <a:ea typeface="Calibri"/>
                <a:cs typeface="Calibri"/>
                <a:sym typeface="Calibri"/>
              </a:rPr>
              <a:t>True or False.</a:t>
            </a:r>
            <a:endParaRPr b="1" sz="1800">
              <a:solidFill>
                <a:schemeClr val="lt1"/>
              </a:solidFill>
              <a:latin typeface="Calibri"/>
              <a:ea typeface="Calibri"/>
              <a:cs typeface="Calibri"/>
              <a:sym typeface="Calibri"/>
            </a:endParaRPr>
          </a:p>
        </p:txBody>
      </p:sp>
      <p:sp>
        <p:nvSpPr>
          <p:cNvPr id="1354" name="Google Shape;1354;p43"/>
          <p:cNvSpPr txBox="1"/>
          <p:nvPr/>
        </p:nvSpPr>
        <p:spPr>
          <a:xfrm>
            <a:off x="5911167" y="4996723"/>
            <a:ext cx="5486400" cy="646331"/>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 married servicing advisor can declare himself as beneficiary of his sister’s application.</a:t>
            </a:r>
            <a:endParaRPr/>
          </a:p>
        </p:txBody>
      </p:sp>
      <p:pic>
        <p:nvPicPr>
          <p:cNvPr id="1355" name="Google Shape;1355;p43"/>
          <p:cNvPicPr preferRelativeResize="0"/>
          <p:nvPr/>
        </p:nvPicPr>
        <p:blipFill rotWithShape="1">
          <a:blip r:embed="rId3">
            <a:alphaModFix/>
          </a:blip>
          <a:srcRect b="0" l="0" r="0" t="0"/>
          <a:stretch/>
        </p:blipFill>
        <p:spPr>
          <a:xfrm>
            <a:off x="1139944" y="5700511"/>
            <a:ext cx="917965" cy="914400"/>
          </a:xfrm>
          <a:prstGeom prst="rect">
            <a:avLst/>
          </a:prstGeom>
          <a:noFill/>
          <a:ln>
            <a:noFill/>
          </a:ln>
        </p:spPr>
      </p:pic>
      <p:sp>
        <p:nvSpPr>
          <p:cNvPr id="1356" name="Google Shape;1356;p43"/>
          <p:cNvSpPr txBox="1"/>
          <p:nvPr/>
        </p:nvSpPr>
        <p:spPr>
          <a:xfrm>
            <a:off x="5911167" y="5636867"/>
            <a:ext cx="5486400" cy="646331"/>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Plan details on application form is required for VUL Product.</a:t>
            </a:r>
            <a:endParaRPr/>
          </a:p>
        </p:txBody>
      </p:sp>
      <p:sp>
        <p:nvSpPr>
          <p:cNvPr id="1357" name="Google Shape;1357;p43"/>
          <p:cNvSpPr txBox="1"/>
          <p:nvPr/>
        </p:nvSpPr>
        <p:spPr>
          <a:xfrm>
            <a:off x="5911167" y="6283198"/>
            <a:ext cx="5486400" cy="36933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Underwriters conduct initial review of application form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5"/>
                                        </p:tgtEl>
                                        <p:attrNameLst>
                                          <p:attrName>style.visibility</p:attrName>
                                        </p:attrNameLst>
                                      </p:cBhvr>
                                      <p:to>
                                        <p:strVal val="visible"/>
                                      </p:to>
                                    </p:set>
                                    <p:animEffect filter="fade" transition="in">
                                      <p:cBhvr>
                                        <p:cTn dur="1000"/>
                                        <p:tgtEl>
                                          <p:spTgt spid="13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6"/>
                                        </p:tgtEl>
                                        <p:attrNameLst>
                                          <p:attrName>style.visibility</p:attrName>
                                        </p:attrNameLst>
                                      </p:cBhvr>
                                      <p:to>
                                        <p:strVal val="visible"/>
                                      </p:to>
                                    </p:set>
                                    <p:animEffect filter="fade" transition="in">
                                      <p:cBhvr>
                                        <p:cTn dur="1000"/>
                                        <p:tgtEl>
                                          <p:spTgt spid="13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1"/>
                                        </p:tgtEl>
                                        <p:attrNameLst>
                                          <p:attrName>style.visibility</p:attrName>
                                        </p:attrNameLst>
                                      </p:cBhvr>
                                      <p:to>
                                        <p:strVal val="visible"/>
                                      </p:to>
                                    </p:set>
                                    <p:animEffect filter="fade" transition="in">
                                      <p:cBhvr>
                                        <p:cTn dur="1000"/>
                                        <p:tgtEl>
                                          <p:spTgt spid="13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2"/>
                                        </p:tgtEl>
                                        <p:attrNameLst>
                                          <p:attrName>style.visibility</p:attrName>
                                        </p:attrNameLst>
                                      </p:cBhvr>
                                      <p:to>
                                        <p:strVal val="visible"/>
                                      </p:to>
                                    </p:set>
                                    <p:animEffect filter="fade" transition="in">
                                      <p:cBhvr>
                                        <p:cTn dur="1000"/>
                                        <p:tgtEl>
                                          <p:spTgt spid="13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7"/>
                                        </p:tgtEl>
                                        <p:attrNameLst>
                                          <p:attrName>style.visibility</p:attrName>
                                        </p:attrNameLst>
                                      </p:cBhvr>
                                      <p:to>
                                        <p:strVal val="visible"/>
                                      </p:to>
                                    </p:set>
                                    <p:animEffect filter="fade" transition="in">
                                      <p:cBhvr>
                                        <p:cTn dur="1000"/>
                                        <p:tgtEl>
                                          <p:spTgt spid="13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8"/>
                                        </p:tgtEl>
                                        <p:attrNameLst>
                                          <p:attrName>style.visibility</p:attrName>
                                        </p:attrNameLst>
                                      </p:cBhvr>
                                      <p:to>
                                        <p:strVal val="visible"/>
                                      </p:to>
                                    </p:set>
                                    <p:animEffect filter="fade" transition="in">
                                      <p:cBhvr>
                                        <p:cTn dur="1000"/>
                                        <p:tgtEl>
                                          <p:spTgt spid="13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9"/>
                                        </p:tgtEl>
                                        <p:attrNameLst>
                                          <p:attrName>style.visibility</p:attrName>
                                        </p:attrNameLst>
                                      </p:cBhvr>
                                      <p:to>
                                        <p:strVal val="visible"/>
                                      </p:to>
                                    </p:set>
                                    <p:animEffect filter="fade" transition="in">
                                      <p:cBhvr>
                                        <p:cTn dur="1000"/>
                                        <p:tgtEl>
                                          <p:spTgt spid="13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0"/>
                                        </p:tgtEl>
                                        <p:attrNameLst>
                                          <p:attrName>style.visibility</p:attrName>
                                        </p:attrNameLst>
                                      </p:cBhvr>
                                      <p:to>
                                        <p:strVal val="visible"/>
                                      </p:to>
                                    </p:set>
                                    <p:animEffect filter="fade" transition="in">
                                      <p:cBhvr>
                                        <p:cTn dur="1000"/>
                                        <p:tgtEl>
                                          <p:spTgt spid="1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3"/>
                                        </p:tgtEl>
                                        <p:attrNameLst>
                                          <p:attrName>style.visibility</p:attrName>
                                        </p:attrNameLst>
                                      </p:cBhvr>
                                      <p:to>
                                        <p:strVal val="visible"/>
                                      </p:to>
                                    </p:set>
                                    <p:animEffect filter="fade" transition="in">
                                      <p:cBhvr>
                                        <p:cTn dur="1000"/>
                                        <p:tgtEl>
                                          <p:spTgt spid="1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4"/>
                                        </p:tgtEl>
                                        <p:attrNameLst>
                                          <p:attrName>style.visibility</p:attrName>
                                        </p:attrNameLst>
                                      </p:cBhvr>
                                      <p:to>
                                        <p:strVal val="visible"/>
                                      </p:to>
                                    </p:set>
                                    <p:animEffect filter="fade" transition="in">
                                      <p:cBhvr>
                                        <p:cTn dur="1000"/>
                                        <p:tgtEl>
                                          <p:spTgt spid="13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6"/>
                                        </p:tgtEl>
                                        <p:attrNameLst>
                                          <p:attrName>style.visibility</p:attrName>
                                        </p:attrNameLst>
                                      </p:cBhvr>
                                      <p:to>
                                        <p:strVal val="visible"/>
                                      </p:to>
                                    </p:set>
                                    <p:animEffect filter="fade" transition="in">
                                      <p:cBhvr>
                                        <p:cTn dur="1000"/>
                                        <p:tgtEl>
                                          <p:spTgt spid="13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7"/>
                                        </p:tgtEl>
                                        <p:attrNameLst>
                                          <p:attrName>style.visibility</p:attrName>
                                        </p:attrNameLst>
                                      </p:cBhvr>
                                      <p:to>
                                        <p:strVal val="visible"/>
                                      </p:to>
                                    </p:set>
                                    <p:animEffect filter="fade" transition="in">
                                      <p:cBhvr>
                                        <p:cTn dur="1000"/>
                                        <p:tgtEl>
                                          <p:spTgt spid="13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44"/>
          <p:cNvSpPr/>
          <p:nvPr/>
        </p:nvSpPr>
        <p:spPr>
          <a:xfrm>
            <a:off x="1228895" y="616133"/>
            <a:ext cx="9965873" cy="3525999"/>
          </a:xfrm>
          <a:prstGeom prst="rect">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64" name="Google Shape;1364;p44"/>
          <p:cNvSpPr/>
          <p:nvPr/>
        </p:nvSpPr>
        <p:spPr>
          <a:xfrm>
            <a:off x="283222" y="1403547"/>
            <a:ext cx="6183218" cy="1870363"/>
          </a:xfrm>
          <a:prstGeom prst="rect">
            <a:avLst/>
          </a:prstGeom>
          <a:solidFill>
            <a:srgbClr val="99CCFF">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5" name="Google Shape;1365;p44"/>
          <p:cNvSpPr/>
          <p:nvPr/>
        </p:nvSpPr>
        <p:spPr>
          <a:xfrm>
            <a:off x="183732" y="4244921"/>
            <a:ext cx="1045163" cy="2613079"/>
          </a:xfrm>
          <a:prstGeom prst="rect">
            <a:avLst/>
          </a:prstGeom>
          <a:solidFill>
            <a:schemeClr val="accent4">
              <a:alpha val="24705"/>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66" name="Google Shape;1366;p44"/>
          <p:cNvSpPr/>
          <p:nvPr/>
        </p:nvSpPr>
        <p:spPr>
          <a:xfrm>
            <a:off x="183732" y="5279626"/>
            <a:ext cx="435927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7200">
                <a:solidFill>
                  <a:srgbClr val="000000"/>
                </a:solidFill>
                <a:latin typeface="Calibri"/>
                <a:ea typeface="Calibri"/>
                <a:cs typeface="Calibri"/>
                <a:sym typeface="Calibri"/>
              </a:rPr>
              <a:t>Thank you!</a:t>
            </a:r>
            <a:endParaRPr sz="4400">
              <a:solidFill>
                <a:srgbClr val="000000"/>
              </a:solidFill>
              <a:latin typeface="Calibri"/>
              <a:ea typeface="Calibri"/>
              <a:cs typeface="Calibri"/>
              <a:sym typeface="Calibri"/>
            </a:endParaRPr>
          </a:p>
        </p:txBody>
      </p:sp>
      <p:sp>
        <p:nvSpPr>
          <p:cNvPr id="1367" name="Google Shape;1367;p44"/>
          <p:cNvSpPr txBox="1"/>
          <p:nvPr/>
        </p:nvSpPr>
        <p:spPr>
          <a:xfrm>
            <a:off x="227017" y="6249123"/>
            <a:ext cx="5070847" cy="461665"/>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We can start the open-question forum</a:t>
            </a:r>
            <a:endParaRPr b="1" sz="1200">
              <a:solidFill>
                <a:schemeClr val="dk1"/>
              </a:solidFill>
              <a:latin typeface="Calibri"/>
              <a:ea typeface="Calibri"/>
              <a:cs typeface="Calibri"/>
              <a:sym typeface="Calibri"/>
            </a:endParaRPr>
          </a:p>
        </p:txBody>
      </p:sp>
      <p:pic>
        <p:nvPicPr>
          <p:cNvPr id="1368" name="Google Shape;1368;p44"/>
          <p:cNvPicPr preferRelativeResize="0"/>
          <p:nvPr/>
        </p:nvPicPr>
        <p:blipFill rotWithShape="1">
          <a:blip r:embed="rId3">
            <a:alphaModFix/>
          </a:blip>
          <a:srcRect b="0" l="0" r="0" t="0"/>
          <a:stretch/>
        </p:blipFill>
        <p:spPr>
          <a:xfrm>
            <a:off x="3638550" y="912283"/>
            <a:ext cx="8553450" cy="2933700"/>
          </a:xfrm>
          <a:prstGeom prst="rect">
            <a:avLst/>
          </a:prstGeom>
          <a:noFill/>
          <a:ln>
            <a:noFill/>
          </a:ln>
        </p:spPr>
      </p:pic>
      <p:pic>
        <p:nvPicPr>
          <p:cNvPr id="1369" name="Google Shape;1369;p44"/>
          <p:cNvPicPr preferRelativeResize="0"/>
          <p:nvPr/>
        </p:nvPicPr>
        <p:blipFill rotWithShape="1">
          <a:blip r:embed="rId4">
            <a:alphaModFix/>
          </a:blip>
          <a:srcRect b="0" l="0" r="0" t="0"/>
          <a:stretch/>
        </p:blipFill>
        <p:spPr>
          <a:xfrm>
            <a:off x="6303017" y="1576133"/>
            <a:ext cx="1612258" cy="1605997"/>
          </a:xfrm>
          <a:prstGeom prst="rect">
            <a:avLst/>
          </a:prstGeom>
          <a:noFill/>
          <a:ln>
            <a:noFill/>
          </a:ln>
        </p:spPr>
      </p:pic>
      <p:sp>
        <p:nvSpPr>
          <p:cNvPr id="1370" name="Google Shape;1370;p44"/>
          <p:cNvSpPr txBox="1"/>
          <p:nvPr/>
        </p:nvSpPr>
        <p:spPr>
          <a:xfrm>
            <a:off x="767644" y="1954007"/>
            <a:ext cx="3443895" cy="769441"/>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4400">
                <a:solidFill>
                  <a:srgbClr val="3A3838"/>
                </a:solidFill>
                <a:latin typeface="Impact"/>
                <a:ea typeface="Impact"/>
                <a:cs typeface="Impact"/>
                <a:sym typeface="Impact"/>
              </a:rPr>
              <a:t>End of Module</a:t>
            </a:r>
            <a:endParaRPr sz="4400">
              <a:solidFill>
                <a:srgbClr val="3A3838"/>
              </a:solidFill>
              <a:latin typeface="Impact"/>
              <a:ea typeface="Impact"/>
              <a:cs typeface="Impact"/>
              <a:sym typeface="Impac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366"/>
                                        </p:tgtEl>
                                        <p:attrNameLst>
                                          <p:attrName>style.visibility</p:attrName>
                                        </p:attrNameLst>
                                      </p:cBhvr>
                                      <p:to>
                                        <p:strVal val="visible"/>
                                      </p:to>
                                    </p:set>
                                    <p:anim calcmode="lin" valueType="num">
                                      <p:cBhvr additive="base">
                                        <p:cTn dur="500"/>
                                        <p:tgtEl>
                                          <p:spTgt spid="1366"/>
                                        </p:tgtEl>
                                        <p:attrNameLst>
                                          <p:attrName>ppt_w</p:attrName>
                                        </p:attrNameLst>
                                      </p:cBhvr>
                                      <p:tavLst>
                                        <p:tav fmla="" tm="0">
                                          <p:val>
                                            <p:strVal val="0"/>
                                          </p:val>
                                        </p:tav>
                                        <p:tav fmla="" tm="100000">
                                          <p:val>
                                            <p:strVal val="#ppt_w"/>
                                          </p:val>
                                        </p:tav>
                                      </p:tavLst>
                                    </p:anim>
                                    <p:anim calcmode="lin" valueType="num">
                                      <p:cBhvr additive="base">
                                        <p:cTn dur="500"/>
                                        <p:tgtEl>
                                          <p:spTgt spid="136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64"/>
                                        </p:tgtEl>
                                        <p:attrNameLst>
                                          <p:attrName>style.visibility</p:attrName>
                                        </p:attrNameLst>
                                      </p:cBhvr>
                                      <p:to>
                                        <p:strVal val="visible"/>
                                      </p:to>
                                    </p:set>
                                    <p:anim calcmode="lin" valueType="num">
                                      <p:cBhvr additive="base">
                                        <p:cTn dur="500"/>
                                        <p:tgtEl>
                                          <p:spTgt spid="1364"/>
                                        </p:tgtEl>
                                        <p:attrNameLst>
                                          <p:attrName>ppt_w</p:attrName>
                                        </p:attrNameLst>
                                      </p:cBhvr>
                                      <p:tavLst>
                                        <p:tav fmla="" tm="0">
                                          <p:val>
                                            <p:strVal val="0"/>
                                          </p:val>
                                        </p:tav>
                                        <p:tav fmla="" tm="100000">
                                          <p:val>
                                            <p:strVal val="#ppt_w"/>
                                          </p:val>
                                        </p:tav>
                                      </p:tavLst>
                                    </p:anim>
                                    <p:anim calcmode="lin" valueType="num">
                                      <p:cBhvr additive="base">
                                        <p:cTn dur="500"/>
                                        <p:tgtEl>
                                          <p:spTgt spid="136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70"/>
                                        </p:tgtEl>
                                        <p:attrNameLst>
                                          <p:attrName>style.visibility</p:attrName>
                                        </p:attrNameLst>
                                      </p:cBhvr>
                                      <p:to>
                                        <p:strVal val="visible"/>
                                      </p:to>
                                    </p:set>
                                    <p:anim calcmode="lin" valueType="num">
                                      <p:cBhvr additive="base">
                                        <p:cTn dur="500"/>
                                        <p:tgtEl>
                                          <p:spTgt spid="1370"/>
                                        </p:tgtEl>
                                        <p:attrNameLst>
                                          <p:attrName>ppt_w</p:attrName>
                                        </p:attrNameLst>
                                      </p:cBhvr>
                                      <p:tavLst>
                                        <p:tav fmla="" tm="0">
                                          <p:val>
                                            <p:strVal val="0"/>
                                          </p:val>
                                        </p:tav>
                                        <p:tav fmla="" tm="100000">
                                          <p:val>
                                            <p:strVal val="#ppt_w"/>
                                          </p:val>
                                        </p:tav>
                                      </p:tavLst>
                                    </p:anim>
                                    <p:anim calcmode="lin" valueType="num">
                                      <p:cBhvr additive="base">
                                        <p:cTn dur="500"/>
                                        <p:tgtEl>
                                          <p:spTgt spid="137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68"/>
                                        </p:tgtEl>
                                        <p:attrNameLst>
                                          <p:attrName>style.visibility</p:attrName>
                                        </p:attrNameLst>
                                      </p:cBhvr>
                                      <p:to>
                                        <p:strVal val="visible"/>
                                      </p:to>
                                    </p:set>
                                    <p:anim calcmode="lin" valueType="num">
                                      <p:cBhvr additive="base">
                                        <p:cTn dur="500"/>
                                        <p:tgtEl>
                                          <p:spTgt spid="1368"/>
                                        </p:tgtEl>
                                        <p:attrNameLst>
                                          <p:attrName>ppt_w</p:attrName>
                                        </p:attrNameLst>
                                      </p:cBhvr>
                                      <p:tavLst>
                                        <p:tav fmla="" tm="0">
                                          <p:val>
                                            <p:strVal val="0"/>
                                          </p:val>
                                        </p:tav>
                                        <p:tav fmla="" tm="100000">
                                          <p:val>
                                            <p:strVal val="#ppt_w"/>
                                          </p:val>
                                        </p:tav>
                                      </p:tavLst>
                                    </p:anim>
                                    <p:anim calcmode="lin" valueType="num">
                                      <p:cBhvr additive="base">
                                        <p:cTn dur="500"/>
                                        <p:tgtEl>
                                          <p:spTgt spid="136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69"/>
                                        </p:tgtEl>
                                        <p:attrNameLst>
                                          <p:attrName>style.visibility</p:attrName>
                                        </p:attrNameLst>
                                      </p:cBhvr>
                                      <p:to>
                                        <p:strVal val="visible"/>
                                      </p:to>
                                    </p:set>
                                    <p:anim calcmode="lin" valueType="num">
                                      <p:cBhvr additive="base">
                                        <p:cTn dur="500"/>
                                        <p:tgtEl>
                                          <p:spTgt spid="1369"/>
                                        </p:tgtEl>
                                        <p:attrNameLst>
                                          <p:attrName>ppt_w</p:attrName>
                                        </p:attrNameLst>
                                      </p:cBhvr>
                                      <p:tavLst>
                                        <p:tav fmla="" tm="0">
                                          <p:val>
                                            <p:strVal val="0"/>
                                          </p:val>
                                        </p:tav>
                                        <p:tav fmla="" tm="100000">
                                          <p:val>
                                            <p:strVal val="#ppt_w"/>
                                          </p:val>
                                        </p:tav>
                                      </p:tavLst>
                                    </p:anim>
                                    <p:anim calcmode="lin" valueType="num">
                                      <p:cBhvr additive="base">
                                        <p:cTn dur="500"/>
                                        <p:tgtEl>
                                          <p:spTgt spid="136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363"/>
                                        </p:tgtEl>
                                        <p:attrNameLst>
                                          <p:attrName>style.visibility</p:attrName>
                                        </p:attrNameLst>
                                      </p:cBhvr>
                                      <p:to>
                                        <p:strVal val="visible"/>
                                      </p:to>
                                    </p:set>
                                    <p:anim calcmode="lin" valueType="num">
                                      <p:cBhvr additive="base">
                                        <p:cTn dur="500"/>
                                        <p:tgtEl>
                                          <p:spTgt spid="1363"/>
                                        </p:tgtEl>
                                        <p:attrNameLst>
                                          <p:attrName>ppt_w</p:attrName>
                                        </p:attrNameLst>
                                      </p:cBhvr>
                                      <p:tavLst>
                                        <p:tav fmla="" tm="0">
                                          <p:val>
                                            <p:strVal val="0"/>
                                          </p:val>
                                        </p:tav>
                                        <p:tav fmla="" tm="100000">
                                          <p:val>
                                            <p:strVal val="#ppt_w"/>
                                          </p:val>
                                        </p:tav>
                                      </p:tavLst>
                                    </p:anim>
                                    <p:anim calcmode="lin" valueType="num">
                                      <p:cBhvr additive="base">
                                        <p:cTn dur="500"/>
                                        <p:tgtEl>
                                          <p:spTgt spid="136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7"/>
                                        </p:tgtEl>
                                        <p:attrNameLst>
                                          <p:attrName>style.visibility</p:attrName>
                                        </p:attrNameLst>
                                      </p:cBhvr>
                                      <p:to>
                                        <p:strVal val="visible"/>
                                      </p:to>
                                    </p:set>
                                    <p:animEffect filter="fade" transition="in">
                                      <p:cBhvr>
                                        <p:cTn dur="1000"/>
                                        <p:tgtEl>
                                          <p:spTgt spid="13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2019-02-26T04:29:59Z</dcterms:created>
  <dc:creator>Maria Nina P Argallon</dc:creator>
</cp:coreProperties>
</file>