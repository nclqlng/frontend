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139" roundtripDataSignature="AMtx7mipYoQE91xkAAIs6HwMpk8I+gGy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3F52D5-16B6-497D-969F-36FF4152F095}">
  <a:tblStyle styleId="{673F52D5-16B6-497D-969F-36FF4152F09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1F5"/>
          </a:solidFill>
        </a:fill>
      </a:tcStyle>
    </a:wholeTbl>
    <a:band1H>
      <a:tcTxStyle/>
      <a:tcStyle>
        <a:fill>
          <a:solidFill>
            <a:srgbClr val="CEE2EA"/>
          </a:solidFill>
        </a:fill>
      </a:tcStyle>
    </a:band1H>
    <a:band2H>
      <a:tcTxStyle/>
    </a:band2H>
    <a:band1V>
      <a:tcTxStyle/>
      <a:tcStyle>
        <a:fill>
          <a:solidFill>
            <a:srgbClr val="CEE2EA"/>
          </a:solidFill>
        </a:fill>
      </a:tcStyle>
    </a:band1V>
    <a:band2V>
      <a:tcTxStyle/>
    </a:band2V>
    <a:lastCol>
      <a:tcTxStyle b="on" i="off">
        <a:font>
          <a:latin typeface="Calibri"/>
          <a:ea typeface="Calibri"/>
          <a:cs typeface="Calibri"/>
        </a:font>
        <a:schemeClr val="lt1"/>
      </a:tcTxStyle>
      <a:tcStyle>
        <a:fill>
          <a:solidFill>
            <a:schemeClr val="accent5"/>
          </a:solidFill>
        </a:fill>
      </a:tcStyle>
    </a:lastCol>
    <a:firstCol>
      <a:tcTxStyle b="on" i="off">
        <a:font>
          <a:latin typeface="Calibri"/>
          <a:ea typeface="Calibri"/>
          <a:cs typeface="Calibri"/>
        </a:font>
        <a:schemeClr val="lt1"/>
      </a:tcTxStyle>
      <a:tcStyle>
        <a:fill>
          <a:solidFill>
            <a:schemeClr val="accent5"/>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5"/>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5"/>
          </a:solidFill>
        </a:fill>
      </a:tcStyle>
    </a:firstRow>
    <a:neCell>
      <a:tcTxStyle/>
    </a:neCell>
    <a:nwCell>
      <a:tcTxStyle/>
    </a:nwCell>
  </a:tblStyle>
  <a:tblStyle styleId="{D3B7BAA0-E47E-421F-8AC6-9A70115BEF3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customschemas.google.com/relationships/presentationmetadata" Target="metadata"/><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5" name="Google Shape;165;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4" name="Google Shape;17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3" name="Google Shape;18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2" name="Google Shape;192;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0" name="Google Shape;200;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1" name="Google Shape;481;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9" name="Google Shape;489;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97" name="Google Shape;497;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05" name="Google Shape;505;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13" name="Google Shape;513;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21" name="Google Shape;52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29" name="Google Shape;529;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37" name="Google Shape;537;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45" name="Google Shape;545;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53" name="Google Shape;553;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1" name="Google Shape;561;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9" name="Google Shape;569;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77" name="Google Shape;577;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85" name="Google Shape;585;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93" name="Google Shape;593;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1" name="Google Shape;601;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9" name="Google Shape;609;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17" name="Google Shape;617;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25" name="Google Shape;625;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33" name="Google Shape;633;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1" name="Google Shape;641;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9" name="Google Shape;649;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57" name="Google Shape;657;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65" name="Google Shape;665;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73" name="Google Shape;673;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81" name="Google Shape;681;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89" name="Google Shape;689;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97" name="Google Shape;697;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5" name="Google Shape;705;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13" name="Google Shape;713;p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1" name="Google Shape;721;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29" name="Google Shape;729;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37" name="Google Shape;737;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45" name="Google Shape;745;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4" name="Google Shape;894;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2" name="Google Shape;982;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1" name="Google Shape;991;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4" name="Google Shape;1014;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4" name="Google Shape;1064;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133"/>
          <p:cNvSpPr txBox="1"/>
          <p:nvPr>
            <p:ph type="title"/>
          </p:nvPr>
        </p:nvSpPr>
        <p:spPr>
          <a:xfrm>
            <a:off x="3339058" y="180149"/>
            <a:ext cx="5576341" cy="163934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00394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6" name="Shape 16"/>
        <p:cNvGrpSpPr/>
        <p:nvPr/>
      </p:nvGrpSpPr>
      <p:grpSpPr>
        <a:xfrm>
          <a:off x="0" y="0"/>
          <a:ext cx="0" cy="0"/>
          <a:chOff x="0" y="0"/>
          <a:chExt cx="0" cy="0"/>
        </a:xfrm>
      </p:grpSpPr>
      <p:sp>
        <p:nvSpPr>
          <p:cNvPr id="17" name="Google Shape;17;p13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00394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4"/>
          <p:cNvSpPr txBox="1"/>
          <p:nvPr>
            <p:ph idx="1" type="body"/>
          </p:nvPr>
        </p:nvSpPr>
        <p:spPr>
          <a:xfrm>
            <a:off x="513379" y="1792473"/>
            <a:ext cx="7914970" cy="446104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 name="Shape 24"/>
        <p:cNvGrpSpPr/>
        <p:nvPr/>
      </p:nvGrpSpPr>
      <p:grpSpPr>
        <a:xfrm>
          <a:off x="0" y="0"/>
          <a:ext cx="0" cy="0"/>
          <a:chOff x="0" y="0"/>
          <a:chExt cx="0" cy="0"/>
        </a:xfrm>
      </p:grpSpPr>
      <p:sp>
        <p:nvSpPr>
          <p:cNvPr id="25" name="Google Shape;25;p13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00394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6"/>
          <p:cNvSpPr txBox="1"/>
          <p:nvPr>
            <p:ph idx="1" type="body"/>
          </p:nvPr>
        </p:nvSpPr>
        <p:spPr>
          <a:xfrm>
            <a:off x="513379" y="1792473"/>
            <a:ext cx="7914970" cy="446104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4.png"/><Relationship Id="rId3" Type="http://schemas.openxmlformats.org/officeDocument/2006/relationships/image" Target="../media/image1.jp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6.jpg"/><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pic>
        <p:nvPicPr>
          <p:cNvPr descr="Whimsical-sun2_1.png" id="10" name="Google Shape;10;p132"/>
          <p:cNvPicPr preferRelativeResize="0"/>
          <p:nvPr/>
        </p:nvPicPr>
        <p:blipFill rotWithShape="1">
          <a:blip r:embed="rId1">
            <a:alphaModFix/>
          </a:blip>
          <a:srcRect b="0" l="-1369" r="-1628" t="0"/>
          <a:stretch/>
        </p:blipFill>
        <p:spPr>
          <a:xfrm>
            <a:off x="-125042" y="12700"/>
            <a:ext cx="9355137" cy="6811963"/>
          </a:xfrm>
          <a:prstGeom prst="rect">
            <a:avLst/>
          </a:prstGeom>
          <a:noFill/>
          <a:ln>
            <a:noFill/>
          </a:ln>
        </p:spPr>
      </p:pic>
      <p:pic>
        <p:nvPicPr>
          <p:cNvPr descr="sle_cl_3p_PC" id="11" name="Google Shape;11;p132"/>
          <p:cNvPicPr preferRelativeResize="0"/>
          <p:nvPr/>
        </p:nvPicPr>
        <p:blipFill rotWithShape="1">
          <a:blip r:embed="rId2">
            <a:alphaModFix/>
          </a:blip>
          <a:srcRect b="0" l="0" r="0" t="0"/>
          <a:stretch/>
        </p:blipFill>
        <p:spPr>
          <a:xfrm>
            <a:off x="7172501" y="5837290"/>
            <a:ext cx="1627188" cy="669925"/>
          </a:xfrm>
          <a:prstGeom prst="rect">
            <a:avLst/>
          </a:prstGeom>
          <a:noFill/>
          <a:ln>
            <a:noFill/>
          </a:ln>
        </p:spPr>
      </p:pic>
      <p:pic>
        <p:nvPicPr>
          <p:cNvPr descr="2D_Whimsical_sun_E_124_S_3p_PC" id="12" name="Google Shape;12;p132"/>
          <p:cNvPicPr preferRelativeResize="0"/>
          <p:nvPr/>
        </p:nvPicPr>
        <p:blipFill rotWithShape="1">
          <a:blip r:embed="rId3">
            <a:alphaModFix/>
          </a:blip>
          <a:srcRect b="0" l="0" r="0" t="87648"/>
          <a:stretch/>
        </p:blipFill>
        <p:spPr>
          <a:xfrm>
            <a:off x="457200" y="6317046"/>
            <a:ext cx="1905000" cy="190169"/>
          </a:xfrm>
          <a:prstGeom prst="rect">
            <a:avLst/>
          </a:prstGeom>
          <a:noFill/>
          <a:ln>
            <a:noFill/>
          </a:ln>
        </p:spPr>
      </p:pic>
      <p:sp>
        <p:nvSpPr>
          <p:cNvPr id="13" name="Google Shape;13;p132"/>
          <p:cNvSpPr txBox="1"/>
          <p:nvPr>
            <p:ph type="title"/>
          </p:nvPr>
        </p:nvSpPr>
        <p:spPr>
          <a:xfrm>
            <a:off x="3339058" y="180149"/>
            <a:ext cx="5576341" cy="1639344"/>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003946"/>
              </a:buClr>
              <a:buSzPts val="4400"/>
              <a:buFont typeface="Arial"/>
              <a:buNone/>
              <a:defRPr b="0" i="0" sz="4400" u="none" cap="none" strike="noStrike">
                <a:solidFill>
                  <a:srgbClr val="00394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Lst>
  <p:transition spd="slow">
    <p:randomBar dir="ver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 name="Shape 19"/>
        <p:cNvGrpSpPr/>
        <p:nvPr/>
      </p:nvGrpSpPr>
      <p:grpSpPr>
        <a:xfrm>
          <a:off x="0" y="0"/>
          <a:ext cx="0" cy="0"/>
          <a:chOff x="0" y="0"/>
          <a:chExt cx="0" cy="0"/>
        </a:xfrm>
      </p:grpSpPr>
      <p:pic>
        <p:nvPicPr>
          <p:cNvPr descr="Whimsical-sun2_2.png" id="20" name="Google Shape;20;p135"/>
          <p:cNvPicPr preferRelativeResize="0"/>
          <p:nvPr/>
        </p:nvPicPr>
        <p:blipFill rotWithShape="1">
          <a:blip r:embed="rId1">
            <a:alphaModFix/>
          </a:blip>
          <a:srcRect b="0" l="-1152" r="-2645" t="0"/>
          <a:stretch/>
        </p:blipFill>
        <p:spPr>
          <a:xfrm>
            <a:off x="-46559" y="43046"/>
            <a:ext cx="9330465" cy="6741901"/>
          </a:xfrm>
          <a:prstGeom prst="rect">
            <a:avLst/>
          </a:prstGeom>
          <a:noFill/>
          <a:ln>
            <a:noFill/>
          </a:ln>
        </p:spPr>
      </p:pic>
      <p:pic>
        <p:nvPicPr>
          <p:cNvPr descr="2D_Whimsical_sun_E_124_S_3p_PC" id="21" name="Google Shape;21;p135"/>
          <p:cNvPicPr preferRelativeResize="0"/>
          <p:nvPr/>
        </p:nvPicPr>
        <p:blipFill rotWithShape="1">
          <a:blip r:embed="rId2">
            <a:alphaModFix/>
          </a:blip>
          <a:srcRect b="0" l="0" r="0" t="87648"/>
          <a:stretch/>
        </p:blipFill>
        <p:spPr>
          <a:xfrm>
            <a:off x="5471345" y="6451787"/>
            <a:ext cx="1905000" cy="190169"/>
          </a:xfrm>
          <a:prstGeom prst="rect">
            <a:avLst/>
          </a:prstGeom>
          <a:noFill/>
          <a:ln>
            <a:noFill/>
          </a:ln>
        </p:spPr>
      </p:pic>
      <p:sp>
        <p:nvSpPr>
          <p:cNvPr id="22" name="Google Shape;22;p135"/>
          <p:cNvSpPr txBox="1"/>
          <p:nvPr>
            <p:ph type="title"/>
          </p:nvPr>
        </p:nvSpPr>
        <p:spPr>
          <a:xfrm>
            <a:off x="228600" y="216178"/>
            <a:ext cx="8686800" cy="1125924"/>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003946"/>
              </a:buClr>
              <a:buSzPts val="4400"/>
              <a:buFont typeface="Arial"/>
              <a:buNone/>
              <a:defRPr b="0" i="0" sz="4400" u="none" cap="none" strike="noStrike">
                <a:solidFill>
                  <a:srgbClr val="00394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135"/>
          <p:cNvSpPr txBox="1"/>
          <p:nvPr>
            <p:ph idx="1" type="body"/>
          </p:nvPr>
        </p:nvSpPr>
        <p:spPr>
          <a:xfrm>
            <a:off x="540399" y="1747435"/>
            <a:ext cx="8155408" cy="468384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EAAB00"/>
              </a:buClr>
              <a:buSzPts val="3200"/>
              <a:buFont typeface="Arial"/>
              <a:buChar char="•"/>
              <a:defRPr b="0" i="0" sz="3200" u="none" cap="none" strike="noStrike">
                <a:solidFill>
                  <a:srgbClr val="003946"/>
                </a:solidFill>
                <a:latin typeface="Arial"/>
                <a:ea typeface="Arial"/>
                <a:cs typeface="Arial"/>
                <a:sym typeface="Arial"/>
              </a:defRPr>
            </a:lvl1pPr>
            <a:lvl2pPr indent="-406400" lvl="1" marL="914400" marR="0" rtl="0" algn="l">
              <a:spcBef>
                <a:spcPts val="560"/>
              </a:spcBef>
              <a:spcAft>
                <a:spcPts val="0"/>
              </a:spcAft>
              <a:buClr>
                <a:srgbClr val="EAAB00"/>
              </a:buClr>
              <a:buSzPts val="2800"/>
              <a:buFont typeface="Arial"/>
              <a:buChar char="•"/>
              <a:defRPr b="0" i="0" sz="2800" u="none" cap="none" strike="noStrike">
                <a:solidFill>
                  <a:srgbClr val="003946"/>
                </a:solidFill>
                <a:latin typeface="Arial"/>
                <a:ea typeface="Arial"/>
                <a:cs typeface="Arial"/>
                <a:sym typeface="Arial"/>
              </a:defRPr>
            </a:lvl2pPr>
            <a:lvl3pPr indent="-381000" lvl="2" marL="1371600" marR="0" rtl="0" algn="l">
              <a:spcBef>
                <a:spcPts val="480"/>
              </a:spcBef>
              <a:spcAft>
                <a:spcPts val="0"/>
              </a:spcAft>
              <a:buClr>
                <a:srgbClr val="EAAB00"/>
              </a:buClr>
              <a:buSzPts val="2400"/>
              <a:buFont typeface="Arial"/>
              <a:buChar char="•"/>
              <a:defRPr b="0" i="0" sz="2400" u="none" cap="none" strike="noStrike">
                <a:solidFill>
                  <a:srgbClr val="003946"/>
                </a:solidFill>
                <a:latin typeface="Arial"/>
                <a:ea typeface="Arial"/>
                <a:cs typeface="Arial"/>
                <a:sym typeface="Arial"/>
              </a:defRPr>
            </a:lvl3pPr>
            <a:lvl4pPr indent="-355600" lvl="3" marL="1828800" marR="0" rtl="0" algn="l">
              <a:spcBef>
                <a:spcPts val="400"/>
              </a:spcBef>
              <a:spcAft>
                <a:spcPts val="0"/>
              </a:spcAft>
              <a:buClr>
                <a:srgbClr val="EAAB00"/>
              </a:buClr>
              <a:buSzPts val="2000"/>
              <a:buFont typeface="Arial"/>
              <a:buChar char="•"/>
              <a:defRPr b="0" i="0" sz="2000" u="none" cap="none" strike="noStrike">
                <a:solidFill>
                  <a:srgbClr val="003946"/>
                </a:solidFill>
                <a:latin typeface="Arial"/>
                <a:ea typeface="Arial"/>
                <a:cs typeface="Arial"/>
                <a:sym typeface="Arial"/>
              </a:defRPr>
            </a:lvl4pPr>
            <a:lvl5pPr indent="-355600" lvl="4" marL="2286000" marR="0" rtl="0" algn="l">
              <a:spcBef>
                <a:spcPts val="400"/>
              </a:spcBef>
              <a:spcAft>
                <a:spcPts val="0"/>
              </a:spcAft>
              <a:buClr>
                <a:srgbClr val="EAAB00"/>
              </a:buClr>
              <a:buSzPts val="2000"/>
              <a:buFont typeface="Arial"/>
              <a:buChar char="•"/>
              <a:defRPr b="0" i="0" sz="2000" u="none" cap="none" strike="noStrike">
                <a:solidFill>
                  <a:srgbClr val="003946"/>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2" r:id="rId3"/>
  </p:sldLayoutIdLst>
  <p:transition spd="slow">
    <p:randomBar dir="ver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about:blank"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about:blank"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hyperlink" Target="about:blank"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hyperlink" Target="about:blank"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about:blank"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hyperlink" Target="about:blank"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hyperlink" Target="about:blank"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hyperlink" Target="about:blank"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about:blank"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about:blank"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about:blank"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about:blank"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hyperlink" Target="about:blank"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hyperlink" Target="about:blank"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hyperlink" Target="about:blank"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hyperlink" Target="about:blank"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hyperlink" Target="about:blank"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hyperlink" Target="about:blank"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hyperlink" Target="about:blank"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hyperlink" Target="about:blank"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hyperlink" Target="about:blank"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hyperlink" Target="about:blank"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hyperlink" Target="about:blank"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hyperlink" Target="about:blank"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hyperlink" Target="about:blank"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hyperlink" Target="about:blank"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hyperlink" Target="about:blank"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hyperlink" Target="about:blank"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hyperlink" Target="about:blank"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hyperlink" Target="about:blank"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slide" Target="/ppt/slides/slide112.xml"/><Relationship Id="rId4" Type="http://schemas.openxmlformats.org/officeDocument/2006/relationships/slide" Target="/ppt/slides/slide1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2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21.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slide" Target="/ppt/slides/slide9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slide" Target="/ppt/slides/slide11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slide" Target="/ppt/slides/slide91.xml"/><Relationship Id="rId4" Type="http://schemas.openxmlformats.org/officeDocument/2006/relationships/slide" Target="/ppt/slides/slide1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2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2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2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31.png"/><Relationship Id="rId4" Type="http://schemas.openxmlformats.org/officeDocument/2006/relationships/image" Target="../media/image2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30.png"/><Relationship Id="rId4" Type="http://schemas.openxmlformats.org/officeDocument/2006/relationships/image" Target="../media/image2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txBox="1"/>
          <p:nvPr>
            <p:ph type="title"/>
          </p:nvPr>
        </p:nvSpPr>
        <p:spPr>
          <a:xfrm>
            <a:off x="3339058" y="2992285"/>
            <a:ext cx="5576341" cy="16393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lang="en-US"/>
              <a:t>POLICY RIDERS &amp; PROVISIONS</a:t>
            </a:r>
            <a:endParaRPr/>
          </a:p>
        </p:txBody>
      </p:sp>
      <p:sp>
        <p:nvSpPr>
          <p:cNvPr id="32" name="Google Shape;32;p1"/>
          <p:cNvSpPr txBox="1"/>
          <p:nvPr/>
        </p:nvSpPr>
        <p:spPr>
          <a:xfrm>
            <a:off x="130629" y="158378"/>
            <a:ext cx="8840628" cy="1639344"/>
          </a:xfrm>
          <a:prstGeom prst="rect">
            <a:avLst/>
          </a:prstGeom>
          <a:noFill/>
          <a:ln>
            <a:noFill/>
          </a:ln>
        </p:spPr>
        <p:txBody>
          <a:bodyPr anchorCtr="0" anchor="ctr" bIns="45700" lIns="91425" spcFirstLastPara="1" rIns="91425" wrap="square" tIns="45700">
            <a:normAutofit fontScale="97500"/>
          </a:bodyPr>
          <a:lstStyle/>
          <a:p>
            <a:pPr indent="0" lvl="0" marL="0" marR="0" rtl="0" algn="ctr">
              <a:spcBef>
                <a:spcPts val="0"/>
              </a:spcBef>
              <a:spcAft>
                <a:spcPts val="0"/>
              </a:spcAft>
              <a:buClr>
                <a:srgbClr val="003946"/>
              </a:buClr>
              <a:buSzPct val="100000"/>
              <a:buFont typeface="Arial"/>
              <a:buNone/>
            </a:pPr>
            <a:r>
              <a:rPr b="1" i="0" lang="en-US" sz="4700" u="none" cap="none" strike="noStrike">
                <a:solidFill>
                  <a:srgbClr val="003946"/>
                </a:solidFill>
                <a:latin typeface="Arial"/>
                <a:ea typeface="Arial"/>
                <a:cs typeface="Arial"/>
                <a:sym typeface="Arial"/>
              </a:rPr>
              <a:t>CLAIMS IES – MODULE 2</a:t>
            </a:r>
            <a:endParaRPr b="1" i="0" sz="4700" u="none" cap="none" strike="noStrike">
              <a:solidFill>
                <a:srgbClr val="003946"/>
              </a:solidFill>
              <a:latin typeface="Arial"/>
              <a:ea typeface="Arial"/>
              <a:cs typeface="Arial"/>
              <a:sym typeface="Arial"/>
            </a:endParaRPr>
          </a:p>
        </p:txBody>
      </p:sp>
    </p:spTree>
  </p:cSld>
  <p:clrMapOvr>
    <a:masterClrMapping/>
  </p:clrMapOvr>
  <p:transition spd="slow">
    <p:comb/>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2"/>
          <p:cNvSpPr txBox="1"/>
          <p:nvPr>
            <p:ph type="title"/>
          </p:nvPr>
        </p:nvSpPr>
        <p:spPr>
          <a:xfrm>
            <a:off x="3339058" y="180149"/>
            <a:ext cx="5576341" cy="163934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lang="en-US"/>
              <a:t>FABULOUS 5</a:t>
            </a:r>
            <a:br>
              <a:rPr lang="en-US"/>
            </a:br>
            <a:r>
              <a:rPr lang="en-US"/>
              <a:t>IMAGE</a:t>
            </a:r>
            <a:endParaRPr/>
          </a:p>
        </p:txBody>
      </p:sp>
      <p:pic>
        <p:nvPicPr>
          <p:cNvPr id="38" name="Google Shape;38;p2"/>
          <p:cNvPicPr preferRelativeResize="0"/>
          <p:nvPr/>
        </p:nvPicPr>
        <p:blipFill rotWithShape="1">
          <a:blip r:embed="rId3">
            <a:alphaModFix/>
          </a:blip>
          <a:srcRect b="0" l="0" r="0" t="0"/>
          <a:stretch/>
        </p:blipFill>
        <p:spPr>
          <a:xfrm>
            <a:off x="0" y="-7518"/>
            <a:ext cx="9144000" cy="6865518"/>
          </a:xfrm>
          <a:prstGeom prst="rect">
            <a:avLst/>
          </a:prstGeom>
          <a:noFill/>
          <a:ln>
            <a:noFill/>
          </a:ln>
        </p:spPr>
      </p:pic>
    </p:spTree>
  </p:cSld>
  <p:clrMapOvr>
    <a:masterClrMapping/>
  </p:clrMapOvr>
  <p:transition spd="slow">
    <p:wheel spokes="8"/>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FABULOUS 5</a:t>
            </a:r>
            <a:endParaRPr b="1"/>
          </a:p>
        </p:txBody>
      </p:sp>
      <p:sp>
        <p:nvSpPr>
          <p:cNvPr id="44" name="Google Shape;44;p3"/>
          <p:cNvSpPr/>
          <p:nvPr/>
        </p:nvSpPr>
        <p:spPr>
          <a:xfrm>
            <a:off x="1825787" y="1575582"/>
            <a:ext cx="5376872" cy="829993"/>
          </a:xfrm>
          <a:prstGeom prst="rect">
            <a:avLst/>
          </a:prstGeom>
          <a:solidFill>
            <a:srgbClr val="FF0000"/>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Accidental Death Benefit (ADB)</a:t>
            </a:r>
            <a:endParaRPr b="0" i="0" sz="2800" u="none" cap="none" strike="noStrike">
              <a:solidFill>
                <a:schemeClr val="lt1"/>
              </a:solidFill>
              <a:latin typeface="Arial"/>
              <a:ea typeface="Arial"/>
              <a:cs typeface="Arial"/>
              <a:sym typeface="Arial"/>
            </a:endParaRPr>
          </a:p>
        </p:txBody>
      </p:sp>
      <p:sp>
        <p:nvSpPr>
          <p:cNvPr id="45" name="Google Shape;45;p3"/>
          <p:cNvSpPr/>
          <p:nvPr/>
        </p:nvSpPr>
        <p:spPr>
          <a:xfrm>
            <a:off x="1825787" y="2630212"/>
            <a:ext cx="5376872" cy="829993"/>
          </a:xfrm>
          <a:prstGeom prst="rect">
            <a:avLst/>
          </a:prstGeom>
          <a:solidFill>
            <a:srgbClr val="03510C"/>
          </a:solidFill>
          <a:ln cap="flat" cmpd="sng" w="25400">
            <a:solidFill>
              <a:srgbClr val="035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Hospital Income Benefit (HIB)</a:t>
            </a:r>
            <a:endParaRPr b="0" i="0" sz="2800" u="none" cap="none" strike="noStrike">
              <a:solidFill>
                <a:schemeClr val="lt1"/>
              </a:solidFill>
              <a:latin typeface="Arial"/>
              <a:ea typeface="Arial"/>
              <a:cs typeface="Arial"/>
              <a:sym typeface="Arial"/>
            </a:endParaRPr>
          </a:p>
        </p:txBody>
      </p:sp>
      <p:sp>
        <p:nvSpPr>
          <p:cNvPr id="46" name="Google Shape;46;p3"/>
          <p:cNvSpPr/>
          <p:nvPr/>
        </p:nvSpPr>
        <p:spPr>
          <a:xfrm>
            <a:off x="1825787" y="3684842"/>
            <a:ext cx="5376872" cy="829993"/>
          </a:xfrm>
          <a:prstGeom prst="rect">
            <a:avLst/>
          </a:prstGeom>
          <a:solidFill>
            <a:srgbClr val="002060"/>
          </a:solidFill>
          <a:ln cap="flat" cmpd="sng" w="254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Female / Maternity Benefit </a:t>
            </a:r>
            <a:endParaRPr/>
          </a:p>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(FB / FMB / FCI / FCIM)</a:t>
            </a:r>
            <a:endParaRPr b="0" i="0" sz="2800" u="none" cap="none" strike="noStrike">
              <a:solidFill>
                <a:schemeClr val="lt1"/>
              </a:solidFill>
              <a:latin typeface="Arial"/>
              <a:ea typeface="Arial"/>
              <a:cs typeface="Arial"/>
              <a:sym typeface="Arial"/>
            </a:endParaRPr>
          </a:p>
        </p:txBody>
      </p:sp>
      <p:sp>
        <p:nvSpPr>
          <p:cNvPr id="47" name="Google Shape;47;p3"/>
          <p:cNvSpPr/>
          <p:nvPr/>
        </p:nvSpPr>
        <p:spPr>
          <a:xfrm>
            <a:off x="1825787" y="4752536"/>
            <a:ext cx="5376872" cy="829993"/>
          </a:xfrm>
          <a:prstGeom prst="rect">
            <a:avLst/>
          </a:prstGeom>
          <a:solidFill>
            <a:srgbClr val="FFC000"/>
          </a:solid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Critical Condition Rider (CCR) / Critical Illness Benefit (CIB)</a:t>
            </a:r>
            <a:endParaRPr b="0" i="0" sz="2800" u="none" cap="none" strike="noStrike">
              <a:solidFill>
                <a:schemeClr val="lt1"/>
              </a:solidFill>
              <a:latin typeface="Arial"/>
              <a:ea typeface="Arial"/>
              <a:cs typeface="Arial"/>
              <a:sym typeface="Arial"/>
            </a:endParaRPr>
          </a:p>
        </p:txBody>
      </p:sp>
      <p:sp>
        <p:nvSpPr>
          <p:cNvPr id="48" name="Google Shape;48;p3"/>
          <p:cNvSpPr/>
          <p:nvPr/>
        </p:nvSpPr>
        <p:spPr>
          <a:xfrm>
            <a:off x="1825787" y="5795889"/>
            <a:ext cx="5376872" cy="829993"/>
          </a:xfrm>
          <a:prstGeom prst="rect">
            <a:avLst/>
          </a:prstGeom>
          <a:solidFill>
            <a:srgbClr val="FF00FF"/>
          </a:solidFill>
          <a:ln cap="flat" cmpd="sng" w="25400">
            <a:solidFill>
              <a:srgbClr val="FF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chemeClr val="lt1"/>
                </a:solidFill>
                <a:latin typeface="Arial"/>
                <a:ea typeface="Arial"/>
                <a:cs typeface="Arial"/>
                <a:sym typeface="Arial"/>
              </a:rPr>
              <a:t>Total Disability Benefit (TDB)</a:t>
            </a:r>
            <a:endParaRPr b="0" i="0" sz="2800" u="none" cap="none" strike="noStrike">
              <a:solidFill>
                <a:schemeClr val="lt1"/>
              </a:solidFill>
              <a:latin typeface="Arial"/>
              <a:ea typeface="Arial"/>
              <a:cs typeface="Arial"/>
              <a:sym typeface="Arial"/>
            </a:endParaRPr>
          </a:p>
        </p:txBody>
      </p:sp>
      <p:pic>
        <p:nvPicPr>
          <p:cNvPr id="49" name="Google Shape;49;p3"/>
          <p:cNvPicPr preferRelativeResize="0"/>
          <p:nvPr/>
        </p:nvPicPr>
        <p:blipFill rotWithShape="1">
          <a:blip r:embed="rId3">
            <a:alphaModFix/>
          </a:blip>
          <a:srcRect b="0" l="0" r="0" t="0"/>
          <a:stretch/>
        </p:blipFill>
        <p:spPr>
          <a:xfrm>
            <a:off x="228600" y="1465943"/>
            <a:ext cx="8686800" cy="5217996"/>
          </a:xfrm>
          <a:prstGeom prst="rect">
            <a:avLst/>
          </a:prstGeom>
          <a:noFill/>
          <a:ln>
            <a:noFill/>
          </a:ln>
        </p:spPr>
      </p:pic>
    </p:spTree>
  </p:cSld>
  <p:clrMapOvr>
    <a:masterClrMapping/>
  </p:clrMapOvr>
  <p:transition spd="slow">
    <p:comb/>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p:tgtEl>
                                          <p:spTgt spid="44"/>
                                        </p:tgtEl>
                                        <p:attrNameLst>
                                          <p:attrName>ppt_w</p:attrName>
                                        </p:attrNameLst>
                                      </p:cBhvr>
                                      <p:tavLst>
                                        <p:tav fmla="" tm="0">
                                          <p:val>
                                            <p:strVal val="0"/>
                                          </p:val>
                                        </p:tav>
                                        <p:tav fmla="" tm="100000">
                                          <p:val>
                                            <p:strVal val="#ppt_w"/>
                                          </p:val>
                                        </p:tav>
                                      </p:tavLst>
                                    </p:anim>
                                    <p:anim calcmode="lin" valueType="num">
                                      <p:cBhvr additive="base">
                                        <p:cTn dur="500"/>
                                        <p:tgtEl>
                                          <p:spTgt spid="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500"/>
                                        <p:tgtEl>
                                          <p:spTgt spid="45"/>
                                        </p:tgtEl>
                                        <p:attrNameLst>
                                          <p:attrName>ppt_w</p:attrName>
                                        </p:attrNameLst>
                                      </p:cBhvr>
                                      <p:tavLst>
                                        <p:tav fmla="" tm="0">
                                          <p:val>
                                            <p:strVal val="0"/>
                                          </p:val>
                                        </p:tav>
                                        <p:tav fmla="" tm="100000">
                                          <p:val>
                                            <p:strVal val="#ppt_w"/>
                                          </p:val>
                                        </p:tav>
                                      </p:tavLst>
                                    </p:anim>
                                    <p:anim calcmode="lin" valueType="num">
                                      <p:cBhvr additive="base">
                                        <p:cTn dur="500"/>
                                        <p:tgtEl>
                                          <p:spTgt spid="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500"/>
                                        <p:tgtEl>
                                          <p:spTgt spid="46"/>
                                        </p:tgtEl>
                                        <p:attrNameLst>
                                          <p:attrName>ppt_w</p:attrName>
                                        </p:attrNameLst>
                                      </p:cBhvr>
                                      <p:tavLst>
                                        <p:tav fmla="" tm="0">
                                          <p:val>
                                            <p:strVal val="0"/>
                                          </p:val>
                                        </p:tav>
                                        <p:tav fmla="" tm="100000">
                                          <p:val>
                                            <p:strVal val="#ppt_w"/>
                                          </p:val>
                                        </p:tav>
                                      </p:tavLst>
                                    </p:anim>
                                    <p:anim calcmode="lin" valueType="num">
                                      <p:cBhvr additive="base">
                                        <p:cTn dur="500"/>
                                        <p:tgtEl>
                                          <p:spTgt spid="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p:tgtEl>
                                          <p:spTgt spid="47"/>
                                        </p:tgtEl>
                                        <p:attrNameLst>
                                          <p:attrName>ppt_w</p:attrName>
                                        </p:attrNameLst>
                                      </p:cBhvr>
                                      <p:tavLst>
                                        <p:tav fmla="" tm="0">
                                          <p:val>
                                            <p:strVal val="0"/>
                                          </p:val>
                                        </p:tav>
                                        <p:tav fmla="" tm="100000">
                                          <p:val>
                                            <p:strVal val="#ppt_w"/>
                                          </p:val>
                                        </p:tav>
                                      </p:tavLst>
                                    </p:anim>
                                    <p:anim calcmode="lin" valueType="num">
                                      <p:cBhvr additive="base">
                                        <p:cTn dur="500"/>
                                        <p:tgtEl>
                                          <p:spTgt spid="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p:tgtEl>
                                          <p:spTgt spid="48"/>
                                        </p:tgtEl>
                                        <p:attrNameLst>
                                          <p:attrName>ppt_w</p:attrName>
                                        </p:attrNameLst>
                                      </p:cBhvr>
                                      <p:tavLst>
                                        <p:tav fmla="" tm="0">
                                          <p:val>
                                            <p:strVal val="0"/>
                                          </p:val>
                                        </p:tav>
                                        <p:tav fmla="" tm="100000">
                                          <p:val>
                                            <p:strVal val="#ppt_w"/>
                                          </p:val>
                                        </p:tav>
                                      </p:tavLst>
                                    </p:anim>
                                    <p:anim calcmode="lin" valueType="num">
                                      <p:cBhvr additive="base">
                                        <p:cTn dur="500"/>
                                        <p:tgtEl>
                                          <p:spTgt spid="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1000"/>
                                        <p:tgtEl>
                                          <p:spTgt spid="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4"/>
          <p:cNvSpPr txBox="1"/>
          <p:nvPr/>
        </p:nvSpPr>
        <p:spPr>
          <a:xfrm>
            <a:off x="293915" y="1545773"/>
            <a:ext cx="8556170" cy="994227"/>
          </a:xfrm>
          <a:prstGeom prst="rect">
            <a:avLst/>
          </a:prstGeom>
          <a:solidFill>
            <a:srgbClr val="FF0000"/>
          </a:solidFill>
          <a:ln cap="flat" cmpd="sng" w="25400">
            <a:solidFill>
              <a:srgbClr val="FF000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b="0" i="0" sz="3000" u="none" cap="none" strike="noStrike">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b="0" i="0" lang="en-US" sz="14400" u="none" cap="none" strike="noStrike">
                <a:solidFill>
                  <a:schemeClr val="lt1"/>
                </a:solidFill>
                <a:latin typeface="Arial"/>
                <a:ea typeface="Arial"/>
                <a:cs typeface="Arial"/>
                <a:sym typeface="Arial"/>
              </a:rPr>
              <a:t>ACCIDENTAL DEATH BENEFIT</a:t>
            </a:r>
            <a:endParaRPr/>
          </a:p>
          <a:p>
            <a:pPr indent="-495300" lvl="0" marL="495300" marR="0" rtl="0" algn="ctr">
              <a:lnSpc>
                <a:spcPct val="90000"/>
              </a:lnSpc>
              <a:spcBef>
                <a:spcPts val="490"/>
              </a:spcBef>
              <a:spcAft>
                <a:spcPts val="0"/>
              </a:spcAft>
              <a:buClr>
                <a:schemeClr val="dk1"/>
              </a:buClr>
              <a:buSzPct val="100000"/>
              <a:buFont typeface="Noto Sans Symbols"/>
              <a:buNone/>
            </a:pPr>
            <a:r>
              <a:t/>
            </a:r>
            <a:endParaRPr b="0" i="0" sz="9800" u="none" cap="none" strike="noStrike">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0" i="0" lang="en-US" sz="2800" u="none" cap="none" strike="noStrike">
                <a:solidFill>
                  <a:schemeClr val="hlink"/>
                </a:solidFill>
                <a:latin typeface="Arial"/>
                <a:ea typeface="Arial"/>
                <a:cs typeface="Arial"/>
                <a:sym typeface="Arial"/>
              </a:rPr>
              <a:t>	</a:t>
            </a:r>
            <a:endParaRPr b="0" i="0" sz="3200" u="none" cap="none" strike="noStrike">
              <a:solidFill>
                <a:srgbClr val="17365D"/>
              </a:solidFill>
              <a:latin typeface="Arial"/>
              <a:ea typeface="Arial"/>
              <a:cs typeface="Arial"/>
              <a:sym typeface="Arial"/>
            </a:endParaRPr>
          </a:p>
        </p:txBody>
      </p:sp>
      <p:sp>
        <p:nvSpPr>
          <p:cNvPr id="55" name="Google Shape;55;p4"/>
          <p:cNvSpPr/>
          <p:nvPr/>
        </p:nvSpPr>
        <p:spPr>
          <a:xfrm>
            <a:off x="293915" y="2813539"/>
            <a:ext cx="8556170" cy="703384"/>
          </a:xfrm>
          <a:prstGeom prst="rect">
            <a:avLst/>
          </a:prstGeom>
          <a:no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chemeClr val="dk1"/>
              </a:buClr>
              <a:buSzPts val="2800"/>
              <a:buFont typeface="Noto Sans Symbols"/>
              <a:buChar char="✔"/>
            </a:pPr>
            <a:r>
              <a:rPr b="0" i="0" lang="en-US" sz="2800" u="sng" cap="none" strike="noStrike">
                <a:solidFill>
                  <a:srgbClr val="002060"/>
                </a:solidFill>
                <a:latin typeface="Arial"/>
                <a:ea typeface="Arial"/>
                <a:cs typeface="Arial"/>
                <a:sym typeface="Arial"/>
              </a:rPr>
              <a:t>additional benefit </a:t>
            </a:r>
            <a:r>
              <a:rPr b="0" i="0" lang="en-US" sz="2800" u="none" cap="none" strike="noStrike">
                <a:solidFill>
                  <a:srgbClr val="002060"/>
                </a:solidFill>
                <a:latin typeface="Arial"/>
                <a:ea typeface="Arial"/>
                <a:cs typeface="Arial"/>
                <a:sym typeface="Arial"/>
              </a:rPr>
              <a:t>in case of death </a:t>
            </a:r>
            <a:r>
              <a:rPr b="0" i="0" lang="en-US" sz="2800" u="sng" cap="none" strike="noStrike">
                <a:solidFill>
                  <a:srgbClr val="002060"/>
                </a:solidFill>
                <a:latin typeface="Arial"/>
                <a:ea typeface="Arial"/>
                <a:cs typeface="Arial"/>
                <a:sym typeface="Arial"/>
              </a:rPr>
              <a:t>due to accident</a:t>
            </a:r>
            <a:endParaRPr/>
          </a:p>
        </p:txBody>
      </p:sp>
      <p:sp>
        <p:nvSpPr>
          <p:cNvPr id="56" name="Google Shape;56;p4"/>
          <p:cNvSpPr/>
          <p:nvPr/>
        </p:nvSpPr>
        <p:spPr>
          <a:xfrm>
            <a:off x="293915" y="3868615"/>
            <a:ext cx="8556170" cy="703384"/>
          </a:xfrm>
          <a:prstGeom prst="rect">
            <a:avLst/>
          </a:prstGeom>
          <a:no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chemeClr val="dk1"/>
              </a:buClr>
              <a:buSzPts val="2800"/>
              <a:buFont typeface="Noto Sans Symbols"/>
              <a:buChar char="✔"/>
            </a:pPr>
            <a:r>
              <a:rPr b="0" i="0" lang="en-US" sz="2800" u="none" cap="none" strike="noStrike">
                <a:solidFill>
                  <a:srgbClr val="002060"/>
                </a:solidFill>
                <a:latin typeface="Arial"/>
                <a:ea typeface="Arial"/>
                <a:cs typeface="Arial"/>
                <a:sym typeface="Arial"/>
              </a:rPr>
              <a:t>death should occur </a:t>
            </a:r>
            <a:r>
              <a:rPr b="0" i="0" lang="en-US" sz="2800" u="sng" cap="none" strike="noStrike">
                <a:solidFill>
                  <a:srgbClr val="002060"/>
                </a:solidFill>
                <a:latin typeface="Arial"/>
                <a:ea typeface="Arial"/>
                <a:cs typeface="Arial"/>
                <a:sym typeface="Arial"/>
              </a:rPr>
              <a:t>within 1 year</a:t>
            </a:r>
            <a:r>
              <a:rPr b="0" i="0" lang="en-US" sz="2800" u="none" cap="none" strike="noStrike">
                <a:solidFill>
                  <a:srgbClr val="002060"/>
                </a:solidFill>
                <a:latin typeface="Arial"/>
                <a:ea typeface="Arial"/>
                <a:cs typeface="Arial"/>
                <a:sym typeface="Arial"/>
              </a:rPr>
              <a:t> from the date of the accident</a:t>
            </a:r>
            <a:endParaRPr/>
          </a:p>
        </p:txBody>
      </p:sp>
      <p:sp>
        <p:nvSpPr>
          <p:cNvPr id="57" name="Google Shape;57;p4"/>
          <p:cNvSpPr/>
          <p:nvPr/>
        </p:nvSpPr>
        <p:spPr>
          <a:xfrm>
            <a:off x="293915" y="4951828"/>
            <a:ext cx="8556170" cy="703384"/>
          </a:xfrm>
          <a:prstGeom prst="rect">
            <a:avLst/>
          </a:prstGeom>
          <a:no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chemeClr val="dk1"/>
              </a:buClr>
              <a:buSzPts val="2800"/>
              <a:buFont typeface="Noto Sans Symbols"/>
              <a:buChar char="✔"/>
            </a:pPr>
            <a:r>
              <a:rPr b="0" i="0" lang="en-US" sz="2800" u="none" cap="none" strike="noStrike">
                <a:solidFill>
                  <a:srgbClr val="002060"/>
                </a:solidFill>
                <a:latin typeface="Arial"/>
                <a:ea typeface="Arial"/>
                <a:cs typeface="Arial"/>
                <a:sym typeface="Arial"/>
              </a:rPr>
              <a:t>should be </a:t>
            </a:r>
            <a:r>
              <a:rPr b="0" i="0" lang="en-US" sz="2800" u="sng" cap="none" strike="noStrike">
                <a:solidFill>
                  <a:srgbClr val="002060"/>
                </a:solidFill>
                <a:latin typeface="Arial"/>
                <a:ea typeface="Arial"/>
                <a:cs typeface="Arial"/>
                <a:sym typeface="Arial"/>
              </a:rPr>
              <a:t>independent of any disease, medical or surgical treatment</a:t>
            </a:r>
            <a:endParaRPr/>
          </a:p>
        </p:txBody>
      </p:sp>
      <p:sp>
        <p:nvSpPr>
          <p:cNvPr id="58" name="Google Shape;58;p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ADB</a:t>
            </a:r>
            <a:endParaRP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p:tgtEl>
                                          <p:spTgt spid="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p:tgtEl>
                                          <p:spTgt spid="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p:tgtEl>
                                          <p:spTgt spid="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5"/>
          <p:cNvPicPr preferRelativeResize="0"/>
          <p:nvPr/>
        </p:nvPicPr>
        <p:blipFill rotWithShape="1">
          <a:blip r:embed="rId3">
            <a:alphaModFix/>
          </a:blip>
          <a:srcRect b="0" l="0" r="0" t="0"/>
          <a:stretch/>
        </p:blipFill>
        <p:spPr>
          <a:xfrm>
            <a:off x="3143830" y="2427514"/>
            <a:ext cx="2725709" cy="2250553"/>
          </a:xfrm>
          <a:prstGeom prst="rect">
            <a:avLst/>
          </a:prstGeom>
          <a:noFill/>
          <a:ln>
            <a:noFill/>
          </a:ln>
        </p:spPr>
      </p:pic>
      <p:sp>
        <p:nvSpPr>
          <p:cNvPr id="64" name="Google Shape;64;p5"/>
          <p:cNvSpPr/>
          <p:nvPr/>
        </p:nvSpPr>
        <p:spPr>
          <a:xfrm>
            <a:off x="2855683" y="4913085"/>
            <a:ext cx="3385457" cy="969296"/>
          </a:xfrm>
          <a:prstGeom prst="rect">
            <a:avLst/>
          </a:prstGeom>
          <a:gradFill>
            <a:gsLst>
              <a:gs pos="0">
                <a:srgbClr val="D13F3B"/>
              </a:gs>
              <a:gs pos="100000">
                <a:srgbClr val="FF9995"/>
              </a:gs>
            </a:gsLst>
            <a:lin ang="16200000" scaled="0"/>
          </a:gradFill>
          <a:ln cap="flat" cmpd="sng" w="9525">
            <a:solidFill>
              <a:srgbClr val="BD4B4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457200" lvl="1" marL="9144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Homicide</a:t>
            </a:r>
            <a:endParaRPr/>
          </a:p>
        </p:txBody>
      </p:sp>
      <p:sp>
        <p:nvSpPr>
          <p:cNvPr id="65" name="Google Shape;65;p5"/>
          <p:cNvSpPr txBox="1"/>
          <p:nvPr/>
        </p:nvSpPr>
        <p:spPr>
          <a:xfrm>
            <a:off x="228600" y="1567544"/>
            <a:ext cx="8556170" cy="642256"/>
          </a:xfrm>
          <a:prstGeom prst="rect">
            <a:avLst/>
          </a:prstGeom>
          <a:noFill/>
          <a:ln>
            <a:noFill/>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14400" u="none" cap="none" strike="noStrike">
                <a:solidFill>
                  <a:srgbClr val="F36005"/>
                </a:solidFill>
                <a:latin typeface="Arial"/>
                <a:ea typeface="Arial"/>
                <a:cs typeface="Arial"/>
                <a:sym typeface="Arial"/>
              </a:rPr>
              <a:t>Exclusions</a:t>
            </a:r>
            <a:endParaRPr/>
          </a:p>
          <a:p>
            <a:pPr indent="-495300" lvl="0" marL="495300" marR="0" rtl="0" algn="l">
              <a:lnSpc>
                <a:spcPct val="90000"/>
              </a:lnSpc>
              <a:spcBef>
                <a:spcPts val="195"/>
              </a:spcBef>
              <a:spcAft>
                <a:spcPts val="0"/>
              </a:spcAft>
              <a:buClr>
                <a:schemeClr val="dk1"/>
              </a:buClr>
              <a:buSzPct val="100000"/>
              <a:buFont typeface="Noto Sans Symbols"/>
              <a:buNone/>
            </a:pPr>
            <a:r>
              <a:t/>
            </a:r>
            <a:endParaRPr b="1" i="0" sz="3900" u="none" cap="none" strike="noStrike">
              <a:solidFill>
                <a:srgbClr val="F36005"/>
              </a:solidFill>
              <a:latin typeface="Arial"/>
              <a:ea typeface="Arial"/>
              <a:cs typeface="Arial"/>
              <a:sym typeface="Arial"/>
            </a:endParaRPr>
          </a:p>
          <a:p>
            <a:pPr indent="0" lvl="0" marL="0" marR="0" rtl="0" algn="l">
              <a:spcBef>
                <a:spcPts val="140"/>
              </a:spcBef>
              <a:spcAft>
                <a:spcPts val="0"/>
              </a:spcAft>
              <a:buClr>
                <a:srgbClr val="EAAB00"/>
              </a:buClr>
              <a:buSzPct val="100000"/>
              <a:buFont typeface="Arial"/>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1" i="0" lang="en-US" sz="2800" u="none" cap="none" strike="noStrike">
                <a:solidFill>
                  <a:schemeClr val="hlink"/>
                </a:solidFill>
                <a:latin typeface="Arial"/>
                <a:ea typeface="Arial"/>
                <a:cs typeface="Arial"/>
                <a:sym typeface="Arial"/>
              </a:rPr>
              <a:t>	</a:t>
            </a:r>
            <a:endParaRPr b="1" i="0" sz="3200" u="none" cap="none" strike="noStrike">
              <a:solidFill>
                <a:srgbClr val="17365D"/>
              </a:solidFill>
              <a:latin typeface="Arial"/>
              <a:ea typeface="Arial"/>
              <a:cs typeface="Arial"/>
              <a:sym typeface="Arial"/>
            </a:endParaRPr>
          </a:p>
        </p:txBody>
      </p:sp>
      <p:sp>
        <p:nvSpPr>
          <p:cNvPr id="66" name="Google Shape;66;p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ADB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4"/>
                                        </p:tgtEl>
                                        <p:attrNameLst>
                                          <p:attrName>style.visibility</p:attrName>
                                        </p:attrNameLst>
                                      </p:cBhvr>
                                      <p:to>
                                        <p:strVal val="visible"/>
                                      </p:to>
                                    </p:set>
                                    <p:anim calcmode="lin" valueType="num">
                                      <p:cBhvr additive="base">
                                        <p:cTn dur="500"/>
                                        <p:tgtEl>
                                          <p:spTgt spid="6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p:tgtEl>
                                          <p:spTgt spid="6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6"/>
          <p:cNvSpPr/>
          <p:nvPr/>
        </p:nvSpPr>
        <p:spPr>
          <a:xfrm>
            <a:off x="3232011" y="2083315"/>
            <a:ext cx="5156519" cy="1815882"/>
          </a:xfrm>
          <a:prstGeom prst="rect">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Suicide</a:t>
            </a:r>
            <a:endParaRPr/>
          </a:p>
          <a:p>
            <a:pPr indent="-279400" lvl="0" marL="457200" marR="0" rtl="0" algn="l">
              <a:spcBef>
                <a:spcPts val="0"/>
              </a:spcBef>
              <a:spcAft>
                <a:spcPts val="0"/>
              </a:spcAft>
              <a:buClr>
                <a:schemeClr val="dk1"/>
              </a:buClr>
              <a:buSzPts val="2800"/>
              <a:buFont typeface="Noto Sans Symbols"/>
              <a:buNone/>
            </a:pPr>
            <a:r>
              <a:t/>
            </a:r>
            <a:endParaRPr b="0" i="0" sz="2800" u="none" cap="none" strike="noStrike">
              <a:solidFill>
                <a:srgbClr val="002060"/>
              </a:solidFill>
              <a:latin typeface="Arial"/>
              <a:ea typeface="Arial"/>
              <a:cs typeface="Arial"/>
              <a:sym typeface="Arial"/>
            </a:endParaRPr>
          </a:p>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Poison, carbon monoxide, or drug overdose</a:t>
            </a:r>
            <a:endParaRPr/>
          </a:p>
        </p:txBody>
      </p:sp>
      <p:pic>
        <p:nvPicPr>
          <p:cNvPr id="72" name="Google Shape;72;p6"/>
          <p:cNvPicPr preferRelativeResize="0"/>
          <p:nvPr/>
        </p:nvPicPr>
        <p:blipFill rotWithShape="1">
          <a:blip r:embed="rId3">
            <a:alphaModFix/>
          </a:blip>
          <a:srcRect b="0" l="0" r="0" t="0"/>
          <a:stretch/>
        </p:blipFill>
        <p:spPr>
          <a:xfrm>
            <a:off x="461221" y="2209800"/>
            <a:ext cx="2347293" cy="2201581"/>
          </a:xfrm>
          <a:prstGeom prst="rect">
            <a:avLst/>
          </a:prstGeom>
          <a:noFill/>
          <a:ln>
            <a:noFill/>
          </a:ln>
        </p:spPr>
      </p:pic>
      <p:pic>
        <p:nvPicPr>
          <p:cNvPr id="73" name="Google Shape;73;p6"/>
          <p:cNvPicPr preferRelativeResize="0"/>
          <p:nvPr/>
        </p:nvPicPr>
        <p:blipFill rotWithShape="1">
          <a:blip r:embed="rId4">
            <a:alphaModFix/>
          </a:blip>
          <a:srcRect b="0" l="0" r="0" t="0"/>
          <a:stretch/>
        </p:blipFill>
        <p:spPr>
          <a:xfrm>
            <a:off x="5812971" y="4200245"/>
            <a:ext cx="2667000" cy="2434245"/>
          </a:xfrm>
          <a:prstGeom prst="rect">
            <a:avLst/>
          </a:prstGeom>
          <a:noFill/>
          <a:ln>
            <a:noFill/>
          </a:ln>
        </p:spPr>
      </p:pic>
      <p:sp>
        <p:nvSpPr>
          <p:cNvPr id="74" name="Google Shape;74;p6"/>
          <p:cNvSpPr/>
          <p:nvPr/>
        </p:nvSpPr>
        <p:spPr>
          <a:xfrm>
            <a:off x="1770850" y="4898571"/>
            <a:ext cx="4281607" cy="1349829"/>
          </a:xfrm>
          <a:prstGeom prst="rect">
            <a:avLst/>
          </a:prstGeom>
          <a:no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 name="Google Shape;75;p6"/>
          <p:cNvSpPr/>
          <p:nvPr/>
        </p:nvSpPr>
        <p:spPr>
          <a:xfrm>
            <a:off x="1611086" y="4996543"/>
            <a:ext cx="4136571" cy="1382486"/>
          </a:xfrm>
          <a:prstGeom prst="rect">
            <a:avLst/>
          </a:prstGeom>
          <a:no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 name="Google Shape;76;p6"/>
          <p:cNvSpPr/>
          <p:nvPr/>
        </p:nvSpPr>
        <p:spPr>
          <a:xfrm>
            <a:off x="613621" y="4742452"/>
            <a:ext cx="4996542" cy="1349829"/>
          </a:xfrm>
          <a:prstGeom prst="rect">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Self-inflicted firearm injury</a:t>
            </a:r>
            <a:endParaRPr/>
          </a:p>
        </p:txBody>
      </p:sp>
      <p:sp>
        <p:nvSpPr>
          <p:cNvPr id="77" name="Google Shape;77;p6"/>
          <p:cNvSpPr txBox="1"/>
          <p:nvPr/>
        </p:nvSpPr>
        <p:spPr>
          <a:xfrm>
            <a:off x="228600" y="1567544"/>
            <a:ext cx="8556170" cy="642256"/>
          </a:xfrm>
          <a:prstGeom prst="rect">
            <a:avLst/>
          </a:prstGeom>
          <a:noFill/>
          <a:ln>
            <a:noFill/>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14400" u="none" cap="none" strike="noStrike">
                <a:solidFill>
                  <a:srgbClr val="F36005"/>
                </a:solidFill>
                <a:latin typeface="Arial"/>
                <a:ea typeface="Arial"/>
                <a:cs typeface="Arial"/>
                <a:sym typeface="Arial"/>
              </a:rPr>
              <a:t>Exclusions</a:t>
            </a:r>
            <a:endParaRPr/>
          </a:p>
          <a:p>
            <a:pPr indent="-495300" lvl="0" marL="495300" marR="0" rtl="0" algn="l">
              <a:lnSpc>
                <a:spcPct val="90000"/>
              </a:lnSpc>
              <a:spcBef>
                <a:spcPts val="195"/>
              </a:spcBef>
              <a:spcAft>
                <a:spcPts val="0"/>
              </a:spcAft>
              <a:buClr>
                <a:schemeClr val="dk1"/>
              </a:buClr>
              <a:buSzPct val="100000"/>
              <a:buFont typeface="Noto Sans Symbols"/>
              <a:buNone/>
            </a:pPr>
            <a:r>
              <a:t/>
            </a:r>
            <a:endParaRPr b="1" i="0" sz="3900" u="none" cap="none" strike="noStrike">
              <a:solidFill>
                <a:srgbClr val="F36005"/>
              </a:solidFill>
              <a:latin typeface="Arial"/>
              <a:ea typeface="Arial"/>
              <a:cs typeface="Arial"/>
              <a:sym typeface="Arial"/>
            </a:endParaRPr>
          </a:p>
          <a:p>
            <a:pPr indent="0" lvl="0" marL="0" marR="0" rtl="0" algn="l">
              <a:spcBef>
                <a:spcPts val="140"/>
              </a:spcBef>
              <a:spcAft>
                <a:spcPts val="0"/>
              </a:spcAft>
              <a:buClr>
                <a:srgbClr val="EAAB00"/>
              </a:buClr>
              <a:buSzPct val="100000"/>
              <a:buFont typeface="Arial"/>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1" i="0" lang="en-US" sz="2800" u="none" cap="none" strike="noStrike">
                <a:solidFill>
                  <a:schemeClr val="hlink"/>
                </a:solidFill>
                <a:latin typeface="Arial"/>
                <a:ea typeface="Arial"/>
                <a:cs typeface="Arial"/>
                <a:sym typeface="Arial"/>
              </a:rPr>
              <a:t>	</a:t>
            </a:r>
            <a:endParaRPr b="1" i="0" sz="3200" u="none" cap="none" strike="noStrike">
              <a:solidFill>
                <a:srgbClr val="17365D"/>
              </a:solidFill>
              <a:latin typeface="Arial"/>
              <a:ea typeface="Arial"/>
              <a:cs typeface="Arial"/>
              <a:sym typeface="Arial"/>
            </a:endParaRPr>
          </a:p>
        </p:txBody>
      </p:sp>
      <p:sp>
        <p:nvSpPr>
          <p:cNvPr id="78" name="Google Shape;78;p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ADB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1"/>
                                        </p:tgtEl>
                                        <p:attrNameLst>
                                          <p:attrName>style.visibility</p:attrName>
                                        </p:attrNameLst>
                                      </p:cBhvr>
                                      <p:to>
                                        <p:strVal val="visible"/>
                                      </p:to>
                                    </p:set>
                                    <p:anim calcmode="lin" valueType="num">
                                      <p:cBhvr additive="base">
                                        <p:cTn dur="500"/>
                                        <p:tgtEl>
                                          <p:spTgt spid="7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500"/>
                                        <p:tgtEl>
                                          <p:spTgt spid="7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p:tgtEl>
                                          <p:spTgt spid="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p:tgtEl>
                                          <p:spTgt spid="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7"/>
          <p:cNvSpPr txBox="1"/>
          <p:nvPr/>
        </p:nvSpPr>
        <p:spPr>
          <a:xfrm>
            <a:off x="228600" y="1567544"/>
            <a:ext cx="8556170" cy="4942114"/>
          </a:xfrm>
          <a:prstGeom prst="rect">
            <a:avLst/>
          </a:prstGeom>
          <a:noFill/>
          <a:ln>
            <a:noFill/>
          </a:ln>
        </p:spPr>
        <p:txBody>
          <a:bodyPr anchorCtr="0" anchor="t" bIns="45700" lIns="91425" spcFirstLastPara="1" rIns="91425" wrap="square" tIns="45700">
            <a:normAutofit fontScale="92500" lnSpcReduction="1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3900" u="none" cap="none" strike="noStrike">
                <a:solidFill>
                  <a:srgbClr val="F36005"/>
                </a:solidFill>
                <a:latin typeface="Arial"/>
                <a:ea typeface="Arial"/>
                <a:cs typeface="Arial"/>
                <a:sym typeface="Arial"/>
              </a:rPr>
              <a:t>Exclusions</a:t>
            </a:r>
            <a:endParaRPr/>
          </a:p>
          <a:p>
            <a:pPr indent="-495300" lvl="0" marL="495300" marR="0" rtl="0" algn="l">
              <a:lnSpc>
                <a:spcPct val="90000"/>
              </a:lnSpc>
              <a:spcBef>
                <a:spcPts val="721"/>
              </a:spcBef>
              <a:spcAft>
                <a:spcPts val="0"/>
              </a:spcAft>
              <a:buClr>
                <a:schemeClr val="dk1"/>
              </a:buClr>
              <a:buSzPct val="100000"/>
              <a:buFont typeface="Noto Sans Symbols"/>
              <a:buNone/>
            </a:pPr>
            <a:r>
              <a:t/>
            </a:r>
            <a:endParaRPr b="0" i="0" sz="3900" u="none" cap="none" strike="noStrike">
              <a:solidFill>
                <a:srgbClr val="F36005"/>
              </a:solidFill>
              <a:latin typeface="Arial"/>
              <a:ea typeface="Arial"/>
              <a:cs typeface="Arial"/>
              <a:sym typeface="Arial"/>
            </a:endParaRPr>
          </a:p>
          <a:p>
            <a:pPr indent="-342900" lvl="0" marL="342900" marR="0" rtl="0" algn="l">
              <a:spcBef>
                <a:spcPts val="555"/>
              </a:spcBef>
              <a:spcAft>
                <a:spcPts val="0"/>
              </a:spcAft>
              <a:buClr>
                <a:srgbClr val="EAAB00"/>
              </a:buClr>
              <a:buSzPct val="100000"/>
              <a:buFont typeface="Noto Sans Symbols"/>
              <a:buChar char="✔"/>
            </a:pPr>
            <a:r>
              <a:rPr b="0" i="0" lang="en-US" sz="3000" u="none" cap="none" strike="noStrike">
                <a:solidFill>
                  <a:srgbClr val="002060"/>
                </a:solidFill>
                <a:latin typeface="Arial"/>
                <a:ea typeface="Arial"/>
                <a:cs typeface="Arial"/>
                <a:sym typeface="Arial"/>
              </a:rPr>
              <a:t>Committing a criminal offense</a:t>
            </a:r>
            <a:endParaRPr/>
          </a:p>
          <a:p>
            <a:pPr indent="-178435" lvl="0" marL="342900" marR="0" rtl="0" algn="l">
              <a:spcBef>
                <a:spcPts val="518"/>
              </a:spcBef>
              <a:spcAft>
                <a:spcPts val="0"/>
              </a:spcAft>
              <a:buClr>
                <a:srgbClr val="EAAB00"/>
              </a:buClr>
              <a:buSzPct val="100000"/>
              <a:buFont typeface="Noto Sans Symbols"/>
              <a:buNone/>
            </a:pPr>
            <a:r>
              <a:t/>
            </a:r>
            <a:endParaRPr b="0" i="0" sz="2800" u="none" cap="none" strike="noStrike">
              <a:solidFill>
                <a:srgbClr val="002060"/>
              </a:solidFill>
              <a:latin typeface="Arial"/>
              <a:ea typeface="Arial"/>
              <a:cs typeface="Arial"/>
              <a:sym typeface="Arial"/>
            </a:endParaRPr>
          </a:p>
          <a:p>
            <a:pPr indent="-178435" lvl="0" marL="342900" marR="0" rtl="0" algn="l">
              <a:spcBef>
                <a:spcPts val="518"/>
              </a:spcBef>
              <a:spcAft>
                <a:spcPts val="0"/>
              </a:spcAft>
              <a:buClr>
                <a:srgbClr val="EAAB00"/>
              </a:buClr>
              <a:buSzPct val="100000"/>
              <a:buFont typeface="Noto Sans Symbols"/>
              <a:buNone/>
            </a:pPr>
            <a:r>
              <a:t/>
            </a:r>
            <a:endParaRPr b="0" i="0" sz="2800" u="none" cap="none" strike="noStrike">
              <a:solidFill>
                <a:srgbClr val="002060"/>
              </a:solidFill>
              <a:latin typeface="Arial"/>
              <a:ea typeface="Arial"/>
              <a:cs typeface="Arial"/>
              <a:sym typeface="Arial"/>
            </a:endParaRPr>
          </a:p>
          <a:p>
            <a:pPr indent="-342900" lvl="0" marL="342900" marR="0" rtl="0" algn="l">
              <a:spcBef>
                <a:spcPts val="555"/>
              </a:spcBef>
              <a:spcAft>
                <a:spcPts val="0"/>
              </a:spcAft>
              <a:buClr>
                <a:srgbClr val="EAAB00"/>
              </a:buClr>
              <a:buSzPct val="100000"/>
              <a:buFont typeface="Noto Sans Symbols"/>
              <a:buChar char="✔"/>
            </a:pPr>
            <a:r>
              <a:rPr b="0" i="0" lang="en-US" sz="3000" u="none" cap="none" strike="noStrike">
                <a:solidFill>
                  <a:srgbClr val="002060"/>
                </a:solidFill>
                <a:latin typeface="Arial"/>
                <a:ea typeface="Arial"/>
                <a:cs typeface="Arial"/>
                <a:sym typeface="Arial"/>
              </a:rPr>
              <a:t>Insurrection, civil commotion or hostile action of armed  forces, whether or not the life insured was actually participating therein</a:t>
            </a:r>
            <a:endParaRPr/>
          </a:p>
          <a:p>
            <a:pPr indent="-495300" lvl="0" marL="495300" marR="0" rtl="0" algn="l">
              <a:lnSpc>
                <a:spcPct val="90000"/>
              </a:lnSpc>
              <a:spcBef>
                <a:spcPts val="518"/>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518"/>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518"/>
              </a:spcBef>
              <a:spcAft>
                <a:spcPts val="0"/>
              </a:spcAft>
              <a:buClr>
                <a:schemeClr val="dk1"/>
              </a:buClr>
              <a:buSzPct val="100000"/>
              <a:buFont typeface="Noto Sans Symbols"/>
              <a:buNone/>
            </a:pPr>
            <a:r>
              <a:rPr b="0" i="0" lang="en-US" sz="2800" u="none" cap="none" strike="noStrike">
                <a:solidFill>
                  <a:schemeClr val="hlink"/>
                </a:solidFill>
                <a:latin typeface="Arial"/>
                <a:ea typeface="Arial"/>
                <a:cs typeface="Arial"/>
                <a:sym typeface="Arial"/>
              </a:rPr>
              <a:t>	</a:t>
            </a:r>
            <a:endParaRPr b="0" i="0" sz="3200" u="none" cap="none" strike="noStrike">
              <a:solidFill>
                <a:srgbClr val="17365D"/>
              </a:solidFill>
              <a:latin typeface="Arial"/>
              <a:ea typeface="Arial"/>
              <a:cs typeface="Arial"/>
              <a:sym typeface="Arial"/>
            </a:endParaRPr>
          </a:p>
        </p:txBody>
      </p:sp>
      <p:pic>
        <p:nvPicPr>
          <p:cNvPr id="84" name="Google Shape;84;p7"/>
          <p:cNvPicPr preferRelativeResize="0"/>
          <p:nvPr/>
        </p:nvPicPr>
        <p:blipFill rotWithShape="1">
          <a:blip r:embed="rId3">
            <a:alphaModFix/>
          </a:blip>
          <a:srcRect b="0" l="0" r="0" t="0"/>
          <a:stretch/>
        </p:blipFill>
        <p:spPr>
          <a:xfrm>
            <a:off x="5633332" y="1698173"/>
            <a:ext cx="2650695" cy="1992087"/>
          </a:xfrm>
          <a:prstGeom prst="rect">
            <a:avLst/>
          </a:prstGeom>
          <a:noFill/>
          <a:ln>
            <a:noFill/>
          </a:ln>
        </p:spPr>
      </p:pic>
      <p:sp>
        <p:nvSpPr>
          <p:cNvPr id="85" name="Google Shape;85;p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ADB</a:t>
            </a:r>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nvSpPr>
        <p:spPr>
          <a:xfrm>
            <a:off x="293915" y="1545772"/>
            <a:ext cx="8556170" cy="950685"/>
          </a:xfrm>
          <a:prstGeom prst="rect">
            <a:avLst/>
          </a:prstGeom>
          <a:solidFill>
            <a:srgbClr val="057913"/>
          </a:solidFill>
          <a:ln cap="flat" cmpd="sng" w="25400">
            <a:solidFill>
              <a:srgbClr val="046C1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b="0" i="0" sz="3000" u="none" cap="none" strike="noStrike">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b="0" i="0" lang="en-US" sz="14400" u="none" cap="none" strike="noStrike">
                <a:solidFill>
                  <a:schemeClr val="lt1"/>
                </a:solidFill>
                <a:latin typeface="Arial"/>
                <a:ea typeface="Arial"/>
                <a:cs typeface="Arial"/>
                <a:sym typeface="Arial"/>
              </a:rPr>
              <a:t>HOSPITAL INCOME BENEFIT</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b="0" i="0" sz="3900" u="none" cap="none" strike="noStrike">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0" i="0" lang="en-US" sz="2800" u="none" cap="none" strike="noStrike">
                <a:solidFill>
                  <a:schemeClr val="hlink"/>
                </a:solidFill>
                <a:latin typeface="Arial"/>
                <a:ea typeface="Arial"/>
                <a:cs typeface="Arial"/>
                <a:sym typeface="Arial"/>
              </a:rPr>
              <a:t>	</a:t>
            </a:r>
            <a:endParaRPr b="0" i="0" sz="3200" u="none" cap="none" strike="noStrike">
              <a:solidFill>
                <a:srgbClr val="17365D"/>
              </a:solidFill>
              <a:latin typeface="Arial"/>
              <a:ea typeface="Arial"/>
              <a:cs typeface="Arial"/>
              <a:sym typeface="Arial"/>
            </a:endParaRPr>
          </a:p>
        </p:txBody>
      </p:sp>
      <p:sp>
        <p:nvSpPr>
          <p:cNvPr id="91" name="Google Shape;91;p8"/>
          <p:cNvSpPr/>
          <p:nvPr/>
        </p:nvSpPr>
        <p:spPr>
          <a:xfrm>
            <a:off x="293916" y="3200401"/>
            <a:ext cx="8556170" cy="3461658"/>
          </a:xfrm>
          <a:prstGeom prst="rect">
            <a:avLst/>
          </a:prstGeom>
          <a:noFill/>
          <a:ln>
            <a:noFill/>
          </a:ln>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Illness – at least 3 days</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b="0" i="0" sz="2800" u="none" cap="none" strike="noStrike">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Injury – at least 12 hours</a:t>
            </a:r>
            <a:endParaRPr/>
          </a:p>
          <a:p>
            <a:pPr indent="0" lvl="0" marL="0" marR="0" rtl="0" algn="l">
              <a:lnSpc>
                <a:spcPct val="90000"/>
              </a:lnSpc>
              <a:spcBef>
                <a:spcPts val="0"/>
              </a:spcBef>
              <a:spcAft>
                <a:spcPts val="0"/>
              </a:spcAft>
              <a:buNone/>
            </a:pPr>
            <a:r>
              <a:t/>
            </a:r>
            <a:endParaRPr b="0" i="0" sz="2800" u="none" cap="none" strike="noStrike">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Not a reimbursement benefit</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b="0" i="0" sz="2800" u="none" cap="none" strike="noStrike">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No waiting period from issue</a:t>
            </a:r>
            <a:endParaRPr/>
          </a:p>
          <a:p>
            <a:pPr indent="0" lvl="0" marL="0" marR="0" rtl="0" algn="l">
              <a:lnSpc>
                <a:spcPct val="90000"/>
              </a:lnSpc>
              <a:spcBef>
                <a:spcPts val="0"/>
              </a:spcBef>
              <a:spcAft>
                <a:spcPts val="0"/>
              </a:spcAft>
              <a:buNone/>
            </a:pPr>
            <a:r>
              <a:t/>
            </a:r>
            <a:endParaRPr b="0" i="0" sz="2400" u="none" cap="none" strike="noStrike">
              <a:solidFill>
                <a:schemeClr val="dk1"/>
              </a:solidFill>
              <a:latin typeface="Arial"/>
              <a:ea typeface="Arial"/>
              <a:cs typeface="Arial"/>
              <a:sym typeface="Arial"/>
            </a:endParaRPr>
          </a:p>
          <a:p>
            <a:pPr indent="-61912" lvl="0" marL="176213"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6040210" y="2636384"/>
            <a:ext cx="2809875" cy="2181225"/>
          </a:xfrm>
          <a:prstGeom prst="rect">
            <a:avLst/>
          </a:prstGeom>
          <a:noFill/>
          <a:ln>
            <a:noFill/>
          </a:ln>
        </p:spPr>
      </p:pic>
      <p:sp>
        <p:nvSpPr>
          <p:cNvPr id="93" name="Google Shape;93;p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mc:AlternateContent>
    <mc:Choice Requires="p14">
      <p:transition spd="slow" p14:dur="20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615"/>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500"/>
                                        <p:tgtEl>
                                          <p:spTgt spid="9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9"/>
          <p:cNvSpPr/>
          <p:nvPr/>
        </p:nvSpPr>
        <p:spPr>
          <a:xfrm>
            <a:off x="228601" y="1371604"/>
            <a:ext cx="5446486" cy="3461658"/>
          </a:xfrm>
          <a:prstGeom prst="rect">
            <a:avLst/>
          </a:prstGeom>
          <a:noFill/>
          <a:ln>
            <a:noFill/>
          </a:ln>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Confinement should occur after 10 days, if reinstated</a:t>
            </a:r>
            <a:endParaRPr/>
          </a:p>
          <a:p>
            <a:pPr indent="-381000" lvl="0" marL="457200" marR="0" rtl="0" algn="l">
              <a:lnSpc>
                <a:spcPct val="90000"/>
              </a:lnSpc>
              <a:spcBef>
                <a:spcPts val="0"/>
              </a:spcBef>
              <a:spcAft>
                <a:spcPts val="0"/>
              </a:spcAft>
              <a:buClr>
                <a:schemeClr val="dk1"/>
              </a:buClr>
              <a:buSzPts val="1200"/>
              <a:buFont typeface="Noto Sans Symbols"/>
              <a:buNone/>
            </a:pPr>
            <a:r>
              <a:t/>
            </a:r>
            <a:endParaRPr b="0" i="0" sz="1200" u="none" cap="none" strike="noStrike">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ICU = HIB x 2</a:t>
            </a:r>
            <a:endParaRPr/>
          </a:p>
          <a:p>
            <a:pPr indent="-381000" lvl="0" marL="457200" marR="0" rtl="0" algn="l">
              <a:lnSpc>
                <a:spcPct val="90000"/>
              </a:lnSpc>
              <a:spcBef>
                <a:spcPts val="0"/>
              </a:spcBef>
              <a:spcAft>
                <a:spcPts val="0"/>
              </a:spcAft>
              <a:buClr>
                <a:schemeClr val="dk1"/>
              </a:buClr>
              <a:buSzPts val="1200"/>
              <a:buFont typeface="Noto Sans Symbols"/>
              <a:buNone/>
            </a:pPr>
            <a:r>
              <a:t/>
            </a:r>
            <a:endParaRPr b="0" i="0" sz="1200" u="none" cap="none" strike="noStrike">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b="0" i="0" lang="en-US" sz="2800" u="none" cap="none" strike="noStrike">
                <a:solidFill>
                  <a:srgbClr val="17365D"/>
                </a:solidFill>
                <a:latin typeface="Arial"/>
                <a:ea typeface="Arial"/>
                <a:cs typeface="Arial"/>
                <a:sym typeface="Arial"/>
              </a:rPr>
              <a:t>Dread Disease =  HIB x 2</a:t>
            </a:r>
            <a:endParaRPr b="0" i="0" sz="2800" u="none" cap="none" strike="noStrike">
              <a:solidFill>
                <a:srgbClr val="17365D"/>
              </a:solidFill>
              <a:latin typeface="Arial"/>
              <a:ea typeface="Arial"/>
              <a:cs typeface="Arial"/>
              <a:sym typeface="Arial"/>
            </a:endParaRPr>
          </a:p>
          <a:p>
            <a:pPr indent="0" lvl="0" marL="0" marR="0" rtl="0" algn="l">
              <a:lnSpc>
                <a:spcPct val="90000"/>
              </a:lnSpc>
              <a:spcBef>
                <a:spcPts val="0"/>
              </a:spcBef>
              <a:spcAft>
                <a:spcPts val="0"/>
              </a:spcAft>
              <a:buNone/>
            </a:pPr>
            <a:r>
              <a:rPr b="0" i="0" lang="en-US" sz="2800" u="none" cap="none" strike="noStrike">
                <a:solidFill>
                  <a:srgbClr val="17365D"/>
                </a:solidFill>
                <a:latin typeface="Arial"/>
                <a:ea typeface="Arial"/>
                <a:cs typeface="Arial"/>
                <a:sym typeface="Arial"/>
              </a:rPr>
              <a:t> </a:t>
            </a:r>
            <a:endParaRPr/>
          </a:p>
          <a:p>
            <a:pPr indent="0" lvl="0" marL="0" marR="0" rtl="0" algn="l">
              <a:lnSpc>
                <a:spcPct val="90000"/>
              </a:lnSpc>
              <a:spcBef>
                <a:spcPts val="0"/>
              </a:spcBef>
              <a:spcAft>
                <a:spcPts val="0"/>
              </a:spcAft>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9"/>
          <p:cNvSpPr/>
          <p:nvPr/>
        </p:nvSpPr>
        <p:spPr>
          <a:xfrm>
            <a:off x="631371" y="3799118"/>
            <a:ext cx="3657600" cy="1600200"/>
          </a:xfrm>
          <a:prstGeom prst="rect">
            <a:avLst/>
          </a:prstGeom>
          <a:solidFill>
            <a:srgbClr val="D6E3BC"/>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Heart Attack</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Stroke</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Poliomyelitis</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Chronic Liver Disease</a:t>
            </a:r>
            <a:endParaRPr/>
          </a:p>
        </p:txBody>
      </p:sp>
      <p:sp>
        <p:nvSpPr>
          <p:cNvPr id="100" name="Google Shape;100;p9"/>
          <p:cNvSpPr/>
          <p:nvPr/>
        </p:nvSpPr>
        <p:spPr>
          <a:xfrm>
            <a:off x="4372428" y="3810003"/>
            <a:ext cx="3657600" cy="2797626"/>
          </a:xfrm>
          <a:prstGeom prst="rect">
            <a:avLst/>
          </a:prstGeom>
          <a:solidFill>
            <a:srgbClr val="D6E3BC"/>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Cancer</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Kidney Failure</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Multiple Sclerosis</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Progressive Muscular Atrophy</a:t>
            </a:r>
            <a:endParaRPr b="0" i="0" sz="2000" u="none" cap="none" strike="noStrike">
              <a:solidFill>
                <a:srgbClr val="00202E"/>
              </a:solidFill>
              <a:latin typeface="Arial"/>
              <a:ea typeface="Arial"/>
              <a:cs typeface="Arial"/>
              <a:sym typeface="Arial"/>
            </a:endParaRPr>
          </a:p>
        </p:txBody>
      </p:sp>
      <p:sp>
        <p:nvSpPr>
          <p:cNvPr id="101" name="Google Shape;101;p9"/>
          <p:cNvSpPr/>
          <p:nvPr/>
        </p:nvSpPr>
        <p:spPr>
          <a:xfrm>
            <a:off x="631371" y="5246914"/>
            <a:ext cx="3657600" cy="1360715"/>
          </a:xfrm>
          <a:prstGeom prst="rect">
            <a:avLst/>
          </a:prstGeom>
          <a:solidFill>
            <a:srgbClr val="D6E3BC"/>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Major Organ Transplant</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Dissecting Aortic Aneurysm</a:t>
            </a:r>
            <a:endParaRPr/>
          </a:p>
          <a:p>
            <a:pPr indent="-342900" lvl="0" marL="342900" marR="0" rtl="0" algn="l">
              <a:spcBef>
                <a:spcPts val="400"/>
              </a:spcBef>
              <a:spcAft>
                <a:spcPts val="0"/>
              </a:spcAft>
              <a:buClr>
                <a:srgbClr val="F0AD00"/>
              </a:buClr>
              <a:buSzPts val="2000"/>
              <a:buFont typeface="Times"/>
              <a:buChar char="•"/>
            </a:pPr>
            <a:r>
              <a:rPr b="0" i="0" lang="en-US" sz="2000" u="none" cap="none" strike="noStrike">
                <a:solidFill>
                  <a:srgbClr val="00202E"/>
                </a:solidFill>
                <a:latin typeface="Arial"/>
                <a:ea typeface="Arial"/>
                <a:cs typeface="Arial"/>
                <a:sym typeface="Arial"/>
              </a:rPr>
              <a:t>End Stage Lung Disease</a:t>
            </a:r>
            <a:endParaRPr/>
          </a:p>
          <a:p>
            <a:pPr indent="-342900" lvl="0" marL="342900" marR="0" rtl="0" algn="l">
              <a:spcBef>
                <a:spcPts val="400"/>
              </a:spcBef>
              <a:spcAft>
                <a:spcPts val="0"/>
              </a:spcAft>
              <a:buClr>
                <a:srgbClr val="F0AD00"/>
              </a:buClr>
              <a:buSzPts val="2000"/>
              <a:buFont typeface="Times"/>
              <a:buNone/>
            </a:pPr>
            <a:r>
              <a:t/>
            </a:r>
            <a:endParaRPr b="0" i="0" sz="2000" u="none" cap="none" strike="noStrike">
              <a:solidFill>
                <a:srgbClr val="00202E"/>
              </a:solidFill>
              <a:latin typeface="Arial"/>
              <a:ea typeface="Arial"/>
              <a:cs typeface="Arial"/>
              <a:sym typeface="Arial"/>
            </a:endParaRPr>
          </a:p>
        </p:txBody>
      </p:sp>
      <p:pic>
        <p:nvPicPr>
          <p:cNvPr id="102" name="Google Shape;102;p9"/>
          <p:cNvPicPr preferRelativeResize="0"/>
          <p:nvPr/>
        </p:nvPicPr>
        <p:blipFill rotWithShape="1">
          <a:blip r:embed="rId3">
            <a:alphaModFix/>
          </a:blip>
          <a:srcRect b="0" l="0" r="0" t="0"/>
          <a:stretch/>
        </p:blipFill>
        <p:spPr>
          <a:xfrm>
            <a:off x="6366561" y="1506082"/>
            <a:ext cx="2011817" cy="2292833"/>
          </a:xfrm>
          <a:prstGeom prst="rect">
            <a:avLst/>
          </a:prstGeom>
          <a:noFill/>
          <a:ln>
            <a:noFill/>
          </a:ln>
        </p:spPr>
      </p:pic>
      <p:sp>
        <p:nvSpPr>
          <p:cNvPr id="103" name="Google Shape;103;p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500"/>
                                        <p:tgtEl>
                                          <p:spTgt spid="10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500"/>
                                        <p:tgtEl>
                                          <p:spTgt spid="10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nvSpPr>
        <p:spPr>
          <a:xfrm>
            <a:off x="228600" y="1625600"/>
            <a:ext cx="8556170" cy="783770"/>
          </a:xfrm>
          <a:prstGeom prst="rect">
            <a:avLst/>
          </a:prstGeom>
          <a:noFill/>
          <a:ln>
            <a:noFill/>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14400" u="none" cap="none" strike="noStrike">
                <a:solidFill>
                  <a:srgbClr val="F36005"/>
                </a:solidFill>
                <a:latin typeface="Arial"/>
                <a:ea typeface="Arial"/>
                <a:cs typeface="Arial"/>
                <a:sym typeface="Arial"/>
              </a:rPr>
              <a:t>Pre-Existing</a:t>
            </a:r>
            <a:r>
              <a:rPr b="1" i="0" lang="en-US" sz="11100" u="none" cap="none" strike="noStrike">
                <a:solidFill>
                  <a:srgbClr val="F36005"/>
                </a:solidFill>
                <a:latin typeface="Arial"/>
                <a:ea typeface="Arial"/>
                <a:cs typeface="Arial"/>
                <a:sym typeface="Arial"/>
              </a:rPr>
              <a:t> </a:t>
            </a:r>
            <a:r>
              <a:rPr b="1" i="0" lang="en-US" sz="14400" u="none" cap="none" strike="noStrike">
                <a:solidFill>
                  <a:srgbClr val="F36005"/>
                </a:solidFill>
                <a:latin typeface="Arial"/>
                <a:ea typeface="Arial"/>
                <a:cs typeface="Arial"/>
                <a:sym typeface="Arial"/>
              </a:rPr>
              <a:t>Condition</a:t>
            </a:r>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1"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1" i="0" lang="en-US" sz="2800" u="none" cap="none" strike="noStrike">
                <a:solidFill>
                  <a:schemeClr val="hlink"/>
                </a:solidFill>
                <a:latin typeface="Arial"/>
                <a:ea typeface="Arial"/>
                <a:cs typeface="Arial"/>
                <a:sym typeface="Arial"/>
              </a:rPr>
              <a:t>	</a:t>
            </a:r>
            <a:endParaRPr b="1" i="0" sz="3200" u="none" cap="none" strike="noStrike">
              <a:solidFill>
                <a:srgbClr val="17365D"/>
              </a:solidFill>
              <a:latin typeface="Arial"/>
              <a:ea typeface="Arial"/>
              <a:cs typeface="Arial"/>
              <a:sym typeface="Arial"/>
            </a:endParaRPr>
          </a:p>
        </p:txBody>
      </p:sp>
      <p:sp>
        <p:nvSpPr>
          <p:cNvPr id="109" name="Google Shape;109;p10"/>
          <p:cNvSpPr/>
          <p:nvPr/>
        </p:nvSpPr>
        <p:spPr>
          <a:xfrm>
            <a:off x="228600" y="2351314"/>
            <a:ext cx="8686800" cy="914400"/>
          </a:xfrm>
          <a:prstGeom prst="rect">
            <a:avLst/>
          </a:prstGeom>
          <a:gradFill>
            <a:gsLst>
              <a:gs pos="0">
                <a:srgbClr val="A0C94A"/>
              </a:gs>
              <a:gs pos="100000">
                <a:srgbClr val="DBFF9C"/>
              </a:gs>
            </a:gsLst>
            <a:lin ang="16200000" scaled="0"/>
          </a:gradFill>
          <a:ln cap="flat" cmpd="sng" w="9525">
            <a:solidFill>
              <a:srgbClr val="97B853"/>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chemeClr val="lt1"/>
                </a:solidFill>
                <a:latin typeface="Arial"/>
                <a:ea typeface="Arial"/>
                <a:cs typeface="Arial"/>
                <a:sym typeface="Arial"/>
              </a:rPr>
              <a:t>12 – 12 RULE</a:t>
            </a:r>
            <a:endParaRPr b="1" i="0" sz="3200" u="none" cap="none" strike="noStrike">
              <a:solidFill>
                <a:schemeClr val="lt1"/>
              </a:solidFill>
              <a:latin typeface="Arial"/>
              <a:ea typeface="Arial"/>
              <a:cs typeface="Arial"/>
              <a:sym typeface="Arial"/>
            </a:endParaRPr>
          </a:p>
        </p:txBody>
      </p:sp>
      <p:sp>
        <p:nvSpPr>
          <p:cNvPr id="110" name="Google Shape;110;p10"/>
          <p:cNvSpPr/>
          <p:nvPr/>
        </p:nvSpPr>
        <p:spPr>
          <a:xfrm>
            <a:off x="435428" y="3585028"/>
            <a:ext cx="8160656" cy="1886857"/>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176213" lvl="0" marL="176213" marR="0" rtl="0" algn="l">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	HIB is not payable on the first year of the policy if the cause of confinement was contracted within 12 months prior to policy issue or reinstatement</a:t>
            </a:r>
            <a:endParaRPr/>
          </a:p>
        </p:txBody>
      </p:sp>
      <p:sp>
        <p:nvSpPr>
          <p:cNvPr id="111" name="Google Shape;111;p1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1"/>
          <p:cNvSpPr txBox="1"/>
          <p:nvPr/>
        </p:nvSpPr>
        <p:spPr>
          <a:xfrm>
            <a:off x="228600" y="1625600"/>
            <a:ext cx="8556170" cy="783770"/>
          </a:xfrm>
          <a:prstGeom prst="rect">
            <a:avLst/>
          </a:prstGeom>
          <a:noFill/>
          <a:ln>
            <a:noFill/>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14400" u="none" cap="none" strike="noStrike">
                <a:solidFill>
                  <a:srgbClr val="F36005"/>
                </a:solidFill>
                <a:latin typeface="Arial"/>
                <a:ea typeface="Arial"/>
                <a:cs typeface="Arial"/>
                <a:sym typeface="Arial"/>
              </a:rPr>
              <a:t>Pre-Existing</a:t>
            </a:r>
            <a:r>
              <a:rPr b="1" i="0" lang="en-US" sz="11100" u="none" cap="none" strike="noStrike">
                <a:solidFill>
                  <a:srgbClr val="F36005"/>
                </a:solidFill>
                <a:latin typeface="Arial"/>
                <a:ea typeface="Arial"/>
                <a:cs typeface="Arial"/>
                <a:sym typeface="Arial"/>
              </a:rPr>
              <a:t> </a:t>
            </a:r>
            <a:r>
              <a:rPr b="1" i="0" lang="en-US" sz="14400" u="none" cap="none" strike="noStrike">
                <a:solidFill>
                  <a:srgbClr val="F36005"/>
                </a:solidFill>
                <a:latin typeface="Arial"/>
                <a:ea typeface="Arial"/>
                <a:cs typeface="Arial"/>
                <a:sym typeface="Arial"/>
              </a:rPr>
              <a:t>Condition</a:t>
            </a:r>
            <a:r>
              <a:rPr b="0" i="0" lang="en-US" sz="14400" u="none" cap="none" strike="noStrike">
                <a:solidFill>
                  <a:srgbClr val="F36005"/>
                </a:solidFill>
                <a:latin typeface="Arial"/>
                <a:ea typeface="Arial"/>
                <a:cs typeface="Arial"/>
                <a:sym typeface="Arial"/>
              </a:rPr>
              <a:t> </a:t>
            </a:r>
            <a:r>
              <a:rPr b="0" i="1" lang="en-US" sz="9600" u="none" cap="none" strike="noStrike">
                <a:solidFill>
                  <a:srgbClr val="003946"/>
                </a:solidFill>
                <a:latin typeface="Arial"/>
                <a:ea typeface="Arial"/>
                <a:cs typeface="Arial"/>
                <a:sym typeface="Arial"/>
              </a:rPr>
              <a:t>cont…</a:t>
            </a:r>
            <a:endParaRPr b="0" i="1" sz="14400" u="none" cap="none" strike="noStrike">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0" i="0" lang="en-US" sz="2800" u="none" cap="none" strike="noStrike">
                <a:solidFill>
                  <a:schemeClr val="hlink"/>
                </a:solidFill>
                <a:latin typeface="Arial"/>
                <a:ea typeface="Arial"/>
                <a:cs typeface="Arial"/>
                <a:sym typeface="Arial"/>
              </a:rPr>
              <a:t>	</a:t>
            </a:r>
            <a:endParaRPr b="0" i="0" sz="3200" u="none" cap="none" strike="noStrike">
              <a:solidFill>
                <a:srgbClr val="17365D"/>
              </a:solidFill>
              <a:latin typeface="Arial"/>
              <a:ea typeface="Arial"/>
              <a:cs typeface="Arial"/>
              <a:sym typeface="Arial"/>
            </a:endParaRPr>
          </a:p>
        </p:txBody>
      </p:sp>
      <p:sp>
        <p:nvSpPr>
          <p:cNvPr id="117" name="Google Shape;117;p11"/>
          <p:cNvSpPr/>
          <p:nvPr/>
        </p:nvSpPr>
        <p:spPr>
          <a:xfrm>
            <a:off x="491672" y="2358573"/>
            <a:ext cx="8160656" cy="1009664"/>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176213" lvl="0" marL="176213" marR="0" rtl="0" algn="ctr">
              <a:lnSpc>
                <a:spcPct val="90000"/>
              </a:lnSpc>
              <a:spcBef>
                <a:spcPts val="0"/>
              </a:spcBef>
              <a:spcAft>
                <a:spcPts val="0"/>
              </a:spcAft>
              <a:buNone/>
            </a:pPr>
            <a:r>
              <a:rPr b="1" i="0" lang="en-US" sz="2000" u="none" cap="none" strike="noStrike">
                <a:solidFill>
                  <a:schemeClr val="dk1"/>
                </a:solidFill>
                <a:latin typeface="Arial"/>
                <a:ea typeface="Arial"/>
                <a:cs typeface="Arial"/>
                <a:sym typeface="Arial"/>
              </a:rPr>
              <a:t>12 – 12 RULE</a:t>
            </a:r>
            <a:endParaRPr/>
          </a:p>
          <a:p>
            <a:pPr indent="-176213" lvl="0" marL="176213" marR="0" rtl="0" algn="ctr">
              <a:lnSpc>
                <a:spcPct val="90000"/>
              </a:lnSpc>
              <a:spcBef>
                <a:spcPts val="0"/>
              </a:spcBef>
              <a:spcAft>
                <a:spcPts val="0"/>
              </a:spcAft>
              <a:buNone/>
            </a:pPr>
            <a:r>
              <a:t/>
            </a:r>
            <a:endParaRPr b="1" i="0" sz="1400" u="none" cap="none" strike="noStrike">
              <a:solidFill>
                <a:schemeClr val="dk1"/>
              </a:solidFill>
              <a:latin typeface="Arial"/>
              <a:ea typeface="Arial"/>
              <a:cs typeface="Arial"/>
              <a:sym typeface="Arial"/>
            </a:endParaRPr>
          </a:p>
          <a:p>
            <a:pPr indent="-176213" lvl="0" marL="176213"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HIB is not payable on the first year of the policy if the cause of confinement was contracted within 12 months prior to policy issue or reinstatement</a:t>
            </a:r>
            <a:endParaRPr/>
          </a:p>
        </p:txBody>
      </p:sp>
      <p:sp>
        <p:nvSpPr>
          <p:cNvPr id="118" name="Google Shape;118;p11"/>
          <p:cNvSpPr/>
          <p:nvPr/>
        </p:nvSpPr>
        <p:spPr>
          <a:xfrm>
            <a:off x="3767849" y="3974026"/>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n-US" sz="2000" u="none" cap="none" strike="noStrike">
                <a:solidFill>
                  <a:schemeClr val="dk1"/>
                </a:solidFill>
                <a:latin typeface="Calibri"/>
                <a:ea typeface="Calibri"/>
                <a:cs typeface="Calibri"/>
                <a:sym typeface="Calibri"/>
              </a:rPr>
              <a:t>Issue Date</a:t>
            </a:r>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2013</a:t>
            </a:r>
            <a:endParaRPr b="0" i="0" sz="2000" u="none" cap="none" strike="noStrike">
              <a:solidFill>
                <a:schemeClr val="dk1"/>
              </a:solidFill>
              <a:latin typeface="Calibri"/>
              <a:ea typeface="Calibri"/>
              <a:cs typeface="Calibri"/>
              <a:sym typeface="Calibri"/>
            </a:endParaRPr>
          </a:p>
        </p:txBody>
      </p:sp>
      <p:sp>
        <p:nvSpPr>
          <p:cNvPr id="119" name="Google Shape;119;p11"/>
          <p:cNvSpPr/>
          <p:nvPr/>
        </p:nvSpPr>
        <p:spPr>
          <a:xfrm>
            <a:off x="433796" y="3974025"/>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2012</a:t>
            </a:r>
            <a:endParaRPr b="0" i="0" sz="2000" u="none" cap="none" strike="noStrike">
              <a:solidFill>
                <a:schemeClr val="dk1"/>
              </a:solidFill>
              <a:latin typeface="Calibri"/>
              <a:ea typeface="Calibri"/>
              <a:cs typeface="Calibri"/>
              <a:sym typeface="Calibri"/>
            </a:endParaRPr>
          </a:p>
        </p:txBody>
      </p:sp>
      <p:sp>
        <p:nvSpPr>
          <p:cNvPr id="120" name="Google Shape;120;p11"/>
          <p:cNvSpPr/>
          <p:nvPr/>
        </p:nvSpPr>
        <p:spPr>
          <a:xfrm>
            <a:off x="7113476" y="3974024"/>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2014</a:t>
            </a:r>
            <a:endParaRPr b="0" i="0" sz="2000" u="none" cap="none" strike="noStrike">
              <a:solidFill>
                <a:schemeClr val="dk1"/>
              </a:solidFill>
              <a:latin typeface="Calibri"/>
              <a:ea typeface="Calibri"/>
              <a:cs typeface="Calibri"/>
              <a:sym typeface="Calibri"/>
            </a:endParaRPr>
          </a:p>
        </p:txBody>
      </p:sp>
      <p:cxnSp>
        <p:nvCxnSpPr>
          <p:cNvPr id="121" name="Google Shape;121;p11"/>
          <p:cNvCxnSpPr/>
          <p:nvPr/>
        </p:nvCxnSpPr>
        <p:spPr>
          <a:xfrm>
            <a:off x="1921396" y="4594652"/>
            <a:ext cx="1927477" cy="0"/>
          </a:xfrm>
          <a:prstGeom prst="straightConnector1">
            <a:avLst/>
          </a:prstGeom>
          <a:noFill/>
          <a:ln cap="flat" cmpd="sng" w="50800">
            <a:solidFill>
              <a:schemeClr val="dk2"/>
            </a:solidFill>
            <a:prstDash val="solid"/>
            <a:round/>
            <a:headEnd len="sm" w="sm" type="none"/>
            <a:tailEnd len="sm" w="sm" type="none"/>
          </a:ln>
        </p:spPr>
      </p:cxnSp>
      <p:cxnSp>
        <p:nvCxnSpPr>
          <p:cNvPr id="122" name="Google Shape;122;p11"/>
          <p:cNvCxnSpPr/>
          <p:nvPr/>
        </p:nvCxnSpPr>
        <p:spPr>
          <a:xfrm>
            <a:off x="5291560" y="4594652"/>
            <a:ext cx="1927477" cy="0"/>
          </a:xfrm>
          <a:prstGeom prst="straightConnector1">
            <a:avLst/>
          </a:prstGeom>
          <a:noFill/>
          <a:ln cap="flat" cmpd="sng" w="50800">
            <a:solidFill>
              <a:schemeClr val="dk2"/>
            </a:solidFill>
            <a:prstDash val="solid"/>
            <a:round/>
            <a:headEnd len="sm" w="sm" type="none"/>
            <a:tailEnd len="sm" w="sm" type="none"/>
          </a:ln>
        </p:spPr>
      </p:cxnSp>
      <p:sp>
        <p:nvSpPr>
          <p:cNvPr id="123" name="Google Shape;123;p11"/>
          <p:cNvSpPr/>
          <p:nvPr/>
        </p:nvSpPr>
        <p:spPr>
          <a:xfrm>
            <a:off x="2092558" y="3735370"/>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1400" u="none" cap="none" strike="noStrike">
                <a:solidFill>
                  <a:schemeClr val="dk1"/>
                </a:solidFill>
                <a:latin typeface="Calibri"/>
                <a:ea typeface="Calibri"/>
                <a:cs typeface="Calibri"/>
                <a:sym typeface="Calibri"/>
              </a:rPr>
              <a:t>12 months prior</a:t>
            </a:r>
            <a:endParaRPr b="0" i="0" sz="1400" u="none" cap="none" strike="noStrike">
              <a:solidFill>
                <a:schemeClr val="dk1"/>
              </a:solidFill>
              <a:latin typeface="Calibri"/>
              <a:ea typeface="Calibri"/>
              <a:cs typeface="Calibri"/>
              <a:sym typeface="Calibri"/>
            </a:endParaRPr>
          </a:p>
        </p:txBody>
      </p:sp>
      <p:sp>
        <p:nvSpPr>
          <p:cNvPr id="124" name="Google Shape;124;p11"/>
          <p:cNvSpPr/>
          <p:nvPr/>
        </p:nvSpPr>
        <p:spPr>
          <a:xfrm>
            <a:off x="5451147" y="3735369"/>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1400" u="none" cap="none" strike="noStrike">
                <a:solidFill>
                  <a:schemeClr val="dk1"/>
                </a:solidFill>
                <a:latin typeface="Calibri"/>
                <a:ea typeface="Calibri"/>
                <a:cs typeface="Calibri"/>
                <a:sym typeface="Calibri"/>
              </a:rPr>
              <a:t>12 months after</a:t>
            </a:r>
            <a:endParaRPr b="0" i="0" sz="1400" u="none" cap="none" strike="noStrike">
              <a:solidFill>
                <a:schemeClr val="dk1"/>
              </a:solidFill>
              <a:latin typeface="Calibri"/>
              <a:ea typeface="Calibri"/>
              <a:cs typeface="Calibri"/>
              <a:sym typeface="Calibri"/>
            </a:endParaRPr>
          </a:p>
        </p:txBody>
      </p:sp>
      <p:cxnSp>
        <p:nvCxnSpPr>
          <p:cNvPr id="125" name="Google Shape;125;p11"/>
          <p:cNvCxnSpPr/>
          <p:nvPr/>
        </p:nvCxnSpPr>
        <p:spPr>
          <a:xfrm>
            <a:off x="6266873" y="4676180"/>
            <a:ext cx="0" cy="405114"/>
          </a:xfrm>
          <a:prstGeom prst="straightConnector1">
            <a:avLst/>
          </a:prstGeom>
          <a:noFill/>
          <a:ln cap="flat" cmpd="sng" w="50800">
            <a:solidFill>
              <a:schemeClr val="dk2"/>
            </a:solidFill>
            <a:prstDash val="solid"/>
            <a:round/>
            <a:headEnd len="sm" w="sm" type="none"/>
            <a:tailEnd len="med" w="med" type="stealth"/>
          </a:ln>
        </p:spPr>
      </p:cxnSp>
      <p:sp>
        <p:nvSpPr>
          <p:cNvPr id="126" name="Google Shape;126;p11"/>
          <p:cNvSpPr/>
          <p:nvPr/>
        </p:nvSpPr>
        <p:spPr>
          <a:xfrm>
            <a:off x="5457175" y="5218857"/>
            <a:ext cx="1608301" cy="56849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05 Sep 2013</a:t>
            </a:r>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Pneumonia</a:t>
            </a:r>
            <a:endParaRPr b="0" i="0" sz="2000" u="none" cap="none" strike="noStrike">
              <a:solidFill>
                <a:schemeClr val="dk1"/>
              </a:solidFill>
              <a:latin typeface="Calibri"/>
              <a:ea typeface="Calibri"/>
              <a:cs typeface="Calibri"/>
              <a:sym typeface="Calibri"/>
            </a:endParaRPr>
          </a:p>
        </p:txBody>
      </p:sp>
      <p:cxnSp>
        <p:nvCxnSpPr>
          <p:cNvPr id="127" name="Google Shape;127;p11"/>
          <p:cNvCxnSpPr/>
          <p:nvPr/>
        </p:nvCxnSpPr>
        <p:spPr>
          <a:xfrm>
            <a:off x="2902255" y="4676180"/>
            <a:ext cx="0" cy="405114"/>
          </a:xfrm>
          <a:prstGeom prst="straightConnector1">
            <a:avLst/>
          </a:prstGeom>
          <a:noFill/>
          <a:ln cap="flat" cmpd="sng" w="50800">
            <a:solidFill>
              <a:schemeClr val="dk2"/>
            </a:solidFill>
            <a:prstDash val="solid"/>
            <a:round/>
            <a:headEnd len="sm" w="sm" type="none"/>
            <a:tailEnd len="med" w="med" type="stealth"/>
          </a:ln>
        </p:spPr>
      </p:cxnSp>
      <p:sp>
        <p:nvSpPr>
          <p:cNvPr id="128" name="Google Shape;128;p11"/>
          <p:cNvSpPr/>
          <p:nvPr/>
        </p:nvSpPr>
        <p:spPr>
          <a:xfrm>
            <a:off x="2092557" y="5218857"/>
            <a:ext cx="1608301" cy="56849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15 May 2012</a:t>
            </a:r>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Pneumonia</a:t>
            </a:r>
            <a:endParaRPr b="0" i="0" sz="2000" u="none" cap="none" strike="noStrike">
              <a:solidFill>
                <a:schemeClr val="dk1"/>
              </a:solidFill>
              <a:latin typeface="Calibri"/>
              <a:ea typeface="Calibri"/>
              <a:cs typeface="Calibri"/>
              <a:sym typeface="Calibri"/>
            </a:endParaRPr>
          </a:p>
        </p:txBody>
      </p:sp>
      <p:sp>
        <p:nvSpPr>
          <p:cNvPr id="129" name="Google Shape;129;p11"/>
          <p:cNvSpPr/>
          <p:nvPr/>
        </p:nvSpPr>
        <p:spPr>
          <a:xfrm>
            <a:off x="410645" y="3425178"/>
            <a:ext cx="1915865" cy="79674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2000" u="none" cap="none" strike="noStrike">
                <a:solidFill>
                  <a:srgbClr val="FF6600"/>
                </a:solidFill>
                <a:latin typeface="Calibri"/>
                <a:ea typeface="Calibri"/>
                <a:cs typeface="Calibri"/>
                <a:sym typeface="Calibri"/>
              </a:rPr>
              <a:t>Example 1:</a:t>
            </a:r>
            <a:endParaRPr b="1" i="0" sz="2000" u="none" cap="none" strike="noStrike">
              <a:solidFill>
                <a:srgbClr val="FF6600"/>
              </a:solidFill>
              <a:latin typeface="Calibri"/>
              <a:ea typeface="Calibri"/>
              <a:cs typeface="Calibri"/>
              <a:sym typeface="Calibri"/>
            </a:endParaRPr>
          </a:p>
        </p:txBody>
      </p:sp>
      <p:sp>
        <p:nvSpPr>
          <p:cNvPr id="130" name="Google Shape;130;p11"/>
          <p:cNvSpPr/>
          <p:nvPr/>
        </p:nvSpPr>
        <p:spPr>
          <a:xfrm>
            <a:off x="4572000" y="5856161"/>
            <a:ext cx="3402957" cy="46172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n-US" sz="2400" u="none" cap="none" strike="noStrike">
                <a:solidFill>
                  <a:srgbClr val="FF0000"/>
                </a:solidFill>
                <a:latin typeface="Calibri"/>
                <a:ea typeface="Calibri"/>
                <a:cs typeface="Calibri"/>
                <a:sym typeface="Calibri"/>
              </a:rPr>
              <a:t>Pre-Existing Condition</a:t>
            </a:r>
            <a:endParaRPr b="1" i="0" sz="2400" u="none" cap="none" strike="noStrike">
              <a:solidFill>
                <a:srgbClr val="FF0000"/>
              </a:solidFill>
              <a:latin typeface="Calibri"/>
              <a:ea typeface="Calibri"/>
              <a:cs typeface="Calibri"/>
              <a:sym typeface="Calibri"/>
            </a:endParaRPr>
          </a:p>
        </p:txBody>
      </p:sp>
      <p:sp>
        <p:nvSpPr>
          <p:cNvPr id="131" name="Google Shape;131;p1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ppt_w</p:attrName>
                                        </p:attrNameLst>
                                      </p:cBhvr>
                                      <p:tavLst>
                                        <p:tav fmla="" tm="0">
                                          <p:val>
                                            <p:strVal val="0"/>
                                          </p:val>
                                        </p:tav>
                                        <p:tav fmla="" tm="100000">
                                          <p:val>
                                            <p:strVal val="#ppt_w"/>
                                          </p:val>
                                        </p:tav>
                                      </p:tavLst>
                                    </p:anim>
                                    <p:anim calcmode="lin" valueType="num">
                                      <p:cBhvr additive="base">
                                        <p:cTn dur="500"/>
                                        <p:tgtEl>
                                          <p:spTgt spid="13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nvSpPr>
        <p:spPr>
          <a:xfrm>
            <a:off x="228600" y="1625600"/>
            <a:ext cx="8556170" cy="783770"/>
          </a:xfrm>
          <a:prstGeom prst="rect">
            <a:avLst/>
          </a:prstGeom>
          <a:noFill/>
          <a:ln>
            <a:noFill/>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rPr b="1" i="0" lang="en-US" sz="14400" u="none" cap="none" strike="noStrike">
                <a:solidFill>
                  <a:srgbClr val="F36005"/>
                </a:solidFill>
                <a:latin typeface="Arial"/>
                <a:ea typeface="Arial"/>
                <a:cs typeface="Arial"/>
                <a:sym typeface="Arial"/>
              </a:rPr>
              <a:t>Pre-Existing</a:t>
            </a:r>
            <a:r>
              <a:rPr b="1" i="0" lang="en-US" sz="11100" u="none" cap="none" strike="noStrike">
                <a:solidFill>
                  <a:srgbClr val="F36005"/>
                </a:solidFill>
                <a:latin typeface="Arial"/>
                <a:ea typeface="Arial"/>
                <a:cs typeface="Arial"/>
                <a:sym typeface="Arial"/>
              </a:rPr>
              <a:t> </a:t>
            </a:r>
            <a:r>
              <a:rPr b="1" i="0" lang="en-US" sz="14400" u="none" cap="none" strike="noStrike">
                <a:solidFill>
                  <a:srgbClr val="F36005"/>
                </a:solidFill>
                <a:latin typeface="Arial"/>
                <a:ea typeface="Arial"/>
                <a:cs typeface="Arial"/>
                <a:sym typeface="Arial"/>
              </a:rPr>
              <a:t>Condition</a:t>
            </a:r>
            <a:r>
              <a:rPr b="0" i="0" lang="en-US" sz="14400" u="none" cap="none" strike="noStrike">
                <a:solidFill>
                  <a:srgbClr val="F36005"/>
                </a:solidFill>
                <a:latin typeface="Arial"/>
                <a:ea typeface="Arial"/>
                <a:cs typeface="Arial"/>
                <a:sym typeface="Arial"/>
              </a:rPr>
              <a:t> </a:t>
            </a:r>
            <a:r>
              <a:rPr b="0" i="1" lang="en-US" sz="9600" u="none" cap="none" strike="noStrike">
                <a:solidFill>
                  <a:srgbClr val="003946"/>
                </a:solidFill>
                <a:latin typeface="Arial"/>
                <a:ea typeface="Arial"/>
                <a:cs typeface="Arial"/>
                <a:sym typeface="Arial"/>
              </a:rPr>
              <a:t>cont…</a:t>
            </a:r>
            <a:endParaRPr b="0" i="1" sz="14400" u="none" cap="none" strike="noStrike">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b="0" i="0" sz="2800" u="none" cap="none" strike="noStrike">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b="0" i="0" lang="en-US" sz="2800" u="none" cap="none" strike="noStrike">
                <a:solidFill>
                  <a:schemeClr val="hlink"/>
                </a:solidFill>
                <a:latin typeface="Arial"/>
                <a:ea typeface="Arial"/>
                <a:cs typeface="Arial"/>
                <a:sym typeface="Arial"/>
              </a:rPr>
              <a:t>	</a:t>
            </a:r>
            <a:endParaRPr b="0" i="0" sz="3200" u="none" cap="none" strike="noStrike">
              <a:solidFill>
                <a:srgbClr val="17365D"/>
              </a:solidFill>
              <a:latin typeface="Arial"/>
              <a:ea typeface="Arial"/>
              <a:cs typeface="Arial"/>
              <a:sym typeface="Arial"/>
            </a:endParaRPr>
          </a:p>
        </p:txBody>
      </p:sp>
      <p:sp>
        <p:nvSpPr>
          <p:cNvPr id="138" name="Google Shape;138;p12"/>
          <p:cNvSpPr/>
          <p:nvPr/>
        </p:nvSpPr>
        <p:spPr>
          <a:xfrm>
            <a:off x="491672" y="2358573"/>
            <a:ext cx="8160656" cy="1009664"/>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176213" lvl="0" marL="176213" marR="0" rtl="0" algn="ctr">
              <a:lnSpc>
                <a:spcPct val="90000"/>
              </a:lnSpc>
              <a:spcBef>
                <a:spcPts val="0"/>
              </a:spcBef>
              <a:spcAft>
                <a:spcPts val="0"/>
              </a:spcAft>
              <a:buNone/>
            </a:pPr>
            <a:r>
              <a:rPr b="1" i="0" lang="en-US" sz="2000" u="none" cap="none" strike="noStrike">
                <a:solidFill>
                  <a:schemeClr val="dk1"/>
                </a:solidFill>
                <a:latin typeface="Arial"/>
                <a:ea typeface="Arial"/>
                <a:cs typeface="Arial"/>
                <a:sym typeface="Arial"/>
              </a:rPr>
              <a:t>12 – 12 RULE</a:t>
            </a:r>
            <a:endParaRPr/>
          </a:p>
          <a:p>
            <a:pPr indent="-176213" lvl="0" marL="176213" marR="0" rtl="0" algn="ctr">
              <a:lnSpc>
                <a:spcPct val="90000"/>
              </a:lnSpc>
              <a:spcBef>
                <a:spcPts val="0"/>
              </a:spcBef>
              <a:spcAft>
                <a:spcPts val="0"/>
              </a:spcAft>
              <a:buNone/>
            </a:pPr>
            <a:r>
              <a:t/>
            </a:r>
            <a:endParaRPr b="1" i="0" sz="1400" u="none" cap="none" strike="noStrike">
              <a:solidFill>
                <a:schemeClr val="dk1"/>
              </a:solidFill>
              <a:latin typeface="Arial"/>
              <a:ea typeface="Arial"/>
              <a:cs typeface="Arial"/>
              <a:sym typeface="Arial"/>
            </a:endParaRPr>
          </a:p>
          <a:p>
            <a:pPr indent="-176213" lvl="0" marL="176213"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HIB is not payable on the first year of the policy if the cause of confinement was contracted within 12 months prior to policy issue or reinstatement</a:t>
            </a:r>
            <a:endParaRPr/>
          </a:p>
        </p:txBody>
      </p:sp>
      <p:sp>
        <p:nvSpPr>
          <p:cNvPr id="139" name="Google Shape;139;p12"/>
          <p:cNvSpPr/>
          <p:nvPr/>
        </p:nvSpPr>
        <p:spPr>
          <a:xfrm>
            <a:off x="3767849" y="3719376"/>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n-US" sz="2000" u="none" cap="none" strike="noStrike">
                <a:solidFill>
                  <a:schemeClr val="dk1"/>
                </a:solidFill>
                <a:latin typeface="Calibri"/>
                <a:ea typeface="Calibri"/>
                <a:cs typeface="Calibri"/>
                <a:sym typeface="Calibri"/>
              </a:rPr>
              <a:t>Issue Date</a:t>
            </a:r>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2013</a:t>
            </a:r>
            <a:endParaRPr b="0" i="0" sz="2000" u="none" cap="none" strike="noStrike">
              <a:solidFill>
                <a:schemeClr val="dk1"/>
              </a:solidFill>
              <a:latin typeface="Calibri"/>
              <a:ea typeface="Calibri"/>
              <a:cs typeface="Calibri"/>
              <a:sym typeface="Calibri"/>
            </a:endParaRPr>
          </a:p>
        </p:txBody>
      </p:sp>
      <p:sp>
        <p:nvSpPr>
          <p:cNvPr id="140" name="Google Shape;140;p12"/>
          <p:cNvSpPr/>
          <p:nvPr/>
        </p:nvSpPr>
        <p:spPr>
          <a:xfrm>
            <a:off x="433796" y="3719375"/>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2012</a:t>
            </a:r>
            <a:endParaRPr b="0" i="0" sz="2000" u="none" cap="none" strike="noStrike">
              <a:solidFill>
                <a:schemeClr val="dk1"/>
              </a:solidFill>
              <a:latin typeface="Calibri"/>
              <a:ea typeface="Calibri"/>
              <a:cs typeface="Calibri"/>
              <a:sym typeface="Calibri"/>
            </a:endParaRPr>
          </a:p>
        </p:txBody>
      </p:sp>
      <p:sp>
        <p:nvSpPr>
          <p:cNvPr id="141" name="Google Shape;141;p12"/>
          <p:cNvSpPr/>
          <p:nvPr/>
        </p:nvSpPr>
        <p:spPr>
          <a:xfrm>
            <a:off x="7113476" y="3719374"/>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8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01 Mar 2014</a:t>
            </a:r>
            <a:endParaRPr b="0" i="0" sz="2000" u="none" cap="none" strike="noStrike">
              <a:solidFill>
                <a:schemeClr val="dk1"/>
              </a:solidFill>
              <a:latin typeface="Calibri"/>
              <a:ea typeface="Calibri"/>
              <a:cs typeface="Calibri"/>
              <a:sym typeface="Calibri"/>
            </a:endParaRPr>
          </a:p>
        </p:txBody>
      </p:sp>
      <p:cxnSp>
        <p:nvCxnSpPr>
          <p:cNvPr id="142" name="Google Shape;142;p12"/>
          <p:cNvCxnSpPr/>
          <p:nvPr/>
        </p:nvCxnSpPr>
        <p:spPr>
          <a:xfrm>
            <a:off x="1921396" y="4340002"/>
            <a:ext cx="1927477" cy="0"/>
          </a:xfrm>
          <a:prstGeom prst="straightConnector1">
            <a:avLst/>
          </a:prstGeom>
          <a:noFill/>
          <a:ln cap="flat" cmpd="sng" w="50800">
            <a:solidFill>
              <a:schemeClr val="dk2"/>
            </a:solidFill>
            <a:prstDash val="solid"/>
            <a:round/>
            <a:headEnd len="sm" w="sm" type="none"/>
            <a:tailEnd len="sm" w="sm" type="none"/>
          </a:ln>
        </p:spPr>
      </p:cxnSp>
      <p:cxnSp>
        <p:nvCxnSpPr>
          <p:cNvPr id="143" name="Google Shape;143;p12"/>
          <p:cNvCxnSpPr/>
          <p:nvPr/>
        </p:nvCxnSpPr>
        <p:spPr>
          <a:xfrm>
            <a:off x="5291560" y="4340002"/>
            <a:ext cx="1927477" cy="0"/>
          </a:xfrm>
          <a:prstGeom prst="straightConnector1">
            <a:avLst/>
          </a:prstGeom>
          <a:noFill/>
          <a:ln cap="flat" cmpd="sng" w="50800">
            <a:solidFill>
              <a:schemeClr val="dk2"/>
            </a:solidFill>
            <a:prstDash val="solid"/>
            <a:round/>
            <a:headEnd len="sm" w="sm" type="none"/>
            <a:tailEnd len="sm" w="sm" type="none"/>
          </a:ln>
        </p:spPr>
      </p:cxnSp>
      <p:sp>
        <p:nvSpPr>
          <p:cNvPr id="144" name="Google Shape;144;p12"/>
          <p:cNvSpPr/>
          <p:nvPr/>
        </p:nvSpPr>
        <p:spPr>
          <a:xfrm>
            <a:off x="2080983" y="3480720"/>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1400" u="none" cap="none" strike="noStrike">
                <a:solidFill>
                  <a:schemeClr val="dk1"/>
                </a:solidFill>
                <a:latin typeface="Calibri"/>
                <a:ea typeface="Calibri"/>
                <a:cs typeface="Calibri"/>
                <a:sym typeface="Calibri"/>
              </a:rPr>
              <a:t>12 months prior</a:t>
            </a:r>
            <a:endParaRPr b="0" i="0" sz="1400" u="none" cap="none" strike="noStrike">
              <a:solidFill>
                <a:schemeClr val="dk1"/>
              </a:solidFill>
              <a:latin typeface="Calibri"/>
              <a:ea typeface="Calibri"/>
              <a:cs typeface="Calibri"/>
              <a:sym typeface="Calibri"/>
            </a:endParaRPr>
          </a:p>
        </p:txBody>
      </p:sp>
      <p:sp>
        <p:nvSpPr>
          <p:cNvPr id="145" name="Google Shape;145;p12"/>
          <p:cNvSpPr/>
          <p:nvPr/>
        </p:nvSpPr>
        <p:spPr>
          <a:xfrm>
            <a:off x="5451147" y="3480719"/>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b="0" i="0" lang="en-US" sz="1400" u="none" cap="none" strike="noStrike">
                <a:solidFill>
                  <a:schemeClr val="dk1"/>
                </a:solidFill>
                <a:latin typeface="Calibri"/>
                <a:ea typeface="Calibri"/>
                <a:cs typeface="Calibri"/>
                <a:sym typeface="Calibri"/>
              </a:rPr>
              <a:t>12 months after</a:t>
            </a:r>
            <a:endParaRPr b="0" i="0" sz="1400" u="none" cap="none" strike="noStrike">
              <a:solidFill>
                <a:schemeClr val="dk1"/>
              </a:solidFill>
              <a:latin typeface="Calibri"/>
              <a:ea typeface="Calibri"/>
              <a:cs typeface="Calibri"/>
              <a:sym typeface="Calibri"/>
            </a:endParaRPr>
          </a:p>
        </p:txBody>
      </p:sp>
      <p:cxnSp>
        <p:nvCxnSpPr>
          <p:cNvPr id="146" name="Google Shape;146;p12"/>
          <p:cNvCxnSpPr/>
          <p:nvPr/>
        </p:nvCxnSpPr>
        <p:spPr>
          <a:xfrm>
            <a:off x="6255298" y="4421530"/>
            <a:ext cx="0" cy="405114"/>
          </a:xfrm>
          <a:prstGeom prst="straightConnector1">
            <a:avLst/>
          </a:prstGeom>
          <a:noFill/>
          <a:ln cap="flat" cmpd="sng" w="50800">
            <a:solidFill>
              <a:schemeClr val="dk2"/>
            </a:solidFill>
            <a:prstDash val="solid"/>
            <a:round/>
            <a:headEnd len="sm" w="sm" type="none"/>
            <a:tailEnd len="med" w="med" type="stealth"/>
          </a:ln>
        </p:spPr>
      </p:cxnSp>
      <p:sp>
        <p:nvSpPr>
          <p:cNvPr id="147" name="Google Shape;147;p12"/>
          <p:cNvSpPr/>
          <p:nvPr/>
        </p:nvSpPr>
        <p:spPr>
          <a:xfrm>
            <a:off x="5445600" y="4964207"/>
            <a:ext cx="1608301" cy="56849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05 Sep 2013</a:t>
            </a:r>
            <a:endParaRPr/>
          </a:p>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Pneumonia</a:t>
            </a:r>
            <a:endParaRPr b="0" i="0" sz="2000" u="none" cap="none" strike="noStrike">
              <a:solidFill>
                <a:schemeClr val="dk1"/>
              </a:solidFill>
              <a:latin typeface="Calibri"/>
              <a:ea typeface="Calibri"/>
              <a:cs typeface="Calibri"/>
              <a:sym typeface="Calibri"/>
            </a:endParaRPr>
          </a:p>
        </p:txBody>
      </p:sp>
      <p:cxnSp>
        <p:nvCxnSpPr>
          <p:cNvPr id="148" name="Google Shape;148;p12"/>
          <p:cNvCxnSpPr/>
          <p:nvPr/>
        </p:nvCxnSpPr>
        <p:spPr>
          <a:xfrm>
            <a:off x="2890680" y="4421530"/>
            <a:ext cx="0" cy="405114"/>
          </a:xfrm>
          <a:prstGeom prst="straightConnector1">
            <a:avLst/>
          </a:prstGeom>
          <a:noFill/>
          <a:ln cap="flat" cmpd="sng" w="50800">
            <a:solidFill>
              <a:schemeClr val="dk2"/>
            </a:solidFill>
            <a:prstDash val="solid"/>
            <a:round/>
            <a:headEnd len="sm" w="sm" type="none"/>
            <a:tailEnd len="med" w="med" type="stealth"/>
          </a:ln>
        </p:spPr>
      </p:cxnSp>
      <p:sp>
        <p:nvSpPr>
          <p:cNvPr id="149" name="Google Shape;149;p12"/>
          <p:cNvSpPr/>
          <p:nvPr/>
        </p:nvSpPr>
        <p:spPr>
          <a:xfrm>
            <a:off x="2080982" y="4964207"/>
            <a:ext cx="1608301" cy="56849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15 May 2012</a:t>
            </a:r>
            <a:endParaRPr/>
          </a:p>
          <a:p>
            <a:pPr indent="0" lvl="0" marL="0" marR="0" rtl="0" algn="ctr">
              <a:lnSpc>
                <a:spcPct val="90000"/>
              </a:lnSpc>
              <a:spcBef>
                <a:spcPts val="0"/>
              </a:spcBef>
              <a:spcAft>
                <a:spcPts val="0"/>
              </a:spcAft>
              <a:buNone/>
            </a:pPr>
            <a:r>
              <a:rPr b="1" i="0" lang="en-US" sz="2000" u="sng" cap="none" strike="noStrike">
                <a:solidFill>
                  <a:schemeClr val="dk1"/>
                </a:solidFill>
                <a:latin typeface="Calibri"/>
                <a:ea typeface="Calibri"/>
                <a:cs typeface="Calibri"/>
                <a:sym typeface="Calibri"/>
              </a:rPr>
              <a:t>Gall Stones</a:t>
            </a:r>
            <a:endParaRPr b="1" i="0" sz="2000" u="sng" cap="none" strike="noStrike">
              <a:solidFill>
                <a:schemeClr val="dk1"/>
              </a:solidFill>
              <a:latin typeface="Calibri"/>
              <a:ea typeface="Calibri"/>
              <a:cs typeface="Calibri"/>
              <a:sym typeface="Calibri"/>
            </a:endParaRPr>
          </a:p>
        </p:txBody>
      </p:sp>
      <p:sp>
        <p:nvSpPr>
          <p:cNvPr id="150" name="Google Shape;150;p12"/>
          <p:cNvSpPr/>
          <p:nvPr/>
        </p:nvSpPr>
        <p:spPr>
          <a:xfrm>
            <a:off x="544016" y="5822063"/>
            <a:ext cx="8067554" cy="79674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0" i="0" lang="en-US" sz="2000" u="none" cap="none" strike="noStrike">
                <a:solidFill>
                  <a:schemeClr val="dk1"/>
                </a:solidFill>
                <a:latin typeface="Calibri"/>
                <a:ea typeface="Calibri"/>
                <a:cs typeface="Calibri"/>
                <a:sym typeface="Calibri"/>
              </a:rPr>
              <a:t>“Pneumonia” is not a Pre-Existing Condition but we’ll refer “Gall Stones” to Underwriting in view of the Contestability Provisions</a:t>
            </a:r>
            <a:endParaRPr b="0" i="0" sz="2000" u="none" cap="none" strike="noStrike">
              <a:solidFill>
                <a:schemeClr val="dk1"/>
              </a:solidFill>
              <a:latin typeface="Calibri"/>
              <a:ea typeface="Calibri"/>
              <a:cs typeface="Calibri"/>
              <a:sym typeface="Calibri"/>
            </a:endParaRPr>
          </a:p>
        </p:txBody>
      </p:sp>
      <p:sp>
        <p:nvSpPr>
          <p:cNvPr id="151" name="Google Shape;151;p12"/>
          <p:cNvSpPr/>
          <p:nvPr/>
        </p:nvSpPr>
        <p:spPr>
          <a:xfrm>
            <a:off x="1851945" y="4796376"/>
            <a:ext cx="2066373" cy="927304"/>
          </a:xfrm>
          <a:prstGeom prst="ellipse">
            <a:avLst/>
          </a:prstGeom>
          <a:noFill/>
          <a:ln cap="flat" cmpd="sng" w="508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12"/>
          <p:cNvSpPr/>
          <p:nvPr/>
        </p:nvSpPr>
        <p:spPr>
          <a:xfrm>
            <a:off x="410646" y="3425178"/>
            <a:ext cx="1927440" cy="79674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2000" u="none" cap="none" strike="noStrike">
                <a:solidFill>
                  <a:srgbClr val="FF6600"/>
                </a:solidFill>
                <a:latin typeface="Calibri"/>
                <a:ea typeface="Calibri"/>
                <a:cs typeface="Calibri"/>
                <a:sym typeface="Calibri"/>
              </a:rPr>
              <a:t>Example 2:</a:t>
            </a:r>
            <a:endParaRPr b="1" i="0" sz="2000" u="none" cap="none" strike="noStrike">
              <a:solidFill>
                <a:srgbClr val="FF6600"/>
              </a:solidFill>
              <a:latin typeface="Calibri"/>
              <a:ea typeface="Calibri"/>
              <a:cs typeface="Calibri"/>
              <a:sym typeface="Calibri"/>
            </a:endParaRPr>
          </a:p>
        </p:txBody>
      </p:sp>
      <p:sp>
        <p:nvSpPr>
          <p:cNvPr id="153" name="Google Shape;153;p1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2000"/>
                                        <p:tgtEl>
                                          <p:spTgt spid="151"/>
                                        </p:tgtEl>
                                      </p:cBhvr>
                                    </p:animEffec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nvSpPr>
        <p:spPr>
          <a:xfrm>
            <a:off x="228600" y="1567544"/>
            <a:ext cx="8556170" cy="783770"/>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Payment of Benefit</a:t>
            </a:r>
            <a:endParaRPr b="1" i="0" sz="3600" u="none" cap="none" strike="noStrike">
              <a:solidFill>
                <a:srgbClr val="17365D"/>
              </a:solidFill>
              <a:latin typeface="Arial"/>
              <a:ea typeface="Arial"/>
              <a:cs typeface="Arial"/>
              <a:sym typeface="Arial"/>
            </a:endParaRPr>
          </a:p>
        </p:txBody>
      </p:sp>
      <p:sp>
        <p:nvSpPr>
          <p:cNvPr id="159" name="Google Shape;159;p13"/>
          <p:cNvSpPr/>
          <p:nvPr/>
        </p:nvSpPr>
        <p:spPr>
          <a:xfrm>
            <a:off x="478971" y="2177143"/>
            <a:ext cx="8305799" cy="3526972"/>
          </a:xfrm>
          <a:prstGeom prst="rect">
            <a:avLst/>
          </a:prstGeom>
          <a:noFill/>
          <a:ln>
            <a:noFill/>
          </a:ln>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made after the discharge from the hospital unless confinement has been continuous for more than 14 days</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b="0" i="0" sz="2800" u="none" cap="none" strike="noStrike">
              <a:solidFill>
                <a:srgbClr val="002060"/>
              </a:solidFill>
              <a:latin typeface="Arial"/>
              <a:ea typeface="Arial"/>
              <a:cs typeface="Arial"/>
              <a:sym typeface="Arial"/>
            </a:endParaRPr>
          </a:p>
          <a:p>
            <a:pPr indent="-457200" lvl="0" marL="457200" marR="0" rtl="0" algn="l">
              <a:lnSpc>
                <a:spcPct val="90000"/>
              </a:lnSpc>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if the assured dies before the HIB amount can be paid, the beneficiary shall receive the said benefit</a:t>
            </a:r>
            <a:endParaRPr/>
          </a:p>
        </p:txBody>
      </p:sp>
      <p:pic>
        <p:nvPicPr>
          <p:cNvPr id="160" name="Google Shape;160;p13"/>
          <p:cNvPicPr preferRelativeResize="0"/>
          <p:nvPr/>
        </p:nvPicPr>
        <p:blipFill rotWithShape="1">
          <a:blip r:embed="rId3">
            <a:alphaModFix/>
          </a:blip>
          <a:srcRect b="0" l="0" r="0" t="0"/>
          <a:stretch/>
        </p:blipFill>
        <p:spPr>
          <a:xfrm>
            <a:off x="6546105" y="4934857"/>
            <a:ext cx="2412838" cy="1691141"/>
          </a:xfrm>
          <a:prstGeom prst="rect">
            <a:avLst/>
          </a:prstGeom>
          <a:noFill/>
          <a:ln>
            <a:noFill/>
          </a:ln>
        </p:spPr>
      </p:pic>
      <p:sp>
        <p:nvSpPr>
          <p:cNvPr id="161" name="Google Shape;161;p1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Exclusions</a:t>
            </a:r>
            <a:endParaRPr b="1" i="1" sz="2800" u="none" cap="none" strike="noStrike">
              <a:solidFill>
                <a:srgbClr val="17365D"/>
              </a:solidFill>
              <a:latin typeface="Arial"/>
              <a:ea typeface="Arial"/>
              <a:cs typeface="Arial"/>
              <a:sym typeface="Arial"/>
            </a:endParaRPr>
          </a:p>
        </p:txBody>
      </p:sp>
      <p:sp>
        <p:nvSpPr>
          <p:cNvPr id="168" name="Google Shape;168;p14"/>
          <p:cNvSpPr/>
          <p:nvPr/>
        </p:nvSpPr>
        <p:spPr>
          <a:xfrm>
            <a:off x="228600" y="2163500"/>
            <a:ext cx="8681293" cy="1815882"/>
          </a:xfrm>
          <a:prstGeom prst="rect">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attempted suicide or self-inflicted injury while sane or insane;</a:t>
            </a:r>
            <a:endParaRPr/>
          </a:p>
          <a:p>
            <a:pPr indent="-279400" lvl="0" marL="457200" marR="0" rtl="0" algn="l">
              <a:spcBef>
                <a:spcPts val="0"/>
              </a:spcBef>
              <a:spcAft>
                <a:spcPts val="0"/>
              </a:spcAft>
              <a:buClr>
                <a:schemeClr val="dk1"/>
              </a:buClr>
              <a:buSzPts val="2800"/>
              <a:buFont typeface="Noto Sans Symbols"/>
              <a:buNone/>
            </a:pPr>
            <a:r>
              <a:t/>
            </a:r>
            <a:endParaRPr b="0" i="0" sz="2800" u="none" cap="none" strike="noStrike">
              <a:solidFill>
                <a:srgbClr val="002060"/>
              </a:solidFill>
              <a:latin typeface="Arial"/>
              <a:ea typeface="Arial"/>
              <a:cs typeface="Arial"/>
              <a:sym typeface="Arial"/>
            </a:endParaRPr>
          </a:p>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abuse of drug or alcohol</a:t>
            </a:r>
            <a:endParaRPr/>
          </a:p>
        </p:txBody>
      </p:sp>
      <p:pic>
        <p:nvPicPr>
          <p:cNvPr id="169" name="Google Shape;169;p14"/>
          <p:cNvPicPr preferRelativeResize="0"/>
          <p:nvPr/>
        </p:nvPicPr>
        <p:blipFill rotWithShape="1">
          <a:blip r:embed="rId3">
            <a:alphaModFix/>
          </a:blip>
          <a:srcRect b="0" l="0" r="0" t="0"/>
          <a:stretch/>
        </p:blipFill>
        <p:spPr>
          <a:xfrm>
            <a:off x="2656114" y="4186918"/>
            <a:ext cx="4101874" cy="2448613"/>
          </a:xfrm>
          <a:prstGeom prst="rect">
            <a:avLst/>
          </a:prstGeom>
          <a:noFill/>
          <a:ln>
            <a:noFill/>
          </a:ln>
        </p:spPr>
      </p:pic>
      <p:sp>
        <p:nvSpPr>
          <p:cNvPr id="170" name="Google Shape;170;p1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p:nvPr/>
        </p:nvSpPr>
        <p:spPr>
          <a:xfrm>
            <a:off x="228600" y="5431970"/>
            <a:ext cx="8681293" cy="954107"/>
          </a:xfrm>
          <a:prstGeom prst="rect">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sp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pregnancy, childbirth, miscarriage or abortion or complication of any of these;</a:t>
            </a:r>
            <a:endParaRPr/>
          </a:p>
        </p:txBody>
      </p:sp>
      <p:pic>
        <p:nvPicPr>
          <p:cNvPr id="177" name="Google Shape;177;p15"/>
          <p:cNvPicPr preferRelativeResize="0"/>
          <p:nvPr/>
        </p:nvPicPr>
        <p:blipFill rotWithShape="1">
          <a:blip r:embed="rId3">
            <a:alphaModFix/>
          </a:blip>
          <a:srcRect b="0" l="0" r="0" t="0"/>
          <a:stretch/>
        </p:blipFill>
        <p:spPr>
          <a:xfrm>
            <a:off x="2919867" y="1706445"/>
            <a:ext cx="3362325" cy="3610428"/>
          </a:xfrm>
          <a:prstGeom prst="rect">
            <a:avLst/>
          </a:prstGeom>
          <a:noFill/>
          <a:ln>
            <a:noFill/>
          </a:ln>
        </p:spPr>
      </p:pic>
      <p:sp>
        <p:nvSpPr>
          <p:cNvPr id="178" name="Google Shape;178;p15"/>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Exclusions</a:t>
            </a:r>
            <a:r>
              <a:rPr b="0" i="0" lang="en-US" sz="3600" u="none" cap="none" strike="noStrike">
                <a:solidFill>
                  <a:srgbClr val="F36005"/>
                </a:solidFill>
                <a:latin typeface="Arial"/>
                <a:ea typeface="Arial"/>
                <a:cs typeface="Arial"/>
                <a:sym typeface="Arial"/>
              </a:rPr>
              <a:t>  </a:t>
            </a:r>
            <a:r>
              <a:rPr b="0" i="1" lang="en-US" sz="2800" u="none" cap="none" strike="noStrike">
                <a:solidFill>
                  <a:srgbClr val="17365D"/>
                </a:solidFill>
                <a:latin typeface="Arial"/>
                <a:ea typeface="Arial"/>
                <a:cs typeface="Arial"/>
                <a:sym typeface="Arial"/>
              </a:rPr>
              <a:t>cont…</a:t>
            </a:r>
            <a:endParaRPr b="0" i="1" sz="2800" u="none" cap="none" strike="noStrike">
              <a:solidFill>
                <a:srgbClr val="17365D"/>
              </a:solidFill>
              <a:latin typeface="Arial"/>
              <a:ea typeface="Arial"/>
              <a:cs typeface="Arial"/>
              <a:sym typeface="Arial"/>
            </a:endParaRPr>
          </a:p>
        </p:txBody>
      </p:sp>
      <p:sp>
        <p:nvSpPr>
          <p:cNvPr id="179" name="Google Shape;179;p1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6"/>
          <p:cNvSpPr/>
          <p:nvPr/>
        </p:nvSpPr>
        <p:spPr>
          <a:xfrm>
            <a:off x="228600" y="2203677"/>
            <a:ext cx="8681293" cy="954107"/>
          </a:xfrm>
          <a:prstGeom prst="rect">
            <a:avLst/>
          </a:prstGeom>
          <a:gradFill>
            <a:gsLst>
              <a:gs pos="0">
                <a:srgbClr val="FF932B"/>
              </a:gs>
              <a:gs pos="100000">
                <a:srgbClr val="FFB673"/>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sp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nervous or mental disorder;</a:t>
            </a:r>
            <a:endParaRPr/>
          </a:p>
          <a:p>
            <a:pPr indent="-176213" lvl="0" marL="176213" marR="0" rtl="0" algn="l">
              <a:spcBef>
                <a:spcPts val="0"/>
              </a:spcBef>
              <a:spcAft>
                <a:spcPts val="0"/>
              </a:spcAft>
              <a:buNone/>
            </a:pPr>
            <a:r>
              <a:t/>
            </a:r>
            <a:endParaRPr b="0" i="0" sz="2800" u="none" cap="none" strike="noStrike">
              <a:solidFill>
                <a:srgbClr val="002060"/>
              </a:solidFill>
              <a:latin typeface="Arial"/>
              <a:ea typeface="Arial"/>
              <a:cs typeface="Arial"/>
              <a:sym typeface="Arial"/>
            </a:endParaRPr>
          </a:p>
        </p:txBody>
      </p:sp>
      <p:pic>
        <p:nvPicPr>
          <p:cNvPr id="186" name="Google Shape;186;p16"/>
          <p:cNvPicPr preferRelativeResize="0"/>
          <p:nvPr/>
        </p:nvPicPr>
        <p:blipFill rotWithShape="1">
          <a:blip r:embed="rId3">
            <a:alphaModFix/>
          </a:blip>
          <a:srcRect b="0" l="0" r="0" t="0"/>
          <a:stretch/>
        </p:blipFill>
        <p:spPr>
          <a:xfrm>
            <a:off x="2852738" y="3346469"/>
            <a:ext cx="3438525" cy="3170236"/>
          </a:xfrm>
          <a:prstGeom prst="rect">
            <a:avLst/>
          </a:prstGeom>
          <a:noFill/>
          <a:ln>
            <a:noFill/>
          </a:ln>
        </p:spPr>
      </p:pic>
      <p:sp>
        <p:nvSpPr>
          <p:cNvPr id="187" name="Google Shape;187;p16"/>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Exclusions</a:t>
            </a:r>
            <a:r>
              <a:rPr b="0" i="0" lang="en-US" sz="3600" u="none" cap="none" strike="noStrike">
                <a:solidFill>
                  <a:srgbClr val="F36005"/>
                </a:solidFill>
                <a:latin typeface="Arial"/>
                <a:ea typeface="Arial"/>
                <a:cs typeface="Arial"/>
                <a:sym typeface="Arial"/>
              </a:rPr>
              <a:t>  </a:t>
            </a:r>
            <a:r>
              <a:rPr b="0" i="1" lang="en-US" sz="2800" u="none" cap="none" strike="noStrike">
                <a:solidFill>
                  <a:srgbClr val="17365D"/>
                </a:solidFill>
                <a:latin typeface="Arial"/>
                <a:ea typeface="Arial"/>
                <a:cs typeface="Arial"/>
                <a:sym typeface="Arial"/>
              </a:rPr>
              <a:t>cont…</a:t>
            </a:r>
            <a:endParaRPr b="0" i="1" sz="2800" u="none" cap="none" strike="noStrike">
              <a:solidFill>
                <a:srgbClr val="17365D"/>
              </a:solidFill>
              <a:latin typeface="Arial"/>
              <a:ea typeface="Arial"/>
              <a:cs typeface="Arial"/>
              <a:sym typeface="Arial"/>
            </a:endParaRPr>
          </a:p>
        </p:txBody>
      </p:sp>
      <p:sp>
        <p:nvSpPr>
          <p:cNvPr id="188" name="Google Shape;188;p1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p:nvPr/>
        </p:nvSpPr>
        <p:spPr>
          <a:xfrm>
            <a:off x="228600" y="2179718"/>
            <a:ext cx="8681293" cy="4355038"/>
          </a:xfrm>
          <a:prstGeom prst="rect">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266700" lvl="0" marL="342900" marR="0" rtl="0" algn="l">
              <a:spcBef>
                <a:spcPts val="0"/>
              </a:spcBef>
              <a:spcAft>
                <a:spcPts val="0"/>
              </a:spcAft>
              <a:buClr>
                <a:schemeClr val="dk1"/>
              </a:buClr>
              <a:buSzPts val="1200"/>
              <a:buFont typeface="Noto Sans Symbols"/>
              <a:buNone/>
            </a:pPr>
            <a:r>
              <a:t/>
            </a:r>
            <a:endParaRPr b="0" i="0" sz="1200" u="none" cap="none" strike="noStrike">
              <a:solidFill>
                <a:schemeClr val="lt1"/>
              </a:solidFill>
              <a:latin typeface="Arial"/>
              <a:ea typeface="Arial"/>
              <a:cs typeface="Arial"/>
              <a:sym typeface="Arial"/>
            </a:endParaRPr>
          </a:p>
          <a:p>
            <a:pPr indent="-342900" lvl="0" marL="342900" marR="0" rtl="0" algn="l">
              <a:spcBef>
                <a:spcPts val="0"/>
              </a:spcBef>
              <a:spcAft>
                <a:spcPts val="0"/>
              </a:spcAft>
              <a:buClr>
                <a:schemeClr val="lt1"/>
              </a:buClr>
              <a:buSzPts val="2300"/>
              <a:buFont typeface="Noto Sans Symbols"/>
              <a:buChar char="✔"/>
            </a:pPr>
            <a:r>
              <a:rPr b="0" i="0" lang="en-US" sz="2300" u="none" cap="none" strike="noStrike">
                <a:solidFill>
                  <a:schemeClr val="lt1"/>
                </a:solidFill>
                <a:latin typeface="Arial"/>
                <a:ea typeface="Arial"/>
                <a:cs typeface="Arial"/>
                <a:sym typeface="Arial"/>
              </a:rPr>
              <a:t>congenital deformities or defects; </a:t>
            </a:r>
            <a:endParaRPr/>
          </a:p>
          <a:p>
            <a:pPr indent="-196850" lvl="0" marL="342900" marR="0" rtl="0" algn="l">
              <a:spcBef>
                <a:spcPts val="0"/>
              </a:spcBef>
              <a:spcAft>
                <a:spcPts val="0"/>
              </a:spcAft>
              <a:buClr>
                <a:schemeClr val="dk1"/>
              </a:buClr>
              <a:buSzPts val="2300"/>
              <a:buFont typeface="Noto Sans Symbols"/>
              <a:buNone/>
            </a:pPr>
            <a:r>
              <a:t/>
            </a:r>
            <a:endParaRPr b="0" i="0" sz="2300" u="none" cap="none" strike="noStrike">
              <a:solidFill>
                <a:schemeClr val="lt1"/>
              </a:solidFill>
              <a:latin typeface="Arial"/>
              <a:ea typeface="Arial"/>
              <a:cs typeface="Arial"/>
              <a:sym typeface="Arial"/>
            </a:endParaRPr>
          </a:p>
          <a:p>
            <a:pPr indent="-342900" lvl="0" marL="342900" marR="0" rtl="0" algn="l">
              <a:spcBef>
                <a:spcPts val="0"/>
              </a:spcBef>
              <a:spcAft>
                <a:spcPts val="0"/>
              </a:spcAft>
              <a:buClr>
                <a:schemeClr val="lt1"/>
              </a:buClr>
              <a:buSzPts val="2300"/>
              <a:buFont typeface="Noto Sans Symbols"/>
              <a:buChar char="✔"/>
            </a:pPr>
            <a:r>
              <a:rPr b="0" i="0" lang="en-US" sz="2300" u="none" cap="none" strike="noStrike">
                <a:solidFill>
                  <a:schemeClr val="lt1"/>
                </a:solidFill>
                <a:latin typeface="Arial"/>
                <a:ea typeface="Arial"/>
                <a:cs typeface="Arial"/>
                <a:sym typeface="Arial"/>
              </a:rPr>
              <a:t>war declared or undeclared, insurrection, riots, civil commotion or any hostile action of armed forces;</a:t>
            </a:r>
            <a:endParaRPr/>
          </a:p>
          <a:p>
            <a:pPr indent="-196850" lvl="0" marL="342900" marR="0" rtl="0" algn="l">
              <a:spcBef>
                <a:spcPts val="0"/>
              </a:spcBef>
              <a:spcAft>
                <a:spcPts val="0"/>
              </a:spcAft>
              <a:buClr>
                <a:schemeClr val="dk1"/>
              </a:buClr>
              <a:buSzPts val="2300"/>
              <a:buFont typeface="Noto Sans Symbols"/>
              <a:buNone/>
            </a:pPr>
            <a:r>
              <a:t/>
            </a:r>
            <a:endParaRPr b="0" i="0" sz="2300" u="none" cap="none" strike="noStrike">
              <a:solidFill>
                <a:schemeClr val="lt1"/>
              </a:solidFill>
              <a:latin typeface="Arial"/>
              <a:ea typeface="Arial"/>
              <a:cs typeface="Arial"/>
              <a:sym typeface="Arial"/>
            </a:endParaRPr>
          </a:p>
          <a:p>
            <a:pPr indent="-342900" lvl="0" marL="342900" marR="0" rtl="0" algn="l">
              <a:spcBef>
                <a:spcPts val="0"/>
              </a:spcBef>
              <a:spcAft>
                <a:spcPts val="0"/>
              </a:spcAft>
              <a:buClr>
                <a:schemeClr val="lt1"/>
              </a:buClr>
              <a:buSzPts val="2300"/>
              <a:buFont typeface="Noto Sans Symbols"/>
              <a:buChar char="✔"/>
            </a:pPr>
            <a:r>
              <a:rPr b="0" i="0" lang="en-US" sz="2300" u="none" cap="none" strike="noStrike">
                <a:solidFill>
                  <a:schemeClr val="lt1"/>
                </a:solidFill>
                <a:latin typeface="Arial"/>
                <a:ea typeface="Arial"/>
                <a:cs typeface="Arial"/>
                <a:sym typeface="Arial"/>
              </a:rPr>
              <a:t>committing or attempting to commit a criminal offense;</a:t>
            </a:r>
            <a:endParaRPr/>
          </a:p>
          <a:p>
            <a:pPr indent="-196850" lvl="0" marL="342900" marR="0" rtl="0" algn="l">
              <a:spcBef>
                <a:spcPts val="0"/>
              </a:spcBef>
              <a:spcAft>
                <a:spcPts val="0"/>
              </a:spcAft>
              <a:buClr>
                <a:schemeClr val="dk1"/>
              </a:buClr>
              <a:buSzPts val="2300"/>
              <a:buFont typeface="Noto Sans Symbols"/>
              <a:buNone/>
            </a:pPr>
            <a:r>
              <a:t/>
            </a:r>
            <a:endParaRPr b="0" i="0" sz="2300" u="none" cap="none" strike="noStrike">
              <a:solidFill>
                <a:schemeClr val="lt1"/>
              </a:solidFill>
              <a:latin typeface="Arial"/>
              <a:ea typeface="Arial"/>
              <a:cs typeface="Arial"/>
              <a:sym typeface="Arial"/>
            </a:endParaRPr>
          </a:p>
          <a:p>
            <a:pPr indent="-342900" lvl="0" marL="342900" marR="0" rtl="0" algn="l">
              <a:spcBef>
                <a:spcPts val="0"/>
              </a:spcBef>
              <a:spcAft>
                <a:spcPts val="0"/>
              </a:spcAft>
              <a:buClr>
                <a:schemeClr val="lt1"/>
              </a:buClr>
              <a:buSzPts val="2300"/>
              <a:buFont typeface="Noto Sans Symbols"/>
              <a:buChar char="✔"/>
            </a:pPr>
            <a:r>
              <a:rPr b="0" i="0" lang="en-US" sz="2300" u="none" cap="none" strike="noStrike">
                <a:solidFill>
                  <a:schemeClr val="lt1"/>
                </a:solidFill>
                <a:latin typeface="Arial"/>
                <a:ea typeface="Arial"/>
                <a:cs typeface="Arial"/>
                <a:sym typeface="Arial"/>
              </a:rPr>
              <a:t>any Human Immunodeficiency Virus (HIV) and/or any HIV-related illness including Acquired Immune Deficiency Syndrome (AIDS) and/or any mutations, derivation or variations thereof.</a:t>
            </a:r>
            <a:endParaRPr/>
          </a:p>
          <a:p>
            <a:pPr indent="-266700" lvl="0" marL="342900" marR="0" rtl="0" algn="l">
              <a:spcBef>
                <a:spcPts val="0"/>
              </a:spcBef>
              <a:spcAft>
                <a:spcPts val="0"/>
              </a:spcAft>
              <a:buClr>
                <a:schemeClr val="dk1"/>
              </a:buClr>
              <a:buSzPts val="1200"/>
              <a:buFont typeface="Noto Sans Symbols"/>
              <a:buNone/>
            </a:pPr>
            <a:r>
              <a:t/>
            </a:r>
            <a:endParaRPr b="0" i="0" sz="1200" u="none" cap="none" strike="noStrike">
              <a:solidFill>
                <a:schemeClr val="lt1"/>
              </a:solidFill>
              <a:latin typeface="Arial"/>
              <a:ea typeface="Arial"/>
              <a:cs typeface="Arial"/>
              <a:sym typeface="Arial"/>
            </a:endParaRPr>
          </a:p>
        </p:txBody>
      </p:sp>
      <p:sp>
        <p:nvSpPr>
          <p:cNvPr id="195" name="Google Shape;195;p17"/>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Exclusions</a:t>
            </a:r>
            <a:r>
              <a:rPr b="0" i="0" lang="en-US" sz="3600" u="none" cap="none" strike="noStrike">
                <a:solidFill>
                  <a:srgbClr val="F36005"/>
                </a:solidFill>
                <a:latin typeface="Arial"/>
                <a:ea typeface="Arial"/>
                <a:cs typeface="Arial"/>
                <a:sym typeface="Arial"/>
              </a:rPr>
              <a:t>  </a:t>
            </a:r>
            <a:r>
              <a:rPr b="0" i="1" lang="en-US" sz="2800" u="none" cap="none" strike="noStrike">
                <a:solidFill>
                  <a:srgbClr val="17365D"/>
                </a:solidFill>
                <a:latin typeface="Arial"/>
                <a:ea typeface="Arial"/>
                <a:cs typeface="Arial"/>
                <a:sym typeface="Arial"/>
              </a:rPr>
              <a:t>cont…</a:t>
            </a:r>
            <a:endParaRPr b="0" i="1" sz="2800" u="none" cap="none" strike="noStrike">
              <a:solidFill>
                <a:srgbClr val="17365D"/>
              </a:solidFill>
              <a:latin typeface="Arial"/>
              <a:ea typeface="Arial"/>
              <a:cs typeface="Arial"/>
              <a:sym typeface="Arial"/>
            </a:endParaRPr>
          </a:p>
        </p:txBody>
      </p:sp>
      <p:sp>
        <p:nvSpPr>
          <p:cNvPr id="196" name="Google Shape;196;p1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p:nvPr/>
        </p:nvSpPr>
        <p:spPr>
          <a:xfrm>
            <a:off x="223093" y="2452914"/>
            <a:ext cx="6331857" cy="3739485"/>
          </a:xfrm>
          <a:prstGeom prst="rect">
            <a:avLst/>
          </a:prstGeom>
          <a:gradFill>
            <a:gsLst>
              <a:gs pos="0">
                <a:schemeClr val="dk1"/>
              </a:gs>
              <a:gs pos="100000">
                <a:srgbClr val="BABABA"/>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spAutoFit/>
          </a:bodyPr>
          <a:lstStyle/>
          <a:p>
            <a:pPr indent="-176213" lvl="0" marL="176213" marR="0" rtl="0" algn="l">
              <a:spcBef>
                <a:spcPts val="0"/>
              </a:spcBef>
              <a:spcAft>
                <a:spcPts val="0"/>
              </a:spcAft>
              <a:buNone/>
            </a:pPr>
            <a:r>
              <a:rPr b="0" i="0" lang="en-US" sz="2300" u="none" cap="none" strike="noStrike">
                <a:solidFill>
                  <a:schemeClr val="lt1"/>
                </a:solidFill>
                <a:latin typeface="Arial"/>
                <a:ea typeface="Arial"/>
                <a:cs typeface="Arial"/>
                <a:sym typeface="Arial"/>
              </a:rPr>
              <a:t> </a:t>
            </a:r>
            <a:endParaRPr/>
          </a:p>
          <a:p>
            <a:pPr indent="-457200" lvl="0" marL="457200" marR="0" rtl="0" algn="l">
              <a:spcBef>
                <a:spcPts val="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routine physical check-ups or rest cures</a:t>
            </a:r>
            <a:endParaRPr/>
          </a:p>
          <a:p>
            <a:pPr indent="-279400" lvl="0" marL="457200" marR="0" rtl="0" algn="l">
              <a:spcBef>
                <a:spcPts val="0"/>
              </a:spcBef>
              <a:spcAft>
                <a:spcPts val="0"/>
              </a:spcAft>
              <a:buClr>
                <a:schemeClr val="dk1"/>
              </a:buClr>
              <a:buSzPts val="2800"/>
              <a:buFont typeface="Noto Sans Symbols"/>
              <a:buNone/>
            </a:pPr>
            <a:r>
              <a:t/>
            </a:r>
            <a:endParaRPr b="0" i="0" sz="2800" u="none" cap="none" strike="noStrike">
              <a:solidFill>
                <a:schemeClr val="lt1"/>
              </a:solidFill>
              <a:latin typeface="Arial"/>
              <a:ea typeface="Arial"/>
              <a:cs typeface="Arial"/>
              <a:sym typeface="Arial"/>
            </a:endParaRPr>
          </a:p>
          <a:p>
            <a:pPr indent="-457200" lvl="0" marL="457200" marR="0" rtl="0" algn="l">
              <a:spcBef>
                <a:spcPts val="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cosmetic or plastic surgery, except as a result of injury and recommended by a physician; and</a:t>
            </a:r>
            <a:endParaRPr/>
          </a:p>
          <a:p>
            <a:pPr indent="-311150" lvl="0" marL="457200" marR="0" rtl="0" algn="l">
              <a:spcBef>
                <a:spcPts val="0"/>
              </a:spcBef>
              <a:spcAft>
                <a:spcPts val="0"/>
              </a:spcAft>
              <a:buClr>
                <a:schemeClr val="dk1"/>
              </a:buClr>
              <a:buSzPts val="2300"/>
              <a:buFont typeface="Noto Sans Symbols"/>
              <a:buNone/>
            </a:pPr>
            <a:r>
              <a:t/>
            </a:r>
            <a:endParaRPr b="0" i="0" sz="2300" u="none" cap="none" strike="noStrike">
              <a:solidFill>
                <a:schemeClr val="lt1"/>
              </a:solidFill>
              <a:latin typeface="Arial"/>
              <a:ea typeface="Arial"/>
              <a:cs typeface="Arial"/>
              <a:sym typeface="Arial"/>
            </a:endParaRPr>
          </a:p>
          <a:p>
            <a:pPr indent="-176213" lvl="0" marL="176213" marR="0" rtl="0" algn="l">
              <a:spcBef>
                <a:spcPts val="0"/>
              </a:spcBef>
              <a:spcAft>
                <a:spcPts val="0"/>
              </a:spcAft>
              <a:buNone/>
            </a:pPr>
            <a:r>
              <a:t/>
            </a:r>
            <a:endParaRPr b="0" i="0" sz="2300" u="none" cap="none" strike="noStrike">
              <a:solidFill>
                <a:srgbClr val="002060"/>
              </a:solidFill>
              <a:latin typeface="Arial"/>
              <a:ea typeface="Arial"/>
              <a:cs typeface="Arial"/>
              <a:sym typeface="Arial"/>
            </a:endParaRPr>
          </a:p>
        </p:txBody>
      </p:sp>
      <p:pic>
        <p:nvPicPr>
          <p:cNvPr id="203" name="Google Shape;203;p18"/>
          <p:cNvPicPr preferRelativeResize="0"/>
          <p:nvPr/>
        </p:nvPicPr>
        <p:blipFill rotWithShape="1">
          <a:blip r:embed="rId3">
            <a:alphaModFix/>
          </a:blip>
          <a:srcRect b="0" l="0" r="0" t="0"/>
          <a:stretch/>
        </p:blipFill>
        <p:spPr>
          <a:xfrm>
            <a:off x="6554950" y="2452914"/>
            <a:ext cx="2354943" cy="3739485"/>
          </a:xfrm>
          <a:prstGeom prst="rect">
            <a:avLst/>
          </a:prstGeom>
          <a:noFill/>
          <a:ln>
            <a:noFill/>
          </a:ln>
        </p:spPr>
      </p:pic>
      <p:sp>
        <p:nvSpPr>
          <p:cNvPr id="204" name="Google Shape;204;p18"/>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i="0" lang="en-US" sz="3600" u="none" cap="none" strike="noStrike">
                <a:solidFill>
                  <a:srgbClr val="F36005"/>
                </a:solidFill>
                <a:latin typeface="Arial"/>
                <a:ea typeface="Arial"/>
                <a:cs typeface="Arial"/>
                <a:sym typeface="Arial"/>
              </a:rPr>
              <a:t>Exclusions</a:t>
            </a:r>
            <a:r>
              <a:rPr b="0" i="0" lang="en-US" sz="3600" u="none" cap="none" strike="noStrike">
                <a:solidFill>
                  <a:srgbClr val="F36005"/>
                </a:solidFill>
                <a:latin typeface="Arial"/>
                <a:ea typeface="Arial"/>
                <a:cs typeface="Arial"/>
                <a:sym typeface="Arial"/>
              </a:rPr>
              <a:t>  </a:t>
            </a:r>
            <a:r>
              <a:rPr b="0" i="1" lang="en-US" sz="2800" u="none" cap="none" strike="noStrike">
                <a:solidFill>
                  <a:srgbClr val="17365D"/>
                </a:solidFill>
                <a:latin typeface="Arial"/>
                <a:ea typeface="Arial"/>
                <a:cs typeface="Arial"/>
                <a:sym typeface="Arial"/>
              </a:rPr>
              <a:t>cont…</a:t>
            </a:r>
            <a:endParaRPr b="0" i="1" sz="2800" u="none" cap="none" strike="noStrike">
              <a:solidFill>
                <a:srgbClr val="17365D"/>
              </a:solidFill>
              <a:latin typeface="Arial"/>
              <a:ea typeface="Arial"/>
              <a:cs typeface="Arial"/>
              <a:sym typeface="Arial"/>
            </a:endParaRPr>
          </a:p>
        </p:txBody>
      </p:sp>
      <p:sp>
        <p:nvSpPr>
          <p:cNvPr id="205" name="Google Shape;205;p1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HIB</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nvSpPr>
        <p:spPr>
          <a:xfrm>
            <a:off x="293915" y="1545772"/>
            <a:ext cx="8556170" cy="4245428"/>
          </a:xfrm>
          <a:prstGeom prst="rect">
            <a:avLst/>
          </a:prstGeom>
          <a:solidFill>
            <a:srgbClr val="0000CC"/>
          </a:solidFill>
          <a:ln cap="flat" cmpd="sng" w="25400">
            <a:solidFill>
              <a:srgbClr val="0000FF"/>
            </a:solidFill>
            <a:prstDash val="solid"/>
            <a:round/>
            <a:headEnd len="sm" w="sm" type="none"/>
            <a:tailEnd len="sm" w="sm" type="none"/>
          </a:ln>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b="0" i="0" sz="800" u="none" cap="none" strike="noStrike">
              <a:solidFill>
                <a:schemeClr val="lt1"/>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lt1"/>
                </a:solidFill>
                <a:latin typeface="Arial"/>
                <a:ea typeface="Arial"/>
                <a:cs typeface="Arial"/>
                <a:sym typeface="Arial"/>
              </a:rPr>
              <a:t>FEMALE/MATERNITY BENEFITS</a:t>
            </a:r>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lt1"/>
                </a:solidFill>
                <a:latin typeface="Arial"/>
                <a:ea typeface="Arial"/>
                <a:cs typeface="Arial"/>
                <a:sym typeface="Arial"/>
              </a:rPr>
              <a:t>SUN MILADY/SUN MILADY PLUS</a:t>
            </a:r>
            <a:endParaRPr/>
          </a:p>
          <a:p>
            <a:pPr indent="-495300" lvl="0" marL="495300" marR="0" rtl="0" algn="ctr">
              <a:lnSpc>
                <a:spcPct val="90000"/>
              </a:lnSpc>
              <a:spcBef>
                <a:spcPts val="160"/>
              </a:spcBef>
              <a:spcAft>
                <a:spcPts val="0"/>
              </a:spcAft>
              <a:buClr>
                <a:schemeClr val="dk1"/>
              </a:buClr>
              <a:buSzPts val="800"/>
              <a:buFont typeface="Noto Sans Symbols"/>
              <a:buNone/>
            </a:pPr>
            <a:r>
              <a:t/>
            </a:r>
            <a:endParaRPr b="0" i="0" sz="800" u="none" cap="none" strike="noStrike">
              <a:solidFill>
                <a:schemeClr val="lt1"/>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lt1"/>
                </a:solidFill>
                <a:latin typeface="Arial"/>
                <a:ea typeface="Arial"/>
                <a:cs typeface="Arial"/>
                <a:sym typeface="Arial"/>
              </a:rPr>
              <a:t>vs.</a:t>
            </a:r>
            <a:endParaRPr/>
          </a:p>
          <a:p>
            <a:pPr indent="-495300" lvl="0" marL="495300" marR="0" rtl="0" algn="ctr">
              <a:lnSpc>
                <a:spcPct val="90000"/>
              </a:lnSpc>
              <a:spcBef>
                <a:spcPts val="160"/>
              </a:spcBef>
              <a:spcAft>
                <a:spcPts val="0"/>
              </a:spcAft>
              <a:buClr>
                <a:schemeClr val="dk1"/>
              </a:buClr>
              <a:buSzPts val="800"/>
              <a:buFont typeface="Noto Sans Symbols"/>
              <a:buNone/>
            </a:pPr>
            <a:r>
              <a:t/>
            </a:r>
            <a:endParaRPr b="0" i="0" sz="800" u="none" cap="none" strike="noStrike">
              <a:solidFill>
                <a:schemeClr val="lt1"/>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lt1"/>
                </a:solidFill>
                <a:latin typeface="Arial"/>
                <a:ea typeface="Arial"/>
                <a:cs typeface="Arial"/>
                <a:sym typeface="Arial"/>
              </a:rPr>
              <a:t>FEMALE CRITICAL ILLNESS/ MATERNITY BENEFITS</a:t>
            </a:r>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lt1"/>
                </a:solidFill>
                <a:latin typeface="Arial"/>
                <a:ea typeface="Arial"/>
                <a:cs typeface="Arial"/>
                <a:sym typeface="Arial"/>
              </a:rPr>
              <a:t>SUN MAIDEN/SUN MAIDEN PLUS</a:t>
            </a:r>
            <a:endParaRPr/>
          </a:p>
          <a:p>
            <a:pPr indent="-495300" lvl="0" marL="495300" marR="0" rtl="0" algn="ctr">
              <a:lnSpc>
                <a:spcPct val="90000"/>
              </a:lnSpc>
              <a:spcBef>
                <a:spcPts val="160"/>
              </a:spcBef>
              <a:spcAft>
                <a:spcPts val="0"/>
              </a:spcAft>
              <a:buClr>
                <a:schemeClr val="dk1"/>
              </a:buClr>
              <a:buSzPts val="800"/>
              <a:buFont typeface="Noto Sans Symbols"/>
              <a:buNone/>
            </a:pPr>
            <a:r>
              <a:t/>
            </a:r>
            <a:endParaRPr b="0" i="0" sz="800" u="none" cap="none" strike="noStrike">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t/>
            </a:r>
            <a:endParaRPr b="0" i="0" sz="3600" u="none" cap="none" strike="noStrike">
              <a:solidFill>
                <a:schemeClr val="hlink"/>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t/>
            </a:r>
            <a:endParaRPr b="0" i="0" sz="3600" u="none" cap="none" strike="noStrike">
              <a:solidFill>
                <a:schemeClr val="hlink"/>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b="0" i="0" lang="en-US" sz="3600" u="none" cap="none" strike="noStrike">
                <a:solidFill>
                  <a:schemeClr val="hlink"/>
                </a:solidFill>
                <a:latin typeface="Arial"/>
                <a:ea typeface="Arial"/>
                <a:cs typeface="Arial"/>
                <a:sym typeface="Arial"/>
              </a:rPr>
              <a:t>	</a:t>
            </a:r>
            <a:endParaRPr b="0" i="0" sz="3600" u="none" cap="none" strike="noStrike">
              <a:solidFill>
                <a:srgbClr val="17365D"/>
              </a:solidFill>
              <a:latin typeface="Arial"/>
              <a:ea typeface="Arial"/>
              <a:cs typeface="Arial"/>
              <a:sym typeface="Arial"/>
            </a:endParaRPr>
          </a:p>
        </p:txBody>
      </p:sp>
      <p:sp>
        <p:nvSpPr>
          <p:cNvPr id="211" name="Google Shape;211;p1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mc:AlternateContent>
    <mc:Choice Requires="p14">
      <p:transition spd="slow" p14:dur="2000">
        <p14:vortex dir="d"/>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p:nvPr/>
        </p:nvSpPr>
        <p:spPr>
          <a:xfrm>
            <a:off x="229656" y="1901372"/>
            <a:ext cx="8686800" cy="1074057"/>
          </a:xfrm>
          <a:prstGeom prst="rect">
            <a:avLst/>
          </a:prstGeom>
          <a:solidFill>
            <a:schemeClr val="lt1"/>
          </a:solidFill>
          <a:ln>
            <a:noFill/>
          </a:ln>
        </p:spPr>
        <p:txBody>
          <a:bodyPr anchorCtr="0" anchor="ctr" bIns="45700" lIns="91425" spcFirstLastPara="1" rIns="91425" wrap="square" tIns="45700">
            <a:noAutofit/>
          </a:bodyPr>
          <a:lstStyle/>
          <a:p>
            <a:pPr indent="-457200" lvl="0" marL="457200" marR="0" rtl="0" algn="l">
              <a:spcBef>
                <a:spcPts val="0"/>
              </a:spcBef>
              <a:spcAft>
                <a:spcPts val="0"/>
              </a:spcAft>
              <a:buClr>
                <a:srgbClr val="002060"/>
              </a:buClr>
              <a:buSzPts val="2800"/>
              <a:buFont typeface="Noto Sans Symbols"/>
              <a:buChar char="✔"/>
            </a:pPr>
            <a:r>
              <a:rPr b="0" i="0" lang="en-US" sz="2800" u="none" cap="none" strike="noStrike">
                <a:solidFill>
                  <a:srgbClr val="002060"/>
                </a:solidFill>
                <a:latin typeface="Arial"/>
                <a:ea typeface="Arial"/>
                <a:cs typeface="Arial"/>
                <a:sym typeface="Arial"/>
              </a:rPr>
              <a:t>diagnosis should occur after 90 days</a:t>
            </a:r>
            <a:endParaRPr/>
          </a:p>
          <a:p>
            <a:pPr indent="0" lvl="0" marL="0" marR="0" rtl="0" algn="l">
              <a:spcBef>
                <a:spcPts val="0"/>
              </a:spcBef>
              <a:spcAft>
                <a:spcPts val="0"/>
              </a:spcAft>
              <a:buNone/>
            </a:pPr>
            <a:r>
              <a:t/>
            </a:r>
            <a:endParaRPr sz="2800">
              <a:solidFill>
                <a:srgbClr val="002060"/>
              </a:solidFill>
              <a:latin typeface="Arial"/>
              <a:ea typeface="Arial"/>
              <a:cs typeface="Arial"/>
              <a:sym typeface="Arial"/>
            </a:endParaRPr>
          </a:p>
        </p:txBody>
      </p:sp>
      <p:sp>
        <p:nvSpPr>
          <p:cNvPr id="217" name="Google Shape;217;p20"/>
          <p:cNvSpPr/>
          <p:nvPr/>
        </p:nvSpPr>
        <p:spPr>
          <a:xfrm>
            <a:off x="229656" y="2975429"/>
            <a:ext cx="8686800" cy="1001485"/>
          </a:xfrm>
          <a:prstGeom prst="rect">
            <a:avLst/>
          </a:prstGeom>
          <a:noFill/>
          <a:ln>
            <a:noFill/>
          </a:ln>
        </p:spPr>
        <p:txBody>
          <a:bodyPr anchorCtr="0" anchor="ctr" bIns="45700" lIns="91425" spcFirstLastPara="1" rIns="91425" wrap="square" tIns="45700">
            <a:noAutofit/>
          </a:bodyPr>
          <a:lstStyle/>
          <a:p>
            <a:pPr indent="-457200" lvl="0" marL="457200" marR="0" rtl="0" algn="l">
              <a:spcBef>
                <a:spcPts val="0"/>
              </a:spcBef>
              <a:spcAft>
                <a:spcPts val="0"/>
              </a:spcAft>
              <a:buClr>
                <a:srgbClr val="002060"/>
              </a:buClr>
              <a:buSzPts val="2800"/>
              <a:buFont typeface="Noto Sans Symbols"/>
              <a:buChar char="✔"/>
            </a:pPr>
            <a:r>
              <a:rPr lang="en-US" sz="2800">
                <a:solidFill>
                  <a:srgbClr val="002060"/>
                </a:solidFill>
                <a:latin typeface="Arial"/>
                <a:ea typeface="Arial"/>
                <a:cs typeface="Arial"/>
                <a:sym typeface="Arial"/>
              </a:rPr>
              <a:t>surgeries or procedures must be undergone first</a:t>
            </a:r>
            <a:endParaRPr/>
          </a:p>
          <a:p>
            <a:pPr indent="0" lvl="0" marL="0" marR="0" rtl="0" algn="l">
              <a:spcBef>
                <a:spcPts val="0"/>
              </a:spcBef>
              <a:spcAft>
                <a:spcPts val="0"/>
              </a:spcAft>
              <a:buNone/>
            </a:pPr>
            <a:r>
              <a:t/>
            </a:r>
            <a:endParaRPr sz="2800">
              <a:solidFill>
                <a:srgbClr val="002060"/>
              </a:solidFill>
              <a:latin typeface="Arial"/>
              <a:ea typeface="Arial"/>
              <a:cs typeface="Arial"/>
              <a:sym typeface="Arial"/>
            </a:endParaRPr>
          </a:p>
        </p:txBody>
      </p:sp>
      <p:sp>
        <p:nvSpPr>
          <p:cNvPr id="218" name="Google Shape;218;p20"/>
          <p:cNvSpPr/>
          <p:nvPr/>
        </p:nvSpPr>
        <p:spPr>
          <a:xfrm>
            <a:off x="229656" y="4216400"/>
            <a:ext cx="8686800" cy="972458"/>
          </a:xfrm>
          <a:prstGeom prst="rect">
            <a:avLst/>
          </a:prstGeom>
          <a:noFill/>
          <a:ln>
            <a:noFill/>
          </a:ln>
        </p:spPr>
        <p:txBody>
          <a:bodyPr anchorCtr="0" anchor="ctr" bIns="45700" lIns="91425" spcFirstLastPara="1" rIns="91425" wrap="square" tIns="45700">
            <a:noAutofit/>
          </a:bodyPr>
          <a:lstStyle/>
          <a:p>
            <a:pPr indent="-457200" lvl="0" marL="457200" marR="0" rtl="0" algn="l">
              <a:spcBef>
                <a:spcPts val="0"/>
              </a:spcBef>
              <a:spcAft>
                <a:spcPts val="0"/>
              </a:spcAft>
              <a:buClr>
                <a:srgbClr val="002060"/>
              </a:buClr>
              <a:buSzPts val="2800"/>
              <a:buFont typeface="Noto Sans Symbols"/>
              <a:buChar char="✔"/>
            </a:pPr>
            <a:r>
              <a:rPr lang="en-US" sz="2800">
                <a:solidFill>
                  <a:srgbClr val="002060"/>
                </a:solidFill>
                <a:latin typeface="Arial"/>
                <a:ea typeface="Arial"/>
                <a:cs typeface="Arial"/>
                <a:sym typeface="Arial"/>
              </a:rPr>
              <a:t>must satisfy the definitions and conditions in the contract</a:t>
            </a:r>
            <a:endParaRPr/>
          </a:p>
          <a:p>
            <a:pPr indent="0" lvl="0" marL="0" marR="0" rtl="0" algn="l">
              <a:spcBef>
                <a:spcPts val="0"/>
              </a:spcBef>
              <a:spcAft>
                <a:spcPts val="0"/>
              </a:spcAft>
              <a:buNone/>
            </a:pPr>
            <a:r>
              <a:t/>
            </a:r>
            <a:endParaRPr sz="2800">
              <a:solidFill>
                <a:srgbClr val="002060"/>
              </a:solidFill>
              <a:latin typeface="Arial"/>
              <a:ea typeface="Arial"/>
              <a:cs typeface="Arial"/>
              <a:sym typeface="Arial"/>
            </a:endParaRPr>
          </a:p>
        </p:txBody>
      </p:sp>
      <p:sp>
        <p:nvSpPr>
          <p:cNvPr id="219" name="Google Shape;219;p2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p:nvPr/>
        </p:nvSpPr>
        <p:spPr>
          <a:xfrm>
            <a:off x="229656" y="1441734"/>
            <a:ext cx="8686800" cy="1040206"/>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Times"/>
              <a:buAutoNum type="arabicParenBoth"/>
            </a:pPr>
            <a:r>
              <a:rPr b="1" lang="en-US" sz="2800">
                <a:solidFill>
                  <a:srgbClr val="F36005"/>
                </a:solidFill>
                <a:latin typeface="Arial"/>
                <a:ea typeface="Arial"/>
                <a:cs typeface="Arial"/>
                <a:sym typeface="Arial"/>
              </a:rPr>
              <a:t>Cancer of the Breast, Cervix Uteri, Uterus, Ovary, Fallopian Tube or Vagina</a:t>
            </a:r>
            <a:endParaRPr/>
          </a:p>
        </p:txBody>
      </p:sp>
      <p:graphicFrame>
        <p:nvGraphicFramePr>
          <p:cNvPr id="225" name="Google Shape;225;p21"/>
          <p:cNvGraphicFramePr/>
          <p:nvPr/>
        </p:nvGraphicFramePr>
        <p:xfrm>
          <a:off x="333828" y="2543631"/>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u="none" cap="none" strike="noStrike"/>
                        <a:t>FB / FMB</a:t>
                      </a:r>
                      <a:endParaRPr sz="3200" u="none" cap="none" strike="noStrike"/>
                    </a:p>
                  </a:txBody>
                  <a:tcPr marT="45725" marB="45725" marR="91450" marL="91450"/>
                </a:tc>
                <a:tc>
                  <a:txBody>
                    <a:bodyPr/>
                    <a:lstStyle/>
                    <a:p>
                      <a:pPr indent="0" lvl="0" marL="0" marR="0" rtl="0" algn="ctr">
                        <a:spcBef>
                          <a:spcPts val="0"/>
                        </a:spcBef>
                        <a:spcAft>
                          <a:spcPts val="0"/>
                        </a:spcAft>
                        <a:buNone/>
                      </a:pPr>
                      <a:r>
                        <a:rPr lang="en-US" sz="3200" u="none" cap="none" strike="noStrike"/>
                        <a:t>FCI / FCIM</a:t>
                      </a:r>
                      <a:endParaRPr sz="3200" u="none" cap="none" strike="noStrike"/>
                    </a:p>
                  </a:txBody>
                  <a:tcPr marT="45725" marB="45725" marR="91450" marL="91450"/>
                </a:tc>
              </a:tr>
              <a:tr h="2114525">
                <a:tc>
                  <a:txBody>
                    <a:bodyPr/>
                    <a:lstStyle/>
                    <a:p>
                      <a:pPr indent="0" lvl="0" marL="0" marR="0" rtl="0" algn="l">
                        <a:spcBef>
                          <a:spcPts val="0"/>
                        </a:spcBef>
                        <a:spcAft>
                          <a:spcPts val="0"/>
                        </a:spcAft>
                        <a:buNone/>
                      </a:pPr>
                      <a:r>
                        <a:rPr lang="en-US" sz="2500" u="none" cap="none" strike="noStrike"/>
                        <a:t>None</a:t>
                      </a:r>
                      <a:endParaRPr sz="2500"/>
                    </a:p>
                  </a:txBody>
                  <a:tcPr marT="45725" marB="45725" marR="91450" marL="91450"/>
                </a:tc>
                <a:tc>
                  <a:txBody>
                    <a:bodyPr/>
                    <a:lstStyle/>
                    <a:p>
                      <a:pPr indent="0" lvl="0" marL="0" marR="0" rtl="0" algn="l">
                        <a:spcBef>
                          <a:spcPts val="0"/>
                        </a:spcBef>
                        <a:spcAft>
                          <a:spcPts val="0"/>
                        </a:spcAft>
                        <a:buNone/>
                      </a:pPr>
                      <a:r>
                        <a:rPr lang="en-US" sz="2500"/>
                        <a:t>Includes Carcinoma</a:t>
                      </a:r>
                      <a:r>
                        <a:rPr lang="en-US" sz="2500"/>
                        <a:t>-in-situ of the Uterine Corpus, Ovary, Fallopian Tube or Vagina for which the l</a:t>
                      </a:r>
                      <a:r>
                        <a:rPr lang="en-US" sz="2500"/>
                        <a:t>ife insured</a:t>
                      </a:r>
                      <a:r>
                        <a:rPr lang="en-US" sz="2500"/>
                        <a:t> must actually undergo the required operation</a:t>
                      </a:r>
                      <a:endParaRPr sz="2500"/>
                    </a:p>
                  </a:txBody>
                  <a:tcPr marT="45725" marB="45725" marR="91450" marL="91450"/>
                </a:tc>
              </a:tr>
              <a:tr h="420200">
                <a:tc>
                  <a:txBody>
                    <a:bodyPr/>
                    <a:lstStyle/>
                    <a:p>
                      <a:pPr indent="0" lvl="0" marL="0" marR="0" rtl="0" algn="l">
                        <a:spcBef>
                          <a:spcPts val="0"/>
                        </a:spcBef>
                        <a:spcAft>
                          <a:spcPts val="0"/>
                        </a:spcAft>
                        <a:buNone/>
                      </a:pPr>
                      <a:r>
                        <a:rPr lang="en-US" sz="2500"/>
                        <a:t>20% of the FB/FMB Amount</a:t>
                      </a:r>
                      <a:endParaRPr sz="2500"/>
                    </a:p>
                  </a:txBody>
                  <a:tcPr marT="45725" marB="45725" marR="91450" marL="91450"/>
                </a:tc>
                <a:tc>
                  <a:txBody>
                    <a:bodyPr/>
                    <a:lstStyle/>
                    <a:p>
                      <a:pPr indent="0" lvl="0" marL="0" marR="0" rtl="0" algn="l">
                        <a:spcBef>
                          <a:spcPts val="0"/>
                        </a:spcBef>
                        <a:spcAft>
                          <a:spcPts val="0"/>
                        </a:spcAft>
                        <a:buNone/>
                      </a:pPr>
                      <a:r>
                        <a:rPr lang="en-US" sz="2500"/>
                        <a:t>25% of the FCI/FCIM Amount</a:t>
                      </a:r>
                      <a:endParaRPr sz="2500"/>
                    </a:p>
                  </a:txBody>
                  <a:tcPr marT="45725" marB="45725" marR="91450" marL="91450"/>
                </a:tc>
              </a:tr>
              <a:tr h="486225">
                <a:tc>
                  <a:txBody>
                    <a:bodyPr/>
                    <a:lstStyle/>
                    <a:p>
                      <a:pPr indent="0" lvl="0" marL="0" marR="0" rtl="0" algn="l">
                        <a:spcBef>
                          <a:spcPts val="0"/>
                        </a:spcBef>
                        <a:spcAft>
                          <a:spcPts val="0"/>
                        </a:spcAft>
                        <a:buNone/>
                      </a:pPr>
                      <a:r>
                        <a:rPr lang="en-US" sz="2500"/>
                        <a:t>Maximum of Ps.400,000</a:t>
                      </a:r>
                      <a:endParaRPr sz="2500"/>
                    </a:p>
                  </a:txBody>
                  <a:tcPr marT="45725" marB="45725" marR="91450" marL="91450"/>
                </a:tc>
                <a:tc>
                  <a:txBody>
                    <a:bodyPr/>
                    <a:lstStyle/>
                    <a:p>
                      <a:pPr indent="0" lvl="0" marL="0" marR="0" rtl="0" algn="l">
                        <a:spcBef>
                          <a:spcPts val="0"/>
                        </a:spcBef>
                        <a:spcAft>
                          <a:spcPts val="0"/>
                        </a:spcAft>
                        <a:buNone/>
                      </a:pPr>
                      <a:r>
                        <a:rPr lang="en-US" sz="2500"/>
                        <a:t>Maximum of Ps.500,000</a:t>
                      </a:r>
                      <a:endParaRPr sz="2500"/>
                    </a:p>
                  </a:txBody>
                  <a:tcPr marT="45725" marB="45725" marR="91450" marL="91450"/>
                </a:tc>
              </a:tr>
            </a:tbl>
          </a:graphicData>
        </a:graphic>
      </p:graphicFrame>
      <p:sp>
        <p:nvSpPr>
          <p:cNvPr id="226" name="Google Shape;226;p2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p:nvPr/>
        </p:nvSpPr>
        <p:spPr>
          <a:xfrm>
            <a:off x="754744" y="2641610"/>
            <a:ext cx="8103656" cy="360799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None/>
            </a:pPr>
            <a:r>
              <a:rPr lang="en-US" sz="2800">
                <a:solidFill>
                  <a:srgbClr val="002060"/>
                </a:solidFill>
                <a:latin typeface="Arial"/>
                <a:ea typeface="Arial"/>
                <a:cs typeface="Arial"/>
                <a:sym typeface="Arial"/>
              </a:rPr>
              <a:t>Exclusions:		breast carcinoma in situ</a:t>
            </a:r>
            <a:endParaRPr/>
          </a:p>
          <a:p>
            <a:pPr indent="-342900" lvl="0" marL="342900" marR="0" rtl="0" algn="l">
              <a:spcBef>
                <a:spcPts val="560"/>
              </a:spcBef>
              <a:spcAft>
                <a:spcPts val="0"/>
              </a:spcAft>
              <a:buClr>
                <a:srgbClr val="F0AD00"/>
              </a:buClr>
              <a:buSzPts val="2800"/>
              <a:buFont typeface="Times"/>
              <a:buNone/>
            </a:pPr>
            <a:r>
              <a:rPr lang="en-US" sz="2800">
                <a:solidFill>
                  <a:srgbClr val="002060"/>
                </a:solidFill>
                <a:latin typeface="Arial"/>
                <a:ea typeface="Arial"/>
                <a:cs typeface="Arial"/>
                <a:sym typeface="Arial"/>
              </a:rPr>
              <a:t>						cervix carcinoma in situ</a:t>
            </a:r>
            <a:endParaRPr sz="2800">
              <a:solidFill>
                <a:srgbClr val="002060"/>
              </a:solidFill>
              <a:latin typeface="Arial"/>
              <a:ea typeface="Arial"/>
              <a:cs typeface="Arial"/>
              <a:sym typeface="Arial"/>
            </a:endParaRPr>
          </a:p>
        </p:txBody>
      </p:sp>
      <p:sp>
        <p:nvSpPr>
          <p:cNvPr id="232" name="Google Shape;232;p22"/>
          <p:cNvSpPr/>
          <p:nvPr/>
        </p:nvSpPr>
        <p:spPr>
          <a:xfrm>
            <a:off x="229656" y="1441734"/>
            <a:ext cx="8686800" cy="1040206"/>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Times"/>
              <a:buAutoNum type="arabicParenBoth"/>
            </a:pPr>
            <a:r>
              <a:rPr b="1" lang="en-US" sz="2800">
                <a:solidFill>
                  <a:srgbClr val="F36005"/>
                </a:solidFill>
                <a:latin typeface="Arial"/>
                <a:ea typeface="Arial"/>
                <a:cs typeface="Arial"/>
                <a:sym typeface="Arial"/>
              </a:rPr>
              <a:t>Cancer of the Breast, Cervix Uteri, Uterus, Ovary, Fallopian Tube or Vagina  </a:t>
            </a:r>
            <a:r>
              <a:rPr i="1" lang="en-US" sz="2800">
                <a:solidFill>
                  <a:srgbClr val="00202E"/>
                </a:solidFill>
                <a:latin typeface="Arial"/>
                <a:ea typeface="Arial"/>
                <a:cs typeface="Arial"/>
                <a:sym typeface="Arial"/>
              </a:rPr>
              <a:t>cont…</a:t>
            </a:r>
            <a:endParaRPr i="1" sz="2800">
              <a:solidFill>
                <a:srgbClr val="00202E"/>
              </a:solidFill>
              <a:latin typeface="Arial"/>
              <a:ea typeface="Arial"/>
              <a:cs typeface="Arial"/>
              <a:sym typeface="Arial"/>
            </a:endParaRPr>
          </a:p>
        </p:txBody>
      </p:sp>
      <p:sp>
        <p:nvSpPr>
          <p:cNvPr id="233" name="Google Shape;233;p2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2"/>
            </a:pPr>
            <a:r>
              <a:rPr b="1" lang="en-US" sz="2800">
                <a:solidFill>
                  <a:srgbClr val="F36005"/>
                </a:solidFill>
                <a:latin typeface="Arial"/>
                <a:ea typeface="Arial"/>
                <a:cs typeface="Arial"/>
                <a:sym typeface="Arial"/>
              </a:rPr>
              <a:t>Systemic Lupus Erythematosus (SLE)</a:t>
            </a:r>
            <a:endParaRPr/>
          </a:p>
        </p:txBody>
      </p:sp>
      <p:graphicFrame>
        <p:nvGraphicFramePr>
          <p:cNvPr id="239" name="Google Shape;239;p23"/>
          <p:cNvGraphicFramePr/>
          <p:nvPr/>
        </p:nvGraphicFramePr>
        <p:xfrm>
          <a:off x="333828" y="2195295"/>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20% of the FB/FMB Amount</a:t>
                      </a:r>
                      <a:endParaRPr sz="2500"/>
                    </a:p>
                  </a:txBody>
                  <a:tcPr marT="45725" marB="45725" marR="91450" marL="91450"/>
                </a:tc>
                <a:tc>
                  <a:txBody>
                    <a:bodyPr/>
                    <a:lstStyle/>
                    <a:p>
                      <a:pPr indent="0" lvl="0" marL="0" marR="0" rtl="0" algn="l">
                        <a:spcBef>
                          <a:spcPts val="0"/>
                        </a:spcBef>
                        <a:spcAft>
                          <a:spcPts val="0"/>
                        </a:spcAft>
                        <a:buNone/>
                      </a:pPr>
                      <a:r>
                        <a:rPr lang="en-US" sz="2500"/>
                        <a:t>25% of the FCI/FCIM Amount</a:t>
                      </a:r>
                      <a:endParaRPr sz="2500"/>
                    </a:p>
                  </a:txBody>
                  <a:tcPr marT="45725" marB="45725" marR="91450" marL="91450"/>
                </a:tc>
              </a:tr>
              <a:tr h="486225">
                <a:tc>
                  <a:txBody>
                    <a:bodyPr/>
                    <a:lstStyle/>
                    <a:p>
                      <a:pPr indent="0" lvl="0" marL="0" marR="0" rtl="0" algn="l">
                        <a:spcBef>
                          <a:spcPts val="0"/>
                        </a:spcBef>
                        <a:spcAft>
                          <a:spcPts val="0"/>
                        </a:spcAft>
                        <a:buNone/>
                      </a:pPr>
                      <a:r>
                        <a:rPr lang="en-US" sz="2500"/>
                        <a:t>Maximum of Ps.400,000</a:t>
                      </a:r>
                      <a:endParaRPr sz="2500"/>
                    </a:p>
                  </a:txBody>
                  <a:tcPr marT="45725" marB="45725" marR="91450" marL="91450"/>
                </a:tc>
                <a:tc>
                  <a:txBody>
                    <a:bodyPr/>
                    <a:lstStyle/>
                    <a:p>
                      <a:pPr indent="0" lvl="0" marL="0" marR="0" rtl="0" algn="l">
                        <a:spcBef>
                          <a:spcPts val="0"/>
                        </a:spcBef>
                        <a:spcAft>
                          <a:spcPts val="0"/>
                        </a:spcAft>
                        <a:buNone/>
                      </a:pPr>
                      <a:r>
                        <a:rPr lang="en-US" sz="2500"/>
                        <a:t>Maximum of Ps.500,000</a:t>
                      </a:r>
                      <a:endParaRPr sz="2500"/>
                    </a:p>
                  </a:txBody>
                  <a:tcPr marT="45725" marB="45725" marR="91450" marL="91450"/>
                </a:tc>
              </a:tr>
            </a:tbl>
          </a:graphicData>
        </a:graphic>
      </p:graphicFrame>
      <p:sp>
        <p:nvSpPr>
          <p:cNvPr id="240" name="Google Shape;240;p2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p:nvPr/>
        </p:nvSpPr>
        <p:spPr>
          <a:xfrm>
            <a:off x="350160" y="2148102"/>
            <a:ext cx="8039100" cy="1676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None/>
            </a:pPr>
            <a:r>
              <a:rPr lang="en-US" sz="2800">
                <a:solidFill>
                  <a:srgbClr val="00202E"/>
                </a:solidFill>
                <a:latin typeface="Arial"/>
                <a:ea typeface="Arial"/>
                <a:cs typeface="Arial"/>
                <a:sym typeface="Arial"/>
              </a:rPr>
              <a:t>	</a:t>
            </a:r>
            <a:r>
              <a:rPr i="1" lang="en-US" sz="2800">
                <a:solidFill>
                  <a:srgbClr val="00202E"/>
                </a:solidFill>
                <a:latin typeface="Arial"/>
                <a:ea typeface="Arial"/>
                <a:cs typeface="Arial"/>
                <a:sym typeface="Arial"/>
              </a:rPr>
              <a:t>Clinically </a:t>
            </a:r>
            <a:r>
              <a:rPr i="1" lang="en-US" sz="2800" u="sng">
                <a:solidFill>
                  <a:srgbClr val="00202E"/>
                </a:solidFill>
                <a:latin typeface="Arial"/>
                <a:ea typeface="Arial"/>
                <a:cs typeface="Arial"/>
                <a:sym typeface="Arial"/>
              </a:rPr>
              <a:t>there must be at least four</a:t>
            </a:r>
            <a:r>
              <a:rPr i="1" lang="en-US" sz="2800">
                <a:solidFill>
                  <a:srgbClr val="00202E"/>
                </a:solidFill>
                <a:latin typeface="Arial"/>
                <a:ea typeface="Arial"/>
                <a:cs typeface="Arial"/>
                <a:sym typeface="Arial"/>
              </a:rPr>
              <a:t> out of the following :</a:t>
            </a:r>
            <a:endParaRPr/>
          </a:p>
        </p:txBody>
      </p:sp>
      <p:sp>
        <p:nvSpPr>
          <p:cNvPr id="246" name="Google Shape;246;p24"/>
          <p:cNvSpPr/>
          <p:nvPr/>
        </p:nvSpPr>
        <p:spPr>
          <a:xfrm>
            <a:off x="553356" y="3127830"/>
            <a:ext cx="4076700" cy="2068286"/>
          </a:xfrm>
          <a:prstGeom prst="rect">
            <a:avLst/>
          </a:prstGeom>
          <a:gradFill>
            <a:gsLst>
              <a:gs pos="0">
                <a:srgbClr val="A0C94A"/>
              </a:gs>
              <a:gs pos="100000">
                <a:srgbClr val="DBFF9C"/>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Char char="•"/>
            </a:pPr>
            <a:r>
              <a:rPr lang="en-US" sz="2800">
                <a:solidFill>
                  <a:srgbClr val="00202E"/>
                </a:solidFill>
                <a:latin typeface="Arial"/>
                <a:ea typeface="Arial"/>
                <a:cs typeface="Arial"/>
                <a:sym typeface="Arial"/>
              </a:rPr>
              <a:t>Malar rash</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Discoid rash</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Photosensitivity</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Oral Ulcers</a:t>
            </a:r>
            <a:endParaRPr/>
          </a:p>
        </p:txBody>
      </p:sp>
      <p:sp>
        <p:nvSpPr>
          <p:cNvPr id="247" name="Google Shape;247;p24"/>
          <p:cNvSpPr/>
          <p:nvPr/>
        </p:nvSpPr>
        <p:spPr>
          <a:xfrm>
            <a:off x="4630056" y="3127830"/>
            <a:ext cx="3962400" cy="2068286"/>
          </a:xfrm>
          <a:prstGeom prst="rect">
            <a:avLst/>
          </a:prstGeom>
          <a:gradFill>
            <a:gsLst>
              <a:gs pos="0">
                <a:srgbClr val="A0C94A"/>
              </a:gs>
              <a:gs pos="100000">
                <a:srgbClr val="DBFF9C"/>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Char char="•"/>
            </a:pPr>
            <a:r>
              <a:rPr lang="en-US" sz="2800">
                <a:solidFill>
                  <a:srgbClr val="00202E"/>
                </a:solidFill>
                <a:latin typeface="Arial"/>
                <a:ea typeface="Arial"/>
                <a:cs typeface="Arial"/>
                <a:sym typeface="Arial"/>
              </a:rPr>
              <a:t>Arthritis</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Serositis</a:t>
            </a:r>
            <a:endParaRPr sz="2800">
              <a:solidFill>
                <a:srgbClr val="00202E"/>
              </a:solidFill>
              <a:latin typeface="Arial"/>
              <a:ea typeface="Arial"/>
              <a:cs typeface="Arial"/>
              <a:sym typeface="Arial"/>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Renal disorder</a:t>
            </a:r>
            <a:endParaRPr/>
          </a:p>
        </p:txBody>
      </p:sp>
      <p:sp>
        <p:nvSpPr>
          <p:cNvPr id="248" name="Google Shape;248;p24"/>
          <p:cNvSpPr/>
          <p:nvPr/>
        </p:nvSpPr>
        <p:spPr>
          <a:xfrm>
            <a:off x="553356" y="5196116"/>
            <a:ext cx="8039100" cy="1320800"/>
          </a:xfrm>
          <a:prstGeom prst="rect">
            <a:avLst/>
          </a:prstGeom>
          <a:gradFill>
            <a:gsLst>
              <a:gs pos="0">
                <a:srgbClr val="A0C94A"/>
              </a:gs>
              <a:gs pos="100000">
                <a:srgbClr val="DBFF9C"/>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Char char="•"/>
            </a:pPr>
            <a:r>
              <a:rPr lang="en-US" sz="2800">
                <a:solidFill>
                  <a:srgbClr val="00202E"/>
                </a:solidFill>
                <a:latin typeface="Arial"/>
                <a:ea typeface="Arial"/>
                <a:cs typeface="Arial"/>
                <a:sym typeface="Arial"/>
              </a:rPr>
              <a:t>Leukopenia or lymphopenia or haemolytic anemia or thrombocytopenia, neurological disorder</a:t>
            </a:r>
            <a:endParaRPr/>
          </a:p>
        </p:txBody>
      </p:sp>
      <p:sp>
        <p:nvSpPr>
          <p:cNvPr id="249" name="Google Shape;249;p24"/>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2"/>
            </a:pPr>
            <a:r>
              <a:rPr b="1" lang="en-US" sz="2800">
                <a:solidFill>
                  <a:srgbClr val="F36005"/>
                </a:solidFill>
                <a:latin typeface="Arial"/>
                <a:ea typeface="Arial"/>
                <a:cs typeface="Arial"/>
                <a:sym typeface="Arial"/>
              </a:rPr>
              <a:t>Systemic Lupus Erythematosus (SLE) </a:t>
            </a:r>
            <a:r>
              <a:rPr i="1" lang="en-US" sz="2800">
                <a:solidFill>
                  <a:srgbClr val="00202E"/>
                </a:solidFill>
                <a:latin typeface="Arial"/>
                <a:ea typeface="Arial"/>
                <a:cs typeface="Arial"/>
                <a:sym typeface="Arial"/>
              </a:rPr>
              <a:t>cont…</a:t>
            </a:r>
            <a:endParaRPr i="1" sz="2800">
              <a:solidFill>
                <a:srgbClr val="00202E"/>
              </a:solidFill>
              <a:latin typeface="Arial"/>
              <a:ea typeface="Arial"/>
              <a:cs typeface="Arial"/>
              <a:sym typeface="Arial"/>
            </a:endParaRPr>
          </a:p>
        </p:txBody>
      </p:sp>
      <p:sp>
        <p:nvSpPr>
          <p:cNvPr id="250" name="Google Shape;250;p2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mc:AlternateContent>
    <mc:Choice Requires="p14">
      <p:transition spd="slow" p14:dur="12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5"/>
          <p:cNvSpPr/>
          <p:nvPr/>
        </p:nvSpPr>
        <p:spPr>
          <a:xfrm>
            <a:off x="229656" y="2206176"/>
            <a:ext cx="8686800" cy="6664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400"/>
              <a:buFont typeface="Times"/>
              <a:buNone/>
            </a:pPr>
            <a:r>
              <a:rPr i="1" lang="en-US" sz="2400">
                <a:solidFill>
                  <a:srgbClr val="00202E"/>
                </a:solidFill>
                <a:latin typeface="Arial"/>
                <a:ea typeface="Arial"/>
                <a:cs typeface="Arial"/>
                <a:sym typeface="Arial"/>
              </a:rPr>
              <a:t>AND </a:t>
            </a:r>
            <a:r>
              <a:rPr i="1" lang="en-US" sz="2400" u="sng">
                <a:solidFill>
                  <a:srgbClr val="00202E"/>
                </a:solidFill>
                <a:latin typeface="Arial"/>
                <a:ea typeface="Arial"/>
                <a:cs typeface="Arial"/>
                <a:sym typeface="Arial"/>
              </a:rPr>
              <a:t>two or more of the following tests must be positive</a:t>
            </a:r>
            <a:r>
              <a:rPr i="1" lang="en-US" sz="2400">
                <a:solidFill>
                  <a:srgbClr val="00202E"/>
                </a:solidFill>
                <a:latin typeface="Arial"/>
                <a:ea typeface="Arial"/>
                <a:cs typeface="Arial"/>
                <a:sym typeface="Arial"/>
              </a:rPr>
              <a:t>:</a:t>
            </a:r>
            <a:endParaRPr sz="2400">
              <a:solidFill>
                <a:srgbClr val="00202E"/>
              </a:solidFill>
              <a:latin typeface="Arial"/>
              <a:ea typeface="Arial"/>
              <a:cs typeface="Arial"/>
              <a:sym typeface="Arial"/>
            </a:endParaRPr>
          </a:p>
        </p:txBody>
      </p:sp>
      <p:sp>
        <p:nvSpPr>
          <p:cNvPr id="256" name="Google Shape;256;p25"/>
          <p:cNvSpPr/>
          <p:nvPr/>
        </p:nvSpPr>
        <p:spPr>
          <a:xfrm>
            <a:off x="990600" y="3022584"/>
            <a:ext cx="7010400" cy="2362200"/>
          </a:xfrm>
          <a:prstGeom prst="rect">
            <a:avLst/>
          </a:prstGeom>
          <a:gradFill>
            <a:gsLst>
              <a:gs pos="0">
                <a:srgbClr val="3E7FCD"/>
              </a:gs>
              <a:gs pos="100000">
                <a:srgbClr val="96C0FF"/>
              </a:gs>
            </a:gsLst>
            <a:lin ang="16200000" scaled="0"/>
          </a:gradFill>
          <a:ln>
            <a:noFill/>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228600" lvl="2" marL="1143000" marR="0" rtl="0" algn="l">
              <a:spcBef>
                <a:spcPts val="0"/>
              </a:spcBef>
              <a:spcAft>
                <a:spcPts val="0"/>
              </a:spcAft>
              <a:buClr>
                <a:srgbClr val="F0AD00"/>
              </a:buClr>
              <a:buSzPts val="2800"/>
              <a:buFont typeface="Noto Sans Symbols"/>
              <a:buChar char="⮚"/>
            </a:pPr>
            <a:r>
              <a:rPr b="0" i="0" lang="en-US" sz="2800" u="none" cap="none" strike="noStrike">
                <a:solidFill>
                  <a:srgbClr val="002060"/>
                </a:solidFill>
                <a:latin typeface="Arial"/>
                <a:ea typeface="Arial"/>
                <a:cs typeface="Arial"/>
                <a:sym typeface="Arial"/>
              </a:rPr>
              <a:t>Anti-nuclear  antibodies</a:t>
            </a:r>
            <a:endParaRPr/>
          </a:p>
          <a:p>
            <a:pPr indent="-228600" lvl="2" marL="1143000" marR="0" rtl="0" algn="l">
              <a:spcBef>
                <a:spcPts val="560"/>
              </a:spcBef>
              <a:spcAft>
                <a:spcPts val="0"/>
              </a:spcAft>
              <a:buClr>
                <a:srgbClr val="F0AD00"/>
              </a:buClr>
              <a:buSzPts val="2800"/>
              <a:buFont typeface="Noto Sans Symbols"/>
              <a:buChar char="⮚"/>
            </a:pPr>
            <a:r>
              <a:rPr b="0" i="0" lang="en-US" sz="2800" u="none" cap="none" strike="noStrike">
                <a:solidFill>
                  <a:srgbClr val="002060"/>
                </a:solidFill>
                <a:latin typeface="Arial"/>
                <a:ea typeface="Arial"/>
                <a:cs typeface="Arial"/>
                <a:sym typeface="Arial"/>
              </a:rPr>
              <a:t>L.E. cells</a:t>
            </a:r>
            <a:endParaRPr/>
          </a:p>
          <a:p>
            <a:pPr indent="-228600" lvl="2" marL="1143000" marR="0" rtl="0" algn="l">
              <a:spcBef>
                <a:spcPts val="560"/>
              </a:spcBef>
              <a:spcAft>
                <a:spcPts val="0"/>
              </a:spcAft>
              <a:buClr>
                <a:srgbClr val="F0AD00"/>
              </a:buClr>
              <a:buSzPts val="2800"/>
              <a:buFont typeface="Noto Sans Symbols"/>
              <a:buChar char="⮚"/>
            </a:pPr>
            <a:r>
              <a:rPr b="0" i="0" lang="en-US" sz="2800" u="none" cap="none" strike="noStrike">
                <a:solidFill>
                  <a:srgbClr val="002060"/>
                </a:solidFill>
                <a:latin typeface="Arial"/>
                <a:ea typeface="Arial"/>
                <a:cs typeface="Arial"/>
                <a:sym typeface="Arial"/>
              </a:rPr>
              <a:t>Anti-DNA</a:t>
            </a:r>
            <a:endParaRPr/>
          </a:p>
          <a:p>
            <a:pPr indent="-228600" lvl="2" marL="1143000" marR="0" rtl="0" algn="l">
              <a:spcBef>
                <a:spcPts val="560"/>
              </a:spcBef>
              <a:spcAft>
                <a:spcPts val="0"/>
              </a:spcAft>
              <a:buClr>
                <a:srgbClr val="F0AD00"/>
              </a:buClr>
              <a:buSzPts val="2800"/>
              <a:buFont typeface="Noto Sans Symbols"/>
              <a:buChar char="⮚"/>
            </a:pPr>
            <a:r>
              <a:rPr b="0" i="0" lang="en-US" sz="2800" u="none" cap="none" strike="noStrike">
                <a:solidFill>
                  <a:srgbClr val="002060"/>
                </a:solidFill>
                <a:latin typeface="Arial"/>
                <a:ea typeface="Arial"/>
                <a:cs typeface="Arial"/>
                <a:sym typeface="Arial"/>
              </a:rPr>
              <a:t>Anti-Sm (Smith IgG Autoantibodies)</a:t>
            </a:r>
            <a:endParaRPr/>
          </a:p>
        </p:txBody>
      </p:sp>
      <p:sp>
        <p:nvSpPr>
          <p:cNvPr id="257" name="Google Shape;257;p25"/>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2"/>
            </a:pPr>
            <a:r>
              <a:rPr b="1" lang="en-US" sz="2800">
                <a:solidFill>
                  <a:srgbClr val="F36005"/>
                </a:solidFill>
                <a:latin typeface="Arial"/>
                <a:ea typeface="Arial"/>
                <a:cs typeface="Arial"/>
                <a:sym typeface="Arial"/>
              </a:rPr>
              <a:t>Systemic Lupus Erythematosus (SLE)</a:t>
            </a:r>
            <a:r>
              <a:rPr i="1" lang="en-US" sz="2800">
                <a:solidFill>
                  <a:srgbClr val="00202E"/>
                </a:solidFill>
                <a:latin typeface="Arial"/>
                <a:ea typeface="Arial"/>
                <a:cs typeface="Arial"/>
                <a:sym typeface="Arial"/>
              </a:rPr>
              <a:t>  cont…</a:t>
            </a:r>
            <a:endParaRPr/>
          </a:p>
          <a:p>
            <a:pPr indent="-336550" lvl="0" marL="514350" marR="0" rtl="0" algn="l">
              <a:spcBef>
                <a:spcPts val="560"/>
              </a:spcBef>
              <a:spcAft>
                <a:spcPts val="0"/>
              </a:spcAft>
              <a:buClr>
                <a:srgbClr val="F0AD00"/>
              </a:buClr>
              <a:buSzPts val="2800"/>
              <a:buFont typeface="Noto Sans Symbols"/>
              <a:buNone/>
            </a:pPr>
            <a:r>
              <a:t/>
            </a:r>
            <a:endParaRPr b="1" sz="2800">
              <a:solidFill>
                <a:srgbClr val="F36005"/>
              </a:solidFill>
              <a:latin typeface="Arial"/>
              <a:ea typeface="Arial"/>
              <a:cs typeface="Arial"/>
              <a:sym typeface="Arial"/>
            </a:endParaRPr>
          </a:p>
        </p:txBody>
      </p:sp>
      <p:sp>
        <p:nvSpPr>
          <p:cNvPr id="258" name="Google Shape;258;p2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mc:AlternateContent>
    <mc:Choice Requires="p14">
      <p:transition spd="slow" p14:dur="14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3"/>
            </a:pPr>
            <a:r>
              <a:rPr b="1" lang="en-US" sz="2800">
                <a:solidFill>
                  <a:srgbClr val="F36005"/>
                </a:solidFill>
                <a:latin typeface="Arial"/>
                <a:ea typeface="Arial"/>
                <a:cs typeface="Arial"/>
                <a:sym typeface="Arial"/>
              </a:rPr>
              <a:t>Rheumatoid Arthritis</a:t>
            </a:r>
            <a:endParaRPr/>
          </a:p>
        </p:txBody>
      </p:sp>
      <p:graphicFrame>
        <p:nvGraphicFramePr>
          <p:cNvPr id="264" name="Google Shape;264;p26"/>
          <p:cNvGraphicFramePr/>
          <p:nvPr/>
        </p:nvGraphicFramePr>
        <p:xfrm>
          <a:off x="333828" y="2195295"/>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10% of the FB/FMB Amount</a:t>
                      </a:r>
                      <a:endParaRPr sz="2500"/>
                    </a:p>
                  </a:txBody>
                  <a:tcPr marT="45725" marB="45725" marR="91450" marL="91450"/>
                </a:tc>
                <a:tc>
                  <a:txBody>
                    <a:bodyPr/>
                    <a:lstStyle/>
                    <a:p>
                      <a:pPr indent="0" lvl="0" marL="0" marR="0" rtl="0" algn="l">
                        <a:spcBef>
                          <a:spcPts val="0"/>
                        </a:spcBef>
                        <a:spcAft>
                          <a:spcPts val="0"/>
                        </a:spcAft>
                        <a:buNone/>
                      </a:pPr>
                      <a:r>
                        <a:rPr lang="en-US" sz="2500"/>
                        <a:t>15% of the FCI/FCIM Amount</a:t>
                      </a:r>
                      <a:endParaRPr sz="2500"/>
                    </a:p>
                  </a:txBody>
                  <a:tcPr marT="45725" marB="45725" marR="91450" marL="91450"/>
                </a:tc>
              </a:tr>
              <a:tr h="486225">
                <a:tc>
                  <a:txBody>
                    <a:bodyPr/>
                    <a:lstStyle/>
                    <a:p>
                      <a:pPr indent="0" lvl="0" marL="0" marR="0" rtl="0" algn="l">
                        <a:spcBef>
                          <a:spcPts val="0"/>
                        </a:spcBef>
                        <a:spcAft>
                          <a:spcPts val="0"/>
                        </a:spcAft>
                        <a:buNone/>
                      </a:pPr>
                      <a:r>
                        <a:rPr lang="en-US" sz="2500"/>
                        <a:t>Maximum of Ps.200,000</a:t>
                      </a:r>
                      <a:endParaRPr sz="2500"/>
                    </a:p>
                  </a:txBody>
                  <a:tcPr marT="45725" marB="45725" marR="91450" marL="91450"/>
                </a:tc>
                <a:tc>
                  <a:txBody>
                    <a:bodyPr/>
                    <a:lstStyle/>
                    <a:p>
                      <a:pPr indent="0" lvl="0" marL="0" marR="0" rtl="0" algn="l">
                        <a:spcBef>
                          <a:spcPts val="0"/>
                        </a:spcBef>
                        <a:spcAft>
                          <a:spcPts val="0"/>
                        </a:spcAft>
                        <a:buNone/>
                      </a:pPr>
                      <a:r>
                        <a:rPr lang="en-US" sz="2500"/>
                        <a:t>Maximum of Ps.300,000</a:t>
                      </a:r>
                      <a:endParaRPr sz="2500"/>
                    </a:p>
                  </a:txBody>
                  <a:tcPr marT="45725" marB="45725" marR="91450" marL="91450"/>
                </a:tc>
              </a:tr>
            </a:tbl>
          </a:graphicData>
        </a:graphic>
      </p:graphicFrame>
      <p:sp>
        <p:nvSpPr>
          <p:cNvPr id="265" name="Google Shape;265;p2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p:nvPr/>
        </p:nvSpPr>
        <p:spPr>
          <a:xfrm>
            <a:off x="229656" y="2206171"/>
            <a:ext cx="8686800" cy="439782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800"/>
              <a:buFont typeface="Times"/>
              <a:buNone/>
            </a:pPr>
            <a:r>
              <a:rPr b="1" i="1" lang="en-US" sz="2800" u="sng">
                <a:solidFill>
                  <a:srgbClr val="00202E"/>
                </a:solidFill>
                <a:latin typeface="Arial"/>
                <a:ea typeface="Arial"/>
                <a:cs typeface="Arial"/>
                <a:sym typeface="Arial"/>
              </a:rPr>
              <a:t>All</a:t>
            </a:r>
            <a:r>
              <a:rPr b="1" i="1" lang="en-US" sz="2800">
                <a:solidFill>
                  <a:srgbClr val="00202E"/>
                </a:solidFill>
                <a:latin typeface="Arial"/>
                <a:ea typeface="Arial"/>
                <a:cs typeface="Arial"/>
                <a:sym typeface="Arial"/>
              </a:rPr>
              <a:t> the following </a:t>
            </a:r>
            <a:r>
              <a:rPr b="1" i="1" lang="en-US" sz="2800" u="sng">
                <a:solidFill>
                  <a:srgbClr val="00202E"/>
                </a:solidFill>
                <a:latin typeface="Arial"/>
                <a:ea typeface="Arial"/>
                <a:cs typeface="Arial"/>
                <a:sym typeface="Arial"/>
              </a:rPr>
              <a:t>must be present</a:t>
            </a:r>
            <a:r>
              <a:rPr b="1" i="1" lang="en-US" sz="2800">
                <a:solidFill>
                  <a:srgbClr val="00202E"/>
                </a:solidFill>
                <a:latin typeface="Arial"/>
                <a:ea typeface="Arial"/>
                <a:cs typeface="Arial"/>
                <a:sym typeface="Arial"/>
              </a:rPr>
              <a:t>:</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Morning stiffness of at least more than an hour</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Swelling and pain in the joints of at least three joint groups involving the corresponding joints in both sides of the body.  One of these groups must be either joints on the fingers or toes, the knuckles of the hand or wrist</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Small nodular swellings beneath the skin</a:t>
            </a:r>
            <a:endParaRPr/>
          </a:p>
          <a:p>
            <a:pPr indent="-342900" lvl="0" marL="342900" marR="0" rtl="0" algn="l">
              <a:spcBef>
                <a:spcPts val="560"/>
              </a:spcBef>
              <a:spcAft>
                <a:spcPts val="0"/>
              </a:spcAft>
              <a:buClr>
                <a:srgbClr val="F0AD00"/>
              </a:buClr>
              <a:buSzPts val="2800"/>
              <a:buFont typeface="Times"/>
              <a:buChar char="•"/>
            </a:pPr>
            <a:r>
              <a:rPr lang="en-US" sz="2800">
                <a:solidFill>
                  <a:srgbClr val="00202E"/>
                </a:solidFill>
                <a:latin typeface="Arial"/>
                <a:ea typeface="Arial"/>
                <a:cs typeface="Arial"/>
                <a:sym typeface="Arial"/>
              </a:rPr>
              <a:t>A positive rheumatoid factor test</a:t>
            </a:r>
            <a:endParaRPr/>
          </a:p>
        </p:txBody>
      </p:sp>
      <p:sp>
        <p:nvSpPr>
          <p:cNvPr id="271" name="Google Shape;271;p27"/>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3"/>
            </a:pPr>
            <a:r>
              <a:rPr b="1" lang="en-US" sz="2800">
                <a:solidFill>
                  <a:srgbClr val="F36005"/>
                </a:solidFill>
                <a:latin typeface="Arial"/>
                <a:ea typeface="Arial"/>
                <a:cs typeface="Arial"/>
                <a:sym typeface="Arial"/>
              </a:rPr>
              <a:t>Rheumatoid Arthritis </a:t>
            </a:r>
            <a:r>
              <a:rPr i="1" lang="en-US" sz="2800">
                <a:solidFill>
                  <a:srgbClr val="00202E"/>
                </a:solidFill>
                <a:latin typeface="Arial"/>
                <a:ea typeface="Arial"/>
                <a:cs typeface="Arial"/>
                <a:sym typeface="Arial"/>
              </a:rPr>
              <a:t>cont…</a:t>
            </a:r>
            <a:endParaRPr b="1" i="1" sz="2800">
              <a:solidFill>
                <a:srgbClr val="F36005"/>
              </a:solidFill>
              <a:latin typeface="Arial"/>
              <a:ea typeface="Arial"/>
              <a:cs typeface="Arial"/>
              <a:sym typeface="Arial"/>
            </a:endParaRPr>
          </a:p>
        </p:txBody>
      </p:sp>
      <p:sp>
        <p:nvSpPr>
          <p:cNvPr id="272" name="Google Shape;272;p2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4"/>
            </a:pPr>
            <a:r>
              <a:rPr b="1" lang="en-US" sz="2800">
                <a:solidFill>
                  <a:srgbClr val="F36005"/>
                </a:solidFill>
                <a:latin typeface="Arial"/>
                <a:ea typeface="Arial"/>
                <a:cs typeface="Arial"/>
                <a:sym typeface="Arial"/>
              </a:rPr>
              <a:t>Severe Osteoporosis</a:t>
            </a:r>
            <a:endParaRPr/>
          </a:p>
        </p:txBody>
      </p:sp>
      <p:graphicFrame>
        <p:nvGraphicFramePr>
          <p:cNvPr id="278" name="Google Shape;278;p28"/>
          <p:cNvGraphicFramePr/>
          <p:nvPr/>
        </p:nvGraphicFramePr>
        <p:xfrm>
          <a:off x="333828" y="2195295"/>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None</a:t>
                      </a:r>
                      <a:endParaRPr sz="2500"/>
                    </a:p>
                  </a:txBody>
                  <a:tcPr marT="45725" marB="45725" marR="91450" marL="91450"/>
                </a:tc>
                <a:tc>
                  <a:txBody>
                    <a:bodyPr/>
                    <a:lstStyle/>
                    <a:p>
                      <a:pPr indent="0" lvl="0" marL="0" marR="0" rtl="0" algn="l">
                        <a:spcBef>
                          <a:spcPts val="0"/>
                        </a:spcBef>
                        <a:spcAft>
                          <a:spcPts val="0"/>
                        </a:spcAft>
                        <a:buNone/>
                      </a:pPr>
                      <a:r>
                        <a:rPr lang="en-US" sz="2500"/>
                        <a:t>10% of the FCI/FCIM Amount</a:t>
                      </a:r>
                      <a:endParaRPr sz="2500"/>
                    </a:p>
                  </a:txBody>
                  <a:tcPr marT="45725" marB="45725" marR="91450" marL="91450"/>
                </a:tc>
              </a:tr>
              <a:tr h="486225">
                <a:tc>
                  <a:txBody>
                    <a:bodyPr/>
                    <a:lstStyle/>
                    <a:p>
                      <a:pPr indent="0" lvl="0" marL="0" marR="0" rtl="0" algn="l">
                        <a:spcBef>
                          <a:spcPts val="0"/>
                        </a:spcBef>
                        <a:spcAft>
                          <a:spcPts val="0"/>
                        </a:spcAft>
                        <a:buNone/>
                      </a:pPr>
                      <a:r>
                        <a:rPr lang="en-US" sz="2500"/>
                        <a:t>None</a:t>
                      </a:r>
                      <a:endParaRPr sz="2500"/>
                    </a:p>
                  </a:txBody>
                  <a:tcPr marT="45725" marB="45725" marR="91450" marL="91450"/>
                </a:tc>
                <a:tc>
                  <a:txBody>
                    <a:bodyPr/>
                    <a:lstStyle/>
                    <a:p>
                      <a:pPr indent="0" lvl="0" marL="0" marR="0" rtl="0" algn="l">
                        <a:spcBef>
                          <a:spcPts val="0"/>
                        </a:spcBef>
                        <a:spcAft>
                          <a:spcPts val="0"/>
                        </a:spcAft>
                        <a:buNone/>
                      </a:pPr>
                      <a:r>
                        <a:rPr lang="en-US" sz="2500"/>
                        <a:t>Maximum of Ps.200,000</a:t>
                      </a:r>
                      <a:endParaRPr sz="2500"/>
                    </a:p>
                  </a:txBody>
                  <a:tcPr marT="45725" marB="45725" marR="91450" marL="91450"/>
                </a:tc>
              </a:tr>
            </a:tbl>
          </a:graphicData>
        </a:graphic>
      </p:graphicFrame>
      <p:sp>
        <p:nvSpPr>
          <p:cNvPr id="279" name="Google Shape;279;p2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5"/>
            </a:pPr>
            <a:r>
              <a:rPr b="1" lang="en-US" sz="2800">
                <a:solidFill>
                  <a:srgbClr val="F36005"/>
                </a:solidFill>
                <a:latin typeface="Arial"/>
                <a:ea typeface="Arial"/>
                <a:cs typeface="Arial"/>
                <a:sym typeface="Arial"/>
              </a:rPr>
              <a:t>Hysterectomy or Dilatation and Curettage</a:t>
            </a:r>
            <a:endParaRPr/>
          </a:p>
        </p:txBody>
      </p:sp>
      <p:graphicFrame>
        <p:nvGraphicFramePr>
          <p:cNvPr id="285" name="Google Shape;285;p29"/>
          <p:cNvGraphicFramePr/>
          <p:nvPr/>
        </p:nvGraphicFramePr>
        <p:xfrm>
          <a:off x="333828" y="2064669"/>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1800"/>
                        <a:t>5% of the FB/FMB Amount</a:t>
                      </a:r>
                      <a:endParaRPr sz="1800"/>
                    </a:p>
                  </a:txBody>
                  <a:tcPr marT="45725" marB="45725" marR="91450" marL="91450"/>
                </a:tc>
                <a:tc>
                  <a:txBody>
                    <a:bodyPr/>
                    <a:lstStyle/>
                    <a:p>
                      <a:pPr indent="0" lvl="0" marL="0" marR="0" rtl="0" algn="l">
                        <a:spcBef>
                          <a:spcPts val="0"/>
                        </a:spcBef>
                        <a:spcAft>
                          <a:spcPts val="0"/>
                        </a:spcAft>
                        <a:buNone/>
                      </a:pPr>
                      <a:r>
                        <a:rPr lang="en-US" sz="1800"/>
                        <a:t>5% of the FCI/FCIM Amount</a:t>
                      </a:r>
                      <a:endParaRPr/>
                    </a:p>
                  </a:txBody>
                  <a:tcPr marT="45725" marB="45725" marR="91450" marL="91450"/>
                </a:tc>
              </a:tr>
              <a:tr h="486225">
                <a:tc>
                  <a:txBody>
                    <a:bodyPr/>
                    <a:lstStyle/>
                    <a:p>
                      <a:pPr indent="0" lvl="0" marL="0" marR="0" rtl="0" algn="l">
                        <a:spcBef>
                          <a:spcPts val="0"/>
                        </a:spcBef>
                        <a:spcAft>
                          <a:spcPts val="0"/>
                        </a:spcAft>
                        <a:buNone/>
                      </a:pPr>
                      <a:r>
                        <a:rPr lang="en-US" sz="1800"/>
                        <a:t>Dilatation and Curettage – Maximum of Ps.25,000</a:t>
                      </a:r>
                      <a:endParaRPr sz="1800"/>
                    </a:p>
                  </a:txBody>
                  <a:tcPr marT="45725" marB="45725" marR="91450" marL="91450"/>
                </a:tc>
                <a:tc>
                  <a:txBody>
                    <a:bodyPr/>
                    <a:lstStyle/>
                    <a:p>
                      <a:pPr indent="0" lvl="0" marL="0" marR="0" rtl="0" algn="l">
                        <a:spcBef>
                          <a:spcPts val="0"/>
                        </a:spcBef>
                        <a:spcAft>
                          <a:spcPts val="0"/>
                        </a:spcAft>
                        <a:buNone/>
                      </a:pPr>
                      <a:r>
                        <a:rPr lang="en-US" sz="1800"/>
                        <a:t>Dilatation and Curettage – Maximum of Ps.25,000</a:t>
                      </a:r>
                      <a:endParaRPr sz="1800"/>
                    </a:p>
                  </a:txBody>
                  <a:tcPr marT="45725" marB="45725" marR="91450" marL="91450"/>
                </a:tc>
              </a:tr>
              <a:tr h="486225">
                <a:tc>
                  <a:txBody>
                    <a:bodyPr/>
                    <a:lstStyle/>
                    <a:p>
                      <a:pPr indent="0" lvl="0" marL="0" marR="0" rtl="0" algn="l">
                        <a:spcBef>
                          <a:spcPts val="0"/>
                        </a:spcBef>
                        <a:spcAft>
                          <a:spcPts val="0"/>
                        </a:spcAft>
                        <a:buNone/>
                      </a:pPr>
                      <a:r>
                        <a:rPr lang="en-US" sz="1800"/>
                        <a:t>Hysterectomy</a:t>
                      </a:r>
                      <a:r>
                        <a:rPr lang="en-US" sz="1800"/>
                        <a:t> – </a:t>
                      </a:r>
                      <a:r>
                        <a:rPr lang="en-US" sz="1800"/>
                        <a:t>Maximum </a:t>
                      </a:r>
                      <a:r>
                        <a:rPr lang="en-US" sz="1800"/>
                        <a:t>of Ps.50,000</a:t>
                      </a:r>
                      <a:endParaRPr sz="1800"/>
                    </a:p>
                  </a:txBody>
                  <a:tcPr marT="45725" marB="45725" marR="91450" marL="91450"/>
                </a:tc>
                <a:tc>
                  <a:txBody>
                    <a:bodyPr/>
                    <a:lstStyle/>
                    <a:p>
                      <a:pPr indent="0" lvl="0" marL="0" marR="0" rtl="0" algn="l">
                        <a:spcBef>
                          <a:spcPts val="0"/>
                        </a:spcBef>
                        <a:spcAft>
                          <a:spcPts val="0"/>
                        </a:spcAft>
                        <a:buNone/>
                      </a:pPr>
                      <a:r>
                        <a:rPr lang="en-US" sz="1800"/>
                        <a:t>Hysterectomy</a:t>
                      </a:r>
                      <a:r>
                        <a:rPr lang="en-US" sz="1800"/>
                        <a:t> </a:t>
                      </a:r>
                      <a:endParaRPr/>
                    </a:p>
                    <a:p>
                      <a:pPr indent="-342900" lvl="0" marL="342900" marR="0" rtl="0" algn="l">
                        <a:spcBef>
                          <a:spcPts val="0"/>
                        </a:spcBef>
                        <a:spcAft>
                          <a:spcPts val="0"/>
                        </a:spcAft>
                        <a:buClr>
                          <a:schemeClr val="dk1"/>
                        </a:buClr>
                        <a:buSzPts val="1800"/>
                        <a:buFont typeface="Arial"/>
                        <a:buChar char="•"/>
                      </a:pPr>
                      <a:r>
                        <a:rPr lang="en-US" sz="1800"/>
                        <a:t>Maximum of Ps.100,000 if no previous D&amp;C claim</a:t>
                      </a:r>
                      <a:endParaRPr/>
                    </a:p>
                    <a:p>
                      <a:pPr indent="-342900" lvl="0" marL="342900" marR="0" rtl="0" algn="l">
                        <a:spcBef>
                          <a:spcPts val="0"/>
                        </a:spcBef>
                        <a:spcAft>
                          <a:spcPts val="0"/>
                        </a:spcAft>
                        <a:buClr>
                          <a:schemeClr val="dk1"/>
                        </a:buClr>
                        <a:buSzPts val="1800"/>
                        <a:buFont typeface="Arial"/>
                        <a:buChar char="•"/>
                      </a:pPr>
                      <a:r>
                        <a:rPr lang="en-US" sz="1800"/>
                        <a:t>Maximum of Ps.75,000 if with previous D&amp;C claim</a:t>
                      </a:r>
                      <a:endParaRPr sz="1800"/>
                    </a:p>
                  </a:txBody>
                  <a:tcPr marT="45725" marB="45725" marR="91450" marL="91450"/>
                </a:tc>
              </a:tr>
              <a:tr h="486225">
                <a:tc>
                  <a:txBody>
                    <a:bodyPr/>
                    <a:lstStyle/>
                    <a:p>
                      <a:pPr indent="0" lvl="0" marL="0" marR="0" rtl="0" algn="l">
                        <a:spcBef>
                          <a:spcPts val="0"/>
                        </a:spcBef>
                        <a:spcAft>
                          <a:spcPts val="0"/>
                        </a:spcAft>
                        <a:buNone/>
                      </a:pPr>
                      <a:r>
                        <a:rPr lang="en-US" sz="1800"/>
                        <a:t>Diagnosis</a:t>
                      </a:r>
                      <a:r>
                        <a:rPr lang="en-US" sz="1800"/>
                        <a:t> shall be on or after the policy anniversary immediately following the insured’s 40</a:t>
                      </a:r>
                      <a:r>
                        <a:rPr baseline="30000" lang="en-US" sz="1800"/>
                        <a:t>th</a:t>
                      </a:r>
                      <a:r>
                        <a:rPr lang="en-US" sz="1800"/>
                        <a:t> birthday</a:t>
                      </a:r>
                      <a:endParaRPr sz="1800"/>
                    </a:p>
                  </a:txBody>
                  <a:tcPr marT="45725" marB="45725" marR="91450" marL="91450"/>
                </a:tc>
                <a:tc>
                  <a:txBody>
                    <a:bodyPr/>
                    <a:lstStyle/>
                    <a:p>
                      <a:pPr indent="0" lvl="0" marL="0" marR="0" rtl="0" algn="l">
                        <a:spcBef>
                          <a:spcPts val="0"/>
                        </a:spcBef>
                        <a:spcAft>
                          <a:spcPts val="0"/>
                        </a:spcAft>
                        <a:buNone/>
                      </a:pPr>
                      <a:r>
                        <a:rPr lang="en-US" sz="1800"/>
                        <a:t>No</a:t>
                      </a:r>
                      <a:r>
                        <a:rPr lang="en-US" sz="1800"/>
                        <a:t> age requirement</a:t>
                      </a:r>
                      <a:endParaRPr sz="1800"/>
                    </a:p>
                  </a:txBody>
                  <a:tcPr marT="45725" marB="45725" marR="91450" marL="91450"/>
                </a:tc>
              </a:tr>
            </a:tbl>
          </a:graphicData>
        </a:graphic>
      </p:graphicFrame>
      <p:sp>
        <p:nvSpPr>
          <p:cNvPr id="286" name="Google Shape;286;p29"/>
          <p:cNvSpPr/>
          <p:nvPr/>
        </p:nvSpPr>
        <p:spPr>
          <a:xfrm>
            <a:off x="244170" y="6183818"/>
            <a:ext cx="8686800" cy="602799"/>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rgbClr val="F0AD00"/>
              </a:buClr>
              <a:buSzPts val="1800"/>
              <a:buFont typeface="Times"/>
              <a:buNone/>
            </a:pPr>
            <a:r>
              <a:rPr b="1" lang="en-US" sz="1800">
                <a:solidFill>
                  <a:srgbClr val="002060"/>
                </a:solidFill>
                <a:latin typeface="Arial"/>
                <a:ea typeface="Arial"/>
                <a:cs typeface="Arial"/>
                <a:sym typeface="Arial"/>
              </a:rPr>
              <a:t>Note:</a:t>
            </a:r>
            <a:r>
              <a:rPr lang="en-US" sz="1800">
                <a:solidFill>
                  <a:srgbClr val="002060"/>
                </a:solidFill>
                <a:latin typeface="Arial"/>
                <a:ea typeface="Arial"/>
                <a:cs typeface="Arial"/>
                <a:sym typeface="Arial"/>
              </a:rPr>
              <a:t>  SLF will pay the benefit only once for Hysterectomy and only once for D&amp;C</a:t>
            </a:r>
            <a:endParaRPr sz="1800">
              <a:solidFill>
                <a:srgbClr val="002060"/>
              </a:solidFill>
              <a:latin typeface="Arial"/>
              <a:ea typeface="Arial"/>
              <a:cs typeface="Arial"/>
              <a:sym typeface="Arial"/>
            </a:endParaRPr>
          </a:p>
        </p:txBody>
      </p:sp>
      <p:sp>
        <p:nvSpPr>
          <p:cNvPr id="287" name="Google Shape;287;p2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0"/>
          <p:cNvSpPr/>
          <p:nvPr/>
        </p:nvSpPr>
        <p:spPr>
          <a:xfrm>
            <a:off x="244170" y="2075543"/>
            <a:ext cx="8686800" cy="461554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400"/>
              <a:buFont typeface="Times"/>
              <a:buNone/>
            </a:pPr>
            <a:r>
              <a:rPr b="1" lang="en-US" sz="2400">
                <a:solidFill>
                  <a:srgbClr val="E36C09"/>
                </a:solidFill>
                <a:latin typeface="Arial"/>
                <a:ea typeface="Arial"/>
                <a:cs typeface="Arial"/>
                <a:sym typeface="Arial"/>
              </a:rPr>
              <a:t>Exclusions for Hysterectomy:</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Therapeutic or elective abortion</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Embedded intrauterine device or other contraceptive instruments</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Aesthetic indications</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Sex change</a:t>
            </a:r>
            <a:endParaRPr/>
          </a:p>
          <a:p>
            <a:pPr indent="-285750" lvl="1" marL="742950" marR="0" rtl="0" algn="l">
              <a:spcBef>
                <a:spcPts val="240"/>
              </a:spcBef>
              <a:spcAft>
                <a:spcPts val="0"/>
              </a:spcAft>
              <a:buNone/>
            </a:pPr>
            <a:r>
              <a:t/>
            </a:r>
            <a:endParaRPr b="1" i="0" sz="1200" u="none" cap="none" strike="noStrike">
              <a:solidFill>
                <a:srgbClr val="00202E"/>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Times"/>
              <a:buNone/>
            </a:pPr>
            <a:r>
              <a:rPr b="1" lang="en-US" sz="2400">
                <a:solidFill>
                  <a:srgbClr val="E36C09"/>
                </a:solidFill>
                <a:latin typeface="Arial"/>
                <a:ea typeface="Arial"/>
                <a:cs typeface="Arial"/>
                <a:sym typeface="Arial"/>
              </a:rPr>
              <a:t>Exclusions for D &amp; C:</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Therapeutic or elective abortion</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Embedded intrauterine device or other contraception means</a:t>
            </a:r>
            <a:endParaRPr/>
          </a:p>
          <a:p>
            <a:pPr indent="-342900" lvl="0" marL="342900" marR="0" rtl="0" algn="l">
              <a:spcBef>
                <a:spcPts val="480"/>
              </a:spcBef>
              <a:spcAft>
                <a:spcPts val="0"/>
              </a:spcAft>
              <a:buClr>
                <a:srgbClr val="F0AD00"/>
              </a:buClr>
              <a:buSzPts val="2400"/>
              <a:buFont typeface="Arial"/>
              <a:buChar char="•"/>
            </a:pPr>
            <a:r>
              <a:rPr lang="en-US" sz="2400">
                <a:solidFill>
                  <a:srgbClr val="00202E"/>
                </a:solidFill>
                <a:latin typeface="Arial"/>
                <a:ea typeface="Arial"/>
                <a:cs typeface="Arial"/>
                <a:sym typeface="Arial"/>
              </a:rPr>
              <a:t>Investigation of infertility or bleeding after intercourse</a:t>
            </a:r>
            <a:endParaRPr/>
          </a:p>
        </p:txBody>
      </p:sp>
      <p:sp>
        <p:nvSpPr>
          <p:cNvPr id="293" name="Google Shape;293;p30"/>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5"/>
            </a:pPr>
            <a:r>
              <a:rPr b="1" lang="en-US" sz="2800">
                <a:solidFill>
                  <a:srgbClr val="F36005"/>
                </a:solidFill>
                <a:latin typeface="Arial"/>
                <a:ea typeface="Arial"/>
                <a:cs typeface="Arial"/>
                <a:sym typeface="Arial"/>
              </a:rPr>
              <a:t>Hysterectomy or Dilatation and Curettage  </a:t>
            </a:r>
            <a:r>
              <a:rPr i="1" lang="en-US" sz="2000">
                <a:solidFill>
                  <a:srgbClr val="00202E"/>
                </a:solidFill>
                <a:latin typeface="Arial"/>
                <a:ea typeface="Arial"/>
                <a:cs typeface="Arial"/>
                <a:sym typeface="Arial"/>
              </a:rPr>
              <a:t>cont…</a:t>
            </a:r>
            <a:endParaRPr b="1" i="1" sz="2000">
              <a:solidFill>
                <a:srgbClr val="F36005"/>
              </a:solidFill>
              <a:latin typeface="Arial"/>
              <a:ea typeface="Arial"/>
              <a:cs typeface="Arial"/>
              <a:sym typeface="Arial"/>
            </a:endParaRPr>
          </a:p>
        </p:txBody>
      </p:sp>
      <p:sp>
        <p:nvSpPr>
          <p:cNvPr id="294" name="Google Shape;294;p3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1"/>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6"/>
            </a:pPr>
            <a:r>
              <a:rPr b="1" lang="en-US" sz="2800">
                <a:solidFill>
                  <a:srgbClr val="F36005"/>
                </a:solidFill>
                <a:latin typeface="Arial"/>
                <a:ea typeface="Arial"/>
                <a:cs typeface="Arial"/>
                <a:sym typeface="Arial"/>
              </a:rPr>
              <a:t>Major Plastic Surgery Benefit due to Accidents</a:t>
            </a:r>
            <a:endParaRPr/>
          </a:p>
        </p:txBody>
      </p:sp>
      <p:graphicFrame>
        <p:nvGraphicFramePr>
          <p:cNvPr id="300" name="Google Shape;300;p31"/>
          <p:cNvGraphicFramePr/>
          <p:nvPr/>
        </p:nvGraphicFramePr>
        <p:xfrm>
          <a:off x="333828" y="2064669"/>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10% of the FB/FMB Amount</a:t>
                      </a:r>
                      <a:endParaRPr sz="2500"/>
                    </a:p>
                  </a:txBody>
                  <a:tcPr marT="45725" marB="45725" marR="91450" marL="91450"/>
                </a:tc>
                <a:tc>
                  <a:txBody>
                    <a:bodyPr/>
                    <a:lstStyle/>
                    <a:p>
                      <a:pPr indent="0" lvl="0" marL="0" marR="0" rtl="0" algn="l">
                        <a:spcBef>
                          <a:spcPts val="0"/>
                        </a:spcBef>
                        <a:spcAft>
                          <a:spcPts val="0"/>
                        </a:spcAft>
                        <a:buNone/>
                      </a:pPr>
                      <a:r>
                        <a:rPr lang="en-US" sz="2500"/>
                        <a:t>10% of the FCI/FCIM Amount</a:t>
                      </a:r>
                      <a:endParaRPr/>
                    </a:p>
                  </a:txBody>
                  <a:tcPr marT="45725" marB="45725" marR="91450" marL="91450"/>
                </a:tc>
              </a:tr>
              <a:tr h="486225">
                <a:tc>
                  <a:txBody>
                    <a:bodyPr/>
                    <a:lstStyle/>
                    <a:p>
                      <a:pPr indent="0" lvl="0" marL="0" marR="0" rtl="0" algn="l">
                        <a:spcBef>
                          <a:spcPts val="0"/>
                        </a:spcBef>
                        <a:spcAft>
                          <a:spcPts val="0"/>
                        </a:spcAft>
                        <a:buNone/>
                      </a:pPr>
                      <a:r>
                        <a:rPr lang="en-US" sz="2500"/>
                        <a:t>Maximum </a:t>
                      </a:r>
                      <a:r>
                        <a:rPr lang="en-US" sz="2500"/>
                        <a:t>of Ps.200,000</a:t>
                      </a:r>
                      <a:endParaRPr sz="2500"/>
                    </a:p>
                  </a:txBody>
                  <a:tcPr marT="45725" marB="45725" marR="91450" marL="91450"/>
                </a:tc>
                <a:tc>
                  <a:txBody>
                    <a:bodyPr/>
                    <a:lstStyle/>
                    <a:p>
                      <a:pPr indent="0" lvl="0" marL="0" marR="0" rtl="0" algn="l">
                        <a:spcBef>
                          <a:spcPts val="0"/>
                        </a:spcBef>
                        <a:spcAft>
                          <a:spcPts val="0"/>
                        </a:spcAft>
                        <a:buClr>
                          <a:schemeClr val="dk1"/>
                        </a:buClr>
                        <a:buSzPts val="2500"/>
                        <a:buFont typeface="Arial"/>
                        <a:buNone/>
                      </a:pPr>
                      <a:r>
                        <a:rPr lang="en-US" sz="2500"/>
                        <a:t>Maximum of Ps.200,000</a:t>
                      </a:r>
                      <a:endParaRPr sz="2500"/>
                    </a:p>
                  </a:txBody>
                  <a:tcPr marT="45725" marB="45725" marR="91450" marL="91450"/>
                </a:tc>
              </a:tr>
            </a:tbl>
          </a:graphicData>
        </a:graphic>
      </p:graphicFrame>
      <p:sp>
        <p:nvSpPr>
          <p:cNvPr id="301" name="Google Shape;301;p3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2"/>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7"/>
            </a:pPr>
            <a:r>
              <a:rPr b="1" lang="en-US" sz="2800">
                <a:solidFill>
                  <a:srgbClr val="F36005"/>
                </a:solidFill>
                <a:latin typeface="Arial"/>
                <a:ea typeface="Arial"/>
                <a:cs typeface="Arial"/>
                <a:sym typeface="Arial"/>
              </a:rPr>
              <a:t>Skin Transplantation Benefit due to Accidental Burning</a:t>
            </a:r>
            <a:endParaRPr/>
          </a:p>
        </p:txBody>
      </p:sp>
      <p:graphicFrame>
        <p:nvGraphicFramePr>
          <p:cNvPr id="307" name="Google Shape;307;p32"/>
          <p:cNvGraphicFramePr/>
          <p:nvPr/>
        </p:nvGraphicFramePr>
        <p:xfrm>
          <a:off x="333828" y="2558145"/>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10% of the FB/FMB Amount</a:t>
                      </a:r>
                      <a:endParaRPr sz="2500"/>
                    </a:p>
                  </a:txBody>
                  <a:tcPr marT="45725" marB="45725" marR="91450" marL="91450"/>
                </a:tc>
                <a:tc>
                  <a:txBody>
                    <a:bodyPr/>
                    <a:lstStyle/>
                    <a:p>
                      <a:pPr indent="0" lvl="0" marL="0" marR="0" rtl="0" algn="l">
                        <a:spcBef>
                          <a:spcPts val="0"/>
                        </a:spcBef>
                        <a:spcAft>
                          <a:spcPts val="0"/>
                        </a:spcAft>
                        <a:buNone/>
                      </a:pPr>
                      <a:r>
                        <a:rPr lang="en-US" sz="2500"/>
                        <a:t>10% of the FCI/FCIM Amount</a:t>
                      </a:r>
                      <a:endParaRPr/>
                    </a:p>
                  </a:txBody>
                  <a:tcPr marT="45725" marB="45725" marR="91450" marL="91450"/>
                </a:tc>
              </a:tr>
              <a:tr h="486225">
                <a:tc>
                  <a:txBody>
                    <a:bodyPr/>
                    <a:lstStyle/>
                    <a:p>
                      <a:pPr indent="0" lvl="0" marL="0" marR="0" rtl="0" algn="l">
                        <a:spcBef>
                          <a:spcPts val="0"/>
                        </a:spcBef>
                        <a:spcAft>
                          <a:spcPts val="0"/>
                        </a:spcAft>
                        <a:buNone/>
                      </a:pPr>
                      <a:r>
                        <a:rPr lang="en-US" sz="2500"/>
                        <a:t>Maximum </a:t>
                      </a:r>
                      <a:r>
                        <a:rPr lang="en-US" sz="2500"/>
                        <a:t>of Ps.200,000</a:t>
                      </a:r>
                      <a:endParaRPr sz="2500"/>
                    </a:p>
                  </a:txBody>
                  <a:tcPr marT="45725" marB="45725" marR="91450" marL="91450"/>
                </a:tc>
                <a:tc>
                  <a:txBody>
                    <a:bodyPr/>
                    <a:lstStyle/>
                    <a:p>
                      <a:pPr indent="0" lvl="0" marL="0" marR="0" rtl="0" algn="l">
                        <a:spcBef>
                          <a:spcPts val="0"/>
                        </a:spcBef>
                        <a:spcAft>
                          <a:spcPts val="0"/>
                        </a:spcAft>
                        <a:buClr>
                          <a:schemeClr val="dk1"/>
                        </a:buClr>
                        <a:buSzPts val="2500"/>
                        <a:buFont typeface="Arial"/>
                        <a:buNone/>
                      </a:pPr>
                      <a:r>
                        <a:rPr lang="en-US" sz="2500"/>
                        <a:t>Maximum of Ps.200,000</a:t>
                      </a:r>
                      <a:endParaRPr sz="2500"/>
                    </a:p>
                  </a:txBody>
                  <a:tcPr marT="45725" marB="45725" marR="91450" marL="91450"/>
                </a:tc>
              </a:tr>
            </a:tbl>
          </a:graphicData>
        </a:graphic>
      </p:graphicFrame>
      <p:sp>
        <p:nvSpPr>
          <p:cNvPr id="308" name="Google Shape;308;p3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txBox="1"/>
          <p:nvPr>
            <p:ph idx="4294967295" type="body"/>
          </p:nvPr>
        </p:nvSpPr>
        <p:spPr>
          <a:xfrm>
            <a:off x="374796" y="3120571"/>
            <a:ext cx="8686800" cy="3410858"/>
          </a:xfrm>
          <a:prstGeom prst="rect">
            <a:avLst/>
          </a:prstGeom>
          <a:noFill/>
          <a:ln>
            <a:noFill/>
          </a:ln>
        </p:spPr>
        <p:txBody>
          <a:bodyPr anchorCtr="0" anchor="t" bIns="45700" lIns="91425" spcFirstLastPara="1" rIns="91425" wrap="square" tIns="45700">
            <a:normAutofit/>
          </a:bodyPr>
          <a:lstStyle/>
          <a:p>
            <a:pPr indent="-176213" lvl="0" marL="176213" rtl="0" algn="l">
              <a:lnSpc>
                <a:spcPct val="90000"/>
              </a:lnSpc>
              <a:spcBef>
                <a:spcPts val="0"/>
              </a:spcBef>
              <a:spcAft>
                <a:spcPts val="0"/>
              </a:spcAft>
              <a:buClr>
                <a:srgbClr val="002060"/>
              </a:buClr>
              <a:buSzPts val="2400"/>
              <a:buFont typeface="Arial"/>
              <a:buNone/>
            </a:pPr>
            <a:r>
              <a:rPr b="1" lang="en-US" sz="2400">
                <a:solidFill>
                  <a:srgbClr val="002060"/>
                </a:solidFill>
                <a:latin typeface="Arial"/>
                <a:ea typeface="Arial"/>
                <a:cs typeface="Arial"/>
                <a:sym typeface="Arial"/>
              </a:rPr>
              <a:t>Exclusions:</a:t>
            </a:r>
            <a:endParaRPr/>
          </a:p>
          <a:p>
            <a:pPr indent="-176213" lvl="0" marL="176213" rtl="0" algn="l">
              <a:lnSpc>
                <a:spcPct val="90000"/>
              </a:lnSpc>
              <a:spcBef>
                <a:spcPts val="0"/>
              </a:spcBef>
              <a:spcAft>
                <a:spcPts val="0"/>
              </a:spcAft>
              <a:buClr>
                <a:srgbClr val="003946"/>
              </a:buClr>
              <a:buSzPts val="2400"/>
              <a:buFont typeface="Arial"/>
              <a:buNone/>
            </a:pPr>
            <a:r>
              <a:t/>
            </a:r>
            <a:endParaRPr b="1" sz="2400">
              <a:solidFill>
                <a:srgbClr val="002060"/>
              </a:solidFill>
              <a:latin typeface="Arial"/>
              <a:ea typeface="Arial"/>
              <a:cs typeface="Arial"/>
              <a:sym typeface="Arial"/>
            </a:endParaRPr>
          </a:p>
          <a:p>
            <a:pPr indent="-176213" lvl="0" marL="176213" rtl="0" algn="l">
              <a:lnSpc>
                <a:spcPct val="90000"/>
              </a:lnSpc>
              <a:spcBef>
                <a:spcPts val="0"/>
              </a:spcBef>
              <a:spcAft>
                <a:spcPts val="0"/>
              </a:spcAft>
              <a:buClr>
                <a:srgbClr val="002060"/>
              </a:buClr>
              <a:buSzPts val="2400"/>
              <a:buFont typeface="Arial"/>
              <a:buNone/>
            </a:pPr>
            <a:r>
              <a:rPr i="1" lang="en-US" sz="2400">
                <a:solidFill>
                  <a:srgbClr val="002060"/>
                </a:solidFill>
                <a:latin typeface="Arial"/>
                <a:ea typeface="Arial"/>
                <a:cs typeface="Arial"/>
                <a:sym typeface="Arial"/>
              </a:rPr>
              <a:t>Accidents arising from</a:t>
            </a:r>
            <a:endParaRPr/>
          </a:p>
          <a:p>
            <a:pPr indent="-342900" lvl="0" marL="342900" rtl="0" algn="l">
              <a:lnSpc>
                <a:spcPct val="90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Violation of the law</a:t>
            </a:r>
            <a:endParaRPr/>
          </a:p>
          <a:p>
            <a:pPr indent="-342900" lvl="0" marL="342900" rtl="0" algn="l">
              <a:lnSpc>
                <a:spcPct val="90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War or war like activities</a:t>
            </a:r>
            <a:endParaRPr/>
          </a:p>
          <a:p>
            <a:pPr indent="-342900" lvl="0" marL="342900" rtl="0" algn="l">
              <a:lnSpc>
                <a:spcPct val="90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Flying or attempting to fly an aircraft other than as a fare paying passenger</a:t>
            </a:r>
            <a:endParaRPr/>
          </a:p>
          <a:p>
            <a:pPr indent="-342900" lvl="0" marL="342900" rtl="0" algn="l">
              <a:lnSpc>
                <a:spcPct val="90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Being an active member of the armed forces</a:t>
            </a:r>
            <a:endParaRPr/>
          </a:p>
          <a:p>
            <a:pPr indent="-342900" lvl="0" marL="342900" rtl="0" algn="l">
              <a:lnSpc>
                <a:spcPct val="90000"/>
              </a:lnSpc>
              <a:spcBef>
                <a:spcPts val="0"/>
              </a:spcBef>
              <a:spcAft>
                <a:spcPts val="0"/>
              </a:spcAft>
              <a:buClr>
                <a:srgbClr val="002060"/>
              </a:buClr>
              <a:buSzPts val="2400"/>
              <a:buFont typeface="Arial"/>
              <a:buChar char="•"/>
            </a:pPr>
            <a:r>
              <a:rPr lang="en-US" sz="2400">
                <a:solidFill>
                  <a:srgbClr val="002060"/>
                </a:solidFill>
                <a:latin typeface="Arial"/>
                <a:ea typeface="Arial"/>
                <a:cs typeface="Arial"/>
                <a:sym typeface="Arial"/>
              </a:rPr>
              <a:t>Participation in a riot/strike or civil commotion</a:t>
            </a:r>
            <a:endParaRPr/>
          </a:p>
        </p:txBody>
      </p:sp>
      <p:sp>
        <p:nvSpPr>
          <p:cNvPr id="314" name="Google Shape;314;p33"/>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6"/>
            </a:pPr>
            <a:r>
              <a:rPr b="1" lang="en-US" sz="2800">
                <a:solidFill>
                  <a:srgbClr val="F36005"/>
                </a:solidFill>
                <a:latin typeface="Arial"/>
                <a:ea typeface="Arial"/>
                <a:cs typeface="Arial"/>
                <a:sym typeface="Arial"/>
              </a:rPr>
              <a:t>Major Plastic Surgery Benefit due to Accidents</a:t>
            </a:r>
            <a:endParaRPr/>
          </a:p>
        </p:txBody>
      </p:sp>
      <p:sp>
        <p:nvSpPr>
          <p:cNvPr id="315" name="Google Shape;315;p33"/>
          <p:cNvSpPr/>
          <p:nvPr/>
        </p:nvSpPr>
        <p:spPr>
          <a:xfrm>
            <a:off x="222402" y="195698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7"/>
            </a:pPr>
            <a:r>
              <a:rPr b="1" lang="en-US" sz="2800">
                <a:solidFill>
                  <a:srgbClr val="F36005"/>
                </a:solidFill>
                <a:latin typeface="Arial"/>
                <a:ea typeface="Arial"/>
                <a:cs typeface="Arial"/>
                <a:sym typeface="Arial"/>
              </a:rPr>
              <a:t>Skin Transplantation Benefit due to Accidental Burning  </a:t>
            </a:r>
            <a:r>
              <a:rPr i="1" lang="en-US" sz="2800">
                <a:solidFill>
                  <a:srgbClr val="00202E"/>
                </a:solidFill>
                <a:latin typeface="Arial"/>
                <a:ea typeface="Arial"/>
                <a:cs typeface="Arial"/>
                <a:sym typeface="Arial"/>
              </a:rPr>
              <a:t>cont…</a:t>
            </a:r>
            <a:endParaRPr b="1" i="1" sz="2800">
              <a:solidFill>
                <a:srgbClr val="F36005"/>
              </a:solidFill>
              <a:latin typeface="Arial"/>
              <a:ea typeface="Arial"/>
              <a:cs typeface="Arial"/>
              <a:sym typeface="Arial"/>
            </a:endParaRPr>
          </a:p>
          <a:p>
            <a:pPr indent="-336550" lvl="0" marL="514350" marR="0" rtl="0" algn="l">
              <a:spcBef>
                <a:spcPts val="560"/>
              </a:spcBef>
              <a:spcAft>
                <a:spcPts val="0"/>
              </a:spcAft>
              <a:buClr>
                <a:srgbClr val="F0AD00"/>
              </a:buClr>
              <a:buSzPts val="2800"/>
              <a:buFont typeface="Noto Sans Symbols"/>
              <a:buNone/>
            </a:pPr>
            <a:r>
              <a:t/>
            </a:r>
            <a:endParaRPr b="1" sz="2800">
              <a:solidFill>
                <a:srgbClr val="F36005"/>
              </a:solidFill>
              <a:latin typeface="Arial"/>
              <a:ea typeface="Arial"/>
              <a:cs typeface="Arial"/>
              <a:sym typeface="Arial"/>
            </a:endParaRPr>
          </a:p>
        </p:txBody>
      </p:sp>
      <p:sp>
        <p:nvSpPr>
          <p:cNvPr id="316" name="Google Shape;316;p3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mc:AlternateContent>
    <mc:Choice Requires="p14">
      <p:transition spd="slow" p14:dur="11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8"/>
            </a:pPr>
            <a:r>
              <a:rPr b="1" lang="en-US" sz="2800">
                <a:solidFill>
                  <a:srgbClr val="F36005"/>
                </a:solidFill>
                <a:latin typeface="Arial"/>
                <a:ea typeface="Arial"/>
                <a:cs typeface="Arial"/>
                <a:sym typeface="Arial"/>
              </a:rPr>
              <a:t>Free Diagnostics Procedures</a:t>
            </a:r>
            <a:endParaRPr/>
          </a:p>
        </p:txBody>
      </p:sp>
      <p:graphicFrame>
        <p:nvGraphicFramePr>
          <p:cNvPr id="322" name="Google Shape;322;p34"/>
          <p:cNvGraphicFramePr/>
          <p:nvPr/>
        </p:nvGraphicFramePr>
        <p:xfrm>
          <a:off x="333828" y="2108211"/>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free diagnostic</a:t>
                      </a:r>
                      <a:r>
                        <a:rPr lang="en-US" sz="2500"/>
                        <a:t> procedures on every anniversary up to end of the 5</a:t>
                      </a:r>
                      <a:r>
                        <a:rPr baseline="30000" lang="en-US" sz="2500"/>
                        <a:t>th</a:t>
                      </a:r>
                      <a:r>
                        <a:rPr lang="en-US" sz="2500"/>
                        <a:t> anniversary</a:t>
                      </a:r>
                      <a:endParaRPr sz="2500"/>
                    </a:p>
                  </a:txBody>
                  <a:tcPr marT="45725" marB="45725" marR="91450" marL="91450"/>
                </a:tc>
                <a:tc>
                  <a:txBody>
                    <a:bodyPr/>
                    <a:lstStyle/>
                    <a:p>
                      <a:pPr indent="0" lvl="0" marL="0" marR="0" rtl="0" algn="l">
                        <a:spcBef>
                          <a:spcPts val="0"/>
                        </a:spcBef>
                        <a:spcAft>
                          <a:spcPts val="0"/>
                        </a:spcAft>
                        <a:buNone/>
                      </a:pPr>
                      <a:r>
                        <a:rPr lang="en-US" sz="2500"/>
                        <a:t>5 free diagnostic</a:t>
                      </a:r>
                      <a:r>
                        <a:rPr lang="en-US" sz="2500"/>
                        <a:t> procedures within the first 10 policy years</a:t>
                      </a:r>
                      <a:endParaRPr/>
                    </a:p>
                  </a:txBody>
                  <a:tcPr marT="45725" marB="45725" marR="91450" marL="91450"/>
                </a:tc>
              </a:tr>
              <a:tr h="486225">
                <a:tc>
                  <a:txBody>
                    <a:bodyPr/>
                    <a:lstStyle/>
                    <a:p>
                      <a:pPr indent="0" lvl="0" marL="0" marR="0" rtl="0" algn="l">
                        <a:spcBef>
                          <a:spcPts val="0"/>
                        </a:spcBef>
                        <a:spcAft>
                          <a:spcPts val="0"/>
                        </a:spcAft>
                        <a:buNone/>
                      </a:pPr>
                      <a:r>
                        <a:rPr lang="en-US" sz="2000"/>
                        <a:t>Choices:</a:t>
                      </a:r>
                      <a:endParaRPr/>
                    </a:p>
                    <a:p>
                      <a:pPr indent="-342900" lvl="0" marL="342900" marR="0" rtl="0" algn="l">
                        <a:spcBef>
                          <a:spcPts val="0"/>
                        </a:spcBef>
                        <a:spcAft>
                          <a:spcPts val="0"/>
                        </a:spcAft>
                        <a:buClr>
                          <a:schemeClr val="dk1"/>
                        </a:buClr>
                        <a:buSzPts val="2000"/>
                        <a:buFont typeface="Arial"/>
                        <a:buChar char="•"/>
                      </a:pPr>
                      <a:r>
                        <a:rPr lang="en-US" sz="2000"/>
                        <a:t>Breast and Pelvic Ultrasound</a:t>
                      </a:r>
                      <a:endParaRPr/>
                    </a:p>
                    <a:p>
                      <a:pPr indent="-342900" lvl="0" marL="342900" marR="0" rtl="0" algn="l">
                        <a:spcBef>
                          <a:spcPts val="0"/>
                        </a:spcBef>
                        <a:spcAft>
                          <a:spcPts val="0"/>
                        </a:spcAft>
                        <a:buClr>
                          <a:schemeClr val="dk1"/>
                        </a:buClr>
                        <a:buSzPts val="2000"/>
                        <a:buFont typeface="Arial"/>
                        <a:buChar char="•"/>
                      </a:pPr>
                      <a:r>
                        <a:rPr lang="en-US" sz="2000"/>
                        <a:t>Mammography</a:t>
                      </a:r>
                      <a:r>
                        <a:rPr lang="en-US" sz="2000"/>
                        <a:t> and Pelvic Ultrasound</a:t>
                      </a:r>
                      <a:endParaRPr sz="2000"/>
                    </a:p>
                  </a:txBody>
                  <a:tcPr marT="45725" marB="45725" marR="91450" marL="91450"/>
                </a:tc>
                <a:tc>
                  <a:txBody>
                    <a:bodyPr/>
                    <a:lstStyle/>
                    <a:p>
                      <a:pPr indent="0" lvl="0" marL="0" marR="0" rtl="0" algn="l">
                        <a:spcBef>
                          <a:spcPts val="0"/>
                        </a:spcBef>
                        <a:spcAft>
                          <a:spcPts val="0"/>
                        </a:spcAft>
                        <a:buClr>
                          <a:schemeClr val="dk1"/>
                        </a:buClr>
                        <a:buSzPts val="2000"/>
                        <a:buFont typeface="Arial"/>
                        <a:buNone/>
                      </a:pPr>
                      <a:r>
                        <a:rPr lang="en-US" sz="2000"/>
                        <a:t>Choices:</a:t>
                      </a:r>
                      <a:endParaRPr/>
                    </a:p>
                    <a:p>
                      <a:pPr indent="-342900" lvl="0" marL="342900" marR="0" rtl="0" algn="l">
                        <a:spcBef>
                          <a:spcPts val="0"/>
                        </a:spcBef>
                        <a:spcAft>
                          <a:spcPts val="0"/>
                        </a:spcAft>
                        <a:buClr>
                          <a:schemeClr val="dk1"/>
                        </a:buClr>
                        <a:buSzPts val="2000"/>
                        <a:buFont typeface="Arial"/>
                        <a:buChar char="•"/>
                      </a:pPr>
                      <a:r>
                        <a:rPr lang="en-US" sz="2000"/>
                        <a:t>CA 125 (Ovarian Cancer)</a:t>
                      </a:r>
                      <a:endParaRPr/>
                    </a:p>
                    <a:p>
                      <a:pPr indent="-342900" lvl="0" marL="342900" marR="0" rtl="0" algn="l">
                        <a:spcBef>
                          <a:spcPts val="0"/>
                        </a:spcBef>
                        <a:spcAft>
                          <a:spcPts val="0"/>
                        </a:spcAft>
                        <a:buClr>
                          <a:schemeClr val="dk1"/>
                        </a:buClr>
                        <a:buSzPts val="2000"/>
                        <a:buFont typeface="Arial"/>
                        <a:buChar char="•"/>
                      </a:pPr>
                      <a:r>
                        <a:rPr lang="en-US" sz="2000"/>
                        <a:t>Pap Smear and Pelvic Ultrasound</a:t>
                      </a:r>
                      <a:endParaRPr/>
                    </a:p>
                    <a:p>
                      <a:pPr indent="-342900" lvl="0" marL="342900" marR="0" rtl="0" algn="l">
                        <a:spcBef>
                          <a:spcPts val="0"/>
                        </a:spcBef>
                        <a:spcAft>
                          <a:spcPts val="0"/>
                        </a:spcAft>
                        <a:buClr>
                          <a:schemeClr val="dk1"/>
                        </a:buClr>
                        <a:buSzPts val="2000"/>
                        <a:buFont typeface="Arial"/>
                        <a:buChar char="•"/>
                      </a:pPr>
                      <a:r>
                        <a:rPr lang="en-US" sz="2000"/>
                        <a:t>Pap Smear and Breast Ultrasound</a:t>
                      </a:r>
                      <a:endParaRPr/>
                    </a:p>
                    <a:p>
                      <a:pPr indent="-342900" lvl="0" marL="342900" marR="0" rtl="0" algn="l">
                        <a:spcBef>
                          <a:spcPts val="0"/>
                        </a:spcBef>
                        <a:spcAft>
                          <a:spcPts val="0"/>
                        </a:spcAft>
                        <a:buClr>
                          <a:schemeClr val="dk1"/>
                        </a:buClr>
                        <a:buSzPts val="2000"/>
                        <a:buFont typeface="Arial"/>
                        <a:buChar char="•"/>
                      </a:pPr>
                      <a:r>
                        <a:rPr lang="en-US" sz="2000"/>
                        <a:t>Pap Smear and Mammography</a:t>
                      </a:r>
                      <a:endParaRPr sz="2000"/>
                    </a:p>
                  </a:txBody>
                  <a:tcPr marT="45725" marB="45725" marR="91450" marL="91450"/>
                </a:tc>
              </a:tr>
            </a:tbl>
          </a:graphicData>
        </a:graphic>
      </p:graphicFrame>
      <p:sp>
        <p:nvSpPr>
          <p:cNvPr id="323" name="Google Shape;323;p3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5"/>
          <p:cNvSpPr/>
          <p:nvPr/>
        </p:nvSpPr>
        <p:spPr>
          <a:xfrm>
            <a:off x="229656" y="2177142"/>
            <a:ext cx="8686800" cy="380274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400"/>
              <a:buFont typeface="Times"/>
              <a:buNone/>
            </a:pPr>
            <a:r>
              <a:rPr lang="en-US" sz="2400">
                <a:solidFill>
                  <a:srgbClr val="002060"/>
                </a:solidFill>
                <a:latin typeface="Arial"/>
                <a:ea typeface="Arial"/>
                <a:cs typeface="Arial"/>
                <a:sym typeface="Arial"/>
              </a:rPr>
              <a:t>	Availment may be made in this manner:</a:t>
            </a:r>
            <a:endParaRPr/>
          </a:p>
          <a:p>
            <a:pPr indent="-342900" lvl="0" marL="342900" marR="0" rtl="0" algn="l">
              <a:spcBef>
                <a:spcPts val="480"/>
              </a:spcBef>
              <a:spcAft>
                <a:spcPts val="0"/>
              </a:spcAft>
              <a:buClr>
                <a:srgbClr val="F0AD00"/>
              </a:buClr>
              <a:buSzPts val="2400"/>
              <a:buFont typeface="Times"/>
              <a:buNone/>
            </a:pPr>
            <a:r>
              <a:t/>
            </a:r>
            <a:endParaRPr sz="2400">
              <a:solidFill>
                <a:srgbClr val="002060"/>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Times"/>
              <a:buNone/>
            </a:pPr>
            <a:r>
              <a:rPr lang="en-US" sz="2400">
                <a:solidFill>
                  <a:srgbClr val="002060"/>
                </a:solidFill>
                <a:latin typeface="Arial"/>
                <a:ea typeface="Arial"/>
                <a:cs typeface="Arial"/>
                <a:sym typeface="Arial"/>
              </a:rPr>
              <a:t>	Issue Date  :  July 1, 2001</a:t>
            </a:r>
            <a:endParaRPr/>
          </a:p>
          <a:p>
            <a:pPr indent="-342900" lvl="0" marL="342900" marR="0" rtl="0" algn="l">
              <a:spcBef>
                <a:spcPts val="480"/>
              </a:spcBef>
              <a:spcAft>
                <a:spcPts val="0"/>
              </a:spcAft>
              <a:buClr>
                <a:srgbClr val="F0AD00"/>
              </a:buClr>
              <a:buSzPts val="2400"/>
              <a:buFont typeface="Times"/>
              <a:buNone/>
            </a:pPr>
            <a:r>
              <a:rPr lang="en-US" sz="2400">
                <a:solidFill>
                  <a:srgbClr val="002060"/>
                </a:solidFill>
                <a:latin typeface="Arial"/>
                <a:ea typeface="Arial"/>
                <a:cs typeface="Arial"/>
                <a:sym typeface="Arial"/>
              </a:rPr>
              <a:t>	Anniversary  :  July 1, 2002</a:t>
            </a:r>
            <a:endParaRPr/>
          </a:p>
          <a:p>
            <a:pPr indent="-342900" lvl="0" marL="342900" marR="0" rtl="0" algn="l">
              <a:spcBef>
                <a:spcPts val="480"/>
              </a:spcBef>
              <a:spcAft>
                <a:spcPts val="0"/>
              </a:spcAft>
              <a:buClr>
                <a:srgbClr val="F0AD00"/>
              </a:buClr>
              <a:buSzPts val="2400"/>
              <a:buFont typeface="Times"/>
              <a:buNone/>
            </a:pPr>
            <a:r>
              <a:rPr lang="en-US" sz="2400">
                <a:solidFill>
                  <a:srgbClr val="002060"/>
                </a:solidFill>
                <a:latin typeface="Arial"/>
                <a:ea typeface="Arial"/>
                <a:cs typeface="Arial"/>
                <a:sym typeface="Arial"/>
              </a:rPr>
              <a:t>	Availment for the 1st year  :  July 1, 2002 to June 30, 2003</a:t>
            </a:r>
            <a:endParaRPr b="1" sz="2400">
              <a:solidFill>
                <a:srgbClr val="002060"/>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Times"/>
              <a:buNone/>
            </a:pPr>
            <a:r>
              <a:t/>
            </a:r>
            <a:endParaRPr sz="2400">
              <a:solidFill>
                <a:srgbClr val="002060"/>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Times"/>
              <a:buNone/>
            </a:pPr>
            <a:r>
              <a:rPr lang="en-US" sz="2400">
                <a:solidFill>
                  <a:srgbClr val="002060"/>
                </a:solidFill>
                <a:latin typeface="Arial"/>
                <a:ea typeface="Arial"/>
                <a:cs typeface="Arial"/>
                <a:sym typeface="Arial"/>
              </a:rPr>
              <a:t>	If availment for the year is not used, it is FORFEITED.</a:t>
            </a:r>
            <a:endParaRPr/>
          </a:p>
        </p:txBody>
      </p:sp>
      <p:sp>
        <p:nvSpPr>
          <p:cNvPr id="329" name="Google Shape;329;p35"/>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8"/>
            </a:pPr>
            <a:r>
              <a:rPr b="1" lang="en-US" sz="2800">
                <a:solidFill>
                  <a:srgbClr val="F36005"/>
                </a:solidFill>
                <a:latin typeface="Arial"/>
                <a:ea typeface="Arial"/>
                <a:cs typeface="Arial"/>
                <a:sym typeface="Arial"/>
              </a:rPr>
              <a:t>Free Diagnostics Procedures  </a:t>
            </a:r>
            <a:r>
              <a:rPr i="1" lang="en-US" sz="2800">
                <a:solidFill>
                  <a:srgbClr val="00202E"/>
                </a:solidFill>
                <a:latin typeface="Arial"/>
                <a:ea typeface="Arial"/>
                <a:cs typeface="Arial"/>
                <a:sym typeface="Arial"/>
              </a:rPr>
              <a:t>cont…</a:t>
            </a:r>
            <a:endParaRPr b="1" i="1" sz="2800">
              <a:solidFill>
                <a:srgbClr val="F36005"/>
              </a:solidFill>
              <a:latin typeface="Arial"/>
              <a:ea typeface="Arial"/>
              <a:cs typeface="Arial"/>
              <a:sym typeface="Arial"/>
            </a:endParaRPr>
          </a:p>
        </p:txBody>
      </p:sp>
      <p:sp>
        <p:nvSpPr>
          <p:cNvPr id="330" name="Google Shape;330;p3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9"/>
            </a:pPr>
            <a:r>
              <a:rPr b="1" lang="en-US" sz="2800">
                <a:solidFill>
                  <a:srgbClr val="F36005"/>
                </a:solidFill>
                <a:latin typeface="Arial"/>
                <a:ea typeface="Arial"/>
                <a:cs typeface="Arial"/>
                <a:sym typeface="Arial"/>
              </a:rPr>
              <a:t>Pregnancy Complications</a:t>
            </a:r>
            <a:endParaRPr/>
          </a:p>
        </p:txBody>
      </p:sp>
      <p:graphicFrame>
        <p:nvGraphicFramePr>
          <p:cNvPr id="336" name="Google Shape;336;p36"/>
          <p:cNvGraphicFramePr/>
          <p:nvPr/>
        </p:nvGraphicFramePr>
        <p:xfrm>
          <a:off x="333828" y="2108211"/>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10% of FB/FMB Amount</a:t>
                      </a:r>
                      <a:endParaRPr/>
                    </a:p>
                  </a:txBody>
                  <a:tcPr marT="45725" marB="45725" marR="91450" marL="91450"/>
                </a:tc>
                <a:tc>
                  <a:txBody>
                    <a:bodyPr/>
                    <a:lstStyle/>
                    <a:p>
                      <a:pPr indent="0" lvl="0" marL="0" marR="0" rtl="0" algn="l">
                        <a:spcBef>
                          <a:spcPts val="0"/>
                        </a:spcBef>
                        <a:spcAft>
                          <a:spcPts val="0"/>
                        </a:spcAft>
                        <a:buNone/>
                      </a:pPr>
                      <a:r>
                        <a:rPr lang="en-US" sz="2500"/>
                        <a:t>10% of FCI/FCIM Amount</a:t>
                      </a:r>
                      <a:endParaRPr/>
                    </a:p>
                  </a:txBody>
                  <a:tcPr marT="45725" marB="45725" marR="91450" marL="91450"/>
                </a:tc>
              </a:tr>
              <a:tr h="420200">
                <a:tc>
                  <a:txBody>
                    <a:bodyPr/>
                    <a:lstStyle/>
                    <a:p>
                      <a:pPr indent="0" lvl="0" marL="0" marR="0" rtl="0" algn="l">
                        <a:spcBef>
                          <a:spcPts val="0"/>
                        </a:spcBef>
                        <a:spcAft>
                          <a:spcPts val="0"/>
                        </a:spcAft>
                        <a:buNone/>
                      </a:pPr>
                      <a:r>
                        <a:rPr lang="en-US" sz="2500"/>
                        <a:t>Maximum of Ps.100,000</a:t>
                      </a:r>
                      <a:endParaRPr/>
                    </a:p>
                  </a:txBody>
                  <a:tcPr marT="45725" marB="45725" marR="91450" marL="91450"/>
                </a:tc>
                <a:tc>
                  <a:txBody>
                    <a:bodyPr/>
                    <a:lstStyle/>
                    <a:p>
                      <a:pPr indent="0" lvl="0" marL="0" marR="0" rtl="0" algn="l">
                        <a:spcBef>
                          <a:spcPts val="0"/>
                        </a:spcBef>
                        <a:spcAft>
                          <a:spcPts val="0"/>
                        </a:spcAft>
                        <a:buNone/>
                      </a:pPr>
                      <a:r>
                        <a:rPr lang="en-US" sz="2500"/>
                        <a:t>Maximum of Ps.200,000</a:t>
                      </a:r>
                      <a:endParaRPr/>
                    </a:p>
                  </a:txBody>
                  <a:tcPr marT="45725" marB="45725" marR="91450" marL="91450"/>
                </a:tc>
              </a:tr>
            </a:tbl>
          </a:graphicData>
        </a:graphic>
      </p:graphicFrame>
      <p:sp>
        <p:nvSpPr>
          <p:cNvPr id="337" name="Google Shape;337;p3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9"/>
            </a:pPr>
            <a:r>
              <a:rPr b="1" lang="en-US" sz="2800">
                <a:solidFill>
                  <a:srgbClr val="F36005"/>
                </a:solidFill>
                <a:latin typeface="Arial"/>
                <a:ea typeface="Arial"/>
                <a:cs typeface="Arial"/>
                <a:sym typeface="Arial"/>
              </a:rPr>
              <a:t>Pregnancy Complications  </a:t>
            </a:r>
            <a:r>
              <a:rPr i="1" lang="en-US" sz="2800">
                <a:solidFill>
                  <a:srgbClr val="00202E"/>
                </a:solidFill>
                <a:latin typeface="Arial"/>
                <a:ea typeface="Arial"/>
                <a:cs typeface="Arial"/>
                <a:sym typeface="Arial"/>
              </a:rPr>
              <a:t>cont…</a:t>
            </a:r>
            <a:endParaRPr b="1" i="1" sz="2800">
              <a:solidFill>
                <a:srgbClr val="F36005"/>
              </a:solidFill>
              <a:latin typeface="Arial"/>
              <a:ea typeface="Arial"/>
              <a:cs typeface="Arial"/>
              <a:sym typeface="Arial"/>
            </a:endParaRPr>
          </a:p>
        </p:txBody>
      </p:sp>
      <p:sp>
        <p:nvSpPr>
          <p:cNvPr id="343" name="Google Shape;343;p37"/>
          <p:cNvSpPr/>
          <p:nvPr/>
        </p:nvSpPr>
        <p:spPr>
          <a:xfrm>
            <a:off x="740229" y="2293253"/>
            <a:ext cx="7798856" cy="420914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400"/>
              <a:buFont typeface="Noto Sans Symbols"/>
              <a:buChar char="✔"/>
            </a:pPr>
            <a:r>
              <a:rPr lang="en-US" sz="2400">
                <a:solidFill>
                  <a:srgbClr val="00202E"/>
                </a:solidFill>
                <a:latin typeface="Arial"/>
                <a:ea typeface="Arial"/>
                <a:cs typeface="Arial"/>
                <a:sym typeface="Arial"/>
              </a:rPr>
              <a:t>Pregnancy Complication should occur after a year from date of issue or last reinstatement</a:t>
            </a:r>
            <a:endParaRPr/>
          </a:p>
          <a:p>
            <a:pPr indent="-190500" lvl="0" marL="342900" marR="0" rtl="0" algn="l">
              <a:spcBef>
                <a:spcPts val="480"/>
              </a:spcBef>
              <a:spcAft>
                <a:spcPts val="0"/>
              </a:spcAft>
              <a:buClr>
                <a:srgbClr val="F0AD00"/>
              </a:buClr>
              <a:buSzPts val="2400"/>
              <a:buFont typeface="Noto Sans Symbols"/>
              <a:buNone/>
            </a:pPr>
            <a:r>
              <a:t/>
            </a:r>
            <a:endParaRPr sz="2400">
              <a:solidFill>
                <a:srgbClr val="00202E"/>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Noto Sans Symbols"/>
              <a:buChar char="✔"/>
            </a:pPr>
            <a:r>
              <a:rPr lang="en-US" sz="2400">
                <a:solidFill>
                  <a:srgbClr val="00202E"/>
                </a:solidFill>
                <a:latin typeface="Arial"/>
                <a:ea typeface="Arial"/>
                <a:cs typeface="Arial"/>
                <a:sym typeface="Arial"/>
              </a:rPr>
              <a:t>Pregnancy Complication means any of the diseases specified below and excludes all other illnesses:</a:t>
            </a:r>
            <a:endParaRPr/>
          </a:p>
          <a:p>
            <a:pPr indent="-342900" lvl="1" marL="800100" marR="0" rtl="0" algn="l">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Disseminated Intravascular Coagulation (DIC)</a:t>
            </a:r>
            <a:endParaRPr/>
          </a:p>
          <a:p>
            <a:pPr indent="-342900" lvl="1" marL="800100" marR="0" rtl="0" algn="l">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Ectopic Pregnancy</a:t>
            </a:r>
            <a:endParaRPr/>
          </a:p>
          <a:p>
            <a:pPr indent="-342900" lvl="1" marL="800100" marR="0" rtl="0" algn="l">
              <a:spcBef>
                <a:spcPts val="0"/>
              </a:spcBef>
              <a:spcAft>
                <a:spcPts val="0"/>
              </a:spcAft>
              <a:buClr>
                <a:srgbClr val="262626"/>
              </a:buClr>
              <a:buSzPts val="2400"/>
              <a:buFont typeface="Arial"/>
              <a:buChar char="•"/>
            </a:pPr>
            <a:r>
              <a:rPr b="0" i="0" lang="en-US" sz="2400" u="none" cap="none" strike="noStrike">
                <a:solidFill>
                  <a:srgbClr val="262626"/>
                </a:solidFill>
                <a:latin typeface="Calibri"/>
                <a:ea typeface="Calibri"/>
                <a:cs typeface="Calibri"/>
                <a:sym typeface="Calibri"/>
              </a:rPr>
              <a:t>Hydatidiform Mole</a:t>
            </a:r>
            <a:endParaRPr/>
          </a:p>
          <a:p>
            <a:pPr indent="-190500" lvl="0" marL="342900" marR="0" rtl="0" algn="l">
              <a:spcBef>
                <a:spcPts val="480"/>
              </a:spcBef>
              <a:spcAft>
                <a:spcPts val="0"/>
              </a:spcAft>
              <a:buClr>
                <a:srgbClr val="F0AD00"/>
              </a:buClr>
              <a:buSzPts val="2400"/>
              <a:buFont typeface="Noto Sans Symbols"/>
              <a:buNone/>
            </a:pPr>
            <a:r>
              <a:t/>
            </a:r>
            <a:endParaRPr sz="2400">
              <a:solidFill>
                <a:srgbClr val="00202E"/>
              </a:solidFill>
              <a:latin typeface="Arial"/>
              <a:ea typeface="Arial"/>
              <a:cs typeface="Arial"/>
              <a:sym typeface="Arial"/>
            </a:endParaRPr>
          </a:p>
          <a:p>
            <a:pPr indent="-342900" lvl="0" marL="342900" marR="0" rtl="0" algn="l">
              <a:spcBef>
                <a:spcPts val="480"/>
              </a:spcBef>
              <a:spcAft>
                <a:spcPts val="0"/>
              </a:spcAft>
              <a:buClr>
                <a:srgbClr val="F0AD00"/>
              </a:buClr>
              <a:buSzPts val="2400"/>
              <a:buFont typeface="Noto Sans Symbols"/>
              <a:buChar char="✔"/>
            </a:pPr>
            <a:r>
              <a:rPr lang="en-US" sz="2400">
                <a:solidFill>
                  <a:srgbClr val="00202E"/>
                </a:solidFill>
                <a:latin typeface="Arial"/>
                <a:ea typeface="Arial"/>
                <a:cs typeface="Arial"/>
                <a:sym typeface="Arial"/>
              </a:rPr>
              <a:t>SLF will pay the benefit only once for any pregnancy</a:t>
            </a:r>
            <a:endParaRPr sz="2400">
              <a:solidFill>
                <a:srgbClr val="00202E"/>
              </a:solidFill>
              <a:latin typeface="Arial"/>
              <a:ea typeface="Arial"/>
              <a:cs typeface="Arial"/>
              <a:sym typeface="Arial"/>
            </a:endParaRPr>
          </a:p>
        </p:txBody>
      </p:sp>
      <p:sp>
        <p:nvSpPr>
          <p:cNvPr id="344" name="Google Shape;344;p3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p:nvPr/>
        </p:nvSpPr>
        <p:spPr>
          <a:xfrm>
            <a:off x="229656" y="1441734"/>
            <a:ext cx="8686800" cy="63380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F0AD00"/>
              </a:buClr>
              <a:buSzPts val="2800"/>
              <a:buFont typeface="Noto Sans Symbols"/>
              <a:buAutoNum type="arabicParenBoth" startAt="10"/>
            </a:pPr>
            <a:r>
              <a:rPr b="1" lang="en-US" sz="2800">
                <a:solidFill>
                  <a:srgbClr val="F36005"/>
                </a:solidFill>
                <a:latin typeface="Arial"/>
                <a:ea typeface="Arial"/>
                <a:cs typeface="Arial"/>
                <a:sym typeface="Arial"/>
              </a:rPr>
              <a:t> Benefit for Every Child Delivered</a:t>
            </a:r>
            <a:endParaRPr/>
          </a:p>
        </p:txBody>
      </p:sp>
      <p:graphicFrame>
        <p:nvGraphicFramePr>
          <p:cNvPr id="350" name="Google Shape;350;p38"/>
          <p:cNvGraphicFramePr/>
          <p:nvPr/>
        </p:nvGraphicFramePr>
        <p:xfrm>
          <a:off x="333828" y="2108211"/>
          <a:ext cx="3000000" cy="3000000"/>
        </p:xfrm>
        <a:graphic>
          <a:graphicData uri="http://schemas.openxmlformats.org/drawingml/2006/table">
            <a:tbl>
              <a:tblPr bandRow="1" firstRow="1">
                <a:noFill/>
                <a:tableStyleId>{673F52D5-16B6-497D-969F-36FF4152F095}</a:tableStyleId>
              </a:tblPr>
              <a:tblGrid>
                <a:gridCol w="4290775"/>
                <a:gridCol w="4290775"/>
              </a:tblGrid>
              <a:tr h="538950">
                <a:tc>
                  <a:txBody>
                    <a:bodyPr/>
                    <a:lstStyle/>
                    <a:p>
                      <a:pPr indent="0" lvl="0" marL="0" marR="0" rtl="0" algn="ctr">
                        <a:spcBef>
                          <a:spcPts val="0"/>
                        </a:spcBef>
                        <a:spcAft>
                          <a:spcPts val="0"/>
                        </a:spcAft>
                        <a:buNone/>
                      </a:pPr>
                      <a:r>
                        <a:rPr lang="en-US" sz="3200"/>
                        <a:t>FB</a:t>
                      </a:r>
                      <a:r>
                        <a:rPr lang="en-US" sz="3200"/>
                        <a:t> / FMB</a:t>
                      </a:r>
                      <a:endParaRPr sz="3200"/>
                    </a:p>
                  </a:txBody>
                  <a:tcPr marT="45725" marB="45725" marR="91450" marL="91450"/>
                </a:tc>
                <a:tc>
                  <a:txBody>
                    <a:bodyPr/>
                    <a:lstStyle/>
                    <a:p>
                      <a:pPr indent="0" lvl="0" marL="0" marR="0" rtl="0" algn="ctr">
                        <a:spcBef>
                          <a:spcPts val="0"/>
                        </a:spcBef>
                        <a:spcAft>
                          <a:spcPts val="0"/>
                        </a:spcAft>
                        <a:buNone/>
                      </a:pPr>
                      <a:r>
                        <a:rPr lang="en-US" sz="3200"/>
                        <a:t>FCI</a:t>
                      </a:r>
                      <a:r>
                        <a:rPr lang="en-US" sz="3200"/>
                        <a:t> / FCIM</a:t>
                      </a:r>
                      <a:endParaRPr sz="3200"/>
                    </a:p>
                  </a:txBody>
                  <a:tcPr marT="45725" marB="45725" marR="91450" marL="91450"/>
                </a:tc>
              </a:tr>
              <a:tr h="420200">
                <a:tc>
                  <a:txBody>
                    <a:bodyPr/>
                    <a:lstStyle/>
                    <a:p>
                      <a:pPr indent="0" lvl="0" marL="0" marR="0" rtl="0" algn="l">
                        <a:spcBef>
                          <a:spcPts val="0"/>
                        </a:spcBef>
                        <a:spcAft>
                          <a:spcPts val="0"/>
                        </a:spcAft>
                        <a:buNone/>
                      </a:pPr>
                      <a:r>
                        <a:rPr lang="en-US" sz="2500"/>
                        <a:t>1% of FB/FMB Amount</a:t>
                      </a:r>
                      <a:endParaRPr/>
                    </a:p>
                  </a:txBody>
                  <a:tcPr marT="45725" marB="45725" marR="91450" marL="91450"/>
                </a:tc>
                <a:tc>
                  <a:txBody>
                    <a:bodyPr/>
                    <a:lstStyle/>
                    <a:p>
                      <a:pPr indent="0" lvl="0" marL="0" marR="0" rtl="0" algn="l">
                        <a:spcBef>
                          <a:spcPts val="0"/>
                        </a:spcBef>
                        <a:spcAft>
                          <a:spcPts val="0"/>
                        </a:spcAft>
                        <a:buNone/>
                      </a:pPr>
                      <a:r>
                        <a:rPr lang="en-US" sz="2500"/>
                        <a:t>2% of FCI/FCIM Amount</a:t>
                      </a:r>
                      <a:endParaRPr/>
                    </a:p>
                  </a:txBody>
                  <a:tcPr marT="45725" marB="45725" marR="91450" marL="91450"/>
                </a:tc>
              </a:tr>
              <a:tr h="420200">
                <a:tc>
                  <a:txBody>
                    <a:bodyPr/>
                    <a:lstStyle/>
                    <a:p>
                      <a:pPr indent="0" lvl="0" marL="0" marR="0" rtl="0" algn="l">
                        <a:spcBef>
                          <a:spcPts val="0"/>
                        </a:spcBef>
                        <a:spcAft>
                          <a:spcPts val="0"/>
                        </a:spcAft>
                        <a:buNone/>
                      </a:pPr>
                      <a:r>
                        <a:rPr lang="en-US" sz="2500"/>
                        <a:t>Maximum of Ps.20,000 per child delivered</a:t>
                      </a:r>
                      <a:endParaRPr/>
                    </a:p>
                  </a:txBody>
                  <a:tcPr marT="45725" marB="45725" marR="91450" marL="91450"/>
                </a:tc>
                <a:tc>
                  <a:txBody>
                    <a:bodyPr/>
                    <a:lstStyle/>
                    <a:p>
                      <a:pPr indent="0" lvl="0" marL="0" marR="0" rtl="0" algn="l">
                        <a:spcBef>
                          <a:spcPts val="0"/>
                        </a:spcBef>
                        <a:spcAft>
                          <a:spcPts val="0"/>
                        </a:spcAft>
                        <a:buNone/>
                      </a:pPr>
                      <a:r>
                        <a:rPr lang="en-US" sz="2500"/>
                        <a:t>Maximum of Ps.40,000 per child delivered</a:t>
                      </a:r>
                      <a:endParaRPr/>
                    </a:p>
                  </a:txBody>
                  <a:tcPr marT="45725" marB="45725" marR="91450" marL="91450"/>
                </a:tc>
              </a:tr>
              <a:tr h="420200">
                <a:tc>
                  <a:txBody>
                    <a:bodyPr/>
                    <a:lstStyle/>
                    <a:p>
                      <a:pPr indent="0" lvl="0" marL="0" marR="0" rtl="0" algn="l">
                        <a:spcBef>
                          <a:spcPts val="0"/>
                        </a:spcBef>
                        <a:spcAft>
                          <a:spcPts val="0"/>
                        </a:spcAft>
                        <a:buNone/>
                      </a:pPr>
                      <a:r>
                        <a:rPr lang="en-US" sz="2500"/>
                        <a:t>Maximum of 2 child deliveries</a:t>
                      </a:r>
                      <a:endParaRPr/>
                    </a:p>
                  </a:txBody>
                  <a:tcPr marT="45725" marB="45725" marR="91450" marL="91450"/>
                </a:tc>
                <a:tc>
                  <a:txBody>
                    <a:bodyPr/>
                    <a:lstStyle/>
                    <a:p>
                      <a:pPr indent="0" lvl="0" marL="0" marR="0" rtl="0" algn="l">
                        <a:spcBef>
                          <a:spcPts val="0"/>
                        </a:spcBef>
                        <a:spcAft>
                          <a:spcPts val="0"/>
                        </a:spcAft>
                        <a:buNone/>
                      </a:pPr>
                      <a:r>
                        <a:rPr lang="en-US" sz="2500"/>
                        <a:t>Maximum of 3 child deliveries</a:t>
                      </a:r>
                      <a:endParaRPr/>
                    </a:p>
                  </a:txBody>
                  <a:tcPr marT="45725" marB="45725" marR="91450" marL="91450"/>
                </a:tc>
              </a:tr>
            </a:tbl>
          </a:graphicData>
        </a:graphic>
      </p:graphicFrame>
      <p:sp>
        <p:nvSpPr>
          <p:cNvPr id="351" name="Google Shape;351;p38"/>
          <p:cNvSpPr/>
          <p:nvPr/>
        </p:nvSpPr>
        <p:spPr>
          <a:xfrm>
            <a:off x="740229" y="4862286"/>
            <a:ext cx="7798856" cy="164011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F0AD00"/>
              </a:buClr>
              <a:buSzPts val="2400"/>
              <a:buFont typeface="Noto Sans Symbols"/>
              <a:buChar char="✔"/>
            </a:pPr>
            <a:r>
              <a:rPr lang="en-US" sz="2400">
                <a:solidFill>
                  <a:srgbClr val="00202E"/>
                </a:solidFill>
                <a:latin typeface="Arial"/>
                <a:ea typeface="Arial"/>
                <a:cs typeface="Arial"/>
                <a:sym typeface="Arial"/>
              </a:rPr>
              <a:t>Child Delivery should occur after a year from date of issue or last reinstatement</a:t>
            </a:r>
            <a:endParaRPr sz="2400">
              <a:solidFill>
                <a:srgbClr val="00202E"/>
              </a:solidFill>
              <a:latin typeface="Arial"/>
              <a:ea typeface="Arial"/>
              <a:cs typeface="Arial"/>
              <a:sym typeface="Arial"/>
            </a:endParaRPr>
          </a:p>
        </p:txBody>
      </p:sp>
      <p:sp>
        <p:nvSpPr>
          <p:cNvPr id="352" name="Google Shape;352;p3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FB/FMB vs FCI/FCIM</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9"/>
          <p:cNvSpPr txBox="1"/>
          <p:nvPr/>
        </p:nvSpPr>
        <p:spPr>
          <a:xfrm>
            <a:off x="293915" y="1545772"/>
            <a:ext cx="8556170" cy="3199223"/>
          </a:xfrm>
          <a:prstGeom prst="rect">
            <a:avLst/>
          </a:prstGeom>
          <a:solidFill>
            <a:srgbClr val="EFC307"/>
          </a:solidFill>
          <a:ln cap="flat" cmpd="sng" w="25400">
            <a:solidFill>
              <a:srgbClr val="0000FF"/>
            </a:solidFill>
            <a:prstDash val="solid"/>
            <a:round/>
            <a:headEnd len="sm" w="sm" type="none"/>
            <a:tailEnd len="sm" w="sm" type="none"/>
          </a:ln>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lang="en-US" sz="3600" cap="none">
                <a:solidFill>
                  <a:schemeClr val="lt1"/>
                </a:solidFill>
                <a:latin typeface="Arial"/>
                <a:ea typeface="Arial"/>
                <a:cs typeface="Arial"/>
                <a:sym typeface="Arial"/>
              </a:rPr>
              <a:t>CRITICAL CONDITION RIDER/ CRITICAL ILLNESS BENEFIT</a:t>
            </a:r>
            <a:endParaRPr/>
          </a:p>
          <a:p>
            <a:pPr indent="-495300" lvl="0" marL="495300" marR="0" rtl="0" algn="ctr">
              <a:lnSpc>
                <a:spcPct val="90000"/>
              </a:lnSpc>
              <a:spcBef>
                <a:spcPts val="16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lang="en-US" sz="3600">
                <a:solidFill>
                  <a:schemeClr val="lt1"/>
                </a:solidFill>
                <a:latin typeface="Arial"/>
                <a:ea typeface="Arial"/>
                <a:cs typeface="Arial"/>
                <a:sym typeface="Arial"/>
              </a:rPr>
              <a:t>vs.</a:t>
            </a:r>
            <a:endParaRPr/>
          </a:p>
          <a:p>
            <a:pPr indent="-495300" lvl="0" marL="495300" marR="0" rtl="0" algn="ctr">
              <a:lnSpc>
                <a:spcPct val="90000"/>
              </a:lnSpc>
              <a:spcBef>
                <a:spcPts val="16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160"/>
              </a:spcBef>
              <a:spcAft>
                <a:spcPts val="0"/>
              </a:spcAft>
              <a:buClr>
                <a:schemeClr val="dk1"/>
              </a:buClr>
              <a:buSzPts val="800"/>
              <a:buFont typeface="Noto Sans Symbols"/>
              <a:buNone/>
            </a:pPr>
            <a:r>
              <a:t/>
            </a:r>
            <a:endParaRPr sz="8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ts val="3600"/>
              <a:buFont typeface="Noto Sans Symbols"/>
              <a:buNone/>
            </a:pPr>
            <a:r>
              <a:rPr lang="en-US" sz="3600" cap="none">
                <a:solidFill>
                  <a:schemeClr val="lt1"/>
                </a:solidFill>
                <a:latin typeface="Arial"/>
                <a:ea typeface="Arial"/>
                <a:cs typeface="Arial"/>
                <a:sym typeface="Arial"/>
              </a:rPr>
              <a:t>NEW CRITICAL ILLNESS BENEFIT</a:t>
            </a:r>
            <a:endParaRPr sz="3600">
              <a:solidFill>
                <a:srgbClr val="17365D"/>
              </a:solidFill>
              <a:latin typeface="Arial"/>
              <a:ea typeface="Arial"/>
              <a:cs typeface="Arial"/>
              <a:sym typeface="Arial"/>
            </a:endParaRPr>
          </a:p>
        </p:txBody>
      </p:sp>
      <p:sp>
        <p:nvSpPr>
          <p:cNvPr id="358" name="Google Shape;358;p3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spTree>
  </p:cSld>
  <p:clrMapOvr>
    <a:masterClrMapping/>
  </p:clrMapOvr>
  <mc:AlternateContent>
    <mc:Choice Requires="p14">
      <p:transition spd="slow" p14:dur="2000">
        <p14:vortex dir="d"/>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0"/>
          <p:cNvSpPr txBox="1"/>
          <p:nvPr/>
        </p:nvSpPr>
        <p:spPr>
          <a:xfrm>
            <a:off x="293915" y="1545771"/>
            <a:ext cx="8556170" cy="1269999"/>
          </a:xfrm>
          <a:prstGeom prst="rect">
            <a:avLst/>
          </a:prstGeom>
          <a:solidFill>
            <a:srgbClr val="FFC000"/>
          </a:solidFill>
          <a:ln cap="flat" cmpd="sng" w="25400">
            <a:solidFill>
              <a:srgbClr val="FFC00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CRITICAL CONDITION RIDER / CRITICAL ILLNESS  BENEFIT</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364" name="Google Shape;364;p4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sp>
        <p:nvSpPr>
          <p:cNvPr id="365" name="Google Shape;365;p40"/>
          <p:cNvSpPr txBox="1"/>
          <p:nvPr/>
        </p:nvSpPr>
        <p:spPr>
          <a:xfrm>
            <a:off x="298270" y="2917371"/>
            <a:ext cx="8556170" cy="1243149"/>
          </a:xfrm>
          <a:prstGeom prst="rect">
            <a:avLst/>
          </a:prstGeom>
          <a:solidFill>
            <a:srgbClr val="FFC000"/>
          </a:solidFill>
          <a:ln cap="flat" cmpd="sng" w="25400">
            <a:solidFill>
              <a:srgbClr val="FFC00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NEW CRITICAL ILLNESS  BENEFIT</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ctr">
              <a:lnSpc>
                <a:spcPct val="90000"/>
              </a:lnSpc>
              <a:spcBef>
                <a:spcPts val="480"/>
              </a:spcBef>
              <a:spcAft>
                <a:spcPts val="0"/>
              </a:spcAft>
              <a:buClr>
                <a:schemeClr val="dk1"/>
              </a:buClr>
              <a:buSzPct val="100000"/>
              <a:buFont typeface="Arial"/>
              <a:buNone/>
            </a:pPr>
            <a:r>
              <a:rPr i="1" lang="en-US" sz="9600">
                <a:solidFill>
                  <a:srgbClr val="17365D"/>
                </a:solidFill>
                <a:latin typeface="Arial"/>
                <a:ea typeface="Arial"/>
                <a:cs typeface="Arial"/>
                <a:sym typeface="Arial"/>
              </a:rPr>
              <a:t>Launched date : </a:t>
            </a:r>
            <a:r>
              <a:rPr lang="en-US" sz="9600">
                <a:solidFill>
                  <a:srgbClr val="17365D"/>
                </a:solidFill>
                <a:latin typeface="Arial"/>
                <a:ea typeface="Arial"/>
                <a:cs typeface="Arial"/>
                <a:sym typeface="Arial"/>
              </a:rPr>
              <a:t>November 9, 2015</a:t>
            </a:r>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Tree>
  </p:cSld>
  <p:clrMapOvr>
    <a:masterClrMapping/>
  </p:clrMapOvr>
  <mc:AlternateContent>
    <mc:Choice Requires="p14">
      <p:transition spd="slow" p14:dur="2000">
        <p14:honeycomb/>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1"/>
          <p:cNvSpPr txBox="1"/>
          <p:nvPr/>
        </p:nvSpPr>
        <p:spPr>
          <a:xfrm>
            <a:off x="293915" y="1545771"/>
            <a:ext cx="8556170" cy="1269999"/>
          </a:xfrm>
          <a:prstGeom prst="rect">
            <a:avLst/>
          </a:prstGeom>
          <a:solidFill>
            <a:srgbClr val="FFC000"/>
          </a:solidFill>
          <a:ln cap="flat" cmpd="sng" w="25400">
            <a:solidFill>
              <a:srgbClr val="FFC00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CRITICAL CONDITION RIDER / CRITICAL ILLNESS  BENEFIT</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371" name="Google Shape;371;p41"/>
          <p:cNvSpPr/>
          <p:nvPr/>
        </p:nvSpPr>
        <p:spPr>
          <a:xfrm>
            <a:off x="293916" y="2779964"/>
            <a:ext cx="8556170" cy="367211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2800">
                <a:solidFill>
                  <a:srgbClr val="17365D"/>
                </a:solidFill>
                <a:latin typeface="Arial"/>
                <a:ea typeface="Arial"/>
                <a:cs typeface="Arial"/>
                <a:sym typeface="Arial"/>
              </a:rPr>
              <a:t>Diagnosis must be made </a:t>
            </a:r>
            <a:r>
              <a:rPr lang="en-US" sz="2800" u="sng">
                <a:solidFill>
                  <a:srgbClr val="17365D"/>
                </a:solidFill>
                <a:latin typeface="Arial"/>
                <a:ea typeface="Arial"/>
                <a:cs typeface="Arial"/>
                <a:sym typeface="Arial"/>
              </a:rPr>
              <a:t>after 90 days</a:t>
            </a:r>
            <a:r>
              <a:rPr lang="en-US" sz="2800">
                <a:solidFill>
                  <a:srgbClr val="17365D"/>
                </a:solidFill>
                <a:latin typeface="Arial"/>
                <a:ea typeface="Arial"/>
                <a:cs typeface="Arial"/>
                <a:sym typeface="Arial"/>
              </a:rPr>
              <a:t> from date of issue or last reinstatement</a:t>
            </a:r>
            <a:endParaRPr/>
          </a:p>
          <a:p>
            <a:pPr indent="0" lvl="0" marL="0" marR="0" rtl="0" algn="l">
              <a:lnSpc>
                <a:spcPct val="90000"/>
              </a:lnSpc>
              <a:spcBef>
                <a:spcPts val="0"/>
              </a:spcBef>
              <a:spcAft>
                <a:spcPts val="0"/>
              </a:spcAft>
              <a:buNone/>
            </a:pPr>
            <a:r>
              <a:t/>
            </a:r>
            <a:endParaRPr sz="2800">
              <a:solidFill>
                <a:srgbClr val="17365D"/>
              </a:solidFill>
              <a:latin typeface="Arial"/>
              <a:ea typeface="Arial"/>
              <a:cs typeface="Arial"/>
              <a:sym typeface="Arial"/>
            </a:endParaRPr>
          </a:p>
          <a:p>
            <a:pPr indent="0" lvl="0" marL="0" marR="0" rtl="0" algn="l">
              <a:lnSpc>
                <a:spcPct val="90000"/>
              </a:lnSpc>
              <a:spcBef>
                <a:spcPts val="0"/>
              </a:spcBef>
              <a:spcAft>
                <a:spcPts val="0"/>
              </a:spcAft>
              <a:buNone/>
            </a:pPr>
            <a:r>
              <a:rPr lang="en-US" sz="2800">
                <a:solidFill>
                  <a:srgbClr val="17365D"/>
                </a:solidFill>
                <a:latin typeface="Arial"/>
                <a:ea typeface="Arial"/>
                <a:cs typeface="Arial"/>
                <a:sym typeface="Arial"/>
              </a:rPr>
              <a:t>CCR:		Diagnosis must be made before attainment 			of age 60</a:t>
            </a:r>
            <a:endParaRPr/>
          </a:p>
          <a:p>
            <a:pPr indent="0" lvl="0" marL="0" marR="0" rtl="0" algn="l">
              <a:lnSpc>
                <a:spcPct val="9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rPr lang="en-US" sz="2800">
                <a:solidFill>
                  <a:srgbClr val="17365D"/>
                </a:solidFill>
                <a:latin typeface="Arial"/>
                <a:ea typeface="Arial"/>
                <a:cs typeface="Arial"/>
                <a:sym typeface="Arial"/>
              </a:rPr>
              <a:t>CIB:		Coverage is up to age 70</a:t>
            </a:r>
            <a:endParaRPr/>
          </a:p>
        </p:txBody>
      </p:sp>
      <p:sp>
        <p:nvSpPr>
          <p:cNvPr id="372" name="Google Shape;372;p4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spTree>
  </p:cSld>
  <p:clrMapOvr>
    <a:masterClrMapping/>
  </p:clrMapOvr>
  <mc:AlternateContent>
    <mc:Choice Requires="p14">
      <p:transition spd="slow" p14:dur="2000">
        <p14:honeycomb/>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71"/>
                                        </p:tgtEl>
                                        <p:attrNameLst>
                                          <p:attrName>style.visibility</p:attrName>
                                        </p:attrNameLst>
                                      </p:cBhvr>
                                      <p:to>
                                        <p:strVal val="visible"/>
                                      </p:to>
                                    </p:set>
                                    <p:anim calcmode="lin" valueType="num">
                                      <p:cBhvr additive="base">
                                        <p:cTn dur="500"/>
                                        <p:tgtEl>
                                          <p:spTgt spid="37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sp>
        <p:nvSpPr>
          <p:cNvPr id="378" name="Google Shape;378;p42"/>
          <p:cNvSpPr txBox="1"/>
          <p:nvPr/>
        </p:nvSpPr>
        <p:spPr>
          <a:xfrm>
            <a:off x="598715" y="1545771"/>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2800"/>
              <a:buFont typeface="Noto Sans Symbols"/>
              <a:buNone/>
            </a:pPr>
            <a:r>
              <a:t/>
            </a:r>
            <a:endParaRPr sz="2800">
              <a:solidFill>
                <a:schemeClr val="lt1"/>
              </a:solidFill>
              <a:latin typeface="Arial"/>
              <a:ea typeface="Arial"/>
              <a:cs typeface="Arial"/>
              <a:sym typeface="Arial"/>
            </a:endParaRPr>
          </a:p>
          <a:p>
            <a:pPr indent="-495300" lvl="0" marL="495300" marR="0" rtl="0" algn="ctr">
              <a:lnSpc>
                <a:spcPct val="90000"/>
              </a:lnSpc>
              <a:spcBef>
                <a:spcPts val="560"/>
              </a:spcBef>
              <a:spcAft>
                <a:spcPts val="0"/>
              </a:spcAft>
              <a:buClr>
                <a:schemeClr val="dk1"/>
              </a:buClr>
              <a:buSzPts val="2800"/>
              <a:buFont typeface="Noto Sans Symbols"/>
              <a:buNone/>
            </a:pPr>
            <a:r>
              <a:rPr lang="en-US" sz="2800">
                <a:solidFill>
                  <a:schemeClr val="lt1"/>
                </a:solidFill>
                <a:latin typeface="Arial"/>
                <a:ea typeface="Arial"/>
                <a:cs typeface="Arial"/>
                <a:sym typeface="Arial"/>
              </a:rPr>
              <a:t>HEART ATTACK</a:t>
            </a:r>
            <a:endParaRPr/>
          </a:p>
          <a:p>
            <a:pPr indent="-495300" lvl="0" marL="495300" marR="0" rtl="0" algn="ctr">
              <a:lnSpc>
                <a:spcPct val="90000"/>
              </a:lnSpc>
              <a:spcBef>
                <a:spcPts val="560"/>
              </a:spcBef>
              <a:spcAft>
                <a:spcPts val="0"/>
              </a:spcAft>
              <a:buClr>
                <a:schemeClr val="dk1"/>
              </a:buClr>
              <a:buSzPts val="2800"/>
              <a:buFont typeface="Noto Sans Symbols"/>
              <a:buNone/>
            </a:pPr>
            <a:r>
              <a:t/>
            </a:r>
            <a:endParaRPr sz="2800">
              <a:solidFill>
                <a:srgbClr val="F36005"/>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rPr lang="en-US" sz="2800">
                <a:solidFill>
                  <a:schemeClr val="hlink"/>
                </a:solidFill>
                <a:latin typeface="Arial"/>
                <a:ea typeface="Arial"/>
                <a:cs typeface="Arial"/>
                <a:sym typeface="Arial"/>
              </a:rPr>
              <a:t>	</a:t>
            </a:r>
            <a:endParaRPr sz="2800">
              <a:solidFill>
                <a:srgbClr val="17365D"/>
              </a:solidFill>
              <a:latin typeface="Arial"/>
              <a:ea typeface="Arial"/>
              <a:cs typeface="Arial"/>
              <a:sym typeface="Arial"/>
            </a:endParaRPr>
          </a:p>
        </p:txBody>
      </p:sp>
      <p:sp>
        <p:nvSpPr>
          <p:cNvPr id="379" name="Google Shape;379;p42"/>
          <p:cNvSpPr txBox="1"/>
          <p:nvPr/>
        </p:nvSpPr>
        <p:spPr>
          <a:xfrm>
            <a:off x="4638726" y="1542823"/>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2800"/>
              <a:buFont typeface="Noto Sans Symbols"/>
              <a:buNone/>
            </a:pPr>
            <a:r>
              <a:rPr lang="en-US" sz="2800">
                <a:solidFill>
                  <a:srgbClr val="FF0000"/>
                </a:solidFill>
                <a:latin typeface="Arial"/>
                <a:ea typeface="Arial"/>
                <a:cs typeface="Arial"/>
                <a:sym typeface="Arial"/>
              </a:rPr>
              <a:t>ACUTE</a:t>
            </a:r>
            <a:endParaRPr/>
          </a:p>
          <a:p>
            <a:pPr indent="-495300" lvl="0" marL="495300" marR="0" rtl="0" algn="ctr">
              <a:lnSpc>
                <a:spcPct val="90000"/>
              </a:lnSpc>
              <a:spcBef>
                <a:spcPts val="560"/>
              </a:spcBef>
              <a:spcAft>
                <a:spcPts val="0"/>
              </a:spcAft>
              <a:buClr>
                <a:schemeClr val="dk1"/>
              </a:buClr>
              <a:buSzPts val="2800"/>
              <a:buFont typeface="Noto Sans Symbols"/>
              <a:buNone/>
            </a:pPr>
            <a:r>
              <a:rPr lang="en-US" sz="2800">
                <a:solidFill>
                  <a:schemeClr val="lt1"/>
                </a:solidFill>
                <a:latin typeface="Arial"/>
                <a:ea typeface="Arial"/>
                <a:cs typeface="Arial"/>
                <a:sym typeface="Arial"/>
              </a:rPr>
              <a:t>HEART ATTACK</a:t>
            </a:r>
            <a:endParaRPr/>
          </a:p>
          <a:p>
            <a:pPr indent="-495300" lvl="0" marL="495300" marR="0" rtl="0" algn="ctr">
              <a:lnSpc>
                <a:spcPct val="90000"/>
              </a:lnSpc>
              <a:spcBef>
                <a:spcPts val="560"/>
              </a:spcBef>
              <a:spcAft>
                <a:spcPts val="0"/>
              </a:spcAft>
              <a:buClr>
                <a:schemeClr val="dk1"/>
              </a:buClr>
              <a:buSzPts val="2800"/>
              <a:buFont typeface="Noto Sans Symbols"/>
              <a:buNone/>
            </a:pPr>
            <a:r>
              <a:t/>
            </a:r>
            <a:endParaRPr sz="2800">
              <a:solidFill>
                <a:srgbClr val="F36005"/>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rPr lang="en-US" sz="2800">
                <a:solidFill>
                  <a:schemeClr val="hlink"/>
                </a:solidFill>
                <a:latin typeface="Arial"/>
                <a:ea typeface="Arial"/>
                <a:cs typeface="Arial"/>
                <a:sym typeface="Arial"/>
              </a:rPr>
              <a:t>	</a:t>
            </a:r>
            <a:endParaRPr sz="2800">
              <a:solidFill>
                <a:srgbClr val="17365D"/>
              </a:solidFill>
              <a:latin typeface="Arial"/>
              <a:ea typeface="Arial"/>
              <a:cs typeface="Arial"/>
              <a:sym typeface="Arial"/>
            </a:endParaRPr>
          </a:p>
        </p:txBody>
      </p:sp>
      <p:graphicFrame>
        <p:nvGraphicFramePr>
          <p:cNvPr id="380" name="Google Shape;380;p42"/>
          <p:cNvGraphicFramePr/>
          <p:nvPr/>
        </p:nvGraphicFramePr>
        <p:xfrm>
          <a:off x="598715" y="2651760"/>
          <a:ext cx="3000000" cy="3000000"/>
        </p:xfrm>
        <a:graphic>
          <a:graphicData uri="http://schemas.openxmlformats.org/drawingml/2006/table">
            <a:tbl>
              <a:tblPr>
                <a:noFill/>
                <a:tableStyleId>{D3B7BAA0-E47E-421F-8AC6-9A70115BEF34}</a:tableStyleId>
              </a:tblPr>
              <a:tblGrid>
                <a:gridCol w="4010350"/>
                <a:gridCol w="4027650"/>
              </a:tblGrid>
              <a:tr h="40035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398525">
                <a:tc>
                  <a:txBody>
                    <a:bodyPr/>
                    <a:lstStyle/>
                    <a:p>
                      <a:pPr indent="-342900" lvl="0" marL="342900" marR="0" rtl="0" algn="l">
                        <a:lnSpc>
                          <a:spcPct val="115000"/>
                        </a:lnSpc>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Death of a portion of a heart muscle</a:t>
                      </a:r>
                      <a:endParaRPr/>
                    </a:p>
                    <a:p>
                      <a:pPr indent="-342900" lvl="0" marL="342900" marR="0" rtl="0" algn="l">
                        <a:lnSpc>
                          <a:spcPct val="115000"/>
                        </a:lnSpc>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Must be supported by </a:t>
                      </a:r>
                      <a:r>
                        <a:rPr lang="en-US" sz="1500">
                          <a:solidFill>
                            <a:srgbClr val="FF0000"/>
                          </a:solidFill>
                          <a:latin typeface="Arial"/>
                          <a:ea typeface="Arial"/>
                          <a:cs typeface="Arial"/>
                          <a:sym typeface="Arial"/>
                        </a:rPr>
                        <a:t>ALL THREE </a:t>
                      </a:r>
                      <a:r>
                        <a:rPr lang="en-US" sz="1500">
                          <a:solidFill>
                            <a:schemeClr val="dk2"/>
                          </a:solidFill>
                          <a:latin typeface="Arial"/>
                          <a:ea typeface="Arial"/>
                          <a:cs typeface="Arial"/>
                          <a:sym typeface="Arial"/>
                        </a:rPr>
                        <a:t>of the following criteria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 with symptoms consistent with a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diagnosis of Myocardial Infarction</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 new ECG changes</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 elevated cardiac specific markers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(i.e.Troponin)</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15000"/>
                        </a:lnSpc>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Death of a heart muscle</a:t>
                      </a:r>
                      <a:endParaRPr/>
                    </a:p>
                    <a:p>
                      <a:pPr indent="-342900" lvl="0" marL="342900" marR="0" rtl="0" algn="l">
                        <a:lnSpc>
                          <a:spcPct val="115000"/>
                        </a:lnSpc>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Documented rise and fall of biochemical cardiac markers to levels considered diagnostic of myocardial infarction</a:t>
                      </a:r>
                      <a:endParaRPr/>
                    </a:p>
                    <a:p>
                      <a:pPr indent="-342900" lvl="0" marL="342900" marR="0" rtl="0" algn="l">
                        <a:lnSpc>
                          <a:spcPct val="115000"/>
                        </a:lnSpc>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Must include at </a:t>
                      </a:r>
                      <a:r>
                        <a:rPr lang="en-US" sz="1500">
                          <a:solidFill>
                            <a:srgbClr val="FF0000"/>
                          </a:solidFill>
                          <a:latin typeface="Arial"/>
                          <a:ea typeface="Arial"/>
                          <a:cs typeface="Arial"/>
                          <a:sym typeface="Arial"/>
                        </a:rPr>
                        <a:t>LEAST ONE</a:t>
                      </a:r>
                      <a:r>
                        <a:rPr lang="en-US" sz="1500">
                          <a:solidFill>
                            <a:schemeClr val="dk2"/>
                          </a:solidFill>
                          <a:latin typeface="Arial"/>
                          <a:ea typeface="Arial"/>
                          <a:cs typeface="Arial"/>
                          <a:sym typeface="Arial"/>
                        </a:rPr>
                        <a:t> of the following: </a:t>
                      </a:r>
                      <a:endParaRPr/>
                    </a:p>
                    <a:p>
                      <a:pPr indent="0" lvl="0" marL="457200" marR="0" rtl="0" algn="l">
                        <a:lnSpc>
                          <a:spcPct val="115000"/>
                        </a:lnSpc>
                        <a:spcBef>
                          <a:spcPts val="0"/>
                        </a:spcBef>
                        <a:spcAft>
                          <a:spcPts val="0"/>
                        </a:spcAft>
                        <a:buNone/>
                      </a:pPr>
                      <a:r>
                        <a:rPr lang="en-US" sz="1500">
                          <a:solidFill>
                            <a:schemeClr val="dk2"/>
                          </a:solidFill>
                          <a:latin typeface="Arial"/>
                          <a:ea typeface="Arial"/>
                          <a:cs typeface="Arial"/>
                          <a:sym typeface="Arial"/>
                        </a:rPr>
                        <a:t>   - acute heart attack symptoms for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which the life insured is admitted to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hospital </a:t>
                      </a:r>
                      <a:endParaRPr sz="1500">
                        <a:solidFill>
                          <a:schemeClr val="dk2"/>
                        </a:solidFill>
                        <a:latin typeface="Arial"/>
                        <a:ea typeface="Arial"/>
                        <a:cs typeface="Arial"/>
                        <a:sym typeface="Arial"/>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 new ECG changes characteristic of a </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Heart Attack</a:t>
                      </a:r>
                      <a:endParaRPr/>
                    </a:p>
                    <a:p>
                      <a:pPr indent="0" lvl="0" marL="0" marR="0" rtl="0" algn="l">
                        <a:lnSpc>
                          <a:spcPct val="115000"/>
                        </a:lnSpc>
                        <a:spcBef>
                          <a:spcPts val="0"/>
                        </a:spcBef>
                        <a:spcAft>
                          <a:spcPts val="0"/>
                        </a:spcAft>
                        <a:buNone/>
                      </a:pPr>
                      <a:r>
                        <a:rPr lang="en-US" sz="15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graphicFrame>
        <p:nvGraphicFramePr>
          <p:cNvPr id="386" name="Google Shape;386;p43"/>
          <p:cNvGraphicFramePr/>
          <p:nvPr/>
        </p:nvGraphicFramePr>
        <p:xfrm>
          <a:off x="598715" y="2651760"/>
          <a:ext cx="3000000" cy="3000000"/>
        </p:xfrm>
        <a:graphic>
          <a:graphicData uri="http://schemas.openxmlformats.org/drawingml/2006/table">
            <a:tbl>
              <a:tblPr>
                <a:noFill/>
                <a:tableStyleId>{D3B7BAA0-E47E-421F-8AC6-9A70115BEF34}</a:tableStyleId>
              </a:tblPr>
              <a:tblGrid>
                <a:gridCol w="4022700"/>
                <a:gridCol w="4015300"/>
              </a:tblGrid>
              <a:tr h="40035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398525">
                <a:tc>
                  <a:txBody>
                    <a:bodyPr/>
                    <a:lstStyle/>
                    <a:p>
                      <a:pPr indent="0" lvl="0" marL="0" marR="0" rtl="0" algn="l">
                        <a:lnSpc>
                          <a:spcPct val="115000"/>
                        </a:lnSpc>
                        <a:spcBef>
                          <a:spcPts val="0"/>
                        </a:spcBef>
                        <a:spcAft>
                          <a:spcPts val="0"/>
                        </a:spcAft>
                        <a:buClr>
                          <a:schemeClr val="dk2"/>
                        </a:buClr>
                        <a:buSzPts val="1800"/>
                        <a:buFont typeface="Noto Sans Symbols"/>
                        <a:buNone/>
                      </a:pPr>
                      <a:r>
                        <a:rPr b="1" lang="en-US" sz="1800" u="sng">
                          <a:solidFill>
                            <a:schemeClr val="dk2"/>
                          </a:solidFill>
                          <a:latin typeface="Arial"/>
                          <a:ea typeface="Arial"/>
                          <a:cs typeface="Arial"/>
                          <a:sym typeface="Arial"/>
                        </a:rPr>
                        <a:t>Exclusions:</a:t>
                      </a:r>
                      <a:endParaRPr b="1" sz="1800" u="sng">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a:t>
                      </a:r>
                      <a:r>
                        <a:rPr lang="en-US" sz="1800">
                          <a:solidFill>
                            <a:schemeClr val="dk2"/>
                          </a:solidFill>
                          <a:latin typeface="Calibri"/>
                          <a:ea typeface="Calibri"/>
                          <a:cs typeface="Calibri"/>
                          <a:sym typeface="Calibri"/>
                        </a:rPr>
                        <a:t> h</a:t>
                      </a:r>
                      <a:r>
                        <a:rPr lang="en-US" sz="1800">
                          <a:solidFill>
                            <a:schemeClr val="dk2"/>
                          </a:solidFill>
                          <a:latin typeface="Arial"/>
                          <a:ea typeface="Arial"/>
                          <a:cs typeface="Arial"/>
                          <a:sym typeface="Arial"/>
                        </a:rPr>
                        <a:t>eart failure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non cardiac chest pain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angina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unstable angina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myocarditis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pericarditis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traumatic myocardial injury</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myocardial infarction that occurs within 30 days of any coronary artery interventional procedure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2"/>
                        </a:buClr>
                        <a:buSzPts val="1800"/>
                        <a:buFont typeface="Noto Sans Symbols"/>
                        <a:buNone/>
                      </a:pPr>
                      <a:r>
                        <a:rPr b="1" lang="en-US" sz="1800" u="sng">
                          <a:solidFill>
                            <a:schemeClr val="dk2"/>
                          </a:solidFill>
                          <a:latin typeface="Arial"/>
                          <a:ea typeface="Arial"/>
                          <a:cs typeface="Arial"/>
                          <a:sym typeface="Arial"/>
                        </a:rPr>
                        <a:t>Exclusions: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myocardial infarction that occurs within 30 days of any coronary artery interventional procedure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silent myocardial infarction</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elevated biochemical cardiac markers due to myocarditis, traumatic myocardial injury or in the presence of angiographically normal coronary arteries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cardiac arrhythmia or cardiac arrest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87" name="Google Shape;387;p43"/>
          <p:cNvSpPr txBox="1"/>
          <p:nvPr/>
        </p:nvSpPr>
        <p:spPr>
          <a:xfrm>
            <a:off x="598715" y="1545771"/>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2800"/>
              <a:buFont typeface="Noto Sans Symbols"/>
              <a:buNone/>
            </a:pPr>
            <a:r>
              <a:t/>
            </a:r>
            <a:endParaRPr sz="2800">
              <a:solidFill>
                <a:schemeClr val="lt1"/>
              </a:solidFill>
              <a:latin typeface="Arial"/>
              <a:ea typeface="Arial"/>
              <a:cs typeface="Arial"/>
              <a:sym typeface="Arial"/>
            </a:endParaRPr>
          </a:p>
          <a:p>
            <a:pPr indent="-495300" lvl="0" marL="495300" marR="0" rtl="0" algn="ctr">
              <a:lnSpc>
                <a:spcPct val="90000"/>
              </a:lnSpc>
              <a:spcBef>
                <a:spcPts val="560"/>
              </a:spcBef>
              <a:spcAft>
                <a:spcPts val="0"/>
              </a:spcAft>
              <a:buClr>
                <a:schemeClr val="dk1"/>
              </a:buClr>
              <a:buSzPts val="2800"/>
              <a:buFont typeface="Noto Sans Symbols"/>
              <a:buNone/>
            </a:pPr>
            <a:r>
              <a:rPr lang="en-US" sz="2800">
                <a:solidFill>
                  <a:schemeClr val="lt1"/>
                </a:solidFill>
                <a:latin typeface="Arial"/>
                <a:ea typeface="Arial"/>
                <a:cs typeface="Arial"/>
                <a:sym typeface="Arial"/>
              </a:rPr>
              <a:t>HEART ATTACK</a:t>
            </a:r>
            <a:endParaRPr/>
          </a:p>
        </p:txBody>
      </p:sp>
      <p:sp>
        <p:nvSpPr>
          <p:cNvPr id="388" name="Google Shape;388;p43"/>
          <p:cNvSpPr txBox="1"/>
          <p:nvPr/>
        </p:nvSpPr>
        <p:spPr>
          <a:xfrm>
            <a:off x="4638726" y="1542823"/>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2800"/>
              <a:buFont typeface="Noto Sans Symbols"/>
              <a:buNone/>
            </a:pPr>
            <a:r>
              <a:rPr lang="en-US" sz="2800">
                <a:solidFill>
                  <a:srgbClr val="FF0000"/>
                </a:solidFill>
                <a:latin typeface="Arial"/>
                <a:ea typeface="Arial"/>
                <a:cs typeface="Arial"/>
                <a:sym typeface="Arial"/>
              </a:rPr>
              <a:t>ACUTE</a:t>
            </a:r>
            <a:endParaRPr/>
          </a:p>
          <a:p>
            <a:pPr indent="-495300" lvl="0" marL="495300" marR="0" rtl="0" algn="ctr">
              <a:lnSpc>
                <a:spcPct val="90000"/>
              </a:lnSpc>
              <a:spcBef>
                <a:spcPts val="560"/>
              </a:spcBef>
              <a:spcAft>
                <a:spcPts val="0"/>
              </a:spcAft>
              <a:buClr>
                <a:schemeClr val="dk1"/>
              </a:buClr>
              <a:buSzPts val="2800"/>
              <a:buFont typeface="Noto Sans Symbols"/>
              <a:buNone/>
            </a:pPr>
            <a:r>
              <a:rPr lang="en-US" sz="2800">
                <a:solidFill>
                  <a:schemeClr val="lt1"/>
                </a:solidFill>
                <a:latin typeface="Arial"/>
                <a:ea typeface="Arial"/>
                <a:cs typeface="Arial"/>
                <a:sym typeface="Arial"/>
              </a:rPr>
              <a:t>HEART ATTACK</a:t>
            </a:r>
            <a:endParaRPr/>
          </a:p>
          <a:p>
            <a:pPr indent="-495300" lvl="0" marL="495300" marR="0" rtl="0" algn="ctr">
              <a:lnSpc>
                <a:spcPct val="90000"/>
              </a:lnSpc>
              <a:spcBef>
                <a:spcPts val="560"/>
              </a:spcBef>
              <a:spcAft>
                <a:spcPts val="0"/>
              </a:spcAft>
              <a:buClr>
                <a:schemeClr val="dk1"/>
              </a:buClr>
              <a:buSzPts val="2800"/>
              <a:buFont typeface="Noto Sans Symbols"/>
              <a:buNone/>
            </a:pPr>
            <a:r>
              <a:t/>
            </a:r>
            <a:endParaRPr sz="2800">
              <a:solidFill>
                <a:srgbClr val="F36005"/>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560"/>
              </a:spcBef>
              <a:spcAft>
                <a:spcPts val="0"/>
              </a:spcAft>
              <a:buClr>
                <a:schemeClr val="dk1"/>
              </a:buClr>
              <a:buSzPts val="2800"/>
              <a:buFont typeface="Noto Sans Symbols"/>
              <a:buNone/>
            </a:pPr>
            <a:r>
              <a:rPr lang="en-US" sz="2800">
                <a:solidFill>
                  <a:schemeClr val="hlink"/>
                </a:solidFill>
                <a:latin typeface="Arial"/>
                <a:ea typeface="Arial"/>
                <a:cs typeface="Arial"/>
                <a:sym typeface="Arial"/>
              </a:rPr>
              <a:t>	</a:t>
            </a:r>
            <a:endParaRPr sz="2800">
              <a:solidFill>
                <a:srgbClr val="17365D"/>
              </a:solidFill>
              <a:latin typeface="Arial"/>
              <a:ea typeface="Arial"/>
              <a:cs typeface="Arial"/>
              <a:sym typeface="Arial"/>
            </a:endParaRPr>
          </a:p>
        </p:txBody>
      </p:sp>
    </p:spTree>
  </p:cSld>
  <p:clrMapOvr>
    <a:masterClrMapping/>
  </p:clrMapOvr>
  <mc:AlternateContent>
    <mc:Choice Requires="p14">
      <p:transition spd="slow" p14:dur="1100">
        <p14:flip dir="l"/>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nvSpPr>
        <p:spPr>
          <a:xfrm>
            <a:off x="293915" y="15457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STROKE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394" name="Google Shape;394;p4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395" name="Google Shape;395;p44"/>
          <p:cNvGraphicFramePr/>
          <p:nvPr/>
        </p:nvGraphicFramePr>
        <p:xfrm>
          <a:off x="411480" y="2636520"/>
          <a:ext cx="3000000" cy="3000000"/>
        </p:xfrm>
        <a:graphic>
          <a:graphicData uri="http://schemas.openxmlformats.org/drawingml/2006/table">
            <a:tbl>
              <a:tblPr>
                <a:noFill/>
                <a:tableStyleId>{D3B7BAA0-E47E-421F-8AC6-9A70115BEF34}</a:tableStyleId>
              </a:tblPr>
              <a:tblGrid>
                <a:gridCol w="4197600"/>
                <a:gridCol w="4184400"/>
              </a:tblGrid>
              <a:tr h="3085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0050">
                <a:tc>
                  <a:txBody>
                    <a:bodyPr/>
                    <a:lstStyle/>
                    <a:p>
                      <a:pPr indent="0" lvl="0" marL="0" marR="0" rtl="0" algn="l">
                        <a:lnSpc>
                          <a:spcPct val="115000"/>
                        </a:lnSpc>
                        <a:spcBef>
                          <a:spcPts val="0"/>
                        </a:spcBef>
                        <a:spcAft>
                          <a:spcPts val="0"/>
                        </a:spcAft>
                        <a:buClr>
                          <a:schemeClr val="dk2"/>
                        </a:buClr>
                        <a:buSzPts val="1800"/>
                        <a:buFont typeface="Noto Sans Symbols"/>
                        <a:buNone/>
                      </a:pPr>
                      <a:r>
                        <a:rPr lang="en-US" sz="1800">
                          <a:solidFill>
                            <a:schemeClr val="dk2"/>
                          </a:solidFill>
                          <a:latin typeface="Arial"/>
                          <a:ea typeface="Arial"/>
                          <a:cs typeface="Arial"/>
                          <a:sym typeface="Arial"/>
                        </a:rPr>
                        <a:t>Any cerebrovascular incident</a:t>
                      </a:r>
                      <a:r>
                        <a:rPr lang="en-US" sz="1800">
                          <a:solidFill>
                            <a:schemeClr val="dk2"/>
                          </a:solidFill>
                          <a:latin typeface="Arial"/>
                          <a:ea typeface="Arial"/>
                          <a:cs typeface="Arial"/>
                          <a:sym typeface="Arial"/>
                        </a:rPr>
                        <a:t> producing</a:t>
                      </a:r>
                      <a:endParaRPr sz="18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infarction of brain tissue</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hemorrhage</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embolization</a:t>
                      </a:r>
                      <a:endParaRPr/>
                    </a:p>
                    <a:p>
                      <a:pPr indent="0" lvl="0" marL="0" marR="0" rtl="0" algn="l">
                        <a:lnSpc>
                          <a:spcPct val="115000"/>
                        </a:lnSpc>
                        <a:spcBef>
                          <a:spcPts val="0"/>
                        </a:spcBef>
                        <a:spcAft>
                          <a:spcPts val="0"/>
                        </a:spcAft>
                        <a:buClr>
                          <a:schemeClr val="dk2"/>
                        </a:buClr>
                        <a:buSzPts val="1800"/>
                        <a:buFont typeface="Noto Sans Symbols"/>
                        <a:buNone/>
                      </a:pPr>
                      <a:r>
                        <a:rPr lang="en-US" sz="1800">
                          <a:solidFill>
                            <a:schemeClr val="dk2"/>
                          </a:solidFill>
                          <a:latin typeface="Arial"/>
                          <a:ea typeface="Arial"/>
                          <a:cs typeface="Arial"/>
                          <a:sym typeface="Arial"/>
                        </a:rPr>
                        <a:t>from an extra-cranial source resulting in any</a:t>
                      </a:r>
                      <a:endParaRPr sz="18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major permanent neurological deficit that will require physical rehabilitation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2"/>
                        </a:buClr>
                        <a:buSzPts val="1800"/>
                        <a:buFont typeface="Noto Sans Symbols"/>
                        <a:buNone/>
                      </a:pPr>
                      <a:r>
                        <a:rPr lang="en-US" sz="1800">
                          <a:solidFill>
                            <a:schemeClr val="dk2"/>
                          </a:solidFill>
                          <a:latin typeface="Arial"/>
                          <a:ea typeface="Arial"/>
                          <a:cs typeface="Arial"/>
                          <a:sym typeface="Arial"/>
                        </a:rPr>
                        <a:t>Any cerebrovascular</a:t>
                      </a:r>
                      <a:r>
                        <a:rPr lang="en-US" sz="1800">
                          <a:solidFill>
                            <a:schemeClr val="dk2"/>
                          </a:solidFill>
                          <a:latin typeface="Arial"/>
                          <a:ea typeface="Arial"/>
                          <a:cs typeface="Arial"/>
                          <a:sym typeface="Arial"/>
                        </a:rPr>
                        <a:t> incident producing</a:t>
                      </a:r>
                      <a:endParaRPr sz="18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infarction of brain tissue</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hemorrhage</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embolization</a:t>
                      </a:r>
                      <a:endParaRPr/>
                    </a:p>
                    <a:p>
                      <a:pPr indent="0" lvl="0" marL="0" marR="0" rtl="0" algn="l">
                        <a:lnSpc>
                          <a:spcPct val="115000"/>
                        </a:lnSpc>
                        <a:spcBef>
                          <a:spcPts val="0"/>
                        </a:spcBef>
                        <a:spcAft>
                          <a:spcPts val="0"/>
                        </a:spcAft>
                        <a:buClr>
                          <a:schemeClr val="dk2"/>
                        </a:buClr>
                        <a:buSzPts val="1800"/>
                        <a:buFont typeface="Noto Sans Symbols"/>
                        <a:buNone/>
                      </a:pPr>
                      <a:r>
                        <a:rPr lang="en-US" sz="1800">
                          <a:solidFill>
                            <a:schemeClr val="dk2"/>
                          </a:solidFill>
                          <a:latin typeface="Arial"/>
                          <a:ea typeface="Arial"/>
                          <a:cs typeface="Arial"/>
                          <a:sym typeface="Arial"/>
                        </a:rPr>
                        <a:t>from</a:t>
                      </a:r>
                      <a:r>
                        <a:rPr lang="en-US" sz="1800">
                          <a:solidFill>
                            <a:schemeClr val="dk2"/>
                          </a:solidFill>
                          <a:latin typeface="Arial"/>
                          <a:ea typeface="Arial"/>
                          <a:cs typeface="Arial"/>
                          <a:sym typeface="Arial"/>
                        </a:rPr>
                        <a:t> an extra-cranial source resulting in any</a:t>
                      </a:r>
                      <a:endParaRPr sz="18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major clinically permanent neurological deficit</a:t>
                      </a:r>
                      <a:r>
                        <a:rPr lang="en-US" sz="1800">
                          <a:solidFill>
                            <a:schemeClr val="dk2"/>
                          </a:solidFill>
                          <a:latin typeface="Arial"/>
                          <a:ea typeface="Arial"/>
                          <a:cs typeface="Arial"/>
                          <a:sym typeface="Arial"/>
                        </a:rPr>
                        <a:t> lasting </a:t>
                      </a:r>
                      <a:r>
                        <a:rPr lang="en-US" sz="1800" u="sng">
                          <a:solidFill>
                            <a:srgbClr val="FF0000"/>
                          </a:solidFill>
                          <a:latin typeface="Arial"/>
                          <a:ea typeface="Arial"/>
                          <a:cs typeface="Arial"/>
                          <a:sym typeface="Arial"/>
                        </a:rPr>
                        <a:t>at least 4 weeks</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that will require physical rehabilitation</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flip dir="l"/>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txBox="1"/>
          <p:nvPr/>
        </p:nvSpPr>
        <p:spPr>
          <a:xfrm>
            <a:off x="293915" y="15457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STROKE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01" name="Google Shape;401;p4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02" name="Google Shape;402;p45"/>
          <p:cNvGraphicFramePr/>
          <p:nvPr/>
        </p:nvGraphicFramePr>
        <p:xfrm>
          <a:off x="411480" y="2636520"/>
          <a:ext cx="3000000" cy="3000000"/>
        </p:xfrm>
        <a:graphic>
          <a:graphicData uri="http://schemas.openxmlformats.org/drawingml/2006/table">
            <a:tbl>
              <a:tblPr>
                <a:noFill/>
                <a:tableStyleId>{D3B7BAA0-E47E-421F-8AC6-9A70115BEF34}</a:tableStyleId>
              </a:tblPr>
              <a:tblGrid>
                <a:gridCol w="4197600"/>
                <a:gridCol w="4184400"/>
              </a:tblGrid>
              <a:tr h="3085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0050">
                <a:tc>
                  <a:txBody>
                    <a:bodyPr/>
                    <a:lstStyle/>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transient ischemic attacks</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attacks of vertebro-basilar ischemia</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brain damage due to an accident or </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injury</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infection</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vasculitis</a:t>
                      </a:r>
                      <a:endParaRPr/>
                    </a:p>
                    <a:p>
                      <a:pPr indent="0" lvl="0" marL="0" marR="0" rtl="0" algn="l">
                        <a:spcBef>
                          <a:spcPts val="0"/>
                        </a:spcBef>
                        <a:spcAft>
                          <a:spcPts val="0"/>
                        </a:spcAft>
                        <a:buNone/>
                      </a:pPr>
                      <a:r>
                        <a:rPr b="0" lang="en-US" sz="1800">
                          <a:solidFill>
                            <a:schemeClr val="dk2"/>
                          </a:solidFill>
                          <a:latin typeface="Arial"/>
                          <a:ea typeface="Arial"/>
                          <a:cs typeface="Arial"/>
                          <a:sym typeface="Arial"/>
                        </a:rPr>
                        <a:t>− inflammatory disease</a:t>
                      </a:r>
                      <a:endParaRPr/>
                    </a:p>
                    <a:p>
                      <a:pPr indent="0" lvl="0" marL="0" marR="0" rtl="0" algn="l">
                        <a:lnSpc>
                          <a:spcPct val="115000"/>
                        </a:lnSpc>
                        <a:spcBef>
                          <a:spcPts val="0"/>
                        </a:spcBef>
                        <a:spcAft>
                          <a:spcPts val="0"/>
                        </a:spcAft>
                        <a:buClr>
                          <a:schemeClr val="dk2"/>
                        </a:buClr>
                        <a:buSzPts val="1800"/>
                        <a:buFont typeface="Arial"/>
                        <a:buNone/>
                      </a:pPr>
                      <a:r>
                        <a:rPr b="0" lang="en-US" sz="1800">
                          <a:solidFill>
                            <a:schemeClr val="dk2"/>
                          </a:solidFill>
                          <a:latin typeface="Arial"/>
                          <a:ea typeface="Arial"/>
                          <a:cs typeface="Arial"/>
                          <a:sym typeface="Arial"/>
                        </a:rPr>
                        <a:t>− migraine</a:t>
                      </a:r>
                      <a:endParaRPr/>
                    </a:p>
                    <a:p>
                      <a:pPr indent="0" lvl="0" marL="0" marR="0" rtl="0" algn="l">
                        <a:lnSpc>
                          <a:spcPct val="115000"/>
                        </a:lnSpc>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1" lang="en-US" sz="1800" u="sng">
                          <a:solidFill>
                            <a:schemeClr val="dk2"/>
                          </a:solidFill>
                          <a:latin typeface="Arial"/>
                          <a:ea typeface="Arial"/>
                          <a:cs typeface="Arial"/>
                          <a:sym typeface="Arial"/>
                        </a:rPr>
                        <a:t>Exclusions: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transient ischemic attacks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attacks of vertebrobasilar ischemia</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brain damage due to an accident or injury</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infection</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vasculitis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inflammatory disease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migraine</a:t>
                      </a:r>
                      <a:endParaRPr/>
                    </a:p>
                    <a:p>
                      <a:pPr indent="0" lvl="0" marL="0" marR="0" rtl="0" algn="l">
                        <a:spcBef>
                          <a:spcPts val="0"/>
                        </a:spcBef>
                        <a:spcAft>
                          <a:spcPts val="0"/>
                        </a:spcAft>
                        <a:buNone/>
                      </a:pPr>
                      <a:r>
                        <a:rPr lang="en-US" sz="1800">
                          <a:solidFill>
                            <a:srgbClr val="FF0000"/>
                          </a:solidFill>
                          <a:latin typeface="Arial"/>
                          <a:ea typeface="Arial"/>
                          <a:cs typeface="Arial"/>
                          <a:sym typeface="Arial"/>
                        </a:rPr>
                        <a:t>− vascular disease affecting the eye or optic   nerve or vestibular functions</a:t>
                      </a:r>
                      <a:endParaRPr/>
                    </a:p>
                    <a:p>
                      <a:pPr indent="0" lvl="0" marL="0" marR="0" rtl="0" algn="l">
                        <a:lnSpc>
                          <a:spcPct val="115000"/>
                        </a:lnSpc>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flip dir="l"/>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08" name="Google Shape;408;p46"/>
          <p:cNvGraphicFramePr/>
          <p:nvPr/>
        </p:nvGraphicFramePr>
        <p:xfrm>
          <a:off x="598715" y="2560320"/>
          <a:ext cx="3000000" cy="3000000"/>
        </p:xfrm>
        <a:graphic>
          <a:graphicData uri="http://schemas.openxmlformats.org/drawingml/2006/table">
            <a:tbl>
              <a:tblPr>
                <a:noFill/>
                <a:tableStyleId>{D3B7BAA0-E47E-421F-8AC6-9A70115BEF34}</a:tableStyleId>
              </a:tblPr>
              <a:tblGrid>
                <a:gridCol w="4010350"/>
                <a:gridCol w="4002950"/>
              </a:tblGrid>
              <a:tr h="3682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3750">
                <a:tc>
                  <a:txBody>
                    <a:bodyPr/>
                    <a:lstStyle/>
                    <a:p>
                      <a:pPr indent="-342900" lvl="0" marL="342900" marR="0" rtl="0" algn="l">
                        <a:lnSpc>
                          <a:spcPct val="100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presence of one or more malignant tumours characterized by the uncontrolled growth and spread of malignant cells, and invasion of tissue, including Leukemia (other than chronic lymphocytic Leukemia) and Hodgkin's disease </a:t>
                      </a:r>
                      <a:endParaRPr/>
                    </a:p>
                    <a:p>
                      <a:pPr indent="-342900" lvl="0" marL="342900" marR="0" rtl="0" algn="l">
                        <a:lnSpc>
                          <a:spcPct val="100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requires treatment by surgery, radiotherapy or chemotherapy</a:t>
                      </a:r>
                      <a:endParaRPr/>
                    </a:p>
                    <a:p>
                      <a:pPr indent="-342900" lvl="0" marL="342900" marR="0" rtl="0" algn="l">
                        <a:lnSpc>
                          <a:spcPct val="100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diagnosis must be confirmed with a valid pathology report and a report from an approved specialist</a:t>
                      </a:r>
                      <a:endParaRPr sz="1700">
                        <a:solidFill>
                          <a:schemeClr val="dk2"/>
                        </a:solidFill>
                        <a:latin typeface="Arial"/>
                        <a:ea typeface="Arial"/>
                        <a:cs typeface="Arial"/>
                        <a:sym typeface="Arial"/>
                      </a:endParaRPr>
                    </a:p>
                    <a:p>
                      <a:pPr indent="0" lvl="0" marL="457200" marR="0" rtl="0" algn="l">
                        <a:lnSpc>
                          <a:spcPct val="115000"/>
                        </a:lnSpc>
                        <a:spcBef>
                          <a:spcPts val="0"/>
                        </a:spcBef>
                        <a:spcAft>
                          <a:spcPts val="0"/>
                        </a:spcAft>
                        <a:buNone/>
                      </a:pPr>
                      <a:r>
                        <a:rPr lang="en-US" sz="17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the presence of one or more malignant tumors characterized by the uncontrolled growth and spread of malignant cells, and invasion of tissue, including Leukemia (other than chronic lymphocytic leukemia </a:t>
                      </a:r>
                      <a:r>
                        <a:rPr lang="en-US" sz="1700">
                          <a:solidFill>
                            <a:srgbClr val="FF0000"/>
                          </a:solidFill>
                          <a:latin typeface="Arial"/>
                          <a:ea typeface="Arial"/>
                          <a:cs typeface="Arial"/>
                          <a:sym typeface="Arial"/>
                        </a:rPr>
                        <a:t>less than RAI Stage 3</a:t>
                      </a:r>
                      <a:r>
                        <a:rPr lang="en-US" sz="1700">
                          <a:solidFill>
                            <a:schemeClr val="dk2"/>
                          </a:solidFill>
                          <a:latin typeface="Arial"/>
                          <a:ea typeface="Arial"/>
                          <a:cs typeface="Arial"/>
                          <a:sym typeface="Arial"/>
                        </a:rPr>
                        <a:t>) and Hodgkin’s disease</a:t>
                      </a:r>
                      <a:endParaRPr/>
                    </a:p>
                    <a:p>
                      <a:pPr indent="-342900" lvl="0" marL="34290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require treatment by surgery, radiotherapy or chemotherapy</a:t>
                      </a:r>
                      <a:endParaRPr/>
                    </a:p>
                    <a:p>
                      <a:pPr indent="-342900" lvl="0" marL="34290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diagnosis must be confirmed with a valid pathology report and a report from an approved specialist. </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09" name="Google Shape;409;p46"/>
          <p:cNvSpPr txBox="1"/>
          <p:nvPr/>
        </p:nvSpPr>
        <p:spPr>
          <a:xfrm>
            <a:off x="598715" y="1545771"/>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chemeClr val="lt1"/>
                </a:solidFill>
                <a:latin typeface="Arial"/>
                <a:ea typeface="Arial"/>
                <a:cs typeface="Arial"/>
                <a:sym typeface="Arial"/>
              </a:rPr>
              <a:t>CANCER</a:t>
            </a:r>
            <a:endParaRPr/>
          </a:p>
        </p:txBody>
      </p:sp>
      <p:sp>
        <p:nvSpPr>
          <p:cNvPr id="410" name="Google Shape;410;p46"/>
          <p:cNvSpPr txBox="1"/>
          <p:nvPr/>
        </p:nvSpPr>
        <p:spPr>
          <a:xfrm>
            <a:off x="4638726" y="1542823"/>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rgbClr val="FF0000"/>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rgbClr val="FF0000"/>
                </a:solidFill>
                <a:latin typeface="Arial"/>
                <a:ea typeface="Arial"/>
                <a:cs typeface="Arial"/>
                <a:sym typeface="Arial"/>
              </a:rPr>
              <a:t>INVASIVE </a:t>
            </a:r>
            <a:r>
              <a:rPr lang="en-US" sz="3200">
                <a:solidFill>
                  <a:schemeClr val="lt1"/>
                </a:solidFill>
                <a:latin typeface="Arial"/>
                <a:ea typeface="Arial"/>
                <a:cs typeface="Arial"/>
                <a:sym typeface="Arial"/>
              </a:rPr>
              <a:t>CANCER</a:t>
            </a:r>
            <a:endParaRPr sz="3200">
              <a:solidFill>
                <a:srgbClr val="17365D"/>
              </a:solidFill>
              <a:latin typeface="Arial"/>
              <a:ea typeface="Arial"/>
              <a:cs typeface="Arial"/>
              <a:sym typeface="Arial"/>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16" name="Google Shape;416;p47"/>
          <p:cNvGraphicFramePr/>
          <p:nvPr/>
        </p:nvGraphicFramePr>
        <p:xfrm>
          <a:off x="605481" y="2560320"/>
          <a:ext cx="3000000" cy="3000000"/>
        </p:xfrm>
        <a:graphic>
          <a:graphicData uri="http://schemas.openxmlformats.org/drawingml/2006/table">
            <a:tbl>
              <a:tblPr>
                <a:noFill/>
                <a:tableStyleId>{D3B7BAA0-E47E-421F-8AC6-9A70115BEF34}</a:tableStyleId>
              </a:tblPr>
              <a:tblGrid>
                <a:gridCol w="3997000"/>
                <a:gridCol w="4022525"/>
              </a:tblGrid>
              <a:tr h="3806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3750">
                <a:tc>
                  <a:txBody>
                    <a:bodyPr/>
                    <a:lstStyle/>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all carcinoma in situ, non-invasive, premalignant</a:t>
                      </a:r>
                      <a:r>
                        <a:rPr lang="en-US" sz="1400">
                          <a:solidFill>
                            <a:schemeClr val="dk2"/>
                          </a:solidFill>
                          <a:latin typeface="Arial"/>
                          <a:ea typeface="Arial"/>
                          <a:cs typeface="Arial"/>
                          <a:sym typeface="Arial"/>
                        </a:rPr>
                        <a:t> </a:t>
                      </a:r>
                      <a:r>
                        <a:rPr lang="en-US" sz="1400">
                          <a:solidFill>
                            <a:schemeClr val="dk2"/>
                          </a:solidFill>
                          <a:latin typeface="Arial"/>
                          <a:ea typeface="Arial"/>
                          <a:cs typeface="Arial"/>
                          <a:sym typeface="Arial"/>
                        </a:rPr>
                        <a:t>or benign tumours or growths</a:t>
                      </a:r>
                      <a:br>
                        <a:rPr lang="en-US" sz="1400">
                          <a:solidFill>
                            <a:schemeClr val="dk2"/>
                          </a:solidFill>
                          <a:latin typeface="Arial"/>
                          <a:ea typeface="Arial"/>
                          <a:cs typeface="Arial"/>
                          <a:sym typeface="Arial"/>
                        </a:rPr>
                      </a:br>
                      <a:r>
                        <a:rPr lang="en-US" sz="1400">
                          <a:solidFill>
                            <a:schemeClr val="dk2"/>
                          </a:solidFill>
                          <a:latin typeface="Arial"/>
                          <a:ea typeface="Arial"/>
                          <a:cs typeface="Arial"/>
                          <a:sym typeface="Arial"/>
                        </a:rPr>
                        <a:t>− Prostatic Intraepithelial Neoplasia (PIN)</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Cervical Intraepithelial Neoplasia (CIN) </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any skin cancer other than malignant melanoma</a:t>
                      </a:r>
                      <a:endParaRPr/>
                    </a:p>
                    <a:p>
                      <a:pPr indent="0" lvl="0" marL="457200" marR="0" rtl="0" algn="l">
                        <a:lnSpc>
                          <a:spcPct val="115000"/>
                        </a:lnSpc>
                        <a:spcBef>
                          <a:spcPts val="0"/>
                        </a:spcBef>
                        <a:spcAft>
                          <a:spcPts val="0"/>
                        </a:spcAft>
                        <a:buNone/>
                      </a:pPr>
                      <a:r>
                        <a:rPr lang="en-US" sz="14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all carcinoma-in-situ or non-invasive cancer </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Non-invasive, pre-malignant or benign tumors or growths</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Prostatic Intraepithelial Neoplasia (PIN)</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Cervical Intraepithelial Neoplasia (CIN) </a:t>
                      </a:r>
                      <a:endParaRPr/>
                    </a:p>
                    <a:p>
                      <a:pPr indent="0" lvl="0" marL="0" marR="0" rtl="0" algn="l">
                        <a:spcBef>
                          <a:spcPts val="0"/>
                        </a:spcBef>
                        <a:spcAft>
                          <a:spcPts val="0"/>
                        </a:spcAft>
                        <a:buNone/>
                      </a:pPr>
                      <a:r>
                        <a:rPr lang="en-US" sz="1400">
                          <a:solidFill>
                            <a:schemeClr val="dk2"/>
                          </a:solidFill>
                          <a:latin typeface="Arial"/>
                          <a:ea typeface="Arial"/>
                          <a:cs typeface="Arial"/>
                          <a:sym typeface="Arial"/>
                        </a:rPr>
                        <a:t>− any skin cancer other than malignant melanoma</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thyroid cancer that is histologically described utilizing the TNM classification as T1N0M0 as well as Papillary microcarcinoma of thyroid that is less than 2 cm in diameter</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Malignant melanoma of less than 1.5mm Breslow thickness unless there is spread to lymph nodes or distant metastases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17" name="Google Shape;417;p47"/>
          <p:cNvSpPr txBox="1"/>
          <p:nvPr/>
        </p:nvSpPr>
        <p:spPr>
          <a:xfrm>
            <a:off x="598715" y="1545771"/>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chemeClr val="lt1"/>
                </a:solidFill>
                <a:latin typeface="Arial"/>
                <a:ea typeface="Arial"/>
                <a:cs typeface="Arial"/>
                <a:sym typeface="Arial"/>
              </a:rPr>
              <a:t>CANCER</a:t>
            </a:r>
            <a:endParaRPr/>
          </a:p>
        </p:txBody>
      </p:sp>
      <p:sp>
        <p:nvSpPr>
          <p:cNvPr id="418" name="Google Shape;418;p47"/>
          <p:cNvSpPr txBox="1"/>
          <p:nvPr/>
        </p:nvSpPr>
        <p:spPr>
          <a:xfrm>
            <a:off x="4638726" y="1542823"/>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rgbClr val="FF0000"/>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rgbClr val="FF0000"/>
                </a:solidFill>
                <a:latin typeface="Arial"/>
                <a:ea typeface="Arial"/>
                <a:cs typeface="Arial"/>
                <a:sym typeface="Arial"/>
              </a:rPr>
              <a:t>INVASIVE </a:t>
            </a:r>
            <a:r>
              <a:rPr lang="en-US" sz="3200">
                <a:solidFill>
                  <a:schemeClr val="lt1"/>
                </a:solidFill>
                <a:latin typeface="Arial"/>
                <a:ea typeface="Arial"/>
                <a:cs typeface="Arial"/>
                <a:sym typeface="Arial"/>
              </a:rPr>
              <a:t>CANCER</a:t>
            </a:r>
            <a:endParaRPr sz="3200">
              <a:solidFill>
                <a:srgbClr val="17365D"/>
              </a:solidFill>
              <a:latin typeface="Arial"/>
              <a:ea typeface="Arial"/>
              <a:cs typeface="Arial"/>
              <a:sym typeface="Arial"/>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24" name="Google Shape;424;p48"/>
          <p:cNvGraphicFramePr/>
          <p:nvPr/>
        </p:nvGraphicFramePr>
        <p:xfrm>
          <a:off x="605482" y="2560320"/>
          <a:ext cx="3000000" cy="3000000"/>
        </p:xfrm>
        <a:graphic>
          <a:graphicData uri="http://schemas.openxmlformats.org/drawingml/2006/table">
            <a:tbl>
              <a:tblPr>
                <a:noFill/>
                <a:tableStyleId>{D3B7BAA0-E47E-421F-8AC6-9A70115BEF34}</a:tableStyleId>
              </a:tblPr>
              <a:tblGrid>
                <a:gridCol w="3997000"/>
                <a:gridCol w="4010175"/>
              </a:tblGrid>
              <a:tr h="3806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3750">
                <a:tc>
                  <a:txBody>
                    <a:bodyPr/>
                    <a:lstStyle/>
                    <a:p>
                      <a:pPr indent="0" lvl="0" marL="457200" marR="0" rtl="0" algn="l">
                        <a:lnSpc>
                          <a:spcPct val="115000"/>
                        </a:lnSpc>
                        <a:spcBef>
                          <a:spcPts val="0"/>
                        </a:spcBef>
                        <a:spcAft>
                          <a:spcPts val="0"/>
                        </a:spcAft>
                        <a:buNone/>
                      </a:pPr>
                      <a:r>
                        <a:rPr lang="en-US" sz="15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a:t>
                      </a:r>
                      <a:endParaRPr/>
                    </a:p>
                    <a:p>
                      <a:pPr indent="0" lvl="0" marL="0" marR="0" rtl="0" algn="l">
                        <a:lnSpc>
                          <a:spcPct val="100000"/>
                        </a:lnSpc>
                        <a:spcBef>
                          <a:spcPts val="0"/>
                        </a:spcBef>
                        <a:spcAft>
                          <a:spcPts val="0"/>
                        </a:spcAft>
                        <a:buClr>
                          <a:srgbClr val="FF0000"/>
                        </a:buClr>
                        <a:buSzPts val="1400"/>
                        <a:buFont typeface="Arial"/>
                        <a:buNone/>
                      </a:pPr>
                      <a:r>
                        <a:rPr lang="en-US" sz="1400">
                          <a:solidFill>
                            <a:srgbClr val="FF0000"/>
                          </a:solidFill>
                          <a:latin typeface="Arial"/>
                          <a:ea typeface="Arial"/>
                          <a:cs typeface="Arial"/>
                          <a:sym typeface="Arial"/>
                        </a:rPr>
                        <a:t>− Prostate cancer classified as stage T1N0M0</a:t>
                      </a:r>
                      <a:r>
                        <a:rPr lang="en-US" sz="1400">
                          <a:solidFill>
                            <a:srgbClr val="FF0000"/>
                          </a:solidFill>
                          <a:latin typeface="Arial"/>
                          <a:ea typeface="Arial"/>
                          <a:cs typeface="Arial"/>
                          <a:sym typeface="Arial"/>
                        </a:rPr>
                        <a:t> </a:t>
                      </a:r>
                      <a:r>
                        <a:rPr lang="en-US" sz="1400">
                          <a:solidFill>
                            <a:srgbClr val="FF0000"/>
                          </a:solidFill>
                          <a:latin typeface="Arial"/>
                          <a:ea typeface="Arial"/>
                          <a:cs typeface="Arial"/>
                          <a:sym typeface="Arial"/>
                        </a:rPr>
                        <a:t>unless the Gleason stage is 7 or higher and the pre-treatment PSA is &gt;10</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Ovarian cancer classified as T1a according to TMN Classification</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Cancer of urinary bladder classified as stage T1N0M0 according to TMN Classification </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Borderline malignancy or Low malignant potential</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Tumor in presence of HIV infection</a:t>
                      </a:r>
                      <a:endParaRPr/>
                    </a:p>
                    <a:p>
                      <a:pPr indent="0" lvl="0" marL="0" marR="0" rtl="0" algn="l">
                        <a:spcBef>
                          <a:spcPts val="0"/>
                        </a:spcBef>
                        <a:spcAft>
                          <a:spcPts val="0"/>
                        </a:spcAft>
                        <a:buNone/>
                      </a:pPr>
                      <a:r>
                        <a:rPr lang="en-US" sz="1400">
                          <a:solidFill>
                            <a:srgbClr val="FF0000"/>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25" name="Google Shape;425;p48"/>
          <p:cNvSpPr txBox="1"/>
          <p:nvPr/>
        </p:nvSpPr>
        <p:spPr>
          <a:xfrm>
            <a:off x="598715" y="1545771"/>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chemeClr val="lt1"/>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chemeClr val="lt1"/>
                </a:solidFill>
                <a:latin typeface="Arial"/>
                <a:ea typeface="Arial"/>
                <a:cs typeface="Arial"/>
                <a:sym typeface="Arial"/>
              </a:rPr>
              <a:t>CANCER</a:t>
            </a:r>
            <a:endParaRPr/>
          </a:p>
        </p:txBody>
      </p:sp>
      <p:sp>
        <p:nvSpPr>
          <p:cNvPr id="426" name="Google Shape;426;p48"/>
          <p:cNvSpPr txBox="1"/>
          <p:nvPr/>
        </p:nvSpPr>
        <p:spPr>
          <a:xfrm>
            <a:off x="4638726" y="1542823"/>
            <a:ext cx="3973285"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800"/>
              <a:buFont typeface="Noto Sans Symbols"/>
              <a:buNone/>
            </a:pPr>
            <a:r>
              <a:t/>
            </a:r>
            <a:endParaRPr sz="800">
              <a:solidFill>
                <a:srgbClr val="FF0000"/>
              </a:solidFill>
              <a:latin typeface="Arial"/>
              <a:ea typeface="Arial"/>
              <a:cs typeface="Arial"/>
              <a:sym typeface="Arial"/>
            </a:endParaRPr>
          </a:p>
          <a:p>
            <a:pPr indent="-495300" lvl="0" marL="495300" marR="0" rtl="0" algn="ctr">
              <a:lnSpc>
                <a:spcPct val="90000"/>
              </a:lnSpc>
              <a:spcBef>
                <a:spcPts val="640"/>
              </a:spcBef>
              <a:spcAft>
                <a:spcPts val="0"/>
              </a:spcAft>
              <a:buClr>
                <a:schemeClr val="dk1"/>
              </a:buClr>
              <a:buSzPts val="3200"/>
              <a:buFont typeface="Noto Sans Symbols"/>
              <a:buNone/>
            </a:pPr>
            <a:r>
              <a:rPr lang="en-US" sz="3200">
                <a:solidFill>
                  <a:srgbClr val="FF0000"/>
                </a:solidFill>
                <a:latin typeface="Arial"/>
                <a:ea typeface="Arial"/>
                <a:cs typeface="Arial"/>
                <a:sym typeface="Arial"/>
              </a:rPr>
              <a:t>INVASIVE </a:t>
            </a:r>
            <a:r>
              <a:rPr lang="en-US" sz="3200">
                <a:solidFill>
                  <a:schemeClr val="lt1"/>
                </a:solidFill>
                <a:latin typeface="Arial"/>
                <a:ea typeface="Arial"/>
                <a:cs typeface="Arial"/>
                <a:sym typeface="Arial"/>
              </a:rPr>
              <a:t>CANCER</a:t>
            </a:r>
            <a:endParaRPr sz="3200">
              <a:solidFill>
                <a:srgbClr val="17365D"/>
              </a:solidFill>
              <a:latin typeface="Arial"/>
              <a:ea typeface="Arial"/>
              <a:cs typeface="Arial"/>
              <a:sym typeface="Arial"/>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sp>
        <p:nvSpPr>
          <p:cNvPr id="432" name="Google Shape;432;p49"/>
          <p:cNvSpPr txBox="1"/>
          <p:nvPr/>
        </p:nvSpPr>
        <p:spPr>
          <a:xfrm>
            <a:off x="4658498" y="1553187"/>
            <a:ext cx="3925978"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495300" lvl="0" marL="495300" marR="0" rtl="0" algn="ctr">
              <a:lnSpc>
                <a:spcPct val="90000"/>
              </a:lnSpc>
              <a:spcBef>
                <a:spcPts val="0"/>
              </a:spcBef>
              <a:spcAft>
                <a:spcPts val="0"/>
              </a:spcAft>
              <a:buClr>
                <a:schemeClr val="dk1"/>
              </a:buClr>
              <a:buSzPts val="2800"/>
              <a:buFont typeface="Noto Sans Symbols"/>
              <a:buNone/>
            </a:pPr>
            <a:r>
              <a:rPr lang="en-US" sz="2800">
                <a:solidFill>
                  <a:srgbClr val="FF0000"/>
                </a:solidFill>
                <a:latin typeface="Arial"/>
                <a:ea typeface="Arial"/>
                <a:cs typeface="Arial"/>
                <a:sym typeface="Arial"/>
              </a:rPr>
              <a:t>END STAGE RENAL DISEASE</a:t>
            </a:r>
            <a:endParaRPr sz="2800">
              <a:solidFill>
                <a:srgbClr val="FF0000"/>
              </a:solidFill>
              <a:latin typeface="Arial"/>
              <a:ea typeface="Arial"/>
              <a:cs typeface="Arial"/>
              <a:sym typeface="Arial"/>
            </a:endParaRPr>
          </a:p>
        </p:txBody>
      </p:sp>
      <p:sp>
        <p:nvSpPr>
          <p:cNvPr id="433" name="Google Shape;433;p49"/>
          <p:cNvSpPr txBox="1"/>
          <p:nvPr/>
        </p:nvSpPr>
        <p:spPr>
          <a:xfrm>
            <a:off x="648789" y="1553187"/>
            <a:ext cx="3910854"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a:bodyPr>
          <a:lstStyle/>
          <a:p>
            <a:pPr indent="-495300" lvl="0" marL="495300" marR="0" rtl="0" algn="ctr">
              <a:lnSpc>
                <a:spcPct val="90000"/>
              </a:lnSpc>
              <a:spcBef>
                <a:spcPts val="0"/>
              </a:spcBef>
              <a:spcAft>
                <a:spcPts val="0"/>
              </a:spcAft>
              <a:buClr>
                <a:schemeClr val="dk1"/>
              </a:buClr>
              <a:buSzPts val="2800"/>
              <a:buFont typeface="Noto Sans Symbols"/>
              <a:buNone/>
            </a:pPr>
            <a:r>
              <a:rPr lang="en-US" sz="2800">
                <a:solidFill>
                  <a:schemeClr val="lt1"/>
                </a:solidFill>
                <a:latin typeface="Arial"/>
                <a:ea typeface="Arial"/>
                <a:cs typeface="Arial"/>
                <a:sym typeface="Arial"/>
              </a:rPr>
              <a:t>KIDNEY FAILURE</a:t>
            </a:r>
            <a:endParaRPr sz="2800">
              <a:solidFill>
                <a:srgbClr val="17365D"/>
              </a:solidFill>
              <a:latin typeface="Arial"/>
              <a:ea typeface="Arial"/>
              <a:cs typeface="Arial"/>
              <a:sym typeface="Arial"/>
            </a:endParaRPr>
          </a:p>
        </p:txBody>
      </p:sp>
      <p:graphicFrame>
        <p:nvGraphicFramePr>
          <p:cNvPr id="434" name="Google Shape;434;p49"/>
          <p:cNvGraphicFramePr/>
          <p:nvPr/>
        </p:nvGraphicFramePr>
        <p:xfrm>
          <a:off x="679622" y="2590800"/>
          <a:ext cx="3000000" cy="3000000"/>
        </p:xfrm>
        <a:graphic>
          <a:graphicData uri="http://schemas.openxmlformats.org/drawingml/2006/table">
            <a:tbl>
              <a:tblPr>
                <a:noFill/>
                <a:tableStyleId>{D3B7BAA0-E47E-421F-8AC6-9A70115BEF34}</a:tableStyleId>
              </a:tblPr>
              <a:tblGrid>
                <a:gridCol w="3938100"/>
                <a:gridCol w="3994950"/>
              </a:tblGrid>
              <a:tr h="3995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7625"/>
                    </a:solidFill>
                  </a:tcPr>
                </a:tc>
              </a:tr>
              <a:tr h="3413750">
                <a:tc>
                  <a:txBody>
                    <a:bodyPr/>
                    <a:lstStyle/>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chronic irreversible failure of both kidneys to function</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chronic renal dialysis or renal</a:t>
                      </a:r>
                      <a:endParaRPr/>
                    </a:p>
                    <a:p>
                      <a:pPr indent="0" lvl="0" marL="457200" marR="0" rtl="0" algn="l">
                        <a:lnSpc>
                          <a:spcPct val="115000"/>
                        </a:lnSpc>
                        <a:spcBef>
                          <a:spcPts val="0"/>
                        </a:spcBef>
                        <a:spcAft>
                          <a:spcPts val="0"/>
                        </a:spcAft>
                        <a:buNone/>
                      </a:pPr>
                      <a:r>
                        <a:rPr lang="en-US" sz="1800">
                          <a:solidFill>
                            <a:schemeClr val="dk2"/>
                          </a:solidFill>
                          <a:latin typeface="Arial"/>
                          <a:ea typeface="Arial"/>
                          <a:cs typeface="Arial"/>
                          <a:sym typeface="Arial"/>
                        </a:rPr>
                        <a:t>transplant is initiated.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chronic irreversible failure of both kidneys to function</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chronic renal dialysis or renal transplant is initiated.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0"/>
          <p:cNvSpPr txBox="1"/>
          <p:nvPr/>
        </p:nvSpPr>
        <p:spPr>
          <a:xfrm>
            <a:off x="293915" y="1567542"/>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DISSECTING AORTIC ANEURYSM</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41" name="Google Shape;441;p5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42" name="Google Shape;442;p50"/>
          <p:cNvGraphicFramePr/>
          <p:nvPr/>
        </p:nvGraphicFramePr>
        <p:xfrm>
          <a:off x="321276" y="2697481"/>
          <a:ext cx="3000000" cy="3000000"/>
        </p:xfrm>
        <a:graphic>
          <a:graphicData uri="http://schemas.openxmlformats.org/drawingml/2006/table">
            <a:tbl>
              <a:tblPr>
                <a:noFill/>
                <a:tableStyleId>{D3B7BAA0-E47E-421F-8AC6-9A70115BEF34}</a:tableStyleId>
              </a:tblPr>
              <a:tblGrid>
                <a:gridCol w="4238375"/>
                <a:gridCol w="4290450"/>
              </a:tblGrid>
              <a:tr h="3351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505375">
                <a:tc>
                  <a:txBody>
                    <a:bodyPr/>
                    <a:lstStyle/>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inner lining of aorta is interrupted</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requires aortic graft insertion surgery with thoracotomy</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confirmed by CT scan, MRI, MRA or angiogram and certified by a cardiologist</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 proven</a:t>
                      </a:r>
                      <a:r>
                        <a:rPr lang="en-US" sz="1800">
                          <a:solidFill>
                            <a:schemeClr val="dk2"/>
                          </a:solidFill>
                          <a:latin typeface="Arial"/>
                          <a:ea typeface="Arial"/>
                          <a:cs typeface="Arial"/>
                          <a:sym typeface="Arial"/>
                        </a:rPr>
                        <a:t> diagnosis by a specialist is also required</a:t>
                      </a:r>
                      <a:endParaRPr sz="1800">
                        <a:solidFill>
                          <a:schemeClr val="dk2"/>
                        </a:solidFill>
                        <a:latin typeface="Arial"/>
                        <a:ea typeface="Arial"/>
                        <a:cs typeface="Arial"/>
                        <a:sym typeface="Arial"/>
                      </a:endParaRPr>
                    </a:p>
                    <a:p>
                      <a:pPr indent="-215900" lvl="0" marL="342900" marR="0" rtl="0" algn="l">
                        <a:lnSpc>
                          <a:spcPct val="115000"/>
                        </a:lnSpc>
                        <a:spcBef>
                          <a:spcPts val="0"/>
                        </a:spcBef>
                        <a:spcAft>
                          <a:spcPts val="0"/>
                        </a:spcAft>
                        <a:buClr>
                          <a:schemeClr val="dk1"/>
                        </a:buClr>
                        <a:buSzPts val="2000"/>
                        <a:buFont typeface="Noto Sans Symbols"/>
                        <a:buNone/>
                      </a:pPr>
                      <a:r>
                        <a:t/>
                      </a:r>
                      <a:endParaRPr sz="2000">
                        <a:solidFill>
                          <a:schemeClr val="dk2"/>
                        </a:solidFill>
                        <a:latin typeface="Arial"/>
                        <a:ea typeface="Arial"/>
                        <a:cs typeface="Arial"/>
                        <a:sym typeface="Arial"/>
                      </a:endParaRPr>
                    </a:p>
                    <a:p>
                      <a:pPr indent="0" lvl="0" marL="228600" marR="0" rtl="0" algn="l">
                        <a:lnSpc>
                          <a:spcPct val="115000"/>
                        </a:lnSpc>
                        <a:spcBef>
                          <a:spcPts val="0"/>
                        </a:spcBef>
                        <a:spcAft>
                          <a:spcPts val="0"/>
                        </a:spcAft>
                        <a:buNone/>
                      </a:pPr>
                      <a:r>
                        <a:rPr lang="en-US" sz="2000">
                          <a:solidFill>
                            <a:schemeClr val="dk2"/>
                          </a:solidFill>
                          <a:latin typeface="Arial"/>
                          <a:ea typeface="Arial"/>
                          <a:cs typeface="Arial"/>
                          <a:sym typeface="Arial"/>
                        </a:rPr>
                        <a:t> </a:t>
                      </a:r>
                      <a:endParaRPr/>
                    </a:p>
                    <a:p>
                      <a:pPr indent="0" lvl="0" marL="0" marR="0" rtl="0" algn="l">
                        <a:lnSpc>
                          <a:spcPct val="115000"/>
                        </a:lnSpc>
                        <a:spcBef>
                          <a:spcPts val="0"/>
                        </a:spcBef>
                        <a:spcAft>
                          <a:spcPts val="0"/>
                        </a:spcAft>
                        <a:buNone/>
                      </a:pPr>
                      <a:r>
                        <a:rPr lang="en-US" sz="20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15000"/>
                        </a:lnSpc>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i</a:t>
                      </a:r>
                      <a:r>
                        <a:rPr lang="en-US" sz="1800">
                          <a:solidFill>
                            <a:schemeClr val="dk2"/>
                          </a:solidFill>
                          <a:latin typeface="Arial"/>
                          <a:ea typeface="Arial"/>
                          <a:cs typeface="Arial"/>
                          <a:sym typeface="Arial"/>
                        </a:rPr>
                        <a:t>nner lining of aorta is interrupted</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requires aortic graft insertion surgery with thoracotomy</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confirmed by CT scan, MRI, MRA or angiogram and certified by a cardiologist</a:t>
                      </a:r>
                      <a:endParaRPr/>
                    </a:p>
                    <a:p>
                      <a:pPr indent="-342900" lvl="0" marL="342900" marR="0" rtl="0" algn="l">
                        <a:lnSpc>
                          <a:spcPct val="115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a:t>
                      </a:r>
                      <a:r>
                        <a:rPr lang="en-US" sz="1800">
                          <a:solidFill>
                            <a:schemeClr val="dk2"/>
                          </a:solidFill>
                          <a:latin typeface="Arial"/>
                          <a:ea typeface="Arial"/>
                          <a:cs typeface="Arial"/>
                          <a:sym typeface="Arial"/>
                        </a:rPr>
                        <a:t> proven diagnosis by a specialist is also required</a:t>
                      </a:r>
                      <a:endParaRPr sz="18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rgbClr val="FF0000"/>
                        </a:buClr>
                        <a:buSzPts val="1800"/>
                        <a:buFont typeface="Noto Sans Symbols"/>
                        <a:buChar char="✔"/>
                      </a:pPr>
                      <a:r>
                        <a:rPr lang="en-US" sz="1800">
                          <a:solidFill>
                            <a:srgbClr val="FF0000"/>
                          </a:solidFill>
                          <a:latin typeface="Arial"/>
                          <a:ea typeface="Arial"/>
                          <a:cs typeface="Arial"/>
                          <a:sym typeface="Arial"/>
                        </a:rPr>
                        <a:t>Aorta is defined as the thoracic and abdominal aorta but not its branches</a:t>
                      </a:r>
                      <a:endParaRPr/>
                    </a:p>
                    <a:p>
                      <a:pPr indent="0" lvl="0" marL="0" marR="0" rtl="0" algn="l">
                        <a:lnSpc>
                          <a:spcPct val="115000"/>
                        </a:lnSpc>
                        <a:spcBef>
                          <a:spcPts val="0"/>
                        </a:spcBef>
                        <a:spcAft>
                          <a:spcPts val="0"/>
                        </a:spcAft>
                        <a:buNone/>
                      </a:pPr>
                      <a:r>
                        <a:rPr lang="en-US" sz="20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1"/>
          <p:cNvSpPr txBox="1"/>
          <p:nvPr/>
        </p:nvSpPr>
        <p:spPr>
          <a:xfrm>
            <a:off x="286656" y="15457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END STAGE LUNG DISEASE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48" name="Google Shape;448;p5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49" name="Google Shape;449;p51"/>
          <p:cNvGraphicFramePr/>
          <p:nvPr/>
        </p:nvGraphicFramePr>
        <p:xfrm>
          <a:off x="286656" y="2788920"/>
          <a:ext cx="3000000" cy="3000000"/>
        </p:xfrm>
        <a:graphic>
          <a:graphicData uri="http://schemas.openxmlformats.org/drawingml/2006/table">
            <a:tbl>
              <a:tblPr>
                <a:noFill/>
                <a:tableStyleId>{D3B7BAA0-E47E-421F-8AC6-9A70115BEF34}</a:tableStyleId>
              </a:tblPr>
              <a:tblGrid>
                <a:gridCol w="4136800"/>
                <a:gridCol w="4419375"/>
              </a:tblGrid>
              <a:tr h="2743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743200">
                <a:tc>
                  <a:txBody>
                    <a:bodyPr/>
                    <a:lstStyle/>
                    <a:p>
                      <a:pPr indent="-342900" lvl="0" marL="342900" marR="0" rtl="0" algn="l">
                        <a:lnSpc>
                          <a:spcPct val="115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interstitial lung disease requiring extensive and continuous oxygen therapy as well as FEV1 test result of consistently less than 1L despite bronchodilators</a:t>
                      </a:r>
                      <a:endParaRPr/>
                    </a:p>
                    <a:p>
                      <a:pPr indent="0" lvl="0" marL="0" marR="0" rtl="0" algn="l">
                        <a:lnSpc>
                          <a:spcPct val="115000"/>
                        </a:lnSpc>
                        <a:spcBef>
                          <a:spcPts val="0"/>
                        </a:spcBef>
                        <a:spcAft>
                          <a:spcPts val="0"/>
                        </a:spcAft>
                        <a:buNone/>
                      </a:pPr>
                      <a:r>
                        <a:rPr lang="en-US" sz="17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2"/>
                        </a:buClr>
                        <a:buSzPts val="1700"/>
                        <a:buFont typeface="Noto Sans Symbols"/>
                        <a:buNone/>
                      </a:pPr>
                      <a:r>
                        <a:rPr lang="en-US" sz="1700">
                          <a:solidFill>
                            <a:schemeClr val="dk2"/>
                          </a:solidFill>
                          <a:latin typeface="Arial"/>
                          <a:ea typeface="Arial"/>
                          <a:cs typeface="Arial"/>
                          <a:sym typeface="Arial"/>
                        </a:rPr>
                        <a:t>interstitial lung disease as</a:t>
                      </a:r>
                      <a:r>
                        <a:rPr lang="en-US" sz="1700">
                          <a:solidFill>
                            <a:schemeClr val="dk2"/>
                          </a:solidFill>
                          <a:latin typeface="Arial"/>
                          <a:ea typeface="Arial"/>
                          <a:cs typeface="Arial"/>
                          <a:sym typeface="Arial"/>
                        </a:rPr>
                        <a:t> evidenced by all of the following:</a:t>
                      </a:r>
                      <a:endParaRPr/>
                    </a:p>
                    <a:p>
                      <a:pPr indent="-342900" lvl="0" marL="342900" marR="0" rtl="0" algn="l">
                        <a:lnSpc>
                          <a:spcPct val="115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requiring continuous oxygen therapy </a:t>
                      </a:r>
                      <a:endParaRPr sz="17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FEV1 test result of consistently less than 1L despite bronchodilators</a:t>
                      </a:r>
                      <a:endParaRPr sz="1700">
                        <a:solidFill>
                          <a:schemeClr val="dk2"/>
                        </a:solidFill>
                        <a:latin typeface="Arial"/>
                        <a:ea typeface="Arial"/>
                        <a:cs typeface="Arial"/>
                        <a:sym typeface="Arial"/>
                      </a:endParaRPr>
                    </a:p>
                    <a:p>
                      <a:pPr indent="-342900" lvl="0" marL="342900" marR="0" rtl="0" algn="l">
                        <a:lnSpc>
                          <a:spcPct val="115000"/>
                        </a:lnSpc>
                        <a:spcBef>
                          <a:spcPts val="0"/>
                        </a:spcBef>
                        <a:spcAft>
                          <a:spcPts val="0"/>
                        </a:spcAft>
                        <a:buClr>
                          <a:srgbClr val="FF0000"/>
                        </a:buClr>
                        <a:buSzPts val="1700"/>
                        <a:buFont typeface="Noto Sans Symbols"/>
                        <a:buChar char="✔"/>
                      </a:pPr>
                      <a:r>
                        <a:rPr lang="en-US" sz="1700">
                          <a:solidFill>
                            <a:srgbClr val="FF0000"/>
                          </a:solidFill>
                          <a:latin typeface="Arial"/>
                          <a:ea typeface="Arial"/>
                          <a:cs typeface="Arial"/>
                          <a:sym typeface="Arial"/>
                        </a:rPr>
                        <a:t>baseline arterial blood gas analysis (in room air) showing arterial partial oxygen pressure at a level of 55 mmHg or less</a:t>
                      </a:r>
                      <a:endParaRPr/>
                    </a:p>
                    <a:p>
                      <a:pPr indent="-342900" lvl="0" marL="342900" marR="0" rtl="0" algn="l">
                        <a:lnSpc>
                          <a:spcPct val="115000"/>
                        </a:lnSpc>
                        <a:spcBef>
                          <a:spcPts val="0"/>
                        </a:spcBef>
                        <a:spcAft>
                          <a:spcPts val="0"/>
                        </a:spcAft>
                        <a:buClr>
                          <a:srgbClr val="FF0000"/>
                        </a:buClr>
                        <a:buSzPts val="1700"/>
                        <a:buFont typeface="Noto Sans Symbols"/>
                        <a:buChar char="✔"/>
                      </a:pPr>
                      <a:r>
                        <a:rPr lang="en-US" sz="1700">
                          <a:solidFill>
                            <a:srgbClr val="FF0000"/>
                          </a:solidFill>
                          <a:latin typeface="Arial"/>
                          <a:ea typeface="Arial"/>
                          <a:cs typeface="Arial"/>
                          <a:sym typeface="Arial"/>
                        </a:rPr>
                        <a:t>dyspnea at rest</a:t>
                      </a:r>
                      <a:endParaRPr sz="17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2"/>
          <p:cNvSpPr txBox="1"/>
          <p:nvPr/>
        </p:nvSpPr>
        <p:spPr>
          <a:xfrm>
            <a:off x="293915" y="1567542"/>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PROGRESSIVE MUSCULAR ATROPHY</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55" name="Google Shape;455;p5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56" name="Google Shape;456;p52"/>
          <p:cNvGraphicFramePr/>
          <p:nvPr/>
        </p:nvGraphicFramePr>
        <p:xfrm>
          <a:off x="363946" y="2633348"/>
          <a:ext cx="3000000" cy="3000000"/>
        </p:xfrm>
        <a:graphic>
          <a:graphicData uri="http://schemas.openxmlformats.org/drawingml/2006/table">
            <a:tbl>
              <a:tblPr>
                <a:noFill/>
                <a:tableStyleId>{D3B7BAA0-E47E-421F-8AC6-9A70115BEF34}</a:tableStyleId>
              </a:tblPr>
              <a:tblGrid>
                <a:gridCol w="4116625"/>
                <a:gridCol w="4299500"/>
              </a:tblGrid>
              <a:tr h="2743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743200">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muscle wasting and marked weakness in the arms, shoulders, and legs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confirmed by electromyography</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with inability to perform 3 out of 6 ADLs for a continuous period of 6 mos (washing, dressing, transferring, mobility, toileting, feeding)</a:t>
                      </a:r>
                      <a:endParaRPr/>
                    </a:p>
                    <a:p>
                      <a:pPr indent="0" lvl="0" marL="0" marR="0" rtl="0" algn="l">
                        <a:lnSpc>
                          <a:spcPct val="115000"/>
                        </a:lnSpc>
                        <a:spcBef>
                          <a:spcPts val="0"/>
                        </a:spcBef>
                        <a:spcAft>
                          <a:spcPts val="0"/>
                        </a:spcAft>
                        <a:buNone/>
                      </a:pPr>
                      <a:r>
                        <a:rPr lang="en-US" sz="17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muscle wasting and marked weakness in the arms, shoulders, and legs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confirmed by electromyography</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with inability to perform 3 out of 6 ADLs for a continuous period of 6 mos (washing, dressing, transferring, mobility, toileting, feeding)</a:t>
                      </a:r>
                      <a:endParaRPr/>
                    </a:p>
                    <a:p>
                      <a:pPr indent="0" lvl="0" marL="0" marR="0" rtl="0" algn="l">
                        <a:lnSpc>
                          <a:spcPct val="115000"/>
                        </a:lnSpc>
                        <a:spcBef>
                          <a:spcPts val="0"/>
                        </a:spcBef>
                        <a:spcAft>
                          <a:spcPts val="0"/>
                        </a:spcAft>
                        <a:buNone/>
                      </a:pPr>
                      <a:r>
                        <a:rPr lang="en-US" sz="17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3"/>
          <p:cNvSpPr txBox="1"/>
          <p:nvPr/>
        </p:nvSpPr>
        <p:spPr>
          <a:xfrm>
            <a:off x="293915" y="15457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MAJOR BURNS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62" name="Google Shape;462;p5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63" name="Google Shape;463;p53"/>
          <p:cNvGraphicFramePr/>
          <p:nvPr/>
        </p:nvGraphicFramePr>
        <p:xfrm>
          <a:off x="354875" y="2677478"/>
          <a:ext cx="3000000" cy="3000000"/>
        </p:xfrm>
        <a:graphic>
          <a:graphicData uri="http://schemas.openxmlformats.org/drawingml/2006/table">
            <a:tbl>
              <a:tblPr>
                <a:noFill/>
                <a:tableStyleId>{D3B7BAA0-E47E-421F-8AC6-9A70115BEF34}</a:tableStyleId>
              </a:tblPr>
              <a:tblGrid>
                <a:gridCol w="4116625"/>
                <a:gridCol w="4299500"/>
              </a:tblGrid>
              <a:tr h="27432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743200">
                <a:tc>
                  <a:txBody>
                    <a:bodyPr/>
                    <a:lstStyle/>
                    <a:p>
                      <a:pPr indent="-285750" lvl="0" marL="28575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3</a:t>
                      </a:r>
                      <a:r>
                        <a:rPr baseline="30000" lang="en-US" sz="2000">
                          <a:solidFill>
                            <a:schemeClr val="dk2"/>
                          </a:solidFill>
                          <a:latin typeface="Arial"/>
                          <a:ea typeface="Arial"/>
                          <a:cs typeface="Arial"/>
                          <a:sym typeface="Arial"/>
                        </a:rPr>
                        <a:t>RD</a:t>
                      </a:r>
                      <a:r>
                        <a:rPr lang="en-US" sz="2000">
                          <a:solidFill>
                            <a:schemeClr val="dk2"/>
                          </a:solidFill>
                          <a:latin typeface="Arial"/>
                          <a:ea typeface="Arial"/>
                          <a:cs typeface="Arial"/>
                          <a:sym typeface="Arial"/>
                        </a:rPr>
                        <a:t> degree burns</a:t>
                      </a:r>
                      <a:endParaRPr/>
                    </a:p>
                    <a:p>
                      <a:pPr indent="-285750" lvl="0" marL="28575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20% of the body surface</a:t>
                      </a:r>
                      <a:endParaRPr/>
                    </a:p>
                    <a:p>
                      <a:pPr indent="0" lvl="0" marL="0" marR="0" rtl="0" algn="l">
                        <a:lnSpc>
                          <a:spcPct val="115000"/>
                        </a:lnSpc>
                        <a:spcBef>
                          <a:spcPts val="0"/>
                        </a:spcBef>
                        <a:spcAft>
                          <a:spcPts val="0"/>
                        </a:spcAft>
                        <a:buNone/>
                      </a:pPr>
                      <a:r>
                        <a:rPr lang="en-US" sz="18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3</a:t>
                      </a:r>
                      <a:r>
                        <a:rPr baseline="30000" lang="en-US" sz="2000">
                          <a:solidFill>
                            <a:schemeClr val="dk2"/>
                          </a:solidFill>
                          <a:latin typeface="Arial"/>
                          <a:ea typeface="Arial"/>
                          <a:cs typeface="Arial"/>
                          <a:sym typeface="Arial"/>
                        </a:rPr>
                        <a:t>RD</a:t>
                      </a:r>
                      <a:r>
                        <a:rPr lang="en-US" sz="2000">
                          <a:solidFill>
                            <a:schemeClr val="dk2"/>
                          </a:solidFill>
                          <a:latin typeface="Arial"/>
                          <a:ea typeface="Arial"/>
                          <a:cs typeface="Arial"/>
                          <a:sym typeface="Arial"/>
                        </a:rPr>
                        <a:t> degree burns</a:t>
                      </a:r>
                      <a:endParaRPr/>
                    </a:p>
                    <a:p>
                      <a:pPr indent="-285750" lvl="0" marL="28575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20% of the body surface</a:t>
                      </a:r>
                      <a:endParaRPr/>
                    </a:p>
                    <a:p>
                      <a:pPr indent="0" lvl="0" marL="0" marR="0" rtl="0" algn="l">
                        <a:lnSpc>
                          <a:spcPct val="115000"/>
                        </a:lnSpc>
                        <a:spcBef>
                          <a:spcPts val="0"/>
                        </a:spcBef>
                        <a:spcAft>
                          <a:spcPts val="0"/>
                        </a:spcAft>
                        <a:buNone/>
                      </a:pPr>
                      <a:r>
                        <a:rPr lang="en-US" sz="18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prism dir="l"/>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4"/>
          <p:cNvSpPr txBox="1"/>
          <p:nvPr/>
        </p:nvSpPr>
        <p:spPr>
          <a:xfrm>
            <a:off x="293915" y="15457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MULTIPLE SCLEROSIS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69" name="Google Shape;469;p5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graphicFrame>
        <p:nvGraphicFramePr>
          <p:cNvPr id="470" name="Google Shape;470;p54"/>
          <p:cNvGraphicFramePr/>
          <p:nvPr/>
        </p:nvGraphicFramePr>
        <p:xfrm>
          <a:off x="411479" y="2712720"/>
          <a:ext cx="3000000" cy="3000000"/>
        </p:xfrm>
        <a:graphic>
          <a:graphicData uri="http://schemas.openxmlformats.org/drawingml/2006/table">
            <a:tbl>
              <a:tblPr>
                <a:noFill/>
                <a:tableStyleId>{D3B7BAA0-E47E-421F-8AC6-9A70115BEF34}</a:tableStyleId>
              </a:tblPr>
              <a:tblGrid>
                <a:gridCol w="4219300"/>
                <a:gridCol w="4101750"/>
              </a:tblGrid>
              <a:tr h="29647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964875">
                <a:tc>
                  <a:txBody>
                    <a:bodyPr/>
                    <a:lstStyle/>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Confirmed by a neurologist</a:t>
                      </a:r>
                      <a:endParaRPr/>
                    </a:p>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At least having two clinically documented episodes of well-defined neurological abnormalities with objective evidence of demyelinating lesions at more than one site within the central nervous system</a:t>
                      </a:r>
                      <a:endParaRPr/>
                    </a:p>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One of these episodes must persist for a continuous period of at least six (6) months and resulted in measurable disability.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Confirmed by a neurologist </a:t>
                      </a:r>
                      <a:endParaRPr/>
                    </a:p>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At least having two clinically documented episodes of well-defined neurological abnormalities with objective evidence of demyelinating lesions at more than one site within the central nervous system</a:t>
                      </a:r>
                      <a:endParaRPr/>
                    </a:p>
                    <a:p>
                      <a:pPr indent="-285750" lvl="0" marL="285750" marR="0" rtl="0" algn="l">
                        <a:spcBef>
                          <a:spcPts val="0"/>
                        </a:spcBef>
                        <a:spcAft>
                          <a:spcPts val="0"/>
                        </a:spcAft>
                        <a:buClr>
                          <a:srgbClr val="FF0000"/>
                        </a:buClr>
                        <a:buSzPts val="1500"/>
                        <a:buFont typeface="Noto Sans Symbols"/>
                        <a:buChar char="✔"/>
                      </a:pPr>
                      <a:r>
                        <a:rPr lang="en-US" sz="1500">
                          <a:solidFill>
                            <a:srgbClr val="FF0000"/>
                          </a:solidFill>
                          <a:latin typeface="Arial"/>
                          <a:ea typeface="Arial"/>
                          <a:cs typeface="Arial"/>
                          <a:sym typeface="Arial"/>
                        </a:rPr>
                        <a:t>Investigations such as Magnetic Resonance Imaging, Computerized Tomography, or other reliable imaging techniques must confirm the diagnosis</a:t>
                      </a:r>
                      <a:endParaRPr/>
                    </a:p>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One of these episodes must persist for a continuous period of at least six (6) months and resulted in measurable disability.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5"/>
          <p:cNvSpPr txBox="1"/>
          <p:nvPr/>
        </p:nvSpPr>
        <p:spPr>
          <a:xfrm>
            <a:off x="293915" y="1582056"/>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PARALYSIS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76" name="Google Shape;476;p5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graphicFrame>
        <p:nvGraphicFramePr>
          <p:cNvPr id="477" name="Google Shape;477;p55"/>
          <p:cNvGraphicFramePr/>
          <p:nvPr/>
        </p:nvGraphicFramePr>
        <p:xfrm>
          <a:off x="411479" y="2646998"/>
          <a:ext cx="3000000" cy="3000000"/>
        </p:xfrm>
        <a:graphic>
          <a:graphicData uri="http://schemas.openxmlformats.org/drawingml/2006/table">
            <a:tbl>
              <a:tblPr>
                <a:noFill/>
                <a:tableStyleId>{D3B7BAA0-E47E-421F-8AC6-9A70115BEF34}</a:tableStyleId>
              </a:tblPr>
              <a:tblGrid>
                <a:gridCol w="4219300"/>
                <a:gridCol w="4101750"/>
              </a:tblGrid>
              <a:tr h="296475">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964875">
                <a:tc>
                  <a:txBody>
                    <a:bodyPr/>
                    <a:lstStyle/>
                    <a:p>
                      <a:pPr indent="-285750" lvl="0" marL="285750" marR="0" rtl="0" algn="l">
                        <a:lnSpc>
                          <a:spcPct val="100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complete and permanent loss of use of both arms or both legs, or one arm and one leg through paralysis which has been present for at least six (6) consecutive months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complete and permanent loss of use of both arms or both legs, or one arm and one leg through paralysis which has been present for at least six (6) consecutive months.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6"/>
          <p:cNvSpPr txBox="1"/>
          <p:nvPr/>
        </p:nvSpPr>
        <p:spPr>
          <a:xfrm>
            <a:off x="293915" y="1545770"/>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TOTAL BLINDNESS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84" name="Google Shape;484;p5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 </a:t>
            </a:r>
            <a:endParaRPr/>
          </a:p>
        </p:txBody>
      </p:sp>
      <p:graphicFrame>
        <p:nvGraphicFramePr>
          <p:cNvPr id="485" name="Google Shape;485;p56"/>
          <p:cNvGraphicFramePr/>
          <p:nvPr/>
        </p:nvGraphicFramePr>
        <p:xfrm>
          <a:off x="365760" y="2621280"/>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975600">
                <a:tc>
                  <a:txBody>
                    <a:bodyPr/>
                    <a:lstStyle/>
                    <a:p>
                      <a:pPr indent="-342900" lvl="0" marL="342900" marR="0" rtl="0" algn="l">
                        <a:lnSpc>
                          <a:spcPct val="115000"/>
                        </a:lnSpc>
                        <a:spcBef>
                          <a:spcPts val="0"/>
                        </a:spcBef>
                        <a:spcAft>
                          <a:spcPts val="0"/>
                        </a:spcAft>
                        <a:buClr>
                          <a:schemeClr val="dk2"/>
                        </a:buClr>
                        <a:buSzPts val="1650"/>
                        <a:buFont typeface="Noto Sans Symbols"/>
                        <a:buChar char="✔"/>
                      </a:pPr>
                      <a:r>
                        <a:rPr lang="en-US" sz="1650">
                          <a:solidFill>
                            <a:schemeClr val="dk2"/>
                          </a:solidFill>
                          <a:latin typeface="Arial"/>
                          <a:ea typeface="Arial"/>
                          <a:cs typeface="Arial"/>
                          <a:sym typeface="Arial"/>
                        </a:rPr>
                        <a:t>total permanent and irrecoverable loss of all vision in both eyes</a:t>
                      </a:r>
                      <a:endParaRPr/>
                    </a:p>
                    <a:p>
                      <a:pPr indent="0" lvl="0" marL="0" marR="0" rtl="0" algn="l">
                        <a:lnSpc>
                          <a:spcPct val="115000"/>
                        </a:lnSpc>
                        <a:spcBef>
                          <a:spcPts val="0"/>
                        </a:spcBef>
                        <a:spcAft>
                          <a:spcPts val="0"/>
                        </a:spcAft>
                        <a:buNone/>
                      </a:pPr>
                      <a:r>
                        <a:rPr lang="en-US" sz="165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15000"/>
                        </a:lnSpc>
                        <a:spcBef>
                          <a:spcPts val="0"/>
                        </a:spcBef>
                        <a:spcAft>
                          <a:spcPts val="0"/>
                        </a:spcAft>
                        <a:buClr>
                          <a:schemeClr val="dk2"/>
                        </a:buClr>
                        <a:buSzPts val="1650"/>
                        <a:buFont typeface="Noto Sans Symbols"/>
                        <a:buChar char="✔"/>
                      </a:pPr>
                      <a:r>
                        <a:rPr lang="en-US" sz="1650">
                          <a:solidFill>
                            <a:schemeClr val="dk2"/>
                          </a:solidFill>
                          <a:latin typeface="Arial"/>
                          <a:ea typeface="Arial"/>
                          <a:cs typeface="Arial"/>
                          <a:sym typeface="Arial"/>
                        </a:rPr>
                        <a:t>total permanent and irrecoverable loss of all vision in both eyes</a:t>
                      </a:r>
                      <a:endParaRPr/>
                    </a:p>
                    <a:p>
                      <a:pPr indent="-342900" lvl="0" marL="342900" marR="0" rtl="0" algn="l">
                        <a:lnSpc>
                          <a:spcPct val="115000"/>
                        </a:lnSpc>
                        <a:spcBef>
                          <a:spcPts val="0"/>
                        </a:spcBef>
                        <a:spcAft>
                          <a:spcPts val="0"/>
                        </a:spcAft>
                        <a:buClr>
                          <a:srgbClr val="FF0000"/>
                        </a:buClr>
                        <a:buSzPts val="1650"/>
                        <a:buFont typeface="Noto Sans Symbols"/>
                        <a:buChar char="✔"/>
                      </a:pPr>
                      <a:r>
                        <a:rPr lang="en-US" sz="1650">
                          <a:solidFill>
                            <a:srgbClr val="FF0000"/>
                          </a:solidFill>
                          <a:latin typeface="Arial"/>
                          <a:ea typeface="Arial"/>
                          <a:cs typeface="Arial"/>
                          <a:sym typeface="Arial"/>
                        </a:rPr>
                        <a:t>the corrected visual acuity must be less than 6/60 or 20/200 using standard eye chart e.g. Snellen chart, or visual field restriction to 20° or less in both eyes</a:t>
                      </a:r>
                      <a:endParaRPr/>
                    </a:p>
                    <a:p>
                      <a:pPr indent="-342900" lvl="0" marL="342900" marR="0" rtl="0" algn="l">
                        <a:lnSpc>
                          <a:spcPct val="115000"/>
                        </a:lnSpc>
                        <a:spcBef>
                          <a:spcPts val="0"/>
                        </a:spcBef>
                        <a:spcAft>
                          <a:spcPts val="0"/>
                        </a:spcAft>
                        <a:buClr>
                          <a:srgbClr val="FF0000"/>
                        </a:buClr>
                        <a:buSzPts val="1650"/>
                        <a:buFont typeface="Noto Sans Symbols"/>
                        <a:buChar char="✔"/>
                      </a:pPr>
                      <a:r>
                        <a:rPr lang="en-US" sz="1650">
                          <a:solidFill>
                            <a:srgbClr val="FF0000"/>
                          </a:solidFill>
                          <a:latin typeface="Arial"/>
                          <a:ea typeface="Arial"/>
                          <a:cs typeface="Arial"/>
                          <a:sym typeface="Arial"/>
                        </a:rPr>
                        <a:t>Diagnosis must be clinically confirmed by an appropriate consultant</a:t>
                      </a:r>
                      <a:endParaRPr sz="1650">
                        <a:solidFill>
                          <a:srgbClr val="FF0000"/>
                        </a:solidFill>
                        <a:latin typeface="Arial"/>
                        <a:ea typeface="Arial"/>
                        <a:cs typeface="Arial"/>
                        <a:sym typeface="Arial"/>
                      </a:endParaRPr>
                    </a:p>
                    <a:p>
                      <a:pPr indent="-342900" lvl="0" marL="342900" marR="0" rtl="0" algn="l">
                        <a:lnSpc>
                          <a:spcPct val="115000"/>
                        </a:lnSpc>
                        <a:spcBef>
                          <a:spcPts val="0"/>
                        </a:spcBef>
                        <a:spcAft>
                          <a:spcPts val="0"/>
                        </a:spcAft>
                        <a:buClr>
                          <a:srgbClr val="FF0000"/>
                        </a:buClr>
                        <a:buSzPts val="1650"/>
                        <a:buFont typeface="Noto Sans Symbols"/>
                        <a:buChar char="✔"/>
                      </a:pPr>
                      <a:r>
                        <a:rPr lang="en-US" sz="1650">
                          <a:solidFill>
                            <a:srgbClr val="FF0000"/>
                          </a:solidFill>
                          <a:latin typeface="Arial"/>
                          <a:ea typeface="Arial"/>
                          <a:cs typeface="Arial"/>
                          <a:sym typeface="Arial"/>
                        </a:rPr>
                        <a:t>blindness must not be correctable by aides or surgical procedures.</a:t>
                      </a:r>
                      <a:endParaRPr/>
                    </a:p>
                    <a:p>
                      <a:pPr indent="0" lvl="0" marL="0" marR="0" rtl="0" algn="l">
                        <a:lnSpc>
                          <a:spcPct val="115000"/>
                        </a:lnSpc>
                        <a:spcBef>
                          <a:spcPts val="0"/>
                        </a:spcBef>
                        <a:spcAft>
                          <a:spcPts val="0"/>
                        </a:spcAft>
                        <a:buNone/>
                      </a:pPr>
                      <a:r>
                        <a:rPr lang="en-US" sz="165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nvSpPr>
        <p:spPr>
          <a:xfrm>
            <a:off x="293915" y="156754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LOSS OF LIMBS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492" name="Google Shape;492;p5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493" name="Google Shape;493;p57"/>
          <p:cNvGraphicFramePr/>
          <p:nvPr/>
        </p:nvGraphicFramePr>
        <p:xfrm>
          <a:off x="452845" y="27536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2975600">
                <a:tc>
                  <a:txBody>
                    <a:bodyPr/>
                    <a:lstStyle/>
                    <a:p>
                      <a:pPr indent="-342900" lvl="0" marL="342900" marR="0" rtl="0" algn="l">
                        <a:lnSpc>
                          <a:spcPct val="115000"/>
                        </a:lnSpc>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complete and permanent severance of two limbs at or above the wrist or ankle</a:t>
                      </a:r>
                      <a:r>
                        <a:rPr lang="en-US" sz="165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15000"/>
                        </a:lnSpc>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complete and permanent severance of two limbs at or above the wrist or ankle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8"/>
          <p:cNvSpPr txBox="1"/>
          <p:nvPr/>
        </p:nvSpPr>
        <p:spPr>
          <a:xfrm>
            <a:off x="293915" y="154576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APLASTIC ANAEMIA</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00" name="Google Shape;500;p5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01" name="Google Shape;501;p58"/>
          <p:cNvGraphicFramePr/>
          <p:nvPr/>
        </p:nvGraphicFramePr>
        <p:xfrm>
          <a:off x="350520" y="26774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diagnosed by a certified hematologist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permanent bone marrow failure resulting in bone marrow cellularity of less than 25% and must have two of the following:</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 Absolute neutrophil count of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less than 500/mm3</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b) Platelets count less than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20,000/mm3</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c) Reticulocyte count of less than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20,000/mm3</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diagnosed by a certified hematologist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permanent bone marrow failure resulting in bone marrow cellularity of less than 25% and must have two of the following:</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 Absolute neutrophil count of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less than 500/mm3</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 Platelets count less than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20,000/mm3</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c) Reticulocyte count of less than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20,000/mm3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flip dir="l"/>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9"/>
          <p:cNvSpPr txBox="1"/>
          <p:nvPr/>
        </p:nvSpPr>
        <p:spPr>
          <a:xfrm>
            <a:off x="293915" y="155302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Arial"/>
              <a:buNone/>
            </a:pPr>
            <a:r>
              <a:rPr lang="en-US" sz="14400">
                <a:solidFill>
                  <a:schemeClr val="lt1"/>
                </a:solidFill>
                <a:latin typeface="Arial"/>
                <a:ea typeface="Arial"/>
                <a:cs typeface="Arial"/>
                <a:sym typeface="Arial"/>
              </a:rPr>
              <a:t>APLASTIC ANAEMIA </a:t>
            </a:r>
            <a:endParaRPr b="1" i="1" sz="96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t/>
            </a:r>
            <a:endParaRPr sz="14400">
              <a:solidFill>
                <a:schemeClr val="lt1"/>
              </a:solidFill>
              <a:latin typeface="Arial"/>
              <a:ea typeface="Arial"/>
              <a:cs typeface="Arial"/>
              <a:sym typeface="Arial"/>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08" name="Google Shape;508;p5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09" name="Google Shape;509;p59"/>
          <p:cNvGraphicFramePr/>
          <p:nvPr/>
        </p:nvGraphicFramePr>
        <p:xfrm>
          <a:off x="452845" y="269271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receiving treatment with frequent blood product transfusions, bone marrow stimulating agents, immunosuppressive agents</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for more than 3 consecutive months or has received a bone marrow transplant</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-Temporary or reversible aplastic anaemia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receiving treatment with frequent blood product transfusions, bone marrow stimulating agents, immunosuppressive agents</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for more than 3 consecutive months or has received a bone marrow transplant</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a:t>
                      </a: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-Temporary or reversible aplastic anaemia</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60">
            <a:hlinkClick r:id="rId3"/>
          </p:cNvPr>
          <p:cNvSpPr txBox="1"/>
          <p:nvPr/>
        </p:nvSpPr>
        <p:spPr>
          <a:xfrm>
            <a:off x="286660" y="148771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BACTERIAL MENINGITIS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16" name="Google Shape;516;p6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17" name="Google Shape;517;p60"/>
          <p:cNvGraphicFramePr/>
          <p:nvPr/>
        </p:nvGraphicFramePr>
        <p:xfrm>
          <a:off x="445590" y="26469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inflammation of the membranes of the brain or</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spinal cord</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an unequivocal diagnosis of bacterial meningitis that must be proven on analysis of the cerebrospinal fluid</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confirmed by a certified neurologist</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inflammation of the membranes of the brain or spinal cord </a:t>
                      </a:r>
                      <a:r>
                        <a:rPr lang="en-US" sz="1800">
                          <a:solidFill>
                            <a:srgbClr val="FF0000"/>
                          </a:solidFill>
                          <a:latin typeface="Arial"/>
                          <a:ea typeface="Arial"/>
                          <a:cs typeface="Arial"/>
                          <a:sym typeface="Arial"/>
                        </a:rPr>
                        <a:t>resulting in permanent neurological deficit lasting for at least three(3) months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diagnosis of meningitis and permanent neurologic deficit is to be confirmed by a registered consultant neurologist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evidence of a lumbar puncture confirming the presence of bacterial infection in the cerebrospinal fluid</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1">
            <a:hlinkClick r:id="rId3"/>
          </p:cNvPr>
          <p:cNvSpPr txBox="1"/>
          <p:nvPr/>
        </p:nvSpPr>
        <p:spPr>
          <a:xfrm>
            <a:off x="286660" y="1450704"/>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BENIGN BRAIN TUMOR</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24" name="Google Shape;524;p6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25" name="Google Shape;525;p61"/>
          <p:cNvGraphicFramePr/>
          <p:nvPr/>
        </p:nvGraphicFramePr>
        <p:xfrm>
          <a:off x="366125" y="25707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a non-cancerous tumour in the brain which either requires surgical excision or causes significant permanent neurological deficit persisting for at least six(6) consecutive months</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a:t>
                      </a:r>
                      <a:endParaRPr/>
                    </a:p>
                    <a:p>
                      <a:pPr indent="0" lvl="0" marL="0" marR="0" rtl="0" algn="l">
                        <a:spcBef>
                          <a:spcPts val="0"/>
                        </a:spcBef>
                        <a:spcAft>
                          <a:spcPts val="0"/>
                        </a:spcAft>
                        <a:buNone/>
                      </a:pPr>
                      <a:r>
                        <a:t/>
                      </a:r>
                      <a:endParaRPr b="1" sz="1500" u="sng">
                        <a:solidFill>
                          <a:schemeClr val="dk2"/>
                        </a:solidFill>
                        <a:latin typeface="Arial"/>
                        <a:ea typeface="Arial"/>
                        <a:cs typeface="Arial"/>
                        <a:sym typeface="Arial"/>
                      </a:endParaRPr>
                    </a:p>
                    <a:p>
                      <a:pPr indent="0" lvl="0" marL="0" marR="0" rtl="0" algn="l">
                        <a:spcBef>
                          <a:spcPts val="0"/>
                        </a:spcBef>
                        <a:spcAft>
                          <a:spcPts val="0"/>
                        </a:spcAft>
                        <a:buNone/>
                      </a:pPr>
                      <a:r>
                        <a:t/>
                      </a:r>
                      <a:endParaRPr b="1" sz="1500" u="sng">
                        <a:solidFill>
                          <a:schemeClr val="dk2"/>
                        </a:solidFill>
                        <a:latin typeface="Arial"/>
                        <a:ea typeface="Arial"/>
                        <a:cs typeface="Arial"/>
                        <a:sym typeface="Arial"/>
                      </a:endParaRPr>
                    </a:p>
                    <a:p>
                      <a:pPr indent="0" lvl="0" marL="0" marR="0" rtl="0" algn="l">
                        <a:spcBef>
                          <a:spcPts val="0"/>
                        </a:spcBef>
                        <a:spcAft>
                          <a:spcPts val="0"/>
                        </a:spcAft>
                        <a:buNone/>
                      </a:pPr>
                      <a:r>
                        <a:rPr b="1" lang="en-US" sz="15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cyst</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granulomas</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malformations in, or of, the arteries or veins of the brains, haematomas</a:t>
                      </a:r>
                      <a:endParaRPr sz="1500">
                        <a:solidFill>
                          <a:schemeClr val="dk2"/>
                        </a:solidFill>
                        <a:latin typeface="Arial"/>
                        <a:ea typeface="Arial"/>
                        <a:cs typeface="Arial"/>
                        <a:sym typeface="Arial"/>
                      </a:endParaRPr>
                    </a:p>
                    <a:p>
                      <a:pPr indent="0" lvl="0" marL="0" marR="0" rtl="0" algn="l">
                        <a:spcBef>
                          <a:spcPts val="0"/>
                        </a:spcBef>
                        <a:spcAft>
                          <a:spcPts val="0"/>
                        </a:spcAft>
                        <a:buNone/>
                      </a:pPr>
                      <a:r>
                        <a:rPr lang="en-US" sz="1500">
                          <a:solidFill>
                            <a:schemeClr val="dk2"/>
                          </a:solidFill>
                          <a:latin typeface="Arial"/>
                          <a:ea typeface="Arial"/>
                          <a:cs typeface="Arial"/>
                          <a:sym typeface="Arial"/>
                        </a:rPr>
                        <a:t>- tumours in the pituitary gland or spine </a:t>
                      </a:r>
                      <a:endParaRPr sz="15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500"/>
                        <a:buFont typeface="Noto Sans Symbols"/>
                        <a:buChar char="✔"/>
                      </a:pPr>
                      <a:r>
                        <a:rPr lang="en-US" sz="1500">
                          <a:solidFill>
                            <a:schemeClr val="dk2"/>
                          </a:solidFill>
                          <a:latin typeface="Arial"/>
                          <a:ea typeface="Arial"/>
                          <a:cs typeface="Arial"/>
                          <a:sym typeface="Arial"/>
                        </a:rPr>
                        <a:t>a non-cancerous tumour in the brain which either requires Surgical excision or causes significant permanent neurological deficit persisting for at least six consecutive months</a:t>
                      </a:r>
                      <a:endParaRPr/>
                    </a:p>
                    <a:p>
                      <a:pPr indent="-285750" lvl="0" marL="285750" marR="0" rtl="0" algn="l">
                        <a:spcBef>
                          <a:spcPts val="0"/>
                        </a:spcBef>
                        <a:spcAft>
                          <a:spcPts val="0"/>
                        </a:spcAft>
                        <a:buClr>
                          <a:srgbClr val="FF0000"/>
                        </a:buClr>
                        <a:buSzPts val="1500"/>
                        <a:buFont typeface="Noto Sans Symbols"/>
                        <a:buChar char="✔"/>
                      </a:pPr>
                      <a:r>
                        <a:rPr lang="en-US" sz="1500">
                          <a:solidFill>
                            <a:srgbClr val="FF0000"/>
                          </a:solidFill>
                          <a:latin typeface="Arial"/>
                          <a:ea typeface="Arial"/>
                          <a:cs typeface="Arial"/>
                          <a:sym typeface="Arial"/>
                        </a:rPr>
                        <a:t>must be confirmed by imaging studies such as CT scan or MRI</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5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cysts</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granulomas</a:t>
                      </a:r>
                      <a:endParaRPr/>
                    </a:p>
                    <a:p>
                      <a:pPr indent="0" lvl="0" marL="0" marR="0" rtl="0" algn="l">
                        <a:spcBef>
                          <a:spcPts val="0"/>
                        </a:spcBef>
                        <a:spcAft>
                          <a:spcPts val="0"/>
                        </a:spcAft>
                        <a:buNone/>
                      </a:pPr>
                      <a:r>
                        <a:rPr lang="en-US" sz="1500">
                          <a:solidFill>
                            <a:schemeClr val="dk2"/>
                          </a:solidFill>
                          <a:latin typeface="Arial"/>
                          <a:ea typeface="Arial"/>
                          <a:cs typeface="Arial"/>
                          <a:sym typeface="Arial"/>
                        </a:rPr>
                        <a:t>- malformations in, or of, the arteries or veins of the brain, haematomas</a:t>
                      </a:r>
                      <a:endParaRPr sz="1500">
                        <a:solidFill>
                          <a:schemeClr val="dk2"/>
                        </a:solidFill>
                        <a:latin typeface="Arial"/>
                        <a:ea typeface="Arial"/>
                        <a:cs typeface="Arial"/>
                        <a:sym typeface="Arial"/>
                      </a:endParaRPr>
                    </a:p>
                    <a:p>
                      <a:pPr indent="0" lvl="0" marL="0" marR="0" rtl="0" algn="l">
                        <a:spcBef>
                          <a:spcPts val="0"/>
                        </a:spcBef>
                        <a:spcAft>
                          <a:spcPts val="0"/>
                        </a:spcAft>
                        <a:buNone/>
                      </a:pPr>
                      <a:r>
                        <a:rPr lang="en-US" sz="1500">
                          <a:solidFill>
                            <a:schemeClr val="dk2"/>
                          </a:solidFill>
                          <a:latin typeface="Arial"/>
                          <a:ea typeface="Arial"/>
                          <a:cs typeface="Arial"/>
                          <a:sym typeface="Arial"/>
                        </a:rPr>
                        <a:t>- tumours in the pituitary gland or spine</a:t>
                      </a:r>
                      <a:endParaRPr/>
                    </a:p>
                    <a:p>
                      <a:pPr indent="0" lvl="0" marL="0" marR="0" rtl="0" algn="l">
                        <a:spcBef>
                          <a:spcPts val="0"/>
                        </a:spcBef>
                        <a:spcAft>
                          <a:spcPts val="0"/>
                        </a:spcAft>
                        <a:buNone/>
                      </a:pPr>
                      <a:r>
                        <a:rPr lang="en-US" sz="1500">
                          <a:solidFill>
                            <a:srgbClr val="FF0000"/>
                          </a:solidFill>
                          <a:latin typeface="Arial"/>
                          <a:ea typeface="Arial"/>
                          <a:cs typeface="Arial"/>
                          <a:sym typeface="Arial"/>
                        </a:rPr>
                        <a:t>- tumours of the acoustic nerve </a:t>
                      </a:r>
                      <a:endParaRPr sz="15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2">
            <a:hlinkClick r:id="rId3"/>
          </p:cNvPr>
          <p:cNvSpPr txBox="1"/>
          <p:nvPr/>
        </p:nvSpPr>
        <p:spPr>
          <a:xfrm>
            <a:off x="286660" y="14666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DEAFNESS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32" name="Google Shape;532;p6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33" name="Google Shape;533;p62"/>
          <p:cNvGraphicFramePr/>
          <p:nvPr/>
        </p:nvGraphicFramePr>
        <p:xfrm>
          <a:off x="322462" y="2479358"/>
          <a:ext cx="3000000" cy="3000000"/>
        </p:xfrm>
        <a:graphic>
          <a:graphicData uri="http://schemas.openxmlformats.org/drawingml/2006/table">
            <a:tbl>
              <a:tblPr>
                <a:noFill/>
                <a:tableStyleId>{D3B7BAA0-E47E-421F-8AC6-9A70115BEF34}</a:tableStyleId>
              </a:tblPr>
              <a:tblGrid>
                <a:gridCol w="4326750"/>
                <a:gridCol w="41920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acquired total and irreversible loss of hearing in both ears</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be clinically confirmed by an Otorhinolaryngologist or ENT specialist.</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acquired total and irreversible loss of hearing </a:t>
                      </a:r>
                      <a:r>
                        <a:rPr lang="en-US" sz="1700">
                          <a:solidFill>
                            <a:srgbClr val="FF0000"/>
                          </a:solidFill>
                          <a:latin typeface="Arial"/>
                          <a:ea typeface="Arial"/>
                          <a:cs typeface="Arial"/>
                          <a:sym typeface="Arial"/>
                        </a:rPr>
                        <a:t>(involving the loss of at least 90 decibels in all frequencies of hearing)</a:t>
                      </a:r>
                      <a:r>
                        <a:rPr lang="en-US" sz="1700">
                          <a:solidFill>
                            <a:schemeClr val="dk2"/>
                          </a:solidFill>
                          <a:latin typeface="Arial"/>
                          <a:ea typeface="Arial"/>
                          <a:cs typeface="Arial"/>
                          <a:sym typeface="Arial"/>
                        </a:rPr>
                        <a:t> in both ears as a result of illness or injury</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be clinically confirmed by an Otorhinolaryngologist or ENT specialist</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700" u="sng">
                          <a:solidFill>
                            <a:srgbClr val="FF0000"/>
                          </a:solidFill>
                          <a:latin typeface="Arial"/>
                          <a:ea typeface="Arial"/>
                          <a:cs typeface="Arial"/>
                          <a:sym typeface="Arial"/>
                        </a:rPr>
                        <a:t>Exclusions: </a:t>
                      </a:r>
                      <a:endParaRPr/>
                    </a:p>
                    <a:p>
                      <a:pPr indent="0" lvl="0" marL="0" marR="0" rtl="0" algn="l">
                        <a:spcBef>
                          <a:spcPts val="0"/>
                        </a:spcBef>
                        <a:spcAft>
                          <a:spcPts val="0"/>
                        </a:spcAft>
                        <a:buNone/>
                      </a:pPr>
                      <a:r>
                        <a:rPr lang="en-US" sz="1700">
                          <a:solidFill>
                            <a:srgbClr val="FF0000"/>
                          </a:solidFill>
                          <a:latin typeface="Arial"/>
                          <a:ea typeface="Arial"/>
                          <a:cs typeface="Arial"/>
                          <a:sym typeface="Arial"/>
                        </a:rPr>
                        <a:t>− partial or temporary loss of hearing</a:t>
                      </a:r>
                      <a:endParaRPr/>
                    </a:p>
                    <a:p>
                      <a:pPr indent="0" lvl="0" marL="0" marR="0" rtl="0" algn="l">
                        <a:spcBef>
                          <a:spcPts val="0"/>
                        </a:spcBef>
                        <a:spcAft>
                          <a:spcPts val="0"/>
                        </a:spcAft>
                        <a:buNone/>
                      </a:pPr>
                      <a:r>
                        <a:rPr lang="en-US" sz="1700">
                          <a:solidFill>
                            <a:srgbClr val="FF0000"/>
                          </a:solidFill>
                          <a:latin typeface="Arial"/>
                          <a:ea typeface="Arial"/>
                          <a:cs typeface="Arial"/>
                          <a:sym typeface="Arial"/>
                        </a:rPr>
                        <a:t>− loss of hearing in one ear</a:t>
                      </a:r>
                      <a:endParaRPr/>
                    </a:p>
                    <a:p>
                      <a:pPr indent="0" lvl="0" marL="0" marR="0" rtl="0" algn="l">
                        <a:spcBef>
                          <a:spcPts val="0"/>
                        </a:spcBef>
                        <a:spcAft>
                          <a:spcPts val="0"/>
                        </a:spcAft>
                        <a:buNone/>
                      </a:pPr>
                      <a:r>
                        <a:rPr lang="en-US" sz="1700">
                          <a:solidFill>
                            <a:srgbClr val="FF0000"/>
                          </a:solidFill>
                          <a:latin typeface="Arial"/>
                          <a:ea typeface="Arial"/>
                          <a:cs typeface="Arial"/>
                          <a:sym typeface="Arial"/>
                        </a:rPr>
                        <a:t>− surgically correctable loss of hearing</a:t>
                      </a:r>
                      <a:endParaRPr sz="17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3">
            <a:hlinkClick r:id="rId3"/>
          </p:cNvPr>
          <p:cNvSpPr txBox="1"/>
          <p:nvPr/>
        </p:nvSpPr>
        <p:spPr>
          <a:xfrm>
            <a:off x="286660" y="144344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ENCEPHALITIS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40" name="Google Shape;540;p6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41" name="Google Shape;541;p63"/>
          <p:cNvGraphicFramePr/>
          <p:nvPr/>
        </p:nvGraphicFramePr>
        <p:xfrm>
          <a:off x="332380" y="2483716"/>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Severe inflammation of brain substance which results in significant and permanent neurological deficit persisting for at least six (6) consecutive</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months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as certified by a  neurologist</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Severe inflammation of brain substance which results in significant and permanent neurological deficit persisting for at least six (6) consecutive</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months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as certified by a neurologist</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4">
            <a:hlinkClick r:id="rId3"/>
          </p:cNvPr>
          <p:cNvSpPr txBox="1"/>
          <p:nvPr/>
        </p:nvSpPr>
        <p:spPr>
          <a:xfrm>
            <a:off x="286660" y="146594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AMYOTROPHIC LATERAL SCLEROSIS</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48" name="Google Shape;548;p6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49" name="Google Shape;549;p64"/>
          <p:cNvGraphicFramePr/>
          <p:nvPr/>
        </p:nvGraphicFramePr>
        <p:xfrm>
          <a:off x="366125" y="2525078"/>
          <a:ext cx="3000000" cy="3000000"/>
        </p:xfrm>
        <a:graphic>
          <a:graphicData uri="http://schemas.openxmlformats.org/drawingml/2006/table">
            <a:tbl>
              <a:tblPr>
                <a:noFill/>
                <a:tableStyleId>{D3B7BAA0-E47E-421F-8AC6-9A70115BEF34}</a:tableStyleId>
              </a:tblPr>
              <a:tblGrid>
                <a:gridCol w="4265025"/>
                <a:gridCol w="42039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characterized by progressive muscular weakness and atrophy, evidence of anterior horn cell dysfunction, visible muscle fasciculations, spasticity, hyperactive deep tendon reflexes and exterior plantar reflexes, evidence of corticospinal tract involvement, dysarthric and dysphagia.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diagnosis by a certified neurologist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confirmed by electromyography</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characterized by progressive muscular weakness and atrophy, evidence of anterior horn cell dysfunction, visible muscle fasciculations, spasticity, hyperactive deep tendon reflexes and exterior plantar reflexes, evidence of corticospinal tract involvement, dysarthric and dysphagia.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diagnosis by a certified neurologist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confirmed by electromyography</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200">
        <p14:prism dir="l"/>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5">
            <a:hlinkClick r:id="rId3"/>
          </p:cNvPr>
          <p:cNvSpPr txBox="1"/>
          <p:nvPr/>
        </p:nvSpPr>
        <p:spPr>
          <a:xfrm>
            <a:off x="293915" y="147320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PROGRESSIVE BULBAR PULSY</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56" name="Google Shape;556;p6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57" name="Google Shape;557;p65"/>
          <p:cNvGraphicFramePr/>
          <p:nvPr/>
        </p:nvGraphicFramePr>
        <p:xfrm>
          <a:off x="335927" y="2494598"/>
          <a:ext cx="3000000" cy="3000000"/>
        </p:xfrm>
        <a:graphic>
          <a:graphicData uri="http://schemas.openxmlformats.org/drawingml/2006/table">
            <a:tbl>
              <a:tblPr>
                <a:noFill/>
                <a:tableStyleId>{D3B7BAA0-E47E-421F-8AC6-9A70115BEF34}</a:tableStyleId>
              </a:tblPr>
              <a:tblGrid>
                <a:gridCol w="4265025"/>
                <a:gridCol w="42341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215825">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progressive degeneration of the muscle innervated by cranial nerve and corticobulbar tracts leading to difficulty in chewing, swallowing and talking</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diagnosis by a specialist must be confirmed by</a:t>
                      </a:r>
                      <a:r>
                        <a:rPr lang="en-US" sz="2000">
                          <a:solidFill>
                            <a:schemeClr val="dk2"/>
                          </a:solidFill>
                          <a:latin typeface="Arial"/>
                          <a:ea typeface="Arial"/>
                          <a:cs typeface="Arial"/>
                          <a:sym typeface="Arial"/>
                        </a:rPr>
                        <a:t> </a:t>
                      </a:r>
                      <a:r>
                        <a:rPr lang="en-US" sz="2000">
                          <a:solidFill>
                            <a:schemeClr val="dk2"/>
                          </a:solidFill>
                          <a:latin typeface="Arial"/>
                          <a:ea typeface="Arial"/>
                          <a:cs typeface="Arial"/>
                          <a:sym typeface="Arial"/>
                        </a:rPr>
                        <a:t>electromyography</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progressive degeneration of the muscle innervated by cranial nerve and corticobulbar tracts leading to difficulty in chewing, swallowing and talking</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diagnosis by a specialist must be confirmed by</a:t>
                      </a:r>
                      <a:r>
                        <a:rPr lang="en-US" sz="2000">
                          <a:solidFill>
                            <a:schemeClr val="dk2"/>
                          </a:solidFill>
                          <a:latin typeface="Arial"/>
                          <a:ea typeface="Arial"/>
                          <a:cs typeface="Arial"/>
                          <a:sym typeface="Arial"/>
                        </a:rPr>
                        <a:t> </a:t>
                      </a:r>
                      <a:r>
                        <a:rPr lang="en-US" sz="2000">
                          <a:solidFill>
                            <a:schemeClr val="dk2"/>
                          </a:solidFill>
                          <a:latin typeface="Arial"/>
                          <a:ea typeface="Arial"/>
                          <a:cs typeface="Arial"/>
                          <a:sym typeface="Arial"/>
                        </a:rPr>
                        <a:t>electromyography</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6">
            <a:hlinkClick r:id="rId3"/>
          </p:cNvPr>
          <p:cNvSpPr txBox="1"/>
          <p:nvPr/>
        </p:nvSpPr>
        <p:spPr>
          <a:xfrm>
            <a:off x="293915" y="1465218"/>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MENINGEAL TUBERCULOSIS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64" name="Google Shape;564;p6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65" name="Google Shape;565;p66"/>
          <p:cNvGraphicFramePr/>
          <p:nvPr/>
        </p:nvGraphicFramePr>
        <p:xfrm>
          <a:off x="310325" y="2494598"/>
          <a:ext cx="3000000" cy="3000000"/>
        </p:xfrm>
        <a:graphic>
          <a:graphicData uri="http://schemas.openxmlformats.org/drawingml/2006/table">
            <a:tbl>
              <a:tblPr>
                <a:noFill/>
                <a:tableStyleId>{D3B7BAA0-E47E-421F-8AC6-9A70115BEF34}</a:tableStyleId>
              </a:tblPr>
              <a:tblGrid>
                <a:gridCol w="4311800"/>
                <a:gridCol w="4231500"/>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meningitis caused by tubercle bacilli </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results in permanent neurological deficit persisting for at least six (6) consecutive months</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meningitis caused by tubercle bacilli </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results in permanent neurological deficit persisting for at least six (6) consecutive months</a:t>
                      </a:r>
                      <a:endParaRPr/>
                    </a:p>
                    <a:p>
                      <a:pPr indent="-342900" lvl="0" marL="342900" marR="0" rtl="0" algn="l">
                        <a:spcBef>
                          <a:spcPts val="0"/>
                        </a:spcBef>
                        <a:spcAft>
                          <a:spcPts val="0"/>
                        </a:spcAft>
                        <a:buClr>
                          <a:srgbClr val="FF0000"/>
                        </a:buClr>
                        <a:buSzPts val="2000"/>
                        <a:buFont typeface="Noto Sans Symbols"/>
                        <a:buChar char="✔"/>
                      </a:pPr>
                      <a:r>
                        <a:rPr lang="en-US" sz="2000">
                          <a:solidFill>
                            <a:srgbClr val="FF0000"/>
                          </a:solidFill>
                          <a:latin typeface="Arial"/>
                          <a:ea typeface="Arial"/>
                          <a:cs typeface="Arial"/>
                          <a:sym typeface="Arial"/>
                        </a:rPr>
                        <a:t>must be confirmed by a neurologist and supported by analysis of the cerebrospinal fluid</a:t>
                      </a:r>
                      <a:endParaRPr sz="20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7">
            <a:hlinkClick r:id="rId3"/>
          </p:cNvPr>
          <p:cNvSpPr txBox="1"/>
          <p:nvPr/>
        </p:nvSpPr>
        <p:spPr>
          <a:xfrm>
            <a:off x="293915" y="1449253"/>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CEREBRAL METASTASIS</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72" name="Google Shape;572;p6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73" name="Google Shape;573;p67"/>
          <p:cNvGraphicFramePr/>
          <p:nvPr/>
        </p:nvGraphicFramePr>
        <p:xfrm>
          <a:off x="372110" y="24945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evidence of cancer of the brain where the primary lesion cannot be established</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must be confirmed by a pathological report or progressive neurological deterioration.    </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confirmed by a certified oncologist</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evidence of </a:t>
                      </a:r>
                      <a:r>
                        <a:rPr lang="en-US" sz="2000">
                          <a:solidFill>
                            <a:srgbClr val="FF0000"/>
                          </a:solidFill>
                          <a:latin typeface="Arial"/>
                          <a:ea typeface="Arial"/>
                          <a:cs typeface="Arial"/>
                          <a:sym typeface="Arial"/>
                        </a:rPr>
                        <a:t>secondary (metastatic)</a:t>
                      </a:r>
                      <a:r>
                        <a:rPr lang="en-US" sz="2000">
                          <a:solidFill>
                            <a:schemeClr val="dk2"/>
                          </a:solidFill>
                          <a:latin typeface="Arial"/>
                          <a:ea typeface="Arial"/>
                          <a:cs typeface="Arial"/>
                          <a:sym typeface="Arial"/>
                        </a:rPr>
                        <a:t> cancer of the brain where the primary (index/original) cancer lesion cannot be established</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must be confirmed </a:t>
                      </a:r>
                      <a:r>
                        <a:rPr lang="en-US" sz="2000">
                          <a:solidFill>
                            <a:srgbClr val="FF0000"/>
                          </a:solidFill>
                          <a:latin typeface="Arial"/>
                          <a:ea typeface="Arial"/>
                          <a:cs typeface="Arial"/>
                          <a:sym typeface="Arial"/>
                        </a:rPr>
                        <a:t>with diagnostic imaging</a:t>
                      </a:r>
                      <a:r>
                        <a:rPr lang="en-US" sz="2000">
                          <a:solidFill>
                            <a:schemeClr val="dk2"/>
                          </a:solidFill>
                          <a:latin typeface="Arial"/>
                          <a:ea typeface="Arial"/>
                          <a:cs typeface="Arial"/>
                          <a:sym typeface="Arial"/>
                        </a:rPr>
                        <a:t> by a registered oncologist</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8">
            <a:hlinkClick r:id="rId3"/>
          </p:cNvPr>
          <p:cNvSpPr txBox="1"/>
          <p:nvPr/>
        </p:nvSpPr>
        <p:spPr>
          <a:xfrm>
            <a:off x="293915" y="144127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LOSS OF SPEECH</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80" name="Google Shape;580;p6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81" name="Google Shape;581;p68"/>
          <p:cNvGraphicFramePr/>
          <p:nvPr/>
        </p:nvGraphicFramePr>
        <p:xfrm>
          <a:off x="373380" y="24662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acquired total and irrecoverable loss of the ability to speak for a continuous period of twelve (12) months as a result of physical injury or disease.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clinically confirmed by a certified neurologist.</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Loss of speech caused by or related either directly or indirectly to a psychiatric illness</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acquired total and irrecoverable loss of the ability to speak for a continuous period of twelve (12) months due to physical damage to the vocal chords as a result of physical injury or disease.        </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be clinically confirmed by a certified neurologist or ENT specialist. </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700" u="sng">
                          <a:solidFill>
                            <a:schemeClr val="dk2"/>
                          </a:solidFill>
                          <a:latin typeface="Arial"/>
                          <a:ea typeface="Arial"/>
                          <a:cs typeface="Arial"/>
                          <a:sym typeface="Arial"/>
                        </a:rPr>
                        <a:t>Exclusion: </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-Loss of speech caused by or related either directly or indirectly to a psychiatric illness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9">
            <a:hlinkClick r:id="rId3"/>
          </p:cNvPr>
          <p:cNvSpPr txBox="1"/>
          <p:nvPr/>
        </p:nvSpPr>
        <p:spPr>
          <a:xfrm>
            <a:off x="293915" y="149497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COMA</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88" name="Google Shape;588;p6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89" name="Google Shape;589;p69"/>
          <p:cNvGraphicFramePr/>
          <p:nvPr/>
        </p:nvGraphicFramePr>
        <p:xfrm>
          <a:off x="356870" y="250983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state of unconsciousness for a continuous period of one (1) week, with no response to verbal stimuli and only primitive reflex response to painful</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Stimuli</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persist continuously with the use</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of a life support system which must include the use of a respirator for a period of at least 96 hours.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permanent neurological deficit must be present</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state of unconsciousness for a continuous period of one (1) week, with no response to verbal stimuli and only primitive reflex response to painful</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Stimuli</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persist continuously with the use</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of a life support system which must include the use of a respirator for a period of at least 96 hours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permanent neurological deficit must be present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0">
            <a:hlinkClick r:id="rId3"/>
          </p:cNvPr>
          <p:cNvSpPr txBox="1"/>
          <p:nvPr/>
        </p:nvSpPr>
        <p:spPr>
          <a:xfrm>
            <a:off x="293915" y="149497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COMA</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596" name="Google Shape;596;p7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597" name="Google Shape;597;p70"/>
          <p:cNvGraphicFramePr/>
          <p:nvPr/>
        </p:nvGraphicFramePr>
        <p:xfrm>
          <a:off x="356870" y="2509838"/>
          <a:ext cx="3000000" cy="3000000"/>
        </p:xfrm>
        <a:graphic>
          <a:graphicData uri="http://schemas.openxmlformats.org/drawingml/2006/table">
            <a:tbl>
              <a:tblPr>
                <a:noFill/>
                <a:tableStyleId>{D3B7BAA0-E47E-421F-8AC6-9A70115BEF34}</a:tableStyleId>
              </a:tblPr>
              <a:tblGrid>
                <a:gridCol w="4265025"/>
                <a:gridCol w="4225550"/>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Glasgow coma score must be four or less continuously during the seven (7) days.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-Less severe changes in consciousness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-coma resulting directly or indirectly from alcohol or drug abuse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Glasgow coma score must be four or less continuously during the seven (7) days.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-Less severe changes in consciousness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-coma resulting directly or indirectly from alcohol or drug abuse</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400">
        <p14:doors dir="vert"/>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1">
            <a:hlinkClick r:id="rId3"/>
          </p:cNvPr>
          <p:cNvSpPr txBox="1"/>
          <p:nvPr/>
        </p:nvSpPr>
        <p:spPr>
          <a:xfrm>
            <a:off x="293915" y="1465943"/>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PARKINSON’S DISEASE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04" name="Google Shape;604;p7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05" name="Google Shape;605;p71"/>
          <p:cNvGraphicFramePr/>
          <p:nvPr/>
        </p:nvGraphicFramePr>
        <p:xfrm>
          <a:off x="387350" y="25250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slowly progressive disease of the central nervous system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an unequivocal diagnosis by a certified neurologist and agreed to by our medical officer and where the illness:</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 cannot be </a:t>
                      </a:r>
                      <a:r>
                        <a:rPr lang="en-US" sz="1800">
                          <a:solidFill>
                            <a:srgbClr val="FF0000"/>
                          </a:solidFill>
                          <a:latin typeface="Arial"/>
                          <a:ea typeface="Arial"/>
                          <a:cs typeface="Arial"/>
                          <a:sym typeface="Arial"/>
                        </a:rPr>
                        <a:t>controlled </a:t>
                      </a:r>
                      <a:r>
                        <a:rPr lang="en-US" sz="1800">
                          <a:solidFill>
                            <a:schemeClr val="dk2"/>
                          </a:solidFill>
                          <a:latin typeface="Arial"/>
                          <a:ea typeface="Arial"/>
                          <a:cs typeface="Arial"/>
                          <a:sym typeface="Arial"/>
                        </a:rPr>
                        <a:t>by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medication;</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 shows signs of progressive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impairment; and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slowly progressive disease of the central nervous system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an unequivocal diagnosis by a certified specialist and agreed to by our medical officer and where the condition: </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a)cannot be </a:t>
                      </a:r>
                      <a:r>
                        <a:rPr lang="en-US" sz="1800">
                          <a:solidFill>
                            <a:srgbClr val="FF0000"/>
                          </a:solidFill>
                          <a:latin typeface="Arial"/>
                          <a:ea typeface="Arial"/>
                          <a:cs typeface="Arial"/>
                          <a:sym typeface="Arial"/>
                        </a:rPr>
                        <a:t>resolved</a:t>
                      </a:r>
                      <a:r>
                        <a:rPr lang="en-US" sz="1800">
                          <a:solidFill>
                            <a:schemeClr val="dk2"/>
                          </a:solidFill>
                          <a:latin typeface="Arial"/>
                          <a:ea typeface="Arial"/>
                          <a:cs typeface="Arial"/>
                          <a:sym typeface="Arial"/>
                        </a:rPr>
                        <a:t> by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medication; and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b)shows signs of progressive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impairment; and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2">
            <a:hlinkClick r:id="rId3"/>
          </p:cNvPr>
          <p:cNvSpPr txBox="1"/>
          <p:nvPr/>
        </p:nvSpPr>
        <p:spPr>
          <a:xfrm>
            <a:off x="293915" y="1465943"/>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PARKINSON’S DISEASE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12" name="Google Shape;612;p7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13" name="Google Shape;613;p72"/>
          <p:cNvGraphicFramePr/>
          <p:nvPr/>
        </p:nvGraphicFramePr>
        <p:xfrm>
          <a:off x="387350" y="25250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       c) the inability to perform without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assistance three or more of the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following activities of daily living: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bathing, dressing, using the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lavatory, eating, the</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ability to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move in or out of bed or chair</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Only idiopathic Parkinson's Disease is covered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Exclusions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All others including drug induced or toxin causes</a:t>
                      </a:r>
                      <a:r>
                        <a:rPr lang="en-US" sz="1800">
                          <a:solidFill>
                            <a:schemeClr val="dk1"/>
                          </a:solidFill>
                          <a:latin typeface="Calibri"/>
                          <a:ea typeface="Calibri"/>
                          <a:cs typeface="Calibri"/>
                          <a:sym typeface="Calibri"/>
                        </a:rPr>
                        <a:t>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c)the inability to perform without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assistance three or more of the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following activities of daily living: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bathing, dressing, using the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lavatory, eating, the ability to</a:t>
                      </a: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move in or out of bed or chair</a:t>
                      </a:r>
                      <a:endParaRPr/>
                    </a:p>
                    <a:p>
                      <a:pPr indent="-285750" lvl="0" marL="285750" marR="0" rtl="0" algn="l">
                        <a:spcBef>
                          <a:spcPts val="0"/>
                        </a:spcBef>
                        <a:spcAft>
                          <a:spcPts val="0"/>
                        </a:spcAft>
                        <a:buClr>
                          <a:srgbClr val="FF0000"/>
                        </a:buClr>
                        <a:buSzPts val="1800"/>
                        <a:buFont typeface="Noto Sans Symbols"/>
                        <a:buChar char="✔"/>
                      </a:pPr>
                      <a:r>
                        <a:rPr lang="en-US" sz="1800">
                          <a:solidFill>
                            <a:srgbClr val="FF0000"/>
                          </a:solidFill>
                          <a:latin typeface="Arial"/>
                          <a:ea typeface="Arial"/>
                          <a:cs typeface="Arial"/>
                          <a:sym typeface="Arial"/>
                        </a:rPr>
                        <a:t>ADLs are to be assessed by a certified occupational therapist</a:t>
                      </a:r>
                      <a:endParaRPr/>
                    </a:p>
                    <a:p>
                      <a:pPr indent="-342900" lvl="0" marL="34290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Only idiopathic Parkinson’s Disease is covered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b="1" lang="en-US" sz="1800" u="sng">
                          <a:solidFill>
                            <a:schemeClr val="dk2"/>
                          </a:solidFill>
                          <a:latin typeface="Arial"/>
                          <a:ea typeface="Arial"/>
                          <a:cs typeface="Arial"/>
                          <a:sym typeface="Arial"/>
                        </a:rPr>
                        <a:t>Exclusions :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All others including drug induced or toxin causes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3">
            <a:hlinkClick r:id="rId3"/>
          </p:cNvPr>
          <p:cNvSpPr txBox="1"/>
          <p:nvPr/>
        </p:nvSpPr>
        <p:spPr>
          <a:xfrm>
            <a:off x="293915" y="1459412"/>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TERMINAL ILLNESS</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20" name="Google Shape;620;p7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21" name="Google Shape;621;p73"/>
          <p:cNvGraphicFramePr/>
          <p:nvPr/>
        </p:nvGraphicFramePr>
        <p:xfrm>
          <a:off x="356870" y="243363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suffering from an illness which in the opinion of the medical specialist attending and our medical officer is to result in death within twelve (12) months after all forms of clinically accepted therapy have been tried</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suffering from an illness which in the opinion of the medical specialist attending and our medical officer is to result in death within twelve (12) months after all forms of clinically accepted therapy have been tried</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4">
            <a:hlinkClick r:id="rId3"/>
          </p:cNvPr>
          <p:cNvSpPr txBox="1"/>
          <p:nvPr/>
        </p:nvSpPr>
        <p:spPr>
          <a:xfrm>
            <a:off x="293915" y="144344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MEDULLARY CYSTIC DISEASE</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28" name="Google Shape;628;p7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29" name="Google Shape;629;p74"/>
          <p:cNvGraphicFramePr/>
          <p:nvPr/>
        </p:nvGraphicFramePr>
        <p:xfrm>
          <a:off x="35687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formation of multiple cysts in the medulla region of both kidneys and involving the collecting ducts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diagnosed by a registered medical consultant and </a:t>
                      </a:r>
                      <a:r>
                        <a:rPr lang="en-US" sz="1800">
                          <a:solidFill>
                            <a:srgbClr val="FF00FF"/>
                          </a:solidFill>
                          <a:latin typeface="Arial"/>
                          <a:ea typeface="Arial"/>
                          <a:cs typeface="Arial"/>
                          <a:sym typeface="Arial"/>
                        </a:rPr>
                        <a:t>agreed to by our medical officer</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must be confirmed by a progressive renal dysfunction with decreased creatinine clearance</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formation of multiple cysts in the medulla region of both kidneys and involving the collecting ducts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diagnosed by a registered medical specialist, and </a:t>
                      </a:r>
                      <a:r>
                        <a:rPr lang="en-US" sz="1800">
                          <a:solidFill>
                            <a:srgbClr val="FF00FF"/>
                          </a:solidFill>
                          <a:latin typeface="Arial"/>
                          <a:ea typeface="Arial"/>
                          <a:cs typeface="Arial"/>
                          <a:sym typeface="Arial"/>
                        </a:rPr>
                        <a:t>agreed to by our medical officer</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confirmed by a progressive renal dysfunction with decreased creatinine clearance </a:t>
                      </a:r>
                      <a:endParaRPr/>
                    </a:p>
                    <a:p>
                      <a:pPr indent="-285750" lvl="0" marL="285750" marR="0" rtl="0" algn="l">
                        <a:spcBef>
                          <a:spcPts val="0"/>
                        </a:spcBef>
                        <a:spcAft>
                          <a:spcPts val="0"/>
                        </a:spcAft>
                        <a:buClr>
                          <a:srgbClr val="FF0000"/>
                        </a:buClr>
                        <a:buSzPts val="1800"/>
                        <a:buFont typeface="Noto Sans Symbols"/>
                        <a:buChar char="✔"/>
                      </a:pPr>
                      <a:r>
                        <a:rPr lang="en-US" sz="1800">
                          <a:solidFill>
                            <a:srgbClr val="FF0000"/>
                          </a:solidFill>
                          <a:latin typeface="Arial"/>
                          <a:ea typeface="Arial"/>
                          <a:cs typeface="Arial"/>
                          <a:sym typeface="Arial"/>
                        </a:rPr>
                        <a:t>imaging evidence of multiple medullary cysts with cortical atrophy</a:t>
                      </a:r>
                      <a:endParaRPr sz="18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5">
            <a:hlinkClick r:id="rId3"/>
          </p:cNvPr>
          <p:cNvSpPr txBox="1"/>
          <p:nvPr/>
        </p:nvSpPr>
        <p:spPr>
          <a:xfrm>
            <a:off x="293915" y="144997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ALZHEIMER’S DISEASE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36" name="Google Shape;636;p7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37" name="Google Shape;637;p75"/>
          <p:cNvGraphicFramePr/>
          <p:nvPr/>
        </p:nvGraphicFramePr>
        <p:xfrm>
          <a:off x="370115" y="246411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and permanent deterioration or loss of intellectual capacity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evidenced by clinical state and accepted standardized questionnaires or tests or abnormal behaviour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results in significant reduction in mental and social functioning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requires continuous supervision of the life insured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subject to the acceptance of the medical advisor</a:t>
                      </a: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appointed by us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and permanent deterioration or loss of intellectual capacity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evidenced by clinical state and accepted standardized questionnaires or tests or abnormal behaviour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results in significant reduction in mental and social functioning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requires continuous supervision of the life insured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subject to the acceptance of the medical advisor appointed by Sun Life Philippines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76">
            <a:hlinkClick r:id="rId3"/>
          </p:cNvPr>
          <p:cNvSpPr txBox="1"/>
          <p:nvPr/>
        </p:nvSpPr>
        <p:spPr>
          <a:xfrm>
            <a:off x="293915" y="144997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ALZHEIMER’S DISEASE</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44" name="Google Shape;644;p7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45" name="Google Shape;645;p76"/>
          <p:cNvGraphicFramePr/>
          <p:nvPr/>
        </p:nvGraphicFramePr>
        <p:xfrm>
          <a:off x="370115" y="246411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t/>
                      </a:r>
                      <a:endParaRPr b="1" sz="1600" u="sng">
                        <a:solidFill>
                          <a:schemeClr val="dk2"/>
                        </a:solidFill>
                        <a:latin typeface="Arial"/>
                        <a:ea typeface="Arial"/>
                        <a:cs typeface="Arial"/>
                        <a:sym typeface="Arial"/>
                      </a:endParaRPr>
                    </a:p>
                    <a:p>
                      <a:pPr indent="0" lvl="0" marL="0" marR="0" rtl="0" algn="l">
                        <a:spcBef>
                          <a:spcPts val="0"/>
                        </a:spcBef>
                        <a:spcAft>
                          <a:spcPts val="0"/>
                        </a:spcAft>
                        <a:buNone/>
                      </a:pPr>
                      <a:r>
                        <a:t/>
                      </a:r>
                      <a:endParaRPr b="1" sz="1600" u="sng">
                        <a:solidFill>
                          <a:schemeClr val="dk2"/>
                        </a:solidFill>
                        <a:latin typeface="Arial"/>
                        <a:ea typeface="Arial"/>
                        <a:cs typeface="Arial"/>
                        <a:sym typeface="Arial"/>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Neurosis</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Psychotic illnesses</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Other causes of dementia</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Psychiatric disease </a:t>
                      </a:r>
                      <a:endParaRPr sz="16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rgbClr val="FF0000"/>
                        </a:buClr>
                        <a:buSzPts val="1600"/>
                        <a:buFont typeface="Noto Sans Symbols"/>
                        <a:buChar char="✔"/>
                      </a:pPr>
                      <a:r>
                        <a:rPr lang="en-US" sz="1600">
                          <a:solidFill>
                            <a:srgbClr val="FF0000"/>
                          </a:solidFill>
                          <a:latin typeface="Arial"/>
                          <a:ea typeface="Arial"/>
                          <a:cs typeface="Arial"/>
                          <a:sym typeface="Arial"/>
                        </a:rPr>
                        <a:t>must also be an inability of the life insured to perform (whether aided or unaided) at least 3 of the Activities of Daily Living (ADLs) for a continuous period of at least six (6) months</a:t>
                      </a:r>
                      <a:endParaRPr/>
                    </a:p>
                    <a:p>
                      <a:pPr indent="-285750" lvl="0" marL="285750" marR="0" rtl="0" algn="l">
                        <a:spcBef>
                          <a:spcPts val="0"/>
                        </a:spcBef>
                        <a:spcAft>
                          <a:spcPts val="0"/>
                        </a:spcAft>
                        <a:buClr>
                          <a:srgbClr val="FF0000"/>
                        </a:buClr>
                        <a:buSzPts val="1600"/>
                        <a:buFont typeface="Noto Sans Symbols"/>
                        <a:buChar char="✔"/>
                      </a:pPr>
                      <a:r>
                        <a:rPr lang="en-US" sz="1600">
                          <a:solidFill>
                            <a:srgbClr val="FF0000"/>
                          </a:solidFill>
                          <a:latin typeface="Arial"/>
                          <a:ea typeface="Arial"/>
                          <a:cs typeface="Arial"/>
                          <a:sym typeface="Arial"/>
                        </a:rPr>
                        <a:t>ADLs are to be assessed by a certified occupational therapist and confirmed by a specialist </a:t>
                      </a:r>
                      <a:endParaRPr/>
                    </a:p>
                    <a:p>
                      <a:pPr indent="0" lvl="0" marL="0" marR="0" rtl="0" algn="l">
                        <a:spcBef>
                          <a:spcPts val="0"/>
                        </a:spcBef>
                        <a:spcAft>
                          <a:spcPts val="0"/>
                        </a:spcAft>
                        <a:buNone/>
                      </a:pPr>
                      <a:r>
                        <a:t/>
                      </a:r>
                      <a:endParaRPr sz="1600">
                        <a:solidFill>
                          <a:schemeClr val="dk2"/>
                        </a:solidFill>
                        <a:latin typeface="Arial"/>
                        <a:ea typeface="Arial"/>
                        <a:cs typeface="Arial"/>
                        <a:sym typeface="Arial"/>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Neurosis</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Psychotic illnesses</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Other causes of dementia</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Psychiatric disease </a:t>
                      </a:r>
                      <a:endParaRPr sz="16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7">
            <a:hlinkClick r:id="rId3"/>
          </p:cNvPr>
          <p:cNvSpPr txBox="1"/>
          <p:nvPr/>
        </p:nvSpPr>
        <p:spPr>
          <a:xfrm>
            <a:off x="293915" y="144199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FULMINANT HEPATITIS</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52" name="Google Shape;652;p7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53" name="Google Shape;653;p77"/>
          <p:cNvGraphicFramePr/>
          <p:nvPr/>
        </p:nvGraphicFramePr>
        <p:xfrm>
          <a:off x="314478" y="2479358"/>
          <a:ext cx="3000000" cy="3000000"/>
        </p:xfrm>
        <a:graphic>
          <a:graphicData uri="http://schemas.openxmlformats.org/drawingml/2006/table">
            <a:tbl>
              <a:tblPr>
                <a:noFill/>
                <a:tableStyleId>{D3B7BAA0-E47E-421F-8AC6-9A70115BEF34}</a:tableStyleId>
              </a:tblPr>
              <a:tblGrid>
                <a:gridCol w="4265025"/>
                <a:gridCol w="425557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submassive to massive necrosis of the liver caused by the hepatitis virus leading precipitously to liver failure</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All of the following criteria</a:t>
                      </a:r>
                      <a:r>
                        <a:rPr lang="en-US" sz="1800">
                          <a:solidFill>
                            <a:schemeClr val="dk2"/>
                          </a:solidFill>
                          <a:latin typeface="Arial"/>
                          <a:ea typeface="Arial"/>
                          <a:cs typeface="Arial"/>
                          <a:sym typeface="Arial"/>
                        </a:rPr>
                        <a:t> must be met: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 a rapidly decreasing liver size;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 necrosis involving entire lobules,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leaving only a collapsed reticular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framework;</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c) rapid deterioration of liver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function tests; and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d) deepening jaundice.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submassive to massive necrosis of the liver caused by the hepatitis virus leading precipitously to liver failure</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All</a:t>
                      </a:r>
                      <a:r>
                        <a:rPr lang="en-US" sz="1800">
                          <a:solidFill>
                            <a:schemeClr val="dk2"/>
                          </a:solidFill>
                          <a:latin typeface="Arial"/>
                          <a:ea typeface="Arial"/>
                          <a:cs typeface="Arial"/>
                          <a:sym typeface="Arial"/>
                        </a:rPr>
                        <a:t> of the </a:t>
                      </a:r>
                      <a:r>
                        <a:rPr lang="en-US" sz="1800">
                          <a:solidFill>
                            <a:schemeClr val="dk2"/>
                          </a:solidFill>
                          <a:latin typeface="Arial"/>
                          <a:ea typeface="Arial"/>
                          <a:cs typeface="Arial"/>
                          <a:sym typeface="Arial"/>
                        </a:rPr>
                        <a:t>following criteria</a:t>
                      </a:r>
                      <a:r>
                        <a:rPr lang="en-US" sz="1800">
                          <a:solidFill>
                            <a:schemeClr val="dk2"/>
                          </a:solidFill>
                          <a:latin typeface="Arial"/>
                          <a:ea typeface="Arial"/>
                          <a:cs typeface="Arial"/>
                          <a:sym typeface="Arial"/>
                        </a:rPr>
                        <a:t> must be met:</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a) a rapidly decreasing liver size;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b) necrosis involving entire lobules,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leaving only a collapsed reticular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framework;</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c) rapid deterioration of liver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function tests; and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r>
                        <a:rPr lang="en-US" sz="1800">
                          <a:solidFill>
                            <a:schemeClr val="dk2"/>
                          </a:solidFill>
                          <a:latin typeface="Arial"/>
                          <a:ea typeface="Arial"/>
                          <a:cs typeface="Arial"/>
                          <a:sym typeface="Arial"/>
                        </a:rPr>
                        <a:t>d) deepening jaundice.</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8">
            <a:hlinkClick r:id="rId3"/>
          </p:cNvPr>
          <p:cNvSpPr txBox="1"/>
          <p:nvPr/>
        </p:nvSpPr>
        <p:spPr>
          <a:xfrm>
            <a:off x="293915" y="144199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FULMINANT HEPATITIS</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60" name="Google Shape;660;p7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61" name="Google Shape;661;p78"/>
          <p:cNvGraphicFramePr/>
          <p:nvPr/>
        </p:nvGraphicFramePr>
        <p:xfrm>
          <a:off x="38862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07275">
                <a:tc>
                  <a:txBody>
                    <a:bodyPr/>
                    <a:lstStyle/>
                    <a:p>
                      <a:pPr indent="0" lvl="0" marL="0" marR="0" rtl="0" algn="l">
                        <a:spcBef>
                          <a:spcPts val="0"/>
                        </a:spcBef>
                        <a:spcAft>
                          <a:spcPts val="0"/>
                        </a:spcAft>
                        <a:buClr>
                          <a:schemeClr val="dk2"/>
                        </a:buClr>
                        <a:buSzPts val="1800"/>
                        <a:buFont typeface="Noto Sans Symbols"/>
                        <a:buNone/>
                      </a:pPr>
                      <a:r>
                        <a:rPr lang="en-US" sz="1800">
                          <a:solidFill>
                            <a:schemeClr val="dk2"/>
                          </a:solidFill>
                          <a:latin typeface="Arial"/>
                          <a:ea typeface="Arial"/>
                          <a:cs typeface="Arial"/>
                          <a:sym typeface="Arial"/>
                        </a:rPr>
                        <a:t> Evidence of the following must be produced: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a) liver function test to show massive parenchymal liver disease; and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b) objective signs of portosystemic encephalopathy</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 Evidence of the following must be produced: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a) liver function test to show massive parenchymal liver disease; and</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b) objective signs of portosystemic encephalopathy</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100">
        <p14:flip dir="l"/>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79">
            <a:hlinkClick r:id="rId3"/>
          </p:cNvPr>
          <p:cNvSpPr txBox="1"/>
          <p:nvPr/>
        </p:nvSpPr>
        <p:spPr>
          <a:xfrm>
            <a:off x="286660" y="1473201"/>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MAJOR HEAD TRAUMA</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68" name="Google Shape;668;p7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69" name="Google Shape;669;p79"/>
          <p:cNvGraphicFramePr/>
          <p:nvPr/>
        </p:nvGraphicFramePr>
        <p:xfrm>
          <a:off x="366125"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major trauma to the head with disturbance of the brain function confirmed by a certified neurologist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result in a permanent bedridden situation or the inability to perform without assistance three (3) or more activities of daily living</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illnesses have to be medically documented for at least three (3) months</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major trauma to the head with disturbance of the brain function confirmed by certified neurologist</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result in a permanent bedridden situation or the inability to perform without assistance three (3) or more activities of daily living</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 illnesses have to be medically documented for at least three (3) months</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0">
            <a:hlinkClick r:id="rId3"/>
          </p:cNvPr>
          <p:cNvSpPr txBox="1"/>
          <p:nvPr/>
        </p:nvSpPr>
        <p:spPr>
          <a:xfrm>
            <a:off x="286660" y="1465218"/>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END STAGE LIVER FAILURE</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76" name="Google Shape;676;p8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77" name="Google Shape;677;p80"/>
          <p:cNvGraphicFramePr/>
          <p:nvPr/>
        </p:nvGraphicFramePr>
        <p:xfrm>
          <a:off x="387350" y="24945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342900" lvl="0" marL="342900" marR="0" rtl="0" algn="l">
                        <a:spcBef>
                          <a:spcPts val="0"/>
                        </a:spcBef>
                        <a:spcAft>
                          <a:spcPts val="0"/>
                        </a:spcAft>
                        <a:buClr>
                          <a:schemeClr val="dk2"/>
                        </a:buClr>
                        <a:buSzPts val="2200"/>
                        <a:buFont typeface="Noto Sans Symbols"/>
                        <a:buChar char="✔"/>
                      </a:pPr>
                      <a:r>
                        <a:rPr lang="en-US" sz="2200">
                          <a:solidFill>
                            <a:schemeClr val="dk2"/>
                          </a:solidFill>
                          <a:latin typeface="Arial"/>
                          <a:ea typeface="Arial"/>
                          <a:cs typeface="Arial"/>
                          <a:sym typeface="Arial"/>
                        </a:rPr>
                        <a:t>as evidenced by all of the following:</a:t>
                      </a:r>
                      <a:endParaRPr/>
                    </a:p>
                    <a:p>
                      <a:pPr indent="0" lvl="0" marL="0" marR="0" rtl="0" algn="l">
                        <a:spcBef>
                          <a:spcPts val="0"/>
                        </a:spcBef>
                        <a:spcAft>
                          <a:spcPts val="0"/>
                        </a:spcAft>
                        <a:buNone/>
                      </a:pPr>
                      <a:r>
                        <a:t/>
                      </a:r>
                      <a:endParaRPr sz="2200">
                        <a:solidFill>
                          <a:schemeClr val="dk2"/>
                        </a:solidFill>
                        <a:latin typeface="Arial"/>
                        <a:ea typeface="Arial"/>
                        <a:cs typeface="Arial"/>
                        <a:sym typeface="Arial"/>
                      </a:endParaRPr>
                    </a:p>
                    <a:p>
                      <a:pPr indent="0" lvl="0" marL="0" marR="0" rtl="0" algn="l">
                        <a:spcBef>
                          <a:spcPts val="0"/>
                        </a:spcBef>
                        <a:spcAft>
                          <a:spcPts val="0"/>
                        </a:spcAft>
                        <a:buNone/>
                      </a:pPr>
                      <a:r>
                        <a:rPr lang="en-US" sz="2200">
                          <a:solidFill>
                            <a:schemeClr val="dk2"/>
                          </a:solidFill>
                          <a:latin typeface="Arial"/>
                          <a:ea typeface="Arial"/>
                          <a:cs typeface="Arial"/>
                          <a:sym typeface="Arial"/>
                        </a:rPr>
                        <a:t>     a) permanent jaundice;</a:t>
                      </a:r>
                      <a:endParaRPr/>
                    </a:p>
                    <a:p>
                      <a:pPr indent="0" lvl="0" marL="0" marR="0" rtl="0" algn="l">
                        <a:spcBef>
                          <a:spcPts val="0"/>
                        </a:spcBef>
                        <a:spcAft>
                          <a:spcPts val="0"/>
                        </a:spcAft>
                        <a:buNone/>
                      </a:pPr>
                      <a:r>
                        <a:rPr lang="en-US" sz="2200">
                          <a:solidFill>
                            <a:schemeClr val="dk2"/>
                          </a:solidFill>
                          <a:latin typeface="Arial"/>
                          <a:ea typeface="Arial"/>
                          <a:cs typeface="Arial"/>
                          <a:sym typeface="Arial"/>
                        </a:rPr>
                        <a:t>     b) ascites; and</a:t>
                      </a:r>
                      <a:endParaRPr/>
                    </a:p>
                    <a:p>
                      <a:pPr indent="0" lvl="0" marL="0" marR="0" rtl="0" algn="l">
                        <a:spcBef>
                          <a:spcPts val="0"/>
                        </a:spcBef>
                        <a:spcAft>
                          <a:spcPts val="0"/>
                        </a:spcAft>
                        <a:buNone/>
                      </a:pPr>
                      <a:r>
                        <a:rPr lang="en-US" sz="2200">
                          <a:solidFill>
                            <a:schemeClr val="dk2"/>
                          </a:solidFill>
                          <a:latin typeface="Arial"/>
                          <a:ea typeface="Arial"/>
                          <a:cs typeface="Arial"/>
                          <a:sym typeface="Arial"/>
                        </a:rPr>
                        <a:t>     c) encephalopathy</a:t>
                      </a:r>
                      <a:endParaRPr sz="22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2200"/>
                        <a:buFont typeface="Noto Sans Symbols"/>
                        <a:buChar char="✔"/>
                      </a:pPr>
                      <a:r>
                        <a:rPr lang="en-US" sz="2200">
                          <a:solidFill>
                            <a:schemeClr val="dk2"/>
                          </a:solidFill>
                          <a:latin typeface="Arial"/>
                          <a:ea typeface="Arial"/>
                          <a:cs typeface="Arial"/>
                          <a:sym typeface="Arial"/>
                        </a:rPr>
                        <a:t>as evidenced by all of the following:</a:t>
                      </a:r>
                      <a:endParaRPr/>
                    </a:p>
                    <a:p>
                      <a:pPr indent="0" lvl="0" marL="0" marR="0" rtl="0" algn="l">
                        <a:spcBef>
                          <a:spcPts val="0"/>
                        </a:spcBef>
                        <a:spcAft>
                          <a:spcPts val="0"/>
                        </a:spcAft>
                        <a:buNone/>
                      </a:pPr>
                      <a:r>
                        <a:t/>
                      </a:r>
                      <a:endParaRPr sz="2200">
                        <a:solidFill>
                          <a:schemeClr val="dk2"/>
                        </a:solidFill>
                        <a:latin typeface="Arial"/>
                        <a:ea typeface="Arial"/>
                        <a:cs typeface="Arial"/>
                        <a:sym typeface="Arial"/>
                      </a:endParaRPr>
                    </a:p>
                    <a:p>
                      <a:pPr indent="0" lvl="0" marL="0" marR="0" rtl="0" algn="l">
                        <a:spcBef>
                          <a:spcPts val="0"/>
                        </a:spcBef>
                        <a:spcAft>
                          <a:spcPts val="0"/>
                        </a:spcAft>
                        <a:buNone/>
                      </a:pPr>
                      <a:r>
                        <a:rPr lang="en-US" sz="2200">
                          <a:solidFill>
                            <a:schemeClr val="dk2"/>
                          </a:solidFill>
                          <a:latin typeface="Arial"/>
                          <a:ea typeface="Arial"/>
                          <a:cs typeface="Arial"/>
                          <a:sym typeface="Arial"/>
                        </a:rPr>
                        <a:t>     a) permanent jaundice;</a:t>
                      </a:r>
                      <a:endParaRPr/>
                    </a:p>
                    <a:p>
                      <a:pPr indent="0" lvl="0" marL="0" marR="0" rtl="0" algn="l">
                        <a:spcBef>
                          <a:spcPts val="0"/>
                        </a:spcBef>
                        <a:spcAft>
                          <a:spcPts val="0"/>
                        </a:spcAft>
                        <a:buNone/>
                      </a:pPr>
                      <a:r>
                        <a:rPr lang="en-US" sz="2200">
                          <a:solidFill>
                            <a:schemeClr val="dk2"/>
                          </a:solidFill>
                          <a:latin typeface="Arial"/>
                          <a:ea typeface="Arial"/>
                          <a:cs typeface="Arial"/>
                          <a:sym typeface="Arial"/>
                        </a:rPr>
                        <a:t>     b) ascites; and</a:t>
                      </a:r>
                      <a:endParaRPr/>
                    </a:p>
                    <a:p>
                      <a:pPr indent="0" lvl="0" marL="0" marR="0" rtl="0" algn="l">
                        <a:spcBef>
                          <a:spcPts val="0"/>
                        </a:spcBef>
                        <a:spcAft>
                          <a:spcPts val="0"/>
                        </a:spcAft>
                        <a:buNone/>
                      </a:pPr>
                      <a:r>
                        <a:rPr lang="en-US" sz="2200">
                          <a:solidFill>
                            <a:schemeClr val="dk2"/>
                          </a:solidFill>
                          <a:latin typeface="Arial"/>
                          <a:ea typeface="Arial"/>
                          <a:cs typeface="Arial"/>
                          <a:sym typeface="Arial"/>
                        </a:rPr>
                        <a:t>     c) Encephalopathy</a:t>
                      </a:r>
                      <a:endParaRPr sz="22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81">
            <a:hlinkClick r:id="rId3"/>
          </p:cNvPr>
          <p:cNvSpPr txBox="1"/>
          <p:nvPr/>
        </p:nvSpPr>
        <p:spPr>
          <a:xfrm>
            <a:off x="286660" y="1449979"/>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MOTOR NEURONE DISEASE</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84" name="Google Shape;684;p8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85" name="Google Shape;685;p81"/>
          <p:cNvGraphicFramePr/>
          <p:nvPr/>
        </p:nvGraphicFramePr>
        <p:xfrm>
          <a:off x="362860" y="249459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A group of disorders characterized by a steady progressive degeneration of motor neurons in the brain, brainstem and spinal cord</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Covered conditions</a:t>
                      </a:r>
                      <a:r>
                        <a:rPr lang="en-US" sz="1700">
                          <a:solidFill>
                            <a:schemeClr val="dk2"/>
                          </a:solidFill>
                          <a:latin typeface="Arial"/>
                          <a:ea typeface="Arial"/>
                          <a:cs typeface="Arial"/>
                          <a:sym typeface="Arial"/>
                        </a:rPr>
                        <a:t> </a:t>
                      </a:r>
                      <a:r>
                        <a:rPr lang="en-US" sz="1700">
                          <a:solidFill>
                            <a:schemeClr val="dk2"/>
                          </a:solidFill>
                          <a:latin typeface="Arial"/>
                          <a:ea typeface="Arial"/>
                          <a:cs typeface="Arial"/>
                          <a:sym typeface="Arial"/>
                        </a:rPr>
                        <a:t>include spinal muscular atrophy, progressive</a:t>
                      </a:r>
                      <a:r>
                        <a:rPr lang="en-US" sz="1700">
                          <a:solidFill>
                            <a:schemeClr val="dk2"/>
                          </a:solidFill>
                          <a:latin typeface="Arial"/>
                          <a:ea typeface="Arial"/>
                          <a:cs typeface="Arial"/>
                          <a:sym typeface="Arial"/>
                        </a:rPr>
                        <a:t> </a:t>
                      </a:r>
                      <a:r>
                        <a:rPr lang="en-US" sz="1700">
                          <a:solidFill>
                            <a:schemeClr val="dk2"/>
                          </a:solidFill>
                          <a:latin typeface="Arial"/>
                          <a:ea typeface="Arial"/>
                          <a:cs typeface="Arial"/>
                          <a:sym typeface="Arial"/>
                        </a:rPr>
                        <a:t>bulbar palsy, amyotrophic lateral sclerosis and primary lateral sclerosis</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a:t>
                      </a:r>
                      <a:r>
                        <a:rPr lang="en-US" sz="1700">
                          <a:solidFill>
                            <a:schemeClr val="dk2"/>
                          </a:solidFill>
                          <a:latin typeface="Arial"/>
                          <a:ea typeface="Arial"/>
                          <a:cs typeface="Arial"/>
                          <a:sym typeface="Arial"/>
                        </a:rPr>
                        <a:t> be diagnosed by a </a:t>
                      </a:r>
                      <a:r>
                        <a:rPr lang="en-US" sz="1700">
                          <a:solidFill>
                            <a:schemeClr val="dk2"/>
                          </a:solidFill>
                          <a:latin typeface="Arial"/>
                          <a:ea typeface="Arial"/>
                          <a:cs typeface="Arial"/>
                          <a:sym typeface="Arial"/>
                        </a:rPr>
                        <a:t>neurologist</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verified by typical changes on electromyography</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be progressive and resulting in</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     permanent functional neurological   </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     </a:t>
                      </a:r>
                      <a:r>
                        <a:rPr lang="en-US" sz="1700">
                          <a:solidFill>
                            <a:schemeClr val="dk2"/>
                          </a:solidFill>
                          <a:latin typeface="Arial"/>
                          <a:ea typeface="Arial"/>
                          <a:cs typeface="Arial"/>
                          <a:sym typeface="Arial"/>
                        </a:rPr>
                        <a:t>deficit</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A group of disorders characterized by a steady progressive degeneration of motor neurons in the brain, brainstem and spinal cord</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Covered</a:t>
                      </a:r>
                      <a:r>
                        <a:rPr lang="en-US" sz="1700">
                          <a:solidFill>
                            <a:schemeClr val="dk2"/>
                          </a:solidFill>
                          <a:latin typeface="Arial"/>
                          <a:ea typeface="Arial"/>
                          <a:cs typeface="Arial"/>
                          <a:sym typeface="Arial"/>
                        </a:rPr>
                        <a:t> conditions include </a:t>
                      </a:r>
                      <a:r>
                        <a:rPr lang="en-US" sz="1700">
                          <a:solidFill>
                            <a:schemeClr val="dk2"/>
                          </a:solidFill>
                          <a:latin typeface="Arial"/>
                          <a:ea typeface="Arial"/>
                          <a:cs typeface="Arial"/>
                          <a:sym typeface="Arial"/>
                        </a:rPr>
                        <a:t>spinal muscular atrophy, progressive bulbar palsy, amyotrophic lateral sclerosis and primary lateral sclerosis</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a:t>
                      </a:r>
                      <a:r>
                        <a:rPr lang="en-US" sz="1700">
                          <a:solidFill>
                            <a:schemeClr val="dk2"/>
                          </a:solidFill>
                          <a:latin typeface="Arial"/>
                          <a:ea typeface="Arial"/>
                          <a:cs typeface="Arial"/>
                          <a:sym typeface="Arial"/>
                        </a:rPr>
                        <a:t> be diagnosed by a neurologist</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verified by typical changes on </a:t>
                      </a:r>
                      <a:r>
                        <a:rPr lang="en-US" sz="1700">
                          <a:solidFill>
                            <a:srgbClr val="FF0000"/>
                          </a:solidFill>
                          <a:latin typeface="Arial"/>
                          <a:ea typeface="Arial"/>
                          <a:cs typeface="Arial"/>
                          <a:sym typeface="Arial"/>
                        </a:rPr>
                        <a:t>electro diagnostic studies</a:t>
                      </a:r>
                      <a:endParaRPr/>
                    </a:p>
                    <a:p>
                      <a:pPr indent="-285750" lvl="0" marL="285750" marR="0" rtl="0" algn="l">
                        <a:spcBef>
                          <a:spcPts val="0"/>
                        </a:spcBef>
                        <a:spcAft>
                          <a:spcPts val="0"/>
                        </a:spcAft>
                        <a:buClr>
                          <a:schemeClr val="dk2"/>
                        </a:buClr>
                        <a:buSzPts val="1700"/>
                        <a:buFont typeface="Noto Sans Symbols"/>
                        <a:buChar char="✔"/>
                      </a:pPr>
                      <a:r>
                        <a:rPr lang="en-US" sz="1700">
                          <a:solidFill>
                            <a:schemeClr val="dk2"/>
                          </a:solidFill>
                          <a:latin typeface="Arial"/>
                          <a:ea typeface="Arial"/>
                          <a:cs typeface="Arial"/>
                          <a:sym typeface="Arial"/>
                        </a:rPr>
                        <a:t>must  be progressive and resulting in permanent functional neurological deficit</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2">
            <a:hlinkClick r:id="rId3"/>
          </p:cNvPr>
          <p:cNvSpPr txBox="1"/>
          <p:nvPr/>
        </p:nvSpPr>
        <p:spPr>
          <a:xfrm>
            <a:off x="286660" y="1472477"/>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GUILLAINE-BARRE SYNDROME</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692" name="Google Shape;692;p8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693" name="Google Shape;693;p82"/>
          <p:cNvGraphicFramePr/>
          <p:nvPr/>
        </p:nvGraphicFramePr>
        <p:xfrm>
          <a:off x="372110" y="24488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symmetrical paralysis and loss of reflexes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a:t>
                      </a:r>
                      <a:r>
                        <a:rPr lang="en-US" sz="1800">
                          <a:solidFill>
                            <a:schemeClr val="dk2"/>
                          </a:solidFill>
                          <a:latin typeface="Arial"/>
                          <a:ea typeface="Arial"/>
                          <a:cs typeface="Arial"/>
                          <a:sym typeface="Arial"/>
                        </a:rPr>
                        <a:t> be diagnosed by a </a:t>
                      </a:r>
                      <a:r>
                        <a:rPr lang="en-US" sz="1800">
                          <a:solidFill>
                            <a:schemeClr val="dk2"/>
                          </a:solidFill>
                          <a:latin typeface="Arial"/>
                          <a:ea typeface="Arial"/>
                          <a:cs typeface="Arial"/>
                          <a:sym typeface="Arial"/>
                        </a:rPr>
                        <a:t>neurologist </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verified with typical abnormalities on nerve conduction studies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permanent functional neurological deficits with abnormal motor or sensory signs on objective examination by a neurologist one (1) month after the initial diagnosis of the disease</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progressive symmetrical paralysis and loss of reflexes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a:t>
                      </a:r>
                      <a:r>
                        <a:rPr lang="en-US" sz="1800">
                          <a:solidFill>
                            <a:schemeClr val="dk2"/>
                          </a:solidFill>
                          <a:latin typeface="Arial"/>
                          <a:ea typeface="Arial"/>
                          <a:cs typeface="Arial"/>
                          <a:sym typeface="Arial"/>
                        </a:rPr>
                        <a:t> diagnosed by a neurologist</a:t>
                      </a:r>
                      <a:endParaRPr sz="1800">
                        <a:solidFill>
                          <a:schemeClr val="dk2"/>
                        </a:solidFill>
                        <a:latin typeface="Arial"/>
                        <a:ea typeface="Arial"/>
                        <a:cs typeface="Arial"/>
                        <a:sym typeface="Arial"/>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must be verified with typical abnormalities on nerve conduction studies</a:t>
                      </a:r>
                      <a:endParaRPr/>
                    </a:p>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permanent functional neurological deficits with abnormal motor or sensory signs on objective examination by a neurologist one (1) month after the initial diagnosis of the disease</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3">
            <a:hlinkClick r:id="rId3"/>
          </p:cNvPr>
          <p:cNvSpPr txBox="1"/>
          <p:nvPr/>
        </p:nvSpPr>
        <p:spPr>
          <a:xfrm>
            <a:off x="272146" y="144925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MAJOR ORGAN TRANSPLANT</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700" name="Google Shape;700;p8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01" name="Google Shape;701;p83"/>
          <p:cNvGraphicFramePr/>
          <p:nvPr/>
        </p:nvGraphicFramePr>
        <p:xfrm>
          <a:off x="348346" y="244887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transplant of a heart, liver, lung, kidney, pancreas or bone marrow as recipient</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major organ transplant must have been done because of the specific organ failure</a:t>
                      </a:r>
                      <a:endParaRPr/>
                    </a:p>
                    <a:p>
                      <a:pPr indent="0" lvl="0" marL="0" marR="0" rtl="0" algn="l">
                        <a:spcBef>
                          <a:spcPts val="0"/>
                        </a:spcBef>
                        <a:spcAft>
                          <a:spcPts val="0"/>
                        </a:spcAft>
                        <a:buClr>
                          <a:schemeClr val="dk1"/>
                        </a:buClr>
                        <a:buSzPts val="2000"/>
                        <a:buFont typeface="Noto Sans Symbols"/>
                        <a:buNone/>
                      </a:pPr>
                      <a:r>
                        <a:t/>
                      </a:r>
                      <a:endParaRPr sz="2000">
                        <a:solidFill>
                          <a:schemeClr val="dk2"/>
                        </a:solidFill>
                        <a:latin typeface="Arial"/>
                        <a:ea typeface="Arial"/>
                        <a:cs typeface="Arial"/>
                        <a:sym typeface="Arial"/>
                      </a:endParaRPr>
                    </a:p>
                    <a:p>
                      <a:pPr indent="0" lvl="0" marL="0" marR="0" rtl="0" algn="l">
                        <a:spcBef>
                          <a:spcPts val="0"/>
                        </a:spcBef>
                        <a:spcAft>
                          <a:spcPts val="0"/>
                        </a:spcAft>
                        <a:buClr>
                          <a:schemeClr val="dk2"/>
                        </a:buClr>
                        <a:buSzPts val="2000"/>
                        <a:buFont typeface="Noto Sans Symbols"/>
                        <a:buNone/>
                      </a:pPr>
                      <a:r>
                        <a:rPr b="1" lang="en-US" sz="2000" u="sng">
                          <a:solidFill>
                            <a:schemeClr val="dk2"/>
                          </a:solidFill>
                          <a:latin typeface="Arial"/>
                          <a:ea typeface="Arial"/>
                          <a:cs typeface="Arial"/>
                          <a:sym typeface="Arial"/>
                        </a:rPr>
                        <a:t>Exclusion:</a:t>
                      </a:r>
                      <a:endParaRPr/>
                    </a:p>
                    <a:p>
                      <a:pPr indent="0" lvl="0" marL="0" marR="0" rtl="0" algn="l">
                        <a:spcBef>
                          <a:spcPts val="0"/>
                        </a:spcBef>
                        <a:spcAft>
                          <a:spcPts val="0"/>
                        </a:spcAft>
                        <a:buClr>
                          <a:schemeClr val="dk2"/>
                        </a:buClr>
                        <a:buSzPts val="2000"/>
                        <a:buFont typeface="Noto Sans Symbols"/>
                        <a:buNone/>
                      </a:pPr>
                      <a:r>
                        <a:rPr lang="en-US" sz="2000">
                          <a:solidFill>
                            <a:schemeClr val="dk2"/>
                          </a:solidFill>
                          <a:latin typeface="Arial"/>
                          <a:ea typeface="Arial"/>
                          <a:cs typeface="Arial"/>
                          <a:sym typeface="Arial"/>
                        </a:rPr>
                        <a:t>-Stem cell and Pancreatic Islet cell</a:t>
                      </a:r>
                      <a:endParaRPr/>
                    </a:p>
                    <a:p>
                      <a:pPr indent="0" lvl="0" marL="0" marR="0" rtl="0" algn="l">
                        <a:spcBef>
                          <a:spcPts val="0"/>
                        </a:spcBef>
                        <a:spcAft>
                          <a:spcPts val="0"/>
                        </a:spcAft>
                        <a:buNone/>
                      </a:pPr>
                      <a:r>
                        <a:rPr lang="en-US" sz="2000">
                          <a:solidFill>
                            <a:schemeClr val="dk2"/>
                          </a:solidFill>
                          <a:latin typeface="Arial"/>
                          <a:ea typeface="Arial"/>
                          <a:cs typeface="Arial"/>
                          <a:sym typeface="Arial"/>
                        </a:rPr>
                        <a:t>transplant are excluded</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transplant of a heart, liver, lung, kidney, pancreas or bone marrow as recipient</a:t>
                      </a:r>
                      <a:endParaRPr/>
                    </a:p>
                    <a:p>
                      <a:pPr indent="-342900" lvl="0" marL="342900" marR="0" rtl="0" algn="l">
                        <a:spcBef>
                          <a:spcPts val="0"/>
                        </a:spcBef>
                        <a:spcAft>
                          <a:spcPts val="0"/>
                        </a:spcAft>
                        <a:buClr>
                          <a:schemeClr val="dk2"/>
                        </a:buClr>
                        <a:buSzPts val="2000"/>
                        <a:buFont typeface="Noto Sans Symbols"/>
                        <a:buChar char="✔"/>
                      </a:pPr>
                      <a:r>
                        <a:rPr lang="en-US" sz="2000">
                          <a:solidFill>
                            <a:schemeClr val="dk2"/>
                          </a:solidFill>
                          <a:latin typeface="Arial"/>
                          <a:ea typeface="Arial"/>
                          <a:cs typeface="Arial"/>
                          <a:sym typeface="Arial"/>
                        </a:rPr>
                        <a:t>major organ transplant must have been done because of the specific organ failure</a:t>
                      </a:r>
                      <a:endParaRPr/>
                    </a:p>
                    <a:p>
                      <a:pPr indent="0" lvl="0" marL="0" marR="0" rtl="0" algn="l">
                        <a:spcBef>
                          <a:spcPts val="0"/>
                        </a:spcBef>
                        <a:spcAft>
                          <a:spcPts val="0"/>
                        </a:spcAft>
                        <a:buClr>
                          <a:schemeClr val="dk1"/>
                        </a:buClr>
                        <a:buSzPts val="2000"/>
                        <a:buFont typeface="Noto Sans Symbols"/>
                        <a:buNone/>
                      </a:pPr>
                      <a:r>
                        <a:t/>
                      </a:r>
                      <a:endParaRPr sz="2000">
                        <a:solidFill>
                          <a:schemeClr val="dk2"/>
                        </a:solidFill>
                        <a:latin typeface="Arial"/>
                        <a:ea typeface="Arial"/>
                        <a:cs typeface="Arial"/>
                        <a:sym typeface="Arial"/>
                      </a:endParaRPr>
                    </a:p>
                    <a:p>
                      <a:pPr indent="0" lvl="0" marL="0" marR="0" rtl="0" algn="l">
                        <a:spcBef>
                          <a:spcPts val="0"/>
                        </a:spcBef>
                        <a:spcAft>
                          <a:spcPts val="0"/>
                        </a:spcAft>
                        <a:buClr>
                          <a:schemeClr val="dk2"/>
                        </a:buClr>
                        <a:buSzPts val="2000"/>
                        <a:buFont typeface="Noto Sans Symbols"/>
                        <a:buNone/>
                      </a:pPr>
                      <a:r>
                        <a:rPr b="1" lang="en-US" sz="2000" u="sng">
                          <a:solidFill>
                            <a:schemeClr val="dk2"/>
                          </a:solidFill>
                          <a:latin typeface="Arial"/>
                          <a:ea typeface="Arial"/>
                          <a:cs typeface="Arial"/>
                          <a:sym typeface="Arial"/>
                        </a:rPr>
                        <a:t>Exclusion:</a:t>
                      </a:r>
                      <a:endParaRPr/>
                    </a:p>
                    <a:p>
                      <a:pPr indent="0" lvl="0" marL="0" marR="0" rtl="0" algn="l">
                        <a:spcBef>
                          <a:spcPts val="0"/>
                        </a:spcBef>
                        <a:spcAft>
                          <a:spcPts val="0"/>
                        </a:spcAft>
                        <a:buClr>
                          <a:schemeClr val="dk2"/>
                        </a:buClr>
                        <a:buSzPts val="2000"/>
                        <a:buFont typeface="Noto Sans Symbols"/>
                        <a:buNone/>
                      </a:pPr>
                      <a:r>
                        <a:rPr lang="en-US" sz="2000">
                          <a:solidFill>
                            <a:schemeClr val="dk2"/>
                          </a:solidFill>
                          <a:latin typeface="Arial"/>
                          <a:ea typeface="Arial"/>
                          <a:cs typeface="Arial"/>
                          <a:sym typeface="Arial"/>
                        </a:rPr>
                        <a:t>-Stem cell and Pancreatic Islet cell</a:t>
                      </a:r>
                      <a:endParaRPr/>
                    </a:p>
                    <a:p>
                      <a:pPr indent="0" lvl="0" marL="0" marR="0" rtl="0" algn="l">
                        <a:spcBef>
                          <a:spcPts val="0"/>
                        </a:spcBef>
                        <a:spcAft>
                          <a:spcPts val="0"/>
                        </a:spcAft>
                        <a:buNone/>
                      </a:pPr>
                      <a:r>
                        <a:rPr lang="en-US" sz="2000">
                          <a:solidFill>
                            <a:schemeClr val="dk2"/>
                          </a:solidFill>
                          <a:latin typeface="Arial"/>
                          <a:ea typeface="Arial"/>
                          <a:cs typeface="Arial"/>
                          <a:sym typeface="Arial"/>
                        </a:rPr>
                        <a:t>transplant are excluded</a:t>
                      </a:r>
                      <a:endParaRPr sz="20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900">
        <p14:warp dir="in"/>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4">
            <a:hlinkClick r:id="rId3"/>
          </p:cNvPr>
          <p:cNvSpPr txBox="1"/>
          <p:nvPr/>
        </p:nvSpPr>
        <p:spPr>
          <a:xfrm>
            <a:off x="286660" y="1545771"/>
            <a:ext cx="8556170" cy="1153886"/>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CORONARY ARTERY BYPASS SURGERY</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708" name="Google Shape;708;p8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09" name="Google Shape;709;p84"/>
          <p:cNvGraphicFramePr/>
          <p:nvPr/>
        </p:nvGraphicFramePr>
        <p:xfrm>
          <a:off x="304559" y="2845118"/>
          <a:ext cx="3000000" cy="3000000"/>
        </p:xfrm>
        <a:graphic>
          <a:graphicData uri="http://schemas.openxmlformats.org/drawingml/2006/table">
            <a:tbl>
              <a:tblPr>
                <a:noFill/>
                <a:tableStyleId>{D3B7BAA0-E47E-421F-8AC6-9A70115BEF34}</a:tableStyleId>
              </a:tblPr>
              <a:tblGrid>
                <a:gridCol w="4265025"/>
                <a:gridCol w="4290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surgery for the correction of one or more coronary</a:t>
                      </a:r>
                      <a:r>
                        <a:rPr lang="en-US" sz="1600">
                          <a:solidFill>
                            <a:schemeClr val="dk2"/>
                          </a:solidFill>
                          <a:latin typeface="Arial"/>
                          <a:ea typeface="Arial"/>
                          <a:cs typeface="Arial"/>
                          <a:sym typeface="Arial"/>
                        </a:rPr>
                        <a:t> </a:t>
                      </a:r>
                      <a:r>
                        <a:rPr lang="en-US" sz="1600">
                          <a:solidFill>
                            <a:schemeClr val="dk2"/>
                          </a:solidFill>
                          <a:latin typeface="Arial"/>
                          <a:ea typeface="Arial"/>
                          <a:cs typeface="Arial"/>
                          <a:sym typeface="Arial"/>
                        </a:rPr>
                        <a:t>arteries, which are narrowed or blocked, by coronary artery bypass graft (CABG)</a:t>
                      </a:r>
                      <a:endParaRPr/>
                    </a:p>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Must</a:t>
                      </a:r>
                      <a:r>
                        <a:rPr lang="en-US" sz="1600">
                          <a:solidFill>
                            <a:schemeClr val="dk2"/>
                          </a:solidFill>
                          <a:latin typeface="Arial"/>
                          <a:ea typeface="Arial"/>
                          <a:cs typeface="Arial"/>
                          <a:sym typeface="Arial"/>
                        </a:rPr>
                        <a:t> be </a:t>
                      </a:r>
                      <a:r>
                        <a:rPr lang="en-US" sz="1600">
                          <a:solidFill>
                            <a:schemeClr val="dk2"/>
                          </a:solidFill>
                          <a:latin typeface="Arial"/>
                          <a:ea typeface="Arial"/>
                          <a:cs typeface="Arial"/>
                          <a:sym typeface="Arial"/>
                        </a:rPr>
                        <a:t>necessary by means of coronary angiography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Angioplasty</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Chelations</a:t>
                      </a:r>
                      <a:endParaRPr sz="1600">
                        <a:solidFill>
                          <a:schemeClr val="dk2"/>
                        </a:solidFill>
                        <a:latin typeface="Arial"/>
                        <a:ea typeface="Arial"/>
                        <a:cs typeface="Arial"/>
                        <a:sym typeface="Arial"/>
                      </a:endParaRPr>
                    </a:p>
                    <a:p>
                      <a:pPr indent="0" lvl="0" marL="0" marR="0" rtl="0" algn="l">
                        <a:spcBef>
                          <a:spcPts val="0"/>
                        </a:spcBef>
                        <a:spcAft>
                          <a:spcPts val="0"/>
                        </a:spcAft>
                        <a:buNone/>
                      </a:pPr>
                      <a:r>
                        <a:rPr lang="en-US" sz="1600">
                          <a:solidFill>
                            <a:schemeClr val="dk2"/>
                          </a:solidFill>
                          <a:latin typeface="Arial"/>
                          <a:ea typeface="Arial"/>
                          <a:cs typeface="Arial"/>
                          <a:sym typeface="Arial"/>
                        </a:rPr>
                        <a:t>− other palliative procedures including rotablation and laser application</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all other intra-arterial and non-surgical procedures</a:t>
                      </a:r>
                      <a:r>
                        <a:rPr lang="en-US" sz="1600">
                          <a:solidFill>
                            <a:schemeClr val="dk1"/>
                          </a:solidFill>
                          <a:latin typeface="Calibri"/>
                          <a:ea typeface="Calibri"/>
                          <a:cs typeface="Calibri"/>
                          <a:sym typeface="Calibri"/>
                        </a:rPr>
                        <a:t> </a:t>
                      </a:r>
                      <a:endParaRPr sz="16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surgery with median sternotomy for the correction of one or more coronary arteries, which are narrowed or blocked, by coronary artery bypass graft (CABG)</a:t>
                      </a:r>
                      <a:endParaRPr/>
                    </a:p>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Must</a:t>
                      </a:r>
                      <a:r>
                        <a:rPr lang="en-US" sz="1600">
                          <a:solidFill>
                            <a:schemeClr val="dk2"/>
                          </a:solidFill>
                          <a:latin typeface="Arial"/>
                          <a:ea typeface="Arial"/>
                          <a:cs typeface="Arial"/>
                          <a:sym typeface="Arial"/>
                        </a:rPr>
                        <a:t> be </a:t>
                      </a:r>
                      <a:r>
                        <a:rPr lang="en-US" sz="1600">
                          <a:solidFill>
                            <a:schemeClr val="dk2"/>
                          </a:solidFill>
                          <a:latin typeface="Arial"/>
                          <a:ea typeface="Arial"/>
                          <a:cs typeface="Arial"/>
                          <a:sym typeface="Arial"/>
                        </a:rPr>
                        <a:t>necessary by means of coronary angiography.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Angioplasty;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Chelations;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other palliative procedures including rotablation and laser application</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all other intra-arterial and non-surgical procedures</a:t>
                      </a:r>
                      <a:endParaRPr sz="16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5">
            <a:hlinkClick r:id="rId3"/>
          </p:cNvPr>
          <p:cNvSpPr txBox="1"/>
          <p:nvPr/>
        </p:nvSpPr>
        <p:spPr>
          <a:xfrm>
            <a:off x="286660" y="1463034"/>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AORTIC SURGERY</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716" name="Google Shape;716;p8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17" name="Google Shape;717;p85"/>
          <p:cNvGraphicFramePr/>
          <p:nvPr/>
        </p:nvGraphicFramePr>
        <p:xfrm>
          <a:off x="366125" y="2442341"/>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surgery for disease of the aorta requiring excision and surgical replacement of the diseased aorta with a graft</a:t>
                      </a:r>
                      <a:endParaRPr/>
                    </a:p>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Aorta means the thoracic and/or abdominal aorta but not the branches of the aorta</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t>
                      </a:r>
                      <a:endParaRPr/>
                    </a:p>
                    <a:p>
                      <a:pPr indent="0" lvl="0" marL="0" marR="0" rtl="0" algn="l">
                        <a:spcBef>
                          <a:spcPts val="0"/>
                        </a:spcBef>
                        <a:spcAft>
                          <a:spcPts val="0"/>
                        </a:spcAft>
                        <a:buNone/>
                      </a:pPr>
                      <a:r>
                        <a:t/>
                      </a:r>
                      <a:endParaRPr b="1" sz="1600" u="sng">
                        <a:solidFill>
                          <a:schemeClr val="dk2"/>
                        </a:solidFill>
                        <a:latin typeface="Arial"/>
                        <a:ea typeface="Arial"/>
                        <a:cs typeface="Arial"/>
                        <a:sym typeface="Arial"/>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Traumatic injury of the aorta </a:t>
                      </a:r>
                      <a:endParaRPr sz="16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surgery </a:t>
                      </a:r>
                      <a:r>
                        <a:rPr lang="en-US" sz="1600">
                          <a:solidFill>
                            <a:srgbClr val="FF0000"/>
                          </a:solidFill>
                          <a:latin typeface="Arial"/>
                          <a:ea typeface="Arial"/>
                          <a:cs typeface="Arial"/>
                          <a:sym typeface="Arial"/>
                        </a:rPr>
                        <a:t>via a thoracotomy or laparotomy</a:t>
                      </a:r>
                      <a:r>
                        <a:rPr lang="en-US" sz="1600">
                          <a:solidFill>
                            <a:schemeClr val="dk2"/>
                          </a:solidFill>
                          <a:latin typeface="Arial"/>
                          <a:ea typeface="Arial"/>
                          <a:cs typeface="Arial"/>
                          <a:sym typeface="Arial"/>
                        </a:rPr>
                        <a:t> for disease of the aorta requiring excision and surgical replacement of the diseased aorta with a graft</a:t>
                      </a:r>
                      <a:endParaRPr/>
                    </a:p>
                    <a:p>
                      <a:pPr indent="-285750" lvl="0" marL="285750" marR="0" rtl="0" algn="l">
                        <a:spcBef>
                          <a:spcPts val="0"/>
                        </a:spcBef>
                        <a:spcAft>
                          <a:spcPts val="0"/>
                        </a:spcAft>
                        <a:buClr>
                          <a:schemeClr val="dk2"/>
                        </a:buClr>
                        <a:buSzPts val="1600"/>
                        <a:buFont typeface="Noto Sans Symbols"/>
                        <a:buChar char="✔"/>
                      </a:pPr>
                      <a:r>
                        <a:rPr lang="en-US" sz="1600">
                          <a:solidFill>
                            <a:schemeClr val="dk2"/>
                          </a:solidFill>
                          <a:latin typeface="Arial"/>
                          <a:ea typeface="Arial"/>
                          <a:cs typeface="Arial"/>
                          <a:sym typeface="Arial"/>
                        </a:rPr>
                        <a:t>Aorta means the thoracic and/or abdominal aorta but not the branches of the aorta</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600" u="sng">
                          <a:solidFill>
                            <a:schemeClr val="dk2"/>
                          </a:solidFill>
                          <a:latin typeface="Arial"/>
                          <a:ea typeface="Arial"/>
                          <a:cs typeface="Arial"/>
                          <a:sym typeface="Arial"/>
                        </a:rPr>
                        <a:t>Exclusions: </a:t>
                      </a:r>
                      <a:endParaRPr/>
                    </a:p>
                    <a:p>
                      <a:pPr indent="0" lvl="0" marL="0" marR="0" rtl="0" algn="l">
                        <a:spcBef>
                          <a:spcPts val="0"/>
                        </a:spcBef>
                        <a:spcAft>
                          <a:spcPts val="0"/>
                        </a:spcAft>
                        <a:buNone/>
                      </a:pPr>
                      <a:r>
                        <a:rPr lang="en-US" sz="1600">
                          <a:solidFill>
                            <a:schemeClr val="dk2"/>
                          </a:solidFill>
                          <a:latin typeface="Arial"/>
                          <a:ea typeface="Arial"/>
                          <a:cs typeface="Arial"/>
                          <a:sym typeface="Arial"/>
                        </a:rPr>
                        <a:t>− Traumatic injury of the aorta; </a:t>
                      </a:r>
                      <a:endParaRPr/>
                    </a:p>
                    <a:p>
                      <a:pPr indent="0" lvl="0" marL="0" marR="0" rtl="0" algn="l">
                        <a:spcBef>
                          <a:spcPts val="0"/>
                        </a:spcBef>
                        <a:spcAft>
                          <a:spcPts val="0"/>
                        </a:spcAft>
                        <a:buNone/>
                      </a:pPr>
                      <a:r>
                        <a:rPr lang="en-US" sz="1600">
                          <a:solidFill>
                            <a:srgbClr val="FF0000"/>
                          </a:solidFill>
                          <a:latin typeface="Arial"/>
                          <a:ea typeface="Arial"/>
                          <a:cs typeface="Arial"/>
                          <a:sym typeface="Arial"/>
                        </a:rPr>
                        <a:t>− Surgery of the aortic branches; </a:t>
                      </a:r>
                      <a:endParaRPr/>
                    </a:p>
                    <a:p>
                      <a:pPr indent="0" lvl="0" marL="0" marR="0" rtl="0" algn="l">
                        <a:spcBef>
                          <a:spcPts val="0"/>
                        </a:spcBef>
                        <a:spcAft>
                          <a:spcPts val="0"/>
                        </a:spcAft>
                        <a:buNone/>
                      </a:pPr>
                      <a:r>
                        <a:rPr lang="en-US" sz="1600">
                          <a:solidFill>
                            <a:srgbClr val="FF0000"/>
                          </a:solidFill>
                          <a:latin typeface="Arial"/>
                          <a:ea typeface="Arial"/>
                          <a:cs typeface="Arial"/>
                          <a:sym typeface="Arial"/>
                        </a:rPr>
                        <a:t>− Surgery performed using only minimally invasive or intra arterial techniques</a:t>
                      </a:r>
                      <a:endParaRPr sz="1600">
                        <a:solidFill>
                          <a:srgbClr val="FF0000"/>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6">
            <a:hlinkClick r:id="rId3"/>
          </p:cNvPr>
          <p:cNvSpPr txBox="1"/>
          <p:nvPr/>
        </p:nvSpPr>
        <p:spPr>
          <a:xfrm>
            <a:off x="286660" y="146303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REPLACEMENT OF HEART VALVE</a:t>
            </a:r>
            <a:endParaRPr sz="3200">
              <a:solidFill>
                <a:srgbClr val="17365D"/>
              </a:solidFill>
              <a:latin typeface="Arial"/>
              <a:ea typeface="Arial"/>
              <a:cs typeface="Arial"/>
              <a:sym typeface="Arial"/>
            </a:endParaRPr>
          </a:p>
        </p:txBody>
      </p:sp>
      <p:sp>
        <p:nvSpPr>
          <p:cNvPr id="724" name="Google Shape;724;p8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25" name="Google Shape;725;p86"/>
          <p:cNvGraphicFramePr/>
          <p:nvPr/>
        </p:nvGraphicFramePr>
        <p:xfrm>
          <a:off x="35687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replacement of one or more heart valves due to stenosis or incompetence, or a combination of these conditions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t/>
                      </a:r>
                      <a:endParaRPr b="1" sz="1800" u="sng">
                        <a:solidFill>
                          <a:schemeClr val="dk2"/>
                        </a:solidFill>
                        <a:latin typeface="Arial"/>
                        <a:ea typeface="Arial"/>
                        <a:cs typeface="Arial"/>
                        <a:sym typeface="Arial"/>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Valvotomy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spcBef>
                          <a:spcPts val="0"/>
                        </a:spcBef>
                        <a:spcAft>
                          <a:spcPts val="0"/>
                        </a:spcAft>
                        <a:buClr>
                          <a:schemeClr val="dk2"/>
                        </a:buClr>
                        <a:buSzPts val="1800"/>
                        <a:buFont typeface="Noto Sans Symbols"/>
                        <a:buChar char="✔"/>
                      </a:pPr>
                      <a:r>
                        <a:rPr lang="en-US" sz="1800">
                          <a:solidFill>
                            <a:schemeClr val="dk2"/>
                          </a:solidFill>
                          <a:latin typeface="Arial"/>
                          <a:ea typeface="Arial"/>
                          <a:cs typeface="Arial"/>
                          <a:sym typeface="Arial"/>
                        </a:rPr>
                        <a:t>open-heart surgery for the purpose of the replacement of one or more heart valves due to stenosis or incompetence, or a combination of these conditions</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a:t>
                      </a:r>
                      <a:endParaRPr/>
                    </a:p>
                    <a:p>
                      <a:pPr indent="0" lvl="0" marL="0" marR="0" rtl="0" algn="l">
                        <a:spcBef>
                          <a:spcPts val="0"/>
                        </a:spcBef>
                        <a:spcAft>
                          <a:spcPts val="0"/>
                        </a:spcAft>
                        <a:buNone/>
                      </a:pPr>
                      <a:r>
                        <a:rPr b="1" lang="en-US" sz="1800" u="sng">
                          <a:solidFill>
                            <a:schemeClr val="dk2"/>
                          </a:solidFill>
                          <a:latin typeface="Arial"/>
                          <a:ea typeface="Arial"/>
                          <a:cs typeface="Arial"/>
                          <a:sym typeface="Arial"/>
                        </a:rPr>
                        <a:t>Exclusion: </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 Heart valve repair or Valvotomy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7">
            <a:hlinkClick r:id="rId3"/>
          </p:cNvPr>
          <p:cNvSpPr txBox="1"/>
          <p:nvPr/>
        </p:nvSpPr>
        <p:spPr>
          <a:xfrm>
            <a:off x="286660" y="146303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325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936"/>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EXCLUSIONS </a:t>
            </a:r>
            <a:endParaRPr sz="3200">
              <a:solidFill>
                <a:srgbClr val="17365D"/>
              </a:solidFill>
              <a:latin typeface="Arial"/>
              <a:ea typeface="Arial"/>
              <a:cs typeface="Arial"/>
              <a:sym typeface="Arial"/>
            </a:endParaRPr>
          </a:p>
        </p:txBody>
      </p:sp>
      <p:sp>
        <p:nvSpPr>
          <p:cNvPr id="732" name="Google Shape;732;p8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33" name="Google Shape;733;p87"/>
          <p:cNvGraphicFramePr/>
          <p:nvPr/>
        </p:nvGraphicFramePr>
        <p:xfrm>
          <a:off x="35687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a) Critical illnesses diagnosed within 90 days from the issue date of this benefit or its last reinstatement, whichever is later;</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b) Any pre-existing or recurring critical illnesses which are diagnosed or which the life insured contracted prior to the issue date of this benefit or</a:t>
                      </a:r>
                      <a:endParaRPr/>
                    </a:p>
                    <a:p>
                      <a:pPr indent="0" lvl="0" marL="0" marR="0" rtl="0" algn="l">
                        <a:spcBef>
                          <a:spcPts val="0"/>
                        </a:spcBef>
                        <a:spcAft>
                          <a:spcPts val="0"/>
                        </a:spcAft>
                        <a:buNone/>
                      </a:pPr>
                      <a:r>
                        <a:rPr lang="en-US" sz="1800">
                          <a:solidFill>
                            <a:schemeClr val="dk2"/>
                          </a:solidFill>
                          <a:latin typeface="Arial"/>
                          <a:ea typeface="Arial"/>
                          <a:cs typeface="Arial"/>
                          <a:sym typeface="Arial"/>
                        </a:rPr>
                        <a:t>date of last reinstatement;</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c) Congenital abnormalities;</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a) Critical illnesses diagnosed within 90 days from the issue date of this benefit or its last reinstatement, whichever is later; </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b) Any pre-existing or recurring critical illnesses which are diagnosed or which the life insured contracted prior to the issue date of this benefit or date of last reinstatement; </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p>
                      <a:pPr indent="0" lvl="0" marL="0" marR="0" rtl="0" algn="l">
                        <a:spcBef>
                          <a:spcPts val="0"/>
                        </a:spcBef>
                        <a:spcAft>
                          <a:spcPts val="0"/>
                        </a:spcAft>
                        <a:buNone/>
                      </a:pPr>
                      <a:r>
                        <a:rPr lang="en-US" sz="1800">
                          <a:solidFill>
                            <a:schemeClr val="dk2"/>
                          </a:solidFill>
                          <a:latin typeface="Arial"/>
                          <a:ea typeface="Arial"/>
                          <a:cs typeface="Arial"/>
                          <a:sym typeface="Arial"/>
                        </a:rPr>
                        <a:t>c) Congenital abnormalities; </a:t>
                      </a:r>
                      <a:endParaRPr/>
                    </a:p>
                    <a:p>
                      <a:pPr indent="0" lvl="0" marL="0" marR="0" rtl="0" algn="l">
                        <a:spcBef>
                          <a:spcPts val="0"/>
                        </a:spcBef>
                        <a:spcAft>
                          <a:spcPts val="0"/>
                        </a:spcAft>
                        <a:buNone/>
                      </a:pPr>
                      <a:r>
                        <a:t/>
                      </a:r>
                      <a:endParaRPr sz="18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88">
            <a:hlinkClick r:id="rId3"/>
          </p:cNvPr>
          <p:cNvSpPr txBox="1"/>
          <p:nvPr/>
        </p:nvSpPr>
        <p:spPr>
          <a:xfrm>
            <a:off x="286660" y="146303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325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936"/>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EXCLUSIONS </a:t>
            </a:r>
            <a:endParaRPr sz="3200">
              <a:solidFill>
                <a:srgbClr val="17365D"/>
              </a:solidFill>
              <a:latin typeface="Arial"/>
              <a:ea typeface="Arial"/>
              <a:cs typeface="Arial"/>
              <a:sym typeface="Arial"/>
            </a:endParaRPr>
          </a:p>
        </p:txBody>
      </p:sp>
      <p:sp>
        <p:nvSpPr>
          <p:cNvPr id="740" name="Google Shape;740;p8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41" name="Google Shape;741;p88"/>
          <p:cNvGraphicFramePr/>
          <p:nvPr/>
        </p:nvGraphicFramePr>
        <p:xfrm>
          <a:off x="35687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0" lvl="0" marL="0" marR="0" rtl="0" algn="l">
                        <a:spcBef>
                          <a:spcPts val="0"/>
                        </a:spcBef>
                        <a:spcAft>
                          <a:spcPts val="0"/>
                        </a:spcAft>
                        <a:buNone/>
                      </a:pPr>
                      <a:r>
                        <a:rPr lang="en-US" sz="1700">
                          <a:solidFill>
                            <a:schemeClr val="dk2"/>
                          </a:solidFill>
                          <a:latin typeface="Arial"/>
                          <a:ea typeface="Arial"/>
                          <a:cs typeface="Arial"/>
                          <a:sym typeface="Arial"/>
                        </a:rPr>
                        <a:t>d) Any Human Immunodeficiency Virus (HIV) and/or any HIV-related illness</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including Acquired Immune Deficiency Syndrome (AIDS) and/or any mutations, derivation or variations thereof;</a:t>
                      </a:r>
                      <a:endParaRPr/>
                    </a:p>
                    <a:p>
                      <a:pPr indent="0" lvl="0" marL="0" marR="0" rtl="0" algn="l">
                        <a:spcBef>
                          <a:spcPts val="0"/>
                        </a:spcBef>
                        <a:spcAft>
                          <a:spcPts val="0"/>
                        </a:spcAft>
                        <a:buNone/>
                      </a:pPr>
                      <a:r>
                        <a:t/>
                      </a:r>
                      <a:endParaRPr sz="1700">
                        <a:solidFill>
                          <a:schemeClr val="dk2"/>
                        </a:solidFill>
                        <a:latin typeface="Arial"/>
                        <a:ea typeface="Arial"/>
                        <a:cs typeface="Arial"/>
                        <a:sym typeface="Arial"/>
                      </a:endParaRPr>
                    </a:p>
                    <a:p>
                      <a:pPr indent="0" lvl="0" marL="0" marR="0" rtl="0" algn="l">
                        <a:spcBef>
                          <a:spcPts val="0"/>
                        </a:spcBef>
                        <a:spcAft>
                          <a:spcPts val="0"/>
                        </a:spcAft>
                        <a:buNone/>
                      </a:pPr>
                      <a:r>
                        <a:rPr lang="en-US" sz="1700">
                          <a:solidFill>
                            <a:schemeClr val="dk2"/>
                          </a:solidFill>
                          <a:latin typeface="Arial"/>
                          <a:ea typeface="Arial"/>
                          <a:cs typeface="Arial"/>
                          <a:sym typeface="Arial"/>
                        </a:rPr>
                        <a:t>e) Attempted suicide or self-inflicted injury while sane or insane;</a:t>
                      </a:r>
                      <a:endParaRPr/>
                    </a:p>
                    <a:p>
                      <a:pPr indent="0" lvl="0" marL="0" marR="0" rtl="0" algn="l">
                        <a:spcBef>
                          <a:spcPts val="0"/>
                        </a:spcBef>
                        <a:spcAft>
                          <a:spcPts val="0"/>
                        </a:spcAft>
                        <a:buNone/>
                      </a:pPr>
                      <a:r>
                        <a:t/>
                      </a:r>
                      <a:endParaRPr sz="1700">
                        <a:solidFill>
                          <a:schemeClr val="dk2"/>
                        </a:solidFill>
                        <a:latin typeface="Arial"/>
                        <a:ea typeface="Arial"/>
                        <a:cs typeface="Arial"/>
                        <a:sym typeface="Arial"/>
                      </a:endParaRPr>
                    </a:p>
                    <a:p>
                      <a:pPr indent="0" lvl="0" marL="0" marR="0" rtl="0" algn="l">
                        <a:spcBef>
                          <a:spcPts val="0"/>
                        </a:spcBef>
                        <a:spcAft>
                          <a:spcPts val="0"/>
                        </a:spcAft>
                        <a:buNone/>
                      </a:pPr>
                      <a:r>
                        <a:rPr lang="en-US" sz="1700">
                          <a:solidFill>
                            <a:schemeClr val="dk2"/>
                          </a:solidFill>
                          <a:latin typeface="Arial"/>
                          <a:ea typeface="Arial"/>
                          <a:cs typeface="Arial"/>
                          <a:sym typeface="Arial"/>
                        </a:rPr>
                        <a:t>f) Taking or absorbing, accidentally or otherwise, any intoxicating liquor,</a:t>
                      </a:r>
                      <a:r>
                        <a:rPr lang="en-US" sz="1700">
                          <a:solidFill>
                            <a:schemeClr val="dk2"/>
                          </a:solidFill>
                          <a:latin typeface="Arial"/>
                          <a:ea typeface="Arial"/>
                          <a:cs typeface="Arial"/>
                          <a:sym typeface="Arial"/>
                        </a:rPr>
                        <a:t> </a:t>
                      </a:r>
                      <a:r>
                        <a:rPr lang="en-US" sz="1700">
                          <a:solidFill>
                            <a:schemeClr val="dk2"/>
                          </a:solidFill>
                          <a:latin typeface="Arial"/>
                          <a:ea typeface="Arial"/>
                          <a:cs typeface="Arial"/>
                          <a:sym typeface="Arial"/>
                        </a:rPr>
                        <a:t>sedative or poison drug, narcotic or medicine, except as prescribed by a</a:t>
                      </a:r>
                      <a:endParaRPr/>
                    </a:p>
                    <a:p>
                      <a:pPr indent="0" lvl="0" marL="0" marR="0" rtl="0" algn="l">
                        <a:spcBef>
                          <a:spcPts val="0"/>
                        </a:spcBef>
                        <a:spcAft>
                          <a:spcPts val="0"/>
                        </a:spcAft>
                        <a:buNone/>
                      </a:pPr>
                      <a:r>
                        <a:rPr lang="en-US" sz="1700">
                          <a:solidFill>
                            <a:schemeClr val="dk2"/>
                          </a:solidFill>
                          <a:latin typeface="Arial"/>
                          <a:ea typeface="Arial"/>
                          <a:cs typeface="Arial"/>
                          <a:sym typeface="Arial"/>
                        </a:rPr>
                        <a:t>Doctor; and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700">
                          <a:solidFill>
                            <a:schemeClr val="dk2"/>
                          </a:solidFill>
                          <a:latin typeface="Arial"/>
                          <a:ea typeface="Arial"/>
                          <a:cs typeface="Arial"/>
                          <a:sym typeface="Arial"/>
                        </a:rPr>
                        <a:t>d) Any Human Immunodeficiency Virus (HIV) and/or any HIV-related illness including Acquired Immune Deficiency Syndrome (AIDS) and/or any mutations, derivation or variations thereof; </a:t>
                      </a:r>
                      <a:endParaRPr/>
                    </a:p>
                    <a:p>
                      <a:pPr indent="0" lvl="0" marL="0" marR="0" rtl="0" algn="l">
                        <a:spcBef>
                          <a:spcPts val="0"/>
                        </a:spcBef>
                        <a:spcAft>
                          <a:spcPts val="0"/>
                        </a:spcAft>
                        <a:buNone/>
                      </a:pPr>
                      <a:r>
                        <a:t/>
                      </a:r>
                      <a:endParaRPr sz="1700">
                        <a:solidFill>
                          <a:schemeClr val="dk2"/>
                        </a:solidFill>
                        <a:latin typeface="Arial"/>
                        <a:ea typeface="Arial"/>
                        <a:cs typeface="Arial"/>
                        <a:sym typeface="Arial"/>
                      </a:endParaRPr>
                    </a:p>
                    <a:p>
                      <a:pPr indent="0" lvl="0" marL="0" marR="0" rtl="0" algn="l">
                        <a:spcBef>
                          <a:spcPts val="0"/>
                        </a:spcBef>
                        <a:spcAft>
                          <a:spcPts val="0"/>
                        </a:spcAft>
                        <a:buNone/>
                      </a:pPr>
                      <a:r>
                        <a:rPr lang="en-US" sz="1700">
                          <a:solidFill>
                            <a:schemeClr val="dk2"/>
                          </a:solidFill>
                          <a:latin typeface="Arial"/>
                          <a:ea typeface="Arial"/>
                          <a:cs typeface="Arial"/>
                          <a:sym typeface="Arial"/>
                        </a:rPr>
                        <a:t>e) Attempted suicide or self-inflicted injury while sane or insane; </a:t>
                      </a:r>
                      <a:endParaRPr/>
                    </a:p>
                    <a:p>
                      <a:pPr indent="0" lvl="0" marL="0" marR="0" rtl="0" algn="l">
                        <a:spcBef>
                          <a:spcPts val="0"/>
                        </a:spcBef>
                        <a:spcAft>
                          <a:spcPts val="0"/>
                        </a:spcAft>
                        <a:buNone/>
                      </a:pPr>
                      <a:r>
                        <a:t/>
                      </a:r>
                      <a:endParaRPr sz="1700">
                        <a:solidFill>
                          <a:schemeClr val="dk2"/>
                        </a:solidFill>
                        <a:latin typeface="Arial"/>
                        <a:ea typeface="Arial"/>
                        <a:cs typeface="Arial"/>
                        <a:sym typeface="Arial"/>
                      </a:endParaRPr>
                    </a:p>
                    <a:p>
                      <a:pPr indent="0" lvl="0" marL="0" marR="0" rtl="0" algn="l">
                        <a:spcBef>
                          <a:spcPts val="0"/>
                        </a:spcBef>
                        <a:spcAft>
                          <a:spcPts val="0"/>
                        </a:spcAft>
                        <a:buNone/>
                      </a:pPr>
                      <a:r>
                        <a:rPr lang="en-US" sz="1700">
                          <a:solidFill>
                            <a:schemeClr val="dk2"/>
                          </a:solidFill>
                          <a:latin typeface="Arial"/>
                          <a:ea typeface="Arial"/>
                          <a:cs typeface="Arial"/>
                          <a:sym typeface="Arial"/>
                        </a:rPr>
                        <a:t>f) Taking or absorbing, accidentally or otherwise, any intoxicating liquor, sedative or poison drug, narcotic or medicine, except as prescribed by a Doctor; and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89">
            <a:hlinkClick r:id="rId3"/>
          </p:cNvPr>
          <p:cNvSpPr txBox="1"/>
          <p:nvPr/>
        </p:nvSpPr>
        <p:spPr>
          <a:xfrm>
            <a:off x="286660" y="1463035"/>
            <a:ext cx="8556170" cy="892629"/>
          </a:xfrm>
          <a:prstGeom prst="rect">
            <a:avLst/>
          </a:prstGeom>
          <a:gradFill>
            <a:gsLst>
              <a:gs pos="0">
                <a:srgbClr val="FF932B"/>
              </a:gs>
              <a:gs pos="100000">
                <a:srgbClr val="FFB673"/>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rmAutofit fontScale="325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936"/>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EXCLUSIONS </a:t>
            </a:r>
            <a:endParaRPr sz="3200">
              <a:solidFill>
                <a:srgbClr val="17365D"/>
              </a:solidFill>
              <a:latin typeface="Arial"/>
              <a:ea typeface="Arial"/>
              <a:cs typeface="Arial"/>
              <a:sym typeface="Arial"/>
            </a:endParaRPr>
          </a:p>
        </p:txBody>
      </p:sp>
      <p:sp>
        <p:nvSpPr>
          <p:cNvPr id="748" name="Google Shape;748;p8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CCR/CIB vs new CIB</a:t>
            </a:r>
            <a:endParaRPr/>
          </a:p>
        </p:txBody>
      </p:sp>
      <p:graphicFrame>
        <p:nvGraphicFramePr>
          <p:cNvPr id="749" name="Google Shape;749;p89"/>
          <p:cNvGraphicFramePr/>
          <p:nvPr/>
        </p:nvGraphicFramePr>
        <p:xfrm>
          <a:off x="356870" y="2479358"/>
          <a:ext cx="3000000" cy="3000000"/>
        </p:xfrm>
        <a:graphic>
          <a:graphicData uri="http://schemas.openxmlformats.org/drawingml/2006/table">
            <a:tbl>
              <a:tblPr>
                <a:noFill/>
                <a:tableStyleId>{D3B7BAA0-E47E-421F-8AC6-9A70115BEF34}</a:tableStyleId>
              </a:tblPr>
              <a:tblGrid>
                <a:gridCol w="4265025"/>
                <a:gridCol w="4132225"/>
              </a:tblGrid>
              <a:tr h="381000">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CCR/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c>
                  <a:txBody>
                    <a:bodyPr/>
                    <a:lstStyle/>
                    <a:p>
                      <a:pPr indent="0" lvl="0" marL="0" marR="0" rtl="0" algn="ctr">
                        <a:lnSpc>
                          <a:spcPct val="115000"/>
                        </a:lnSpc>
                        <a:spcBef>
                          <a:spcPts val="0"/>
                        </a:spcBef>
                        <a:spcAft>
                          <a:spcPts val="0"/>
                        </a:spcAft>
                        <a:buNone/>
                      </a:pPr>
                      <a:r>
                        <a:rPr b="1" lang="en-US" sz="2200">
                          <a:latin typeface="Arial"/>
                          <a:ea typeface="Arial"/>
                          <a:cs typeface="Arial"/>
                          <a:sym typeface="Arial"/>
                        </a:rPr>
                        <a:t>New CIB</a:t>
                      </a:r>
                      <a:endParaRPr sz="2200">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36C09"/>
                    </a:solidFill>
                  </a:tcPr>
                </a:tc>
              </a:tr>
              <a:tr h="3383475">
                <a:tc>
                  <a:txBody>
                    <a:bodyPr/>
                    <a:lstStyle/>
                    <a:p>
                      <a:pPr indent="0" lvl="0" marL="0" marR="0" rtl="0" algn="l">
                        <a:spcBef>
                          <a:spcPts val="0"/>
                        </a:spcBef>
                        <a:spcAft>
                          <a:spcPts val="0"/>
                        </a:spcAft>
                        <a:buNone/>
                      </a:pPr>
                      <a:r>
                        <a:rPr lang="en-US" sz="1700">
                          <a:solidFill>
                            <a:schemeClr val="dk2"/>
                          </a:solidFill>
                          <a:latin typeface="Arial"/>
                          <a:ea typeface="Arial"/>
                          <a:cs typeface="Arial"/>
                          <a:sym typeface="Arial"/>
                        </a:rPr>
                        <a:t>g) Inhaling any gas or fumes, except if inhalation is accidental AND in the course of duty.</a:t>
                      </a:r>
                      <a:endParaRPr sz="1700">
                        <a:solidFill>
                          <a:schemeClr val="dk2"/>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US" sz="1700">
                          <a:solidFill>
                            <a:schemeClr val="dk2"/>
                          </a:solidFill>
                          <a:latin typeface="Arial"/>
                          <a:ea typeface="Arial"/>
                          <a:cs typeface="Arial"/>
                          <a:sym typeface="Arial"/>
                        </a:rPr>
                        <a:t>g) Inhaling any gas or fumes except if inhalation is accidental AND in the course of duty. </a:t>
                      </a:r>
                      <a:endParaRPr/>
                    </a:p>
                    <a:p>
                      <a:pPr indent="0" lvl="0" marL="0" marR="0" rtl="0" algn="l">
                        <a:spcBef>
                          <a:spcPts val="0"/>
                        </a:spcBef>
                        <a:spcAft>
                          <a:spcPts val="0"/>
                        </a:spcAft>
                        <a:buNone/>
                      </a:pPr>
                      <a:r>
                        <a:t/>
                      </a:r>
                      <a:endParaRPr b="0" sz="1700">
                        <a:solidFill>
                          <a:schemeClr val="dk2"/>
                        </a:solidFill>
                        <a:latin typeface="Arial"/>
                        <a:ea typeface="Arial"/>
                        <a:cs typeface="Arial"/>
                        <a:sym typeface="Arial"/>
                      </a:endParaRPr>
                    </a:p>
                    <a:p>
                      <a:pPr indent="0" lvl="0" marL="0" marR="0" rtl="0" algn="l">
                        <a:spcBef>
                          <a:spcPts val="0"/>
                        </a:spcBef>
                        <a:spcAft>
                          <a:spcPts val="0"/>
                        </a:spcAft>
                        <a:buNone/>
                      </a:pPr>
                      <a:r>
                        <a:rPr b="0" lang="en-US" sz="1500">
                          <a:solidFill>
                            <a:srgbClr val="FF0000"/>
                          </a:solidFill>
                          <a:latin typeface="Arial"/>
                          <a:ea typeface="Arial"/>
                          <a:cs typeface="Arial"/>
                          <a:sym typeface="Arial"/>
                        </a:rPr>
                        <a:t>Pre Existing critical illness means any illness: </a:t>
                      </a:r>
                      <a:endParaRPr/>
                    </a:p>
                    <a:p>
                      <a:pPr indent="0" lvl="0" marL="0" marR="0" rtl="0" algn="l">
                        <a:spcBef>
                          <a:spcPts val="0"/>
                        </a:spcBef>
                        <a:spcAft>
                          <a:spcPts val="0"/>
                        </a:spcAft>
                        <a:buNone/>
                      </a:pPr>
                      <a:r>
                        <a:rPr b="0" lang="en-US" sz="1500">
                          <a:solidFill>
                            <a:srgbClr val="FF0000"/>
                          </a:solidFill>
                          <a:latin typeface="Arial"/>
                          <a:ea typeface="Arial"/>
                          <a:cs typeface="Arial"/>
                          <a:sym typeface="Arial"/>
                        </a:rPr>
                        <a:t>a) which existed or was existing; or </a:t>
                      </a:r>
                      <a:endParaRPr/>
                    </a:p>
                    <a:p>
                      <a:pPr indent="0" lvl="0" marL="0" marR="0" rtl="0" algn="l">
                        <a:spcBef>
                          <a:spcPts val="0"/>
                        </a:spcBef>
                        <a:spcAft>
                          <a:spcPts val="0"/>
                        </a:spcAft>
                        <a:buNone/>
                      </a:pPr>
                      <a:r>
                        <a:rPr b="0" lang="en-US" sz="1500">
                          <a:solidFill>
                            <a:srgbClr val="FF0000"/>
                          </a:solidFill>
                          <a:latin typeface="Arial"/>
                          <a:ea typeface="Arial"/>
                          <a:cs typeface="Arial"/>
                          <a:sym typeface="Arial"/>
                        </a:rPr>
                        <a:t>b) the cause of which existed or was existing; or </a:t>
                      </a:r>
                      <a:endParaRPr/>
                    </a:p>
                    <a:p>
                      <a:pPr indent="0" lvl="0" marL="0" marR="0" rtl="0" algn="l">
                        <a:spcBef>
                          <a:spcPts val="0"/>
                        </a:spcBef>
                        <a:spcAft>
                          <a:spcPts val="0"/>
                        </a:spcAft>
                        <a:buNone/>
                      </a:pPr>
                      <a:r>
                        <a:rPr b="0" lang="en-US" sz="1500">
                          <a:solidFill>
                            <a:srgbClr val="FF0000"/>
                          </a:solidFill>
                          <a:latin typeface="Arial"/>
                          <a:ea typeface="Arial"/>
                          <a:cs typeface="Arial"/>
                          <a:sym typeface="Arial"/>
                        </a:rPr>
                        <a:t>c) where the life insured had knowledge, received treatment or medical consultation of the disease; or </a:t>
                      </a:r>
                      <a:endParaRPr/>
                    </a:p>
                    <a:p>
                      <a:pPr indent="0" lvl="0" marL="0" marR="0" rtl="0" algn="l">
                        <a:lnSpc>
                          <a:spcPct val="100000"/>
                        </a:lnSpc>
                        <a:spcBef>
                          <a:spcPts val="0"/>
                        </a:spcBef>
                        <a:spcAft>
                          <a:spcPts val="0"/>
                        </a:spcAft>
                        <a:buClr>
                          <a:srgbClr val="FF0000"/>
                        </a:buClr>
                        <a:buSzPts val="1500"/>
                        <a:buFont typeface="Arial"/>
                        <a:buNone/>
                      </a:pPr>
                      <a:r>
                        <a:rPr b="0" lang="en-US" sz="1500">
                          <a:solidFill>
                            <a:srgbClr val="FF0000"/>
                          </a:solidFill>
                          <a:latin typeface="Arial"/>
                          <a:ea typeface="Arial"/>
                          <a:cs typeface="Arial"/>
                          <a:sym typeface="Arial"/>
                        </a:rPr>
                        <a:t>d) where any laboratory test or investigation showed the likely presence of the illness; prior to the date of issue of the policy, or date of last reinstatement, whichever is later.</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1600">
        <p14:gallery dir="l"/>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90"/>
          <p:cNvSpPr txBox="1"/>
          <p:nvPr/>
        </p:nvSpPr>
        <p:spPr>
          <a:xfrm>
            <a:off x="293915" y="1545772"/>
            <a:ext cx="8556170" cy="950685"/>
          </a:xfrm>
          <a:prstGeom prst="rect">
            <a:avLst/>
          </a:prstGeom>
          <a:solidFill>
            <a:srgbClr val="FF00FF"/>
          </a:solidFill>
          <a:ln cap="flat" cmpd="sng" w="25400">
            <a:solidFill>
              <a:srgbClr val="FF00FF"/>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95300" lvl="0" marL="495300" marR="0" rtl="0" algn="l">
              <a:lnSpc>
                <a:spcPct val="90000"/>
              </a:lnSpc>
              <a:spcBef>
                <a:spcPts val="0"/>
              </a:spcBef>
              <a:spcAft>
                <a:spcPts val="0"/>
              </a:spcAft>
              <a:buClr>
                <a:schemeClr val="dk1"/>
              </a:buClr>
              <a:buSzPct val="100000"/>
              <a:buFont typeface="Noto Sans Symbols"/>
              <a:buNone/>
            </a:pPr>
            <a:r>
              <a:t/>
            </a:r>
            <a:endParaRPr sz="3000">
              <a:solidFill>
                <a:srgbClr val="F36005"/>
              </a:solidFill>
              <a:latin typeface="Arial"/>
              <a:ea typeface="Arial"/>
              <a:cs typeface="Arial"/>
              <a:sym typeface="Arial"/>
            </a:endParaRPr>
          </a:p>
          <a:p>
            <a:pPr indent="-495300" lvl="0" marL="495300" marR="0" rtl="0" algn="ctr">
              <a:lnSpc>
                <a:spcPct val="90000"/>
              </a:lnSpc>
              <a:spcBef>
                <a:spcPts val="720"/>
              </a:spcBef>
              <a:spcAft>
                <a:spcPts val="0"/>
              </a:spcAft>
              <a:buClr>
                <a:schemeClr val="dk1"/>
              </a:buClr>
              <a:buSzPct val="100000"/>
              <a:buFont typeface="Noto Sans Symbols"/>
              <a:buNone/>
            </a:pPr>
            <a:r>
              <a:rPr lang="en-US" sz="14400">
                <a:solidFill>
                  <a:schemeClr val="lt1"/>
                </a:solidFill>
                <a:latin typeface="Arial"/>
                <a:ea typeface="Arial"/>
                <a:cs typeface="Arial"/>
                <a:sym typeface="Arial"/>
              </a:rPr>
              <a:t>TOTAL DISABILITY BENEFIT</a:t>
            </a:r>
            <a:endParaRPr/>
          </a:p>
          <a:p>
            <a:pPr indent="-495300" lvl="0" marL="495300" marR="0" rtl="0" algn="ctr">
              <a:lnSpc>
                <a:spcPct val="90000"/>
              </a:lnSpc>
              <a:spcBef>
                <a:spcPts val="195"/>
              </a:spcBef>
              <a:spcAft>
                <a:spcPts val="0"/>
              </a:spcAft>
              <a:buClr>
                <a:schemeClr val="dk1"/>
              </a:buClr>
              <a:buSzPct val="100000"/>
              <a:buFont typeface="Noto Sans Symbols"/>
              <a:buNone/>
            </a:pPr>
            <a:r>
              <a:t/>
            </a:r>
            <a:endParaRPr sz="3900">
              <a:solidFill>
                <a:srgbClr val="F36005"/>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t/>
            </a:r>
            <a:endParaRPr sz="2800">
              <a:solidFill>
                <a:schemeClr val="hlink"/>
              </a:solidFill>
              <a:latin typeface="Arial"/>
              <a:ea typeface="Arial"/>
              <a:cs typeface="Arial"/>
              <a:sym typeface="Arial"/>
            </a:endParaRPr>
          </a:p>
          <a:p>
            <a:pPr indent="-495300" lvl="0" marL="495300" marR="0" rtl="0" algn="l">
              <a:lnSpc>
                <a:spcPct val="90000"/>
              </a:lnSpc>
              <a:spcBef>
                <a:spcPts val="140"/>
              </a:spcBef>
              <a:spcAft>
                <a:spcPts val="0"/>
              </a:spcAft>
              <a:buClr>
                <a:schemeClr val="dk1"/>
              </a:buClr>
              <a:buSzPct val="100000"/>
              <a:buFont typeface="Noto Sans Symbols"/>
              <a:buNone/>
            </a:pPr>
            <a:r>
              <a:rPr lang="en-US" sz="2800">
                <a:solidFill>
                  <a:schemeClr val="hlink"/>
                </a:solidFill>
                <a:latin typeface="Arial"/>
                <a:ea typeface="Arial"/>
                <a:cs typeface="Arial"/>
                <a:sym typeface="Arial"/>
              </a:rPr>
              <a:t>	</a:t>
            </a:r>
            <a:endParaRPr sz="3200">
              <a:solidFill>
                <a:srgbClr val="17365D"/>
              </a:solidFill>
              <a:latin typeface="Arial"/>
              <a:ea typeface="Arial"/>
              <a:cs typeface="Arial"/>
              <a:sym typeface="Arial"/>
            </a:endParaRPr>
          </a:p>
        </p:txBody>
      </p:sp>
      <p:sp>
        <p:nvSpPr>
          <p:cNvPr id="755" name="Google Shape;755;p90"/>
          <p:cNvSpPr/>
          <p:nvPr/>
        </p:nvSpPr>
        <p:spPr>
          <a:xfrm>
            <a:off x="293916" y="2757715"/>
            <a:ext cx="8556170" cy="3846288"/>
          </a:xfrm>
          <a:prstGeom prst="rect">
            <a:avLst/>
          </a:prstGeom>
          <a:noFill/>
          <a:ln>
            <a:noFill/>
          </a:ln>
        </p:spPr>
        <p:txBody>
          <a:bodyPr anchorCtr="0" anchor="ctr" bIns="45700" lIns="91425" spcFirstLastPara="1" rIns="91425" wrap="square" tIns="45700">
            <a:noAutofit/>
          </a:bodyPr>
          <a:lstStyle/>
          <a:p>
            <a:pPr indent="-457200" lvl="0" marL="457200" marR="0" rtl="0" algn="l">
              <a:lnSpc>
                <a:spcPct val="90000"/>
              </a:lnSpc>
              <a:spcBef>
                <a:spcPts val="0"/>
              </a:spcBef>
              <a:spcAft>
                <a:spcPts val="0"/>
              </a:spcAft>
              <a:buClr>
                <a:srgbClr val="17365D"/>
              </a:buClr>
              <a:buSzPts val="2800"/>
              <a:buFont typeface="Noto Sans Symbols"/>
              <a:buChar char="✔"/>
            </a:pPr>
            <a:r>
              <a:rPr lang="en-US" sz="2800">
                <a:solidFill>
                  <a:srgbClr val="17365D"/>
                </a:solidFill>
                <a:latin typeface="Arial"/>
                <a:ea typeface="Arial"/>
                <a:cs typeface="Arial"/>
                <a:sym typeface="Arial"/>
              </a:rPr>
              <a:t>waiver of premiums upon disability of insured</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sz="2800">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lang="en-US" sz="2800">
                <a:solidFill>
                  <a:srgbClr val="17365D"/>
                </a:solidFill>
                <a:latin typeface="Arial"/>
                <a:ea typeface="Arial"/>
                <a:cs typeface="Arial"/>
                <a:sym typeface="Arial"/>
              </a:rPr>
              <a:t>6 month waiting period</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sz="2800">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lang="en-US" sz="2800">
                <a:solidFill>
                  <a:srgbClr val="17365D"/>
                </a:solidFill>
                <a:latin typeface="Arial"/>
                <a:ea typeface="Arial"/>
                <a:cs typeface="Arial"/>
                <a:sym typeface="Arial"/>
              </a:rPr>
              <a:t>1</a:t>
            </a:r>
            <a:r>
              <a:rPr baseline="30000" lang="en-US" sz="2800">
                <a:solidFill>
                  <a:srgbClr val="17365D"/>
                </a:solidFill>
                <a:latin typeface="Arial"/>
                <a:ea typeface="Arial"/>
                <a:cs typeface="Arial"/>
                <a:sym typeface="Arial"/>
              </a:rPr>
              <a:t>st</a:t>
            </a:r>
            <a:r>
              <a:rPr lang="en-US" sz="2800">
                <a:solidFill>
                  <a:srgbClr val="17365D"/>
                </a:solidFill>
                <a:latin typeface="Arial"/>
                <a:ea typeface="Arial"/>
                <a:cs typeface="Arial"/>
                <a:sym typeface="Arial"/>
              </a:rPr>
              <a:t> 2 years – totally disabled from performing own occupation; thereafter, any occupation</a:t>
            </a:r>
            <a:endParaRPr/>
          </a:p>
          <a:p>
            <a:pPr indent="-279400" lvl="0" marL="457200" marR="0" rtl="0" algn="l">
              <a:lnSpc>
                <a:spcPct val="90000"/>
              </a:lnSpc>
              <a:spcBef>
                <a:spcPts val="0"/>
              </a:spcBef>
              <a:spcAft>
                <a:spcPts val="0"/>
              </a:spcAft>
              <a:buClr>
                <a:schemeClr val="dk1"/>
              </a:buClr>
              <a:buSzPts val="2800"/>
              <a:buFont typeface="Noto Sans Symbols"/>
              <a:buNone/>
            </a:pPr>
            <a:r>
              <a:t/>
            </a:r>
            <a:endParaRPr sz="2800">
              <a:solidFill>
                <a:srgbClr val="17365D"/>
              </a:solidFill>
              <a:latin typeface="Arial"/>
              <a:ea typeface="Arial"/>
              <a:cs typeface="Arial"/>
              <a:sym typeface="Arial"/>
            </a:endParaRPr>
          </a:p>
          <a:p>
            <a:pPr indent="-457200" lvl="0" marL="457200" marR="0" rtl="0" algn="l">
              <a:lnSpc>
                <a:spcPct val="90000"/>
              </a:lnSpc>
              <a:spcBef>
                <a:spcPts val="0"/>
              </a:spcBef>
              <a:spcAft>
                <a:spcPts val="0"/>
              </a:spcAft>
              <a:buClr>
                <a:srgbClr val="17365D"/>
              </a:buClr>
              <a:buSzPts val="2800"/>
              <a:buFont typeface="Noto Sans Symbols"/>
              <a:buChar char="✔"/>
            </a:pPr>
            <a:r>
              <a:rPr lang="en-US" sz="2800">
                <a:solidFill>
                  <a:srgbClr val="17365D"/>
                </a:solidFill>
                <a:latin typeface="Arial"/>
                <a:ea typeface="Arial"/>
                <a:cs typeface="Arial"/>
                <a:sym typeface="Arial"/>
              </a:rPr>
              <a:t>shall not apply to premiums due more than 1 year from date of notification</a:t>
            </a:r>
            <a:endParaRPr sz="2400">
              <a:solidFill>
                <a:schemeClr val="dk1"/>
              </a:solidFill>
              <a:latin typeface="Arial"/>
              <a:ea typeface="Arial"/>
              <a:cs typeface="Arial"/>
              <a:sym typeface="Arial"/>
            </a:endParaRPr>
          </a:p>
          <a:p>
            <a:pPr indent="-61912" lvl="0" marL="176213" marR="0" rtl="0" algn="l">
              <a:lnSpc>
                <a:spcPct val="90000"/>
              </a:lnSpc>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p:txBody>
      </p:sp>
      <p:sp>
        <p:nvSpPr>
          <p:cNvPr id="756" name="Google Shape;756;p9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TDB</a:t>
            </a:r>
            <a:endParaRPr/>
          </a:p>
        </p:txBody>
      </p:sp>
    </p:spTree>
  </p:cSld>
  <p:clrMapOvr>
    <a:masterClrMapping/>
  </p:clrMapOvr>
  <mc:AlternateContent>
    <mc:Choice Requires="p14">
      <p:transition spd="slow" p14:dur="2000">
        <p14:shred dir="ou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55"/>
                                        </p:tgtEl>
                                        <p:attrNameLst>
                                          <p:attrName>style.visibility</p:attrName>
                                        </p:attrNameLst>
                                      </p:cBhvr>
                                      <p:to>
                                        <p:strVal val="visible"/>
                                      </p:to>
                                    </p:set>
                                    <p:anim calcmode="lin" valueType="num">
                                      <p:cBhvr additive="base">
                                        <p:cTn dur="500"/>
                                        <p:tgtEl>
                                          <p:spTgt spid="75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1"/>
          <p:cNvSpPr/>
          <p:nvPr/>
        </p:nvSpPr>
        <p:spPr>
          <a:xfrm>
            <a:off x="293916" y="2163500"/>
            <a:ext cx="8556170" cy="444050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400" u="sng">
                <a:solidFill>
                  <a:srgbClr val="17365D"/>
                </a:solidFill>
                <a:latin typeface="Arial"/>
                <a:ea typeface="Arial"/>
                <a:cs typeface="Arial"/>
                <a:sym typeface="Arial"/>
              </a:rPr>
              <a:t>Contracts issued prior to July 15, 1996</a:t>
            </a:r>
            <a:endParaRPr/>
          </a:p>
          <a:p>
            <a:pPr indent="-304800" lvl="0" marL="457200" marR="0" rtl="0" algn="l">
              <a:lnSpc>
                <a:spcPct val="90000"/>
              </a:lnSpc>
              <a:spcBef>
                <a:spcPts val="0"/>
              </a:spcBef>
              <a:spcAft>
                <a:spcPts val="0"/>
              </a:spcAft>
              <a:buClr>
                <a:schemeClr val="dk1"/>
              </a:buClr>
              <a:buSzPts val="2400"/>
              <a:buFont typeface="Noto Sans Symbols"/>
              <a:buNone/>
            </a:pPr>
            <a:r>
              <a:t/>
            </a:r>
            <a:endParaRPr sz="2400">
              <a:solidFill>
                <a:srgbClr val="17365D"/>
              </a:solidFill>
              <a:latin typeface="Arial"/>
              <a:ea typeface="Arial"/>
              <a:cs typeface="Arial"/>
              <a:sym typeface="Arial"/>
            </a:endParaRPr>
          </a:p>
          <a:p>
            <a:pPr indent="0" lvl="0" marL="0" marR="0" rtl="0" algn="l">
              <a:lnSpc>
                <a:spcPct val="90000"/>
              </a:lnSpc>
              <a:spcBef>
                <a:spcPts val="0"/>
              </a:spcBef>
              <a:spcAft>
                <a:spcPts val="0"/>
              </a:spcAft>
              <a:buNone/>
            </a:pPr>
            <a:r>
              <a:rPr lang="en-US" sz="2400">
                <a:solidFill>
                  <a:srgbClr val="17365D"/>
                </a:solidFill>
                <a:latin typeface="Arial"/>
                <a:ea typeface="Arial"/>
                <a:cs typeface="Arial"/>
                <a:sym typeface="Arial"/>
              </a:rPr>
              <a:t>Total disability:</a:t>
            </a:r>
            <a:endParaRPr/>
          </a:p>
          <a:p>
            <a:pPr indent="0" lvl="0" marL="0" marR="0" rtl="0" algn="l">
              <a:lnSpc>
                <a:spcPct val="90000"/>
              </a:lnSpc>
              <a:spcBef>
                <a:spcPts val="0"/>
              </a:spcBef>
              <a:spcAft>
                <a:spcPts val="0"/>
              </a:spcAft>
              <a:buNone/>
            </a:pPr>
            <a:r>
              <a:t/>
            </a:r>
            <a:endParaRPr sz="2400">
              <a:solidFill>
                <a:srgbClr val="17365D"/>
              </a:solidFill>
              <a:latin typeface="Arial"/>
              <a:ea typeface="Arial"/>
              <a:cs typeface="Arial"/>
              <a:sym typeface="Arial"/>
            </a:endParaRPr>
          </a:p>
          <a:p>
            <a:pPr indent="-514350" lvl="0" marL="514350" marR="0" rtl="0" algn="l">
              <a:lnSpc>
                <a:spcPct val="90000"/>
              </a:lnSpc>
              <a:spcBef>
                <a:spcPts val="0"/>
              </a:spcBef>
              <a:spcAft>
                <a:spcPts val="0"/>
              </a:spcAft>
              <a:buClr>
                <a:srgbClr val="17365D"/>
              </a:buClr>
              <a:buSzPts val="2400"/>
              <a:buFont typeface="Arial"/>
              <a:buAutoNum type="arabicParenBoth"/>
            </a:pPr>
            <a:r>
              <a:rPr lang="en-US" sz="2400">
                <a:solidFill>
                  <a:srgbClr val="17365D"/>
                </a:solidFill>
                <a:latin typeface="Arial"/>
                <a:ea typeface="Arial"/>
                <a:cs typeface="Arial"/>
                <a:sym typeface="Arial"/>
              </a:rPr>
              <a:t>lasting less than 6 months; or</a:t>
            </a:r>
            <a:endParaRPr/>
          </a:p>
          <a:p>
            <a:pPr indent="-514350" lvl="0" marL="514350" marR="0" rtl="0" algn="l">
              <a:lnSpc>
                <a:spcPct val="90000"/>
              </a:lnSpc>
              <a:spcBef>
                <a:spcPts val="0"/>
              </a:spcBef>
              <a:spcAft>
                <a:spcPts val="0"/>
              </a:spcAft>
              <a:buClr>
                <a:srgbClr val="17365D"/>
              </a:buClr>
              <a:buSzPts val="2400"/>
              <a:buFont typeface="Arial"/>
              <a:buAutoNum type="arabicParenBoth"/>
            </a:pPr>
            <a:r>
              <a:rPr lang="en-US" sz="2400">
                <a:solidFill>
                  <a:srgbClr val="17365D"/>
                </a:solidFill>
                <a:latin typeface="Arial"/>
                <a:ea typeface="Arial"/>
                <a:cs typeface="Arial"/>
                <a:sym typeface="Arial"/>
              </a:rPr>
              <a:t>from self-inflicted injuries; or</a:t>
            </a:r>
            <a:endParaRPr/>
          </a:p>
          <a:p>
            <a:pPr indent="-514350" lvl="0" marL="514350" marR="0" rtl="0" algn="l">
              <a:lnSpc>
                <a:spcPct val="90000"/>
              </a:lnSpc>
              <a:spcBef>
                <a:spcPts val="0"/>
              </a:spcBef>
              <a:spcAft>
                <a:spcPts val="0"/>
              </a:spcAft>
              <a:buClr>
                <a:srgbClr val="17365D"/>
              </a:buClr>
              <a:buSzPts val="2400"/>
              <a:buFont typeface="Arial"/>
              <a:buAutoNum type="arabicParenBoth"/>
            </a:pPr>
            <a:r>
              <a:rPr lang="en-US" sz="2400">
                <a:solidFill>
                  <a:srgbClr val="17365D"/>
                </a:solidFill>
                <a:latin typeface="Arial"/>
                <a:ea typeface="Arial"/>
                <a:cs typeface="Arial"/>
                <a:sym typeface="Arial"/>
              </a:rPr>
              <a:t>from insurrection, civil commotion or hostile action of armed forces, whether or not the life insured was actually participating therein; or</a:t>
            </a:r>
            <a:endParaRPr/>
          </a:p>
          <a:p>
            <a:pPr indent="-514350" lvl="0" marL="514350" marR="0" rtl="0" algn="l">
              <a:lnSpc>
                <a:spcPct val="90000"/>
              </a:lnSpc>
              <a:spcBef>
                <a:spcPts val="0"/>
              </a:spcBef>
              <a:spcAft>
                <a:spcPts val="0"/>
              </a:spcAft>
              <a:buClr>
                <a:srgbClr val="17365D"/>
              </a:buClr>
              <a:buSzPts val="2400"/>
              <a:buFont typeface="Arial"/>
              <a:buAutoNum type="arabicParenBoth"/>
            </a:pPr>
            <a:r>
              <a:rPr lang="en-US" sz="2400">
                <a:solidFill>
                  <a:srgbClr val="17365D"/>
                </a:solidFill>
                <a:latin typeface="Arial"/>
                <a:ea typeface="Arial"/>
                <a:cs typeface="Arial"/>
                <a:sym typeface="Arial"/>
              </a:rPr>
              <a:t>from injury sustained or disease contracted, in either event, before applying for this benefit unless the injury or disease was disclosed in the application</a:t>
            </a:r>
            <a:endParaRPr/>
          </a:p>
        </p:txBody>
      </p:sp>
      <p:sp>
        <p:nvSpPr>
          <p:cNvPr id="762" name="Google Shape;762;p91"/>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lang="en-US" sz="3600">
                <a:solidFill>
                  <a:srgbClr val="F36005"/>
                </a:solidFill>
                <a:latin typeface="Arial"/>
                <a:ea typeface="Arial"/>
                <a:cs typeface="Arial"/>
                <a:sym typeface="Arial"/>
              </a:rPr>
              <a:t>Exclusions</a:t>
            </a:r>
            <a:endParaRPr b="1" i="1" sz="2800">
              <a:solidFill>
                <a:srgbClr val="17365D"/>
              </a:solidFill>
              <a:latin typeface="Arial"/>
              <a:ea typeface="Arial"/>
              <a:cs typeface="Arial"/>
              <a:sym typeface="Arial"/>
            </a:endParaRPr>
          </a:p>
        </p:txBody>
      </p:sp>
      <p:sp>
        <p:nvSpPr>
          <p:cNvPr id="763" name="Google Shape;763;p9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TDB</a:t>
            </a:r>
            <a:endParaRPr/>
          </a:p>
        </p:txBody>
      </p:sp>
    </p:spTree>
  </p:cSld>
  <p:clrMapOvr>
    <a:masterClrMapping/>
  </p:clrMapOvr>
  <mc:AlternateContent>
    <mc:Choice Requires="p14">
      <p:transition spd="slow" p14:dur="1600">
        <p14:gallery dir="l"/>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92"/>
          <p:cNvSpPr/>
          <p:nvPr/>
        </p:nvSpPr>
        <p:spPr>
          <a:xfrm>
            <a:off x="293916" y="2163500"/>
            <a:ext cx="8556170" cy="444050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1800" u="sng">
                <a:solidFill>
                  <a:srgbClr val="17365D"/>
                </a:solidFill>
                <a:latin typeface="Arial"/>
                <a:ea typeface="Arial"/>
                <a:cs typeface="Arial"/>
                <a:sym typeface="Arial"/>
              </a:rPr>
              <a:t>Contracts issued from July 15, 1996 onwards:</a:t>
            </a:r>
            <a:endParaRPr/>
          </a:p>
          <a:p>
            <a:pPr indent="-342900" lvl="0" marL="457200" marR="0" rtl="0" algn="l">
              <a:lnSpc>
                <a:spcPct val="90000"/>
              </a:lnSpc>
              <a:spcBef>
                <a:spcPts val="0"/>
              </a:spcBef>
              <a:spcAft>
                <a:spcPts val="0"/>
              </a:spcAft>
              <a:buClr>
                <a:schemeClr val="dk1"/>
              </a:buClr>
              <a:buSzPts val="1800"/>
              <a:buFont typeface="Noto Sans Symbols"/>
              <a:buNone/>
            </a:pPr>
            <a:r>
              <a:t/>
            </a:r>
            <a:endParaRPr sz="1800">
              <a:solidFill>
                <a:srgbClr val="17365D"/>
              </a:solidFill>
              <a:latin typeface="Arial"/>
              <a:ea typeface="Arial"/>
              <a:cs typeface="Arial"/>
              <a:sym typeface="Arial"/>
            </a:endParaRPr>
          </a:p>
          <a:p>
            <a:pPr indent="0" lvl="0" marL="0" marR="0" rtl="0" algn="l">
              <a:lnSpc>
                <a:spcPct val="90000"/>
              </a:lnSpc>
              <a:spcBef>
                <a:spcPts val="0"/>
              </a:spcBef>
              <a:spcAft>
                <a:spcPts val="0"/>
              </a:spcAft>
              <a:buNone/>
            </a:pPr>
            <a:r>
              <a:rPr lang="en-US" sz="1800">
                <a:solidFill>
                  <a:srgbClr val="17365D"/>
                </a:solidFill>
                <a:latin typeface="Arial"/>
                <a:ea typeface="Arial"/>
                <a:cs typeface="Arial"/>
                <a:sym typeface="Arial"/>
              </a:rPr>
              <a:t>Total disability:</a:t>
            </a:r>
            <a:endParaRPr/>
          </a:p>
          <a:p>
            <a:pPr indent="0" lvl="0" marL="0" marR="0" rtl="0" algn="l">
              <a:lnSpc>
                <a:spcPct val="90000"/>
              </a:lnSpc>
              <a:spcBef>
                <a:spcPts val="0"/>
              </a:spcBef>
              <a:spcAft>
                <a:spcPts val="0"/>
              </a:spcAft>
              <a:buNone/>
            </a:pPr>
            <a:r>
              <a:t/>
            </a:r>
            <a:endParaRPr sz="1800">
              <a:solidFill>
                <a:srgbClr val="17365D"/>
              </a:solidFill>
              <a:latin typeface="Arial"/>
              <a:ea typeface="Arial"/>
              <a:cs typeface="Arial"/>
              <a:sym typeface="Arial"/>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lasting less than 6 months except for:</a:t>
            </a:r>
            <a:endParaRPr/>
          </a:p>
          <a:p>
            <a:pPr indent="-457200" lvl="1" marL="914400" marR="0" rtl="0" algn="l">
              <a:lnSpc>
                <a:spcPct val="90000"/>
              </a:lnSpc>
              <a:spcBef>
                <a:spcPts val="0"/>
              </a:spcBef>
              <a:spcAft>
                <a:spcPts val="0"/>
              </a:spcAft>
              <a:buClr>
                <a:srgbClr val="17365D"/>
              </a:buClr>
              <a:buSzPts val="1800"/>
              <a:buFont typeface="Arial"/>
              <a:buAutoNum type="alphaLcParenBoth"/>
            </a:pPr>
            <a:r>
              <a:rPr b="0" i="0" lang="en-US" sz="1800" u="none" cap="none" strike="noStrike">
                <a:solidFill>
                  <a:srgbClr val="17365D"/>
                </a:solidFill>
                <a:latin typeface="Arial"/>
                <a:ea typeface="Arial"/>
                <a:cs typeface="Arial"/>
                <a:sym typeface="Arial"/>
              </a:rPr>
              <a:t>total permanent and irrecoverable loss of all vision in both eyes, or</a:t>
            </a:r>
            <a:endParaRPr/>
          </a:p>
          <a:p>
            <a:pPr indent="-457200" lvl="1" marL="914400" marR="0" rtl="0" algn="l">
              <a:lnSpc>
                <a:spcPct val="90000"/>
              </a:lnSpc>
              <a:spcBef>
                <a:spcPts val="0"/>
              </a:spcBef>
              <a:spcAft>
                <a:spcPts val="0"/>
              </a:spcAft>
              <a:buClr>
                <a:srgbClr val="17365D"/>
              </a:buClr>
              <a:buSzPts val="1800"/>
              <a:buFont typeface="Arial"/>
              <a:buAutoNum type="alphaLcParenBoth"/>
            </a:pPr>
            <a:r>
              <a:rPr b="0" i="0" lang="en-US" sz="1800" u="none" cap="none" strike="noStrike">
                <a:solidFill>
                  <a:srgbClr val="17365D"/>
                </a:solidFill>
                <a:latin typeface="Arial"/>
                <a:ea typeface="Arial"/>
                <a:cs typeface="Arial"/>
                <a:sym typeface="Arial"/>
              </a:rPr>
              <a:t>Severance of two limbs at or above the wrist or ankle;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self-inflicted injuries,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insurrection, civil commotion or hostile action of armed forces, whether or not the life insured was actually participating therein,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injury sustained or disease contracted, in either event, before applying for this benefit unless the injury or disease was disclosed in the application,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drug or alcohol abuse,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mental and nervous conditions, or</a:t>
            </a:r>
            <a:endParaRPr/>
          </a:p>
          <a:p>
            <a:pPr indent="-514350" lvl="0" marL="514350" marR="0" rtl="0" algn="l">
              <a:lnSpc>
                <a:spcPct val="90000"/>
              </a:lnSpc>
              <a:spcBef>
                <a:spcPts val="0"/>
              </a:spcBef>
              <a:spcAft>
                <a:spcPts val="0"/>
              </a:spcAft>
              <a:buClr>
                <a:srgbClr val="17365D"/>
              </a:buClr>
              <a:buSzPts val="1800"/>
              <a:buFont typeface="Arial"/>
              <a:buAutoNum type="arabicParenBoth"/>
            </a:pPr>
            <a:r>
              <a:rPr lang="en-US" sz="1800">
                <a:solidFill>
                  <a:srgbClr val="17365D"/>
                </a:solidFill>
                <a:latin typeface="Arial"/>
                <a:ea typeface="Arial"/>
                <a:cs typeface="Arial"/>
                <a:sym typeface="Arial"/>
              </a:rPr>
              <a:t>from committing or attempting to commit a criminal offense.</a:t>
            </a:r>
            <a:endParaRPr/>
          </a:p>
        </p:txBody>
      </p:sp>
      <p:sp>
        <p:nvSpPr>
          <p:cNvPr id="769" name="Google Shape;769;p92"/>
          <p:cNvSpPr txBox="1"/>
          <p:nvPr/>
        </p:nvSpPr>
        <p:spPr>
          <a:xfrm>
            <a:off x="228600" y="156754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3600"/>
              <a:buFont typeface="Noto Sans Symbols"/>
              <a:buNone/>
            </a:pPr>
            <a:r>
              <a:rPr b="1" lang="en-US" sz="3600">
                <a:solidFill>
                  <a:srgbClr val="F36005"/>
                </a:solidFill>
                <a:latin typeface="Arial"/>
                <a:ea typeface="Arial"/>
                <a:cs typeface="Arial"/>
                <a:sym typeface="Arial"/>
              </a:rPr>
              <a:t>Exclusions</a:t>
            </a:r>
            <a:r>
              <a:rPr lang="en-US" sz="3600">
                <a:solidFill>
                  <a:srgbClr val="F36005"/>
                </a:solidFill>
                <a:latin typeface="Arial"/>
                <a:ea typeface="Arial"/>
                <a:cs typeface="Arial"/>
                <a:sym typeface="Arial"/>
              </a:rPr>
              <a:t> </a:t>
            </a:r>
            <a:r>
              <a:rPr i="1" lang="en-US" sz="2400">
                <a:solidFill>
                  <a:srgbClr val="00202E"/>
                </a:solidFill>
                <a:latin typeface="Arial"/>
                <a:ea typeface="Arial"/>
                <a:cs typeface="Arial"/>
                <a:sym typeface="Arial"/>
              </a:rPr>
              <a:t>cont…</a:t>
            </a:r>
            <a:endParaRPr i="1" sz="2400">
              <a:solidFill>
                <a:srgbClr val="17365D"/>
              </a:solidFill>
              <a:latin typeface="Arial"/>
              <a:ea typeface="Arial"/>
              <a:cs typeface="Arial"/>
              <a:sym typeface="Arial"/>
            </a:endParaRPr>
          </a:p>
        </p:txBody>
      </p:sp>
      <p:sp>
        <p:nvSpPr>
          <p:cNvPr id="770" name="Google Shape;770;p9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3946"/>
              </a:buClr>
              <a:buSzPct val="100000"/>
              <a:buFont typeface="Arial"/>
              <a:buNone/>
            </a:pPr>
            <a:r>
              <a:rPr b="1" lang="en-US"/>
              <a:t>FABULOUS 5</a:t>
            </a:r>
            <a:br>
              <a:rPr b="1" lang="en-US"/>
            </a:br>
            <a:r>
              <a:rPr lang="en-US"/>
              <a:t>TDB</a:t>
            </a:r>
            <a:endParaRPr/>
          </a:p>
        </p:txBody>
      </p:sp>
      <p:sp>
        <p:nvSpPr>
          <p:cNvPr id="771" name="Google Shape;771;p92"/>
          <p:cNvSpPr/>
          <p:nvPr/>
        </p:nvSpPr>
        <p:spPr>
          <a:xfrm>
            <a:off x="7852956" y="6296661"/>
            <a:ext cx="1169124" cy="19812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u="sng">
                <a:solidFill>
                  <a:srgbClr val="17365D"/>
                </a:solidFill>
                <a:latin typeface="Arial"/>
                <a:ea typeface="Arial"/>
                <a:cs typeface="Arial"/>
                <a:sym typeface="Arial"/>
                <a:hlinkClick action="ppaction://hlinksldjump" r:id="rId3">
                  <a:extLst>
                    <a:ext uri="{A12FA001-AC4F-418D-AE19-62706E023703}">
                      <ahyp:hlinkClr val="tx"/>
                    </a:ext>
                  </a:extLst>
                </a:hlinkClick>
              </a:rPr>
              <a:t>Go to APDB</a:t>
            </a:r>
            <a:endParaRPr sz="1200">
              <a:solidFill>
                <a:srgbClr val="17365D"/>
              </a:solidFill>
              <a:latin typeface="Arial"/>
              <a:ea typeface="Arial"/>
              <a:cs typeface="Arial"/>
              <a:sym typeface="Arial"/>
            </a:endParaRPr>
          </a:p>
        </p:txBody>
      </p:sp>
      <p:sp>
        <p:nvSpPr>
          <p:cNvPr id="772" name="Google Shape;772;p92"/>
          <p:cNvSpPr/>
          <p:nvPr/>
        </p:nvSpPr>
        <p:spPr>
          <a:xfrm>
            <a:off x="7842073" y="6543042"/>
            <a:ext cx="1180008" cy="19812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u="sng">
                <a:solidFill>
                  <a:srgbClr val="17365D"/>
                </a:solidFill>
                <a:latin typeface="Arial"/>
                <a:ea typeface="Arial"/>
                <a:cs typeface="Arial"/>
                <a:sym typeface="Arial"/>
                <a:hlinkClick action="ppaction://hlinksldjump" r:id="rId4">
                  <a:extLst>
                    <a:ext uri="{A12FA001-AC4F-418D-AE19-62706E023703}">
                      <ahyp:hlinkClr val="tx"/>
                    </a:ext>
                  </a:extLst>
                </a:hlinkClick>
              </a:rPr>
              <a:t>Go to WPDD</a:t>
            </a:r>
            <a:endParaRPr sz="1200">
              <a:solidFill>
                <a:srgbClr val="17365D"/>
              </a:solidFill>
              <a:latin typeface="Arial"/>
              <a:ea typeface="Arial"/>
              <a:cs typeface="Arial"/>
              <a:sym typeface="Arial"/>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CASE STUDY 1</a:t>
            </a:r>
            <a:endParaRPr b="1"/>
          </a:p>
        </p:txBody>
      </p:sp>
      <p:sp>
        <p:nvSpPr>
          <p:cNvPr id="778" name="Google Shape;778;p93"/>
          <p:cNvSpPr txBox="1"/>
          <p:nvPr>
            <p:ph idx="1" type="body"/>
          </p:nvPr>
        </p:nvSpPr>
        <p:spPr>
          <a:xfrm>
            <a:off x="397931" y="1780196"/>
            <a:ext cx="4648200" cy="20636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200"/>
              <a:buNone/>
            </a:pPr>
            <a:r>
              <a:rPr lang="en-US" sz="2200"/>
              <a:t>Owner:  Juan dela Cruz</a:t>
            </a:r>
            <a:endParaRPr/>
          </a:p>
          <a:p>
            <a:pPr indent="0" lvl="0" marL="0" rtl="0" algn="l">
              <a:spcBef>
                <a:spcPts val="440"/>
              </a:spcBef>
              <a:spcAft>
                <a:spcPts val="0"/>
              </a:spcAft>
              <a:buSzPts val="2200"/>
              <a:buNone/>
            </a:pPr>
            <a:r>
              <a:rPr lang="en-US" sz="2200"/>
              <a:t>Insured:  Maria dela Cruz</a:t>
            </a:r>
            <a:endParaRPr/>
          </a:p>
          <a:p>
            <a:pPr indent="0" lvl="0" marL="0" rtl="0" algn="l">
              <a:spcBef>
                <a:spcPts val="440"/>
              </a:spcBef>
              <a:spcAft>
                <a:spcPts val="0"/>
              </a:spcAft>
              <a:buSzPts val="2200"/>
              <a:buNone/>
            </a:pPr>
            <a:r>
              <a:rPr lang="en-US" sz="2200"/>
              <a:t>Issue Date:  01 August 2012</a:t>
            </a:r>
            <a:endParaRPr/>
          </a:p>
          <a:p>
            <a:pPr indent="0" lvl="0" marL="0" rtl="0" algn="l">
              <a:spcBef>
                <a:spcPts val="440"/>
              </a:spcBef>
              <a:spcAft>
                <a:spcPts val="0"/>
              </a:spcAft>
              <a:buSzPts val="2200"/>
              <a:buNone/>
            </a:pPr>
            <a:r>
              <a:rPr lang="en-US" sz="2200"/>
              <a:t>Face Amount:  1 Million</a:t>
            </a:r>
            <a:endParaRPr/>
          </a:p>
        </p:txBody>
      </p:sp>
      <p:sp>
        <p:nvSpPr>
          <p:cNvPr id="779" name="Google Shape;779;p93"/>
          <p:cNvSpPr txBox="1"/>
          <p:nvPr/>
        </p:nvSpPr>
        <p:spPr>
          <a:xfrm>
            <a:off x="4961459" y="1763263"/>
            <a:ext cx="3877739" cy="18943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2000"/>
              <a:buFont typeface="Arial"/>
              <a:buNone/>
            </a:pPr>
            <a:r>
              <a:rPr lang="en-US" sz="2000">
                <a:solidFill>
                  <a:srgbClr val="003946"/>
                </a:solidFill>
                <a:latin typeface="Arial"/>
                <a:ea typeface="Arial"/>
                <a:cs typeface="Arial"/>
                <a:sym typeface="Arial"/>
              </a:rPr>
              <a:t>Riders:	</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ADB – 1 Million; HIB – 2,000</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CIB – 500,000; FCIM – 500,000</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TDB</a:t>
            </a:r>
            <a:endParaRPr/>
          </a:p>
        </p:txBody>
      </p:sp>
      <p:sp>
        <p:nvSpPr>
          <p:cNvPr id="780" name="Google Shape;780;p93"/>
          <p:cNvSpPr txBox="1"/>
          <p:nvPr/>
        </p:nvSpPr>
        <p:spPr>
          <a:xfrm>
            <a:off x="394846" y="4603401"/>
            <a:ext cx="7914970" cy="135712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EAAB00"/>
              </a:buClr>
              <a:buSzPts val="2800"/>
              <a:buFont typeface="Arial"/>
              <a:buNone/>
            </a:pPr>
            <a:r>
              <a:rPr lang="en-US" sz="2800">
                <a:solidFill>
                  <a:srgbClr val="003946"/>
                </a:solidFill>
                <a:latin typeface="Arial"/>
                <a:ea typeface="Arial"/>
                <a:cs typeface="Arial"/>
                <a:sym typeface="Arial"/>
              </a:rPr>
              <a:t>Insured gave birth to twins on October 24, 2012.  What can the insured claim?</a:t>
            </a:r>
            <a:endParaRPr/>
          </a:p>
        </p:txBody>
      </p:sp>
      <p:sp>
        <p:nvSpPr>
          <p:cNvPr id="781" name="Google Shape;781;p93"/>
          <p:cNvSpPr txBox="1"/>
          <p:nvPr/>
        </p:nvSpPr>
        <p:spPr>
          <a:xfrm>
            <a:off x="394846" y="3541271"/>
            <a:ext cx="8686800" cy="110790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6600"/>
              </a:buClr>
              <a:buSzPts val="3200"/>
              <a:buFont typeface="Arial"/>
              <a:buNone/>
            </a:pPr>
            <a:r>
              <a:rPr b="1" lang="en-US" sz="3200">
                <a:solidFill>
                  <a:srgbClr val="FF6600"/>
                </a:solidFill>
                <a:latin typeface="Arial"/>
                <a:ea typeface="Arial"/>
                <a:cs typeface="Arial"/>
                <a:sym typeface="Arial"/>
              </a:rPr>
              <a:t>QUESTION:</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500"/>
                                        <p:tgtEl>
                                          <p:spTgt spid="779"/>
                                        </p:tgtEl>
                                      </p:cBhvr>
                                    </p:animEffec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500"/>
                                        <p:tgtEl>
                                          <p:spTgt spid="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par>
                                <p:cTn fill="hold" nodeType="with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500"/>
                                        <p:tgtEl>
                                          <p:spTgt spid="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9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CASE STUDY 2</a:t>
            </a:r>
            <a:endParaRPr b="1"/>
          </a:p>
        </p:txBody>
      </p:sp>
      <p:sp>
        <p:nvSpPr>
          <p:cNvPr id="787" name="Google Shape;787;p94"/>
          <p:cNvSpPr txBox="1"/>
          <p:nvPr/>
        </p:nvSpPr>
        <p:spPr>
          <a:xfrm>
            <a:off x="394845" y="4484870"/>
            <a:ext cx="8308887" cy="2000599"/>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l">
              <a:spcBef>
                <a:spcPts val="0"/>
              </a:spcBef>
              <a:spcAft>
                <a:spcPts val="0"/>
              </a:spcAft>
              <a:buClr>
                <a:srgbClr val="EAAB00"/>
              </a:buClr>
              <a:buSzPct val="100000"/>
              <a:buFont typeface="Arial"/>
              <a:buNone/>
            </a:pPr>
            <a:r>
              <a:rPr lang="en-US" sz="2800">
                <a:solidFill>
                  <a:srgbClr val="003946"/>
                </a:solidFill>
                <a:latin typeface="Arial"/>
                <a:ea typeface="Arial"/>
                <a:cs typeface="Arial"/>
                <a:sym typeface="Arial"/>
              </a:rPr>
              <a:t>Insured was confined in the hospital from January 1-3, 2014 and was diagnosed with Lung Cancer.  Insured was advised to undergo chemotherapy but her father refused.</a:t>
            </a:r>
            <a:endParaRPr/>
          </a:p>
          <a:p>
            <a:pPr indent="0" lvl="0" marL="0" marR="0" rtl="0" algn="l">
              <a:spcBef>
                <a:spcPts val="476"/>
              </a:spcBef>
              <a:spcAft>
                <a:spcPts val="0"/>
              </a:spcAft>
              <a:buClr>
                <a:srgbClr val="EAAB00"/>
              </a:buClr>
              <a:buSzPct val="100000"/>
              <a:buFont typeface="Arial"/>
              <a:buNone/>
            </a:pPr>
            <a:r>
              <a:t/>
            </a:r>
            <a:endParaRPr sz="2800">
              <a:solidFill>
                <a:srgbClr val="003946"/>
              </a:solidFill>
              <a:latin typeface="Arial"/>
              <a:ea typeface="Arial"/>
              <a:cs typeface="Arial"/>
              <a:sym typeface="Arial"/>
            </a:endParaRPr>
          </a:p>
          <a:p>
            <a:pPr indent="0" lvl="0" marL="0" marR="0" rtl="0" algn="l">
              <a:spcBef>
                <a:spcPts val="476"/>
              </a:spcBef>
              <a:spcAft>
                <a:spcPts val="0"/>
              </a:spcAft>
              <a:buClr>
                <a:srgbClr val="EAAB00"/>
              </a:buClr>
              <a:buSzPct val="100000"/>
              <a:buFont typeface="Arial"/>
              <a:buNone/>
            </a:pPr>
            <a:r>
              <a:rPr lang="en-US" sz="2800">
                <a:solidFill>
                  <a:srgbClr val="003946"/>
                </a:solidFill>
                <a:latin typeface="Arial"/>
                <a:ea typeface="Arial"/>
                <a:cs typeface="Arial"/>
                <a:sym typeface="Arial"/>
              </a:rPr>
              <a:t>What can the insured claim?</a:t>
            </a:r>
            <a:endParaRPr/>
          </a:p>
          <a:p>
            <a:pPr indent="0" lvl="0" marL="0" marR="0" rtl="0" algn="l">
              <a:spcBef>
                <a:spcPts val="476"/>
              </a:spcBef>
              <a:spcAft>
                <a:spcPts val="0"/>
              </a:spcAft>
              <a:buClr>
                <a:srgbClr val="EAAB00"/>
              </a:buClr>
              <a:buSzPct val="100000"/>
              <a:buFont typeface="Arial"/>
              <a:buNone/>
            </a:pPr>
            <a:r>
              <a:t/>
            </a:r>
            <a:endParaRPr sz="2800">
              <a:solidFill>
                <a:srgbClr val="003946"/>
              </a:solidFill>
              <a:latin typeface="Arial"/>
              <a:ea typeface="Arial"/>
              <a:cs typeface="Arial"/>
              <a:sym typeface="Arial"/>
            </a:endParaRPr>
          </a:p>
          <a:p>
            <a:pPr indent="0" lvl="0" marL="0" marR="0" rtl="0" algn="l">
              <a:spcBef>
                <a:spcPts val="476"/>
              </a:spcBef>
              <a:spcAft>
                <a:spcPts val="0"/>
              </a:spcAft>
              <a:buClr>
                <a:srgbClr val="EAAB00"/>
              </a:buClr>
              <a:buSzPct val="100000"/>
              <a:buFont typeface="Arial"/>
              <a:buNone/>
            </a:pPr>
            <a:r>
              <a:t/>
            </a:r>
            <a:endParaRPr sz="2800">
              <a:solidFill>
                <a:srgbClr val="003946"/>
              </a:solidFill>
              <a:latin typeface="Arial"/>
              <a:ea typeface="Arial"/>
              <a:cs typeface="Arial"/>
              <a:sym typeface="Arial"/>
            </a:endParaRPr>
          </a:p>
        </p:txBody>
      </p:sp>
      <p:sp>
        <p:nvSpPr>
          <p:cNvPr id="788" name="Google Shape;788;p94"/>
          <p:cNvSpPr txBox="1"/>
          <p:nvPr/>
        </p:nvSpPr>
        <p:spPr>
          <a:xfrm>
            <a:off x="394846" y="3541271"/>
            <a:ext cx="8686800" cy="110790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6600"/>
              </a:buClr>
              <a:buSzPts val="3200"/>
              <a:buFont typeface="Arial"/>
              <a:buNone/>
            </a:pPr>
            <a:r>
              <a:rPr b="1" lang="en-US" sz="3200">
                <a:solidFill>
                  <a:srgbClr val="FF6600"/>
                </a:solidFill>
                <a:latin typeface="Arial"/>
                <a:ea typeface="Arial"/>
                <a:cs typeface="Arial"/>
                <a:sym typeface="Arial"/>
              </a:rPr>
              <a:t>QUESTION:</a:t>
            </a:r>
            <a:endParaRPr b="1" sz="3200">
              <a:solidFill>
                <a:srgbClr val="FF6600"/>
              </a:solidFill>
              <a:latin typeface="Arial"/>
              <a:ea typeface="Arial"/>
              <a:cs typeface="Arial"/>
              <a:sym typeface="Arial"/>
            </a:endParaRPr>
          </a:p>
        </p:txBody>
      </p:sp>
      <p:sp>
        <p:nvSpPr>
          <p:cNvPr id="789" name="Google Shape;789;p94"/>
          <p:cNvSpPr txBox="1"/>
          <p:nvPr>
            <p:ph idx="1" type="body"/>
          </p:nvPr>
        </p:nvSpPr>
        <p:spPr>
          <a:xfrm>
            <a:off x="397931" y="1780196"/>
            <a:ext cx="4648200" cy="20636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200"/>
              <a:buNone/>
            </a:pPr>
            <a:r>
              <a:rPr lang="en-US" sz="2200"/>
              <a:t>Owner:  Juan dela Cruz</a:t>
            </a:r>
            <a:endParaRPr/>
          </a:p>
          <a:p>
            <a:pPr indent="0" lvl="0" marL="0" rtl="0" algn="l">
              <a:spcBef>
                <a:spcPts val="440"/>
              </a:spcBef>
              <a:spcAft>
                <a:spcPts val="0"/>
              </a:spcAft>
              <a:buSzPts val="2200"/>
              <a:buNone/>
            </a:pPr>
            <a:r>
              <a:rPr lang="en-US" sz="2200"/>
              <a:t>Insured:  Maria dela Cruz</a:t>
            </a:r>
            <a:endParaRPr/>
          </a:p>
          <a:p>
            <a:pPr indent="0" lvl="0" marL="0" rtl="0" algn="l">
              <a:spcBef>
                <a:spcPts val="440"/>
              </a:spcBef>
              <a:spcAft>
                <a:spcPts val="0"/>
              </a:spcAft>
              <a:buSzPts val="2200"/>
              <a:buNone/>
            </a:pPr>
            <a:r>
              <a:rPr lang="en-US" sz="2200"/>
              <a:t>Issue Date:  01 August 2012</a:t>
            </a:r>
            <a:endParaRPr/>
          </a:p>
          <a:p>
            <a:pPr indent="0" lvl="0" marL="0" rtl="0" algn="l">
              <a:spcBef>
                <a:spcPts val="440"/>
              </a:spcBef>
              <a:spcAft>
                <a:spcPts val="0"/>
              </a:spcAft>
              <a:buSzPts val="2200"/>
              <a:buNone/>
            </a:pPr>
            <a:r>
              <a:rPr lang="en-US" sz="2200"/>
              <a:t>Face Amount:  1 Million</a:t>
            </a:r>
            <a:endParaRPr/>
          </a:p>
        </p:txBody>
      </p:sp>
      <p:sp>
        <p:nvSpPr>
          <p:cNvPr id="790" name="Google Shape;790;p94"/>
          <p:cNvSpPr txBox="1"/>
          <p:nvPr/>
        </p:nvSpPr>
        <p:spPr>
          <a:xfrm>
            <a:off x="4961459" y="1763263"/>
            <a:ext cx="3877739" cy="189433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2000"/>
              <a:buFont typeface="Arial"/>
              <a:buNone/>
            </a:pPr>
            <a:r>
              <a:rPr lang="en-US" sz="2000">
                <a:solidFill>
                  <a:srgbClr val="003946"/>
                </a:solidFill>
                <a:latin typeface="Arial"/>
                <a:ea typeface="Arial"/>
                <a:cs typeface="Arial"/>
                <a:sym typeface="Arial"/>
              </a:rPr>
              <a:t>Riders:	</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ADB – 1 Million; HIB – 2,000</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CIB – 500,000; FCIM – 500,000</a:t>
            </a:r>
            <a:endParaRPr/>
          </a:p>
          <a:p>
            <a:pPr indent="0" lvl="0" marL="0" marR="0" rtl="0" algn="l">
              <a:spcBef>
                <a:spcPts val="400"/>
              </a:spcBef>
              <a:spcAft>
                <a:spcPts val="0"/>
              </a:spcAft>
              <a:buClr>
                <a:srgbClr val="EAAB00"/>
              </a:buClr>
              <a:buSzPts val="2000"/>
              <a:buFont typeface="Arial"/>
              <a:buNone/>
            </a:pPr>
            <a:r>
              <a:rPr lang="en-US" sz="2000">
                <a:solidFill>
                  <a:srgbClr val="003946"/>
                </a:solidFill>
                <a:latin typeface="Arial"/>
                <a:ea typeface="Arial"/>
                <a:cs typeface="Arial"/>
                <a:sym typeface="Arial"/>
              </a:rPr>
              <a:t>TDB</a:t>
            </a:r>
            <a:endParaRPr/>
          </a:p>
        </p:txBody>
      </p:sp>
    </p:spTree>
  </p:cSld>
  <p:clrMapOvr>
    <a:masterClrMapping/>
  </p:clrMapOvr>
  <mc:AlternateContent>
    <mc:Choice Requires="p14">
      <p:transition spd="slow" p14:dur="14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500"/>
                                        <p:tgtEl>
                                          <p:spTgt spid="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9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CASE STUDY 3</a:t>
            </a:r>
            <a:endParaRPr b="1"/>
          </a:p>
        </p:txBody>
      </p:sp>
      <p:sp>
        <p:nvSpPr>
          <p:cNvPr id="796" name="Google Shape;796;p95"/>
          <p:cNvSpPr txBox="1"/>
          <p:nvPr>
            <p:ph idx="1" type="body"/>
          </p:nvPr>
        </p:nvSpPr>
        <p:spPr>
          <a:xfrm>
            <a:off x="428410" y="1686823"/>
            <a:ext cx="8305801" cy="4953964"/>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200"/>
              <a:buNone/>
            </a:pPr>
            <a:r>
              <a:rPr b="1" lang="en-US" sz="2200">
                <a:solidFill>
                  <a:srgbClr val="FF6600"/>
                </a:solidFill>
              </a:rPr>
              <a:t>01 Mar 2013</a:t>
            </a:r>
            <a:r>
              <a:rPr lang="en-US" sz="2200"/>
              <a:t> – Policy was issued with HIB rider.</a:t>
            </a:r>
            <a:endParaRPr/>
          </a:p>
          <a:p>
            <a:pPr indent="0" lvl="0" marL="0" rtl="0" algn="l">
              <a:spcBef>
                <a:spcPts val="260"/>
              </a:spcBef>
              <a:spcAft>
                <a:spcPts val="0"/>
              </a:spcAft>
              <a:buSzPts val="1300"/>
              <a:buNone/>
            </a:pPr>
            <a:r>
              <a:t/>
            </a:r>
            <a:endParaRPr sz="1300"/>
          </a:p>
          <a:p>
            <a:pPr indent="0" lvl="0" marL="0" rtl="0" algn="l">
              <a:spcBef>
                <a:spcPts val="440"/>
              </a:spcBef>
              <a:spcAft>
                <a:spcPts val="0"/>
              </a:spcAft>
              <a:buSzPts val="2200"/>
              <a:buNone/>
            </a:pPr>
            <a:r>
              <a:rPr b="1" lang="en-US" sz="2200">
                <a:solidFill>
                  <a:srgbClr val="FF6600"/>
                </a:solidFill>
              </a:rPr>
              <a:t>03 Mar 2013</a:t>
            </a:r>
            <a:r>
              <a:rPr lang="en-US" sz="2200"/>
              <a:t> – Advisor was supposed to deliver the policy contract but he learned that insured is confined in a hospital since Mar 1.  Hence, he returned the policy contract to NB &amp; Underwriting for further evaluation.</a:t>
            </a:r>
            <a:endParaRPr/>
          </a:p>
          <a:p>
            <a:pPr indent="0" lvl="0" marL="0" rtl="0" algn="l">
              <a:spcBef>
                <a:spcPts val="260"/>
              </a:spcBef>
              <a:spcAft>
                <a:spcPts val="0"/>
              </a:spcAft>
              <a:buSzPts val="1300"/>
              <a:buNone/>
            </a:pPr>
            <a:r>
              <a:t/>
            </a:r>
            <a:endParaRPr sz="1300"/>
          </a:p>
          <a:p>
            <a:pPr indent="0" lvl="0" marL="0" rtl="0" algn="l">
              <a:spcBef>
                <a:spcPts val="440"/>
              </a:spcBef>
              <a:spcAft>
                <a:spcPts val="0"/>
              </a:spcAft>
              <a:buSzPts val="2200"/>
              <a:buNone/>
            </a:pPr>
            <a:r>
              <a:rPr b="1" lang="en-US" sz="2200">
                <a:solidFill>
                  <a:srgbClr val="FF6600"/>
                </a:solidFill>
              </a:rPr>
              <a:t>Other information</a:t>
            </a:r>
            <a:endParaRPr/>
          </a:p>
          <a:p>
            <a:pPr indent="-342900" lvl="0" marL="342900" rtl="0" algn="l">
              <a:spcBef>
                <a:spcPts val="440"/>
              </a:spcBef>
              <a:spcAft>
                <a:spcPts val="0"/>
              </a:spcAft>
              <a:buSzPts val="2200"/>
              <a:buFont typeface="Arial"/>
              <a:buChar char="•"/>
            </a:pPr>
            <a:r>
              <a:rPr lang="en-US" sz="2200"/>
              <a:t>Diagnosis was Gall Stones.</a:t>
            </a:r>
            <a:endParaRPr/>
          </a:p>
          <a:p>
            <a:pPr indent="-342900" lvl="0" marL="342900" rtl="0" algn="l">
              <a:spcBef>
                <a:spcPts val="440"/>
              </a:spcBef>
              <a:spcAft>
                <a:spcPts val="0"/>
              </a:spcAft>
              <a:buSzPts val="2200"/>
              <a:buFont typeface="Arial"/>
              <a:buChar char="•"/>
            </a:pPr>
            <a:r>
              <a:rPr lang="en-US" sz="2200"/>
              <a:t>Insured underwent Shock Wave. </a:t>
            </a:r>
            <a:endParaRPr/>
          </a:p>
          <a:p>
            <a:pPr indent="-342900" lvl="0" marL="342900" rtl="0" algn="l">
              <a:spcBef>
                <a:spcPts val="440"/>
              </a:spcBef>
              <a:spcAft>
                <a:spcPts val="0"/>
              </a:spcAft>
              <a:buSzPts val="2200"/>
              <a:buFont typeface="Arial"/>
              <a:buChar char="•"/>
            </a:pPr>
            <a:r>
              <a:rPr lang="en-US" sz="2200"/>
              <a:t>Policy was issued as is, no exclusions.</a:t>
            </a:r>
            <a:endParaRPr/>
          </a:p>
          <a:p>
            <a:pPr indent="0" lvl="0" marL="0" rtl="0" algn="l">
              <a:spcBef>
                <a:spcPts val="240"/>
              </a:spcBef>
              <a:spcAft>
                <a:spcPts val="0"/>
              </a:spcAft>
              <a:buSzPts val="1200"/>
              <a:buNone/>
            </a:pPr>
            <a:r>
              <a:t/>
            </a:r>
            <a:endParaRPr sz="1200"/>
          </a:p>
          <a:p>
            <a:pPr indent="0" lvl="0" marL="0" rtl="0" algn="l">
              <a:spcBef>
                <a:spcPts val="440"/>
              </a:spcBef>
              <a:spcAft>
                <a:spcPts val="0"/>
              </a:spcAft>
              <a:buSzPts val="2200"/>
              <a:buNone/>
            </a:pPr>
            <a:r>
              <a:rPr b="1" lang="en-US" sz="2200">
                <a:solidFill>
                  <a:srgbClr val="FF6600"/>
                </a:solidFill>
              </a:rPr>
              <a:t>05 Sep 2013</a:t>
            </a:r>
            <a:r>
              <a:rPr lang="en-US" sz="2200"/>
              <a:t> – Insured was confined with Gall Stones.  Per Underwriting, previous Gall Stones has already been resolved and is not material to them.</a:t>
            </a:r>
            <a:endParaRPr/>
          </a:p>
        </p:txBody>
      </p:sp>
    </p:spTree>
  </p:cSld>
  <p:clrMapOvr>
    <a:masterClrMapping/>
  </p:clrMapOvr>
  <mc:AlternateContent>
    <mc:Choice Requires="p14">
      <p:transition spd="slow" p14:dur="1400">
        <p14:doors dir="vert"/>
      </p:transition>
    </mc:Choice>
    <mc:Fallback>
      <p:transition spd="med">
        <p:fade/>
      </p:transition>
    </mc:Fallback>
  </mc:AlternateContent>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96"/>
          <p:cNvSpPr/>
          <p:nvPr/>
        </p:nvSpPr>
        <p:spPr>
          <a:xfrm>
            <a:off x="3798727" y="1650060"/>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2000">
                <a:solidFill>
                  <a:schemeClr val="dk1"/>
                </a:solidFill>
                <a:latin typeface="Calibri"/>
                <a:ea typeface="Calibri"/>
                <a:cs typeface="Calibri"/>
                <a:sym typeface="Calibri"/>
              </a:rPr>
              <a:t>Issue Date</a:t>
            </a:r>
            <a:endParaRPr/>
          </a:p>
          <a:p>
            <a:pPr indent="0" lvl="0" marL="0" marR="0" rtl="0" algn="ctr">
              <a:lnSpc>
                <a:spcPct val="90000"/>
              </a:lnSpc>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01Mar2013</a:t>
            </a:r>
            <a:endParaRPr sz="2000">
              <a:solidFill>
                <a:schemeClr val="dk1"/>
              </a:solidFill>
              <a:latin typeface="Calibri"/>
              <a:ea typeface="Calibri"/>
              <a:cs typeface="Calibri"/>
              <a:sym typeface="Calibri"/>
            </a:endParaRPr>
          </a:p>
        </p:txBody>
      </p:sp>
      <p:sp>
        <p:nvSpPr>
          <p:cNvPr id="802" name="Google Shape;802;p96"/>
          <p:cNvSpPr/>
          <p:nvPr/>
        </p:nvSpPr>
        <p:spPr>
          <a:xfrm>
            <a:off x="522549" y="1650059"/>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01Mar2012</a:t>
            </a:r>
            <a:endParaRPr sz="2000">
              <a:solidFill>
                <a:schemeClr val="dk1"/>
              </a:solidFill>
              <a:latin typeface="Calibri"/>
              <a:ea typeface="Calibri"/>
              <a:cs typeface="Calibri"/>
              <a:sym typeface="Calibri"/>
            </a:endParaRPr>
          </a:p>
        </p:txBody>
      </p:sp>
      <p:sp>
        <p:nvSpPr>
          <p:cNvPr id="803" name="Google Shape;803;p96"/>
          <p:cNvSpPr/>
          <p:nvPr/>
        </p:nvSpPr>
        <p:spPr>
          <a:xfrm>
            <a:off x="7074904" y="1650058"/>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01Mar2014</a:t>
            </a:r>
            <a:endParaRPr sz="2000">
              <a:solidFill>
                <a:schemeClr val="dk1"/>
              </a:solidFill>
              <a:latin typeface="Calibri"/>
              <a:ea typeface="Calibri"/>
              <a:cs typeface="Calibri"/>
              <a:sym typeface="Calibri"/>
            </a:endParaRPr>
          </a:p>
        </p:txBody>
      </p:sp>
      <p:cxnSp>
        <p:nvCxnSpPr>
          <p:cNvPr id="804" name="Google Shape;804;p96"/>
          <p:cNvCxnSpPr/>
          <p:nvPr/>
        </p:nvCxnSpPr>
        <p:spPr>
          <a:xfrm>
            <a:off x="1998574" y="2270686"/>
            <a:ext cx="1927477" cy="0"/>
          </a:xfrm>
          <a:prstGeom prst="straightConnector1">
            <a:avLst/>
          </a:prstGeom>
          <a:noFill/>
          <a:ln cap="flat" cmpd="sng" w="50800">
            <a:solidFill>
              <a:schemeClr val="dk2"/>
            </a:solidFill>
            <a:prstDash val="solid"/>
            <a:round/>
            <a:headEnd len="sm" w="sm" type="none"/>
            <a:tailEnd len="sm" w="sm" type="none"/>
          </a:ln>
        </p:spPr>
      </p:cxnSp>
      <p:cxnSp>
        <p:nvCxnSpPr>
          <p:cNvPr id="805" name="Google Shape;805;p96"/>
          <p:cNvCxnSpPr/>
          <p:nvPr/>
        </p:nvCxnSpPr>
        <p:spPr>
          <a:xfrm>
            <a:off x="5276138" y="2270686"/>
            <a:ext cx="1927477" cy="0"/>
          </a:xfrm>
          <a:prstGeom prst="straightConnector1">
            <a:avLst/>
          </a:prstGeom>
          <a:noFill/>
          <a:ln cap="flat" cmpd="sng" w="50800">
            <a:solidFill>
              <a:schemeClr val="dk2"/>
            </a:solidFill>
            <a:prstDash val="solid"/>
            <a:round/>
            <a:headEnd len="sm" w="sm" type="none"/>
            <a:tailEnd len="sm" w="sm" type="none"/>
          </a:ln>
        </p:spPr>
      </p:cxnSp>
      <p:sp>
        <p:nvSpPr>
          <p:cNvPr id="806" name="Google Shape;806;p96"/>
          <p:cNvSpPr/>
          <p:nvPr/>
        </p:nvSpPr>
        <p:spPr>
          <a:xfrm>
            <a:off x="2158161" y="1480854"/>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lang="en-US" sz="1400">
                <a:solidFill>
                  <a:schemeClr val="dk1"/>
                </a:solidFill>
                <a:latin typeface="Calibri"/>
                <a:ea typeface="Calibri"/>
                <a:cs typeface="Calibri"/>
                <a:sym typeface="Calibri"/>
              </a:rPr>
              <a:t>12 months prior</a:t>
            </a:r>
            <a:endParaRPr sz="1400">
              <a:solidFill>
                <a:schemeClr val="dk1"/>
              </a:solidFill>
              <a:latin typeface="Calibri"/>
              <a:ea typeface="Calibri"/>
              <a:cs typeface="Calibri"/>
              <a:sym typeface="Calibri"/>
            </a:endParaRPr>
          </a:p>
        </p:txBody>
      </p:sp>
      <p:sp>
        <p:nvSpPr>
          <p:cNvPr id="807" name="Google Shape;807;p96"/>
          <p:cNvSpPr/>
          <p:nvPr/>
        </p:nvSpPr>
        <p:spPr>
          <a:xfrm>
            <a:off x="5435725" y="1480853"/>
            <a:ext cx="1608301" cy="870857"/>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ctr">
              <a:lnSpc>
                <a:spcPct val="90000"/>
              </a:lnSpc>
              <a:spcBef>
                <a:spcPts val="0"/>
              </a:spcBef>
              <a:spcAft>
                <a:spcPts val="0"/>
              </a:spcAft>
              <a:buNone/>
            </a:pPr>
            <a:r>
              <a:rPr lang="en-US" sz="1400">
                <a:solidFill>
                  <a:schemeClr val="dk1"/>
                </a:solidFill>
                <a:latin typeface="Calibri"/>
                <a:ea typeface="Calibri"/>
                <a:cs typeface="Calibri"/>
                <a:sym typeface="Calibri"/>
              </a:rPr>
              <a:t>12 months after</a:t>
            </a:r>
            <a:endParaRPr sz="1400">
              <a:solidFill>
                <a:schemeClr val="dk1"/>
              </a:solidFill>
              <a:latin typeface="Calibri"/>
              <a:ea typeface="Calibri"/>
              <a:cs typeface="Calibri"/>
              <a:sym typeface="Calibri"/>
            </a:endParaRPr>
          </a:p>
        </p:txBody>
      </p:sp>
      <p:cxnSp>
        <p:nvCxnSpPr>
          <p:cNvPr id="808" name="Google Shape;808;p96"/>
          <p:cNvCxnSpPr/>
          <p:nvPr/>
        </p:nvCxnSpPr>
        <p:spPr>
          <a:xfrm flipH="1">
            <a:off x="6239875" y="2352214"/>
            <a:ext cx="1" cy="1698919"/>
          </a:xfrm>
          <a:prstGeom prst="straightConnector1">
            <a:avLst/>
          </a:prstGeom>
          <a:noFill/>
          <a:ln cap="flat" cmpd="sng" w="50800">
            <a:solidFill>
              <a:schemeClr val="dk2"/>
            </a:solidFill>
            <a:prstDash val="solid"/>
            <a:round/>
            <a:headEnd len="sm" w="sm" type="none"/>
            <a:tailEnd len="med" w="med" type="stealth"/>
          </a:ln>
        </p:spPr>
      </p:cxnSp>
      <p:sp>
        <p:nvSpPr>
          <p:cNvPr id="809" name="Google Shape;809;p96"/>
          <p:cNvSpPr/>
          <p:nvPr/>
        </p:nvSpPr>
        <p:spPr>
          <a:xfrm>
            <a:off x="5441753" y="4110340"/>
            <a:ext cx="1608301" cy="105207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05Sep2013</a:t>
            </a:r>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Gall Stones</a:t>
            </a:r>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Shock Wave</a:t>
            </a:r>
            <a:endParaRPr sz="2000">
              <a:solidFill>
                <a:schemeClr val="dk1"/>
              </a:solidFill>
              <a:latin typeface="Calibri"/>
              <a:ea typeface="Calibri"/>
              <a:cs typeface="Calibri"/>
              <a:sym typeface="Calibri"/>
            </a:endParaRPr>
          </a:p>
        </p:txBody>
      </p:sp>
      <p:cxnSp>
        <p:nvCxnSpPr>
          <p:cNvPr id="810" name="Google Shape;810;p96"/>
          <p:cNvCxnSpPr/>
          <p:nvPr/>
        </p:nvCxnSpPr>
        <p:spPr>
          <a:xfrm>
            <a:off x="4637122" y="2467960"/>
            <a:ext cx="0" cy="405114"/>
          </a:xfrm>
          <a:prstGeom prst="straightConnector1">
            <a:avLst/>
          </a:prstGeom>
          <a:noFill/>
          <a:ln cap="flat" cmpd="sng" w="50800">
            <a:solidFill>
              <a:schemeClr val="dk2"/>
            </a:solidFill>
            <a:prstDash val="solid"/>
            <a:round/>
            <a:headEnd len="sm" w="sm" type="none"/>
            <a:tailEnd len="med" w="med" type="stealth"/>
          </a:ln>
        </p:spPr>
      </p:cxnSp>
      <p:sp>
        <p:nvSpPr>
          <p:cNvPr id="811" name="Google Shape;811;p9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CASE STUDY 3</a:t>
            </a:r>
            <a:endParaRPr b="1"/>
          </a:p>
        </p:txBody>
      </p:sp>
      <p:sp>
        <p:nvSpPr>
          <p:cNvPr id="812" name="Google Shape;812;p96"/>
          <p:cNvSpPr/>
          <p:nvPr/>
        </p:nvSpPr>
        <p:spPr>
          <a:xfrm>
            <a:off x="3832971" y="2873074"/>
            <a:ext cx="1608301" cy="1363254"/>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01Mar2013</a:t>
            </a:r>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Gall Stones</a:t>
            </a:r>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Shock Wave</a:t>
            </a:r>
            <a:endParaRPr/>
          </a:p>
          <a:p>
            <a:pPr indent="0" lvl="0" marL="0" marR="0" rtl="0" algn="ctr">
              <a:lnSpc>
                <a:spcPct val="90000"/>
              </a:lnSpc>
              <a:spcBef>
                <a:spcPts val="0"/>
              </a:spcBef>
              <a:spcAft>
                <a:spcPts val="0"/>
              </a:spcAft>
              <a:buNone/>
            </a:pPr>
            <a:r>
              <a:rPr lang="en-US" sz="2000">
                <a:solidFill>
                  <a:schemeClr val="dk1"/>
                </a:solidFill>
                <a:latin typeface="Calibri"/>
                <a:ea typeface="Calibri"/>
                <a:cs typeface="Calibri"/>
                <a:sym typeface="Calibri"/>
              </a:rPr>
              <a:t>(Resolved)</a:t>
            </a:r>
            <a:endParaRPr sz="2000">
              <a:solidFill>
                <a:schemeClr val="dk1"/>
              </a:solidFill>
              <a:latin typeface="Calibri"/>
              <a:ea typeface="Calibri"/>
              <a:cs typeface="Calibri"/>
              <a:sym typeface="Calibri"/>
            </a:endParaRPr>
          </a:p>
        </p:txBody>
      </p:sp>
      <p:sp>
        <p:nvSpPr>
          <p:cNvPr id="813" name="Google Shape;813;p96"/>
          <p:cNvSpPr/>
          <p:nvPr/>
        </p:nvSpPr>
        <p:spPr>
          <a:xfrm>
            <a:off x="6899579" y="4380529"/>
            <a:ext cx="1608301" cy="524703"/>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lang="en-US" sz="1600">
                <a:solidFill>
                  <a:srgbClr val="0000CC"/>
                </a:solidFill>
                <a:latin typeface="Calibri"/>
                <a:ea typeface="Calibri"/>
                <a:cs typeface="Calibri"/>
                <a:sym typeface="Calibri"/>
              </a:rPr>
              <a:t>Not material to Underwriting</a:t>
            </a:r>
            <a:endParaRPr sz="1600">
              <a:solidFill>
                <a:srgbClr val="0000CC"/>
              </a:solidFill>
              <a:latin typeface="Calibri"/>
              <a:ea typeface="Calibri"/>
              <a:cs typeface="Calibri"/>
              <a:sym typeface="Calibri"/>
            </a:endParaRPr>
          </a:p>
        </p:txBody>
      </p:sp>
      <p:sp>
        <p:nvSpPr>
          <p:cNvPr id="814" name="Google Shape;814;p96"/>
          <p:cNvSpPr txBox="1"/>
          <p:nvPr/>
        </p:nvSpPr>
        <p:spPr>
          <a:xfrm>
            <a:off x="394845" y="5706321"/>
            <a:ext cx="8308887" cy="86017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EAAB00"/>
              </a:buClr>
              <a:buSzPts val="2800"/>
              <a:buFont typeface="Arial"/>
              <a:buNone/>
            </a:pPr>
            <a:r>
              <a:rPr lang="en-US" sz="2800">
                <a:solidFill>
                  <a:srgbClr val="003946"/>
                </a:solidFill>
                <a:latin typeface="Arial"/>
                <a:ea typeface="Arial"/>
                <a:cs typeface="Arial"/>
                <a:sym typeface="Arial"/>
              </a:rPr>
              <a:t>Is “Gall Stones” a pre-existing condition?  Why?</a:t>
            </a:r>
            <a:endParaRPr/>
          </a:p>
          <a:p>
            <a:pPr indent="0" lvl="0" marL="0" marR="0" rtl="0" algn="l">
              <a:spcBef>
                <a:spcPts val="560"/>
              </a:spcBef>
              <a:spcAft>
                <a:spcPts val="0"/>
              </a:spcAft>
              <a:buClr>
                <a:srgbClr val="EAAB00"/>
              </a:buClr>
              <a:buSzPts val="2800"/>
              <a:buFont typeface="Arial"/>
              <a:buNone/>
            </a:pPr>
            <a:r>
              <a:t/>
            </a:r>
            <a:endParaRPr sz="2800">
              <a:solidFill>
                <a:srgbClr val="003946"/>
              </a:solidFill>
              <a:latin typeface="Arial"/>
              <a:ea typeface="Arial"/>
              <a:cs typeface="Arial"/>
              <a:sym typeface="Arial"/>
            </a:endParaRPr>
          </a:p>
          <a:p>
            <a:pPr indent="0" lvl="0" marL="0" marR="0" rtl="0" algn="l">
              <a:spcBef>
                <a:spcPts val="560"/>
              </a:spcBef>
              <a:spcAft>
                <a:spcPts val="0"/>
              </a:spcAft>
              <a:buClr>
                <a:srgbClr val="EAAB00"/>
              </a:buClr>
              <a:buSzPts val="2800"/>
              <a:buFont typeface="Arial"/>
              <a:buNone/>
            </a:pPr>
            <a:r>
              <a:t/>
            </a:r>
            <a:endParaRPr sz="2800">
              <a:solidFill>
                <a:srgbClr val="003946"/>
              </a:solidFill>
              <a:latin typeface="Arial"/>
              <a:ea typeface="Arial"/>
              <a:cs typeface="Arial"/>
              <a:sym typeface="Arial"/>
            </a:endParaRPr>
          </a:p>
        </p:txBody>
      </p:sp>
      <p:sp>
        <p:nvSpPr>
          <p:cNvPr id="815" name="Google Shape;815;p96"/>
          <p:cNvSpPr txBox="1"/>
          <p:nvPr/>
        </p:nvSpPr>
        <p:spPr>
          <a:xfrm>
            <a:off x="205888" y="4822222"/>
            <a:ext cx="8686800" cy="110790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6600"/>
              </a:buClr>
              <a:buSzPts val="3200"/>
              <a:buFont typeface="Arial"/>
              <a:buNone/>
            </a:pPr>
            <a:r>
              <a:rPr b="1" lang="en-US" sz="3200">
                <a:solidFill>
                  <a:srgbClr val="FF6600"/>
                </a:solidFill>
                <a:latin typeface="Arial"/>
                <a:ea typeface="Arial"/>
                <a:cs typeface="Arial"/>
                <a:sym typeface="Arial"/>
              </a:rPr>
              <a:t>QUESTION:</a:t>
            </a:r>
            <a:endParaRPr b="1" sz="3200">
              <a:solidFill>
                <a:srgbClr val="FF6600"/>
              </a:solidFill>
              <a:latin typeface="Arial"/>
              <a:ea typeface="Arial"/>
              <a:cs typeface="Arial"/>
              <a:sym typeface="Arial"/>
            </a:endParaRPr>
          </a:p>
        </p:txBody>
      </p:sp>
      <p:sp>
        <p:nvSpPr>
          <p:cNvPr id="816" name="Google Shape;816;p96"/>
          <p:cNvSpPr/>
          <p:nvPr/>
        </p:nvSpPr>
        <p:spPr>
          <a:xfrm>
            <a:off x="1666754" y="2447845"/>
            <a:ext cx="2777926" cy="494680"/>
          </a:xfrm>
          <a:prstGeom prst="rect">
            <a:avLst/>
          </a:prstGeom>
          <a:noFill/>
          <a:ln cap="flat" cmpd="sng" w="25400">
            <a:solidFill>
              <a:srgbClr val="FF0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a:solidFill>
                  <a:schemeClr val="dk1"/>
                </a:solidFill>
                <a:latin typeface="Calibri"/>
                <a:ea typeface="Calibri"/>
                <a:cs typeface="Calibri"/>
                <a:sym typeface="Calibri"/>
              </a:rPr>
              <a:t>Upon delivery of the contract, the Advisor learned that Insured is confined</a:t>
            </a:r>
            <a:endParaRPr sz="1200">
              <a:solidFill>
                <a:schemeClr val="dk1"/>
              </a:solidFill>
              <a:latin typeface="Calibri"/>
              <a:ea typeface="Calibri"/>
              <a:cs typeface="Calibri"/>
              <a:sym typeface="Calibri"/>
            </a:endParaRPr>
          </a:p>
        </p:txBody>
      </p:sp>
      <p:sp>
        <p:nvSpPr>
          <p:cNvPr id="817" name="Google Shape;817;p96"/>
          <p:cNvSpPr txBox="1"/>
          <p:nvPr/>
        </p:nvSpPr>
        <p:spPr>
          <a:xfrm>
            <a:off x="228600" y="1498095"/>
            <a:ext cx="8556170" cy="595955"/>
          </a:xfrm>
          <a:prstGeom prst="rect">
            <a:avLst/>
          </a:prstGeom>
          <a:noFill/>
          <a:ln>
            <a:noFill/>
          </a:ln>
        </p:spPr>
        <p:txBody>
          <a:bodyPr anchorCtr="0" anchor="t" bIns="45700" lIns="91425" spcFirstLastPara="1" rIns="91425" wrap="square" tIns="45700">
            <a:normAutofit/>
          </a:bodyPr>
          <a:lstStyle/>
          <a:p>
            <a:pPr indent="-495300" lvl="0" marL="495300" marR="0" rtl="0" algn="l">
              <a:lnSpc>
                <a:spcPct val="90000"/>
              </a:lnSpc>
              <a:spcBef>
                <a:spcPts val="0"/>
              </a:spcBef>
              <a:spcAft>
                <a:spcPts val="0"/>
              </a:spcAft>
              <a:buClr>
                <a:schemeClr val="dk1"/>
              </a:buClr>
              <a:buSzPts val="2400"/>
              <a:buFont typeface="Noto Sans Symbols"/>
              <a:buNone/>
            </a:pPr>
            <a:r>
              <a:rPr b="1" i="1" lang="en-US" sz="2400">
                <a:solidFill>
                  <a:srgbClr val="FF6600"/>
                </a:solidFill>
                <a:latin typeface="Arial"/>
                <a:ea typeface="Arial"/>
                <a:cs typeface="Arial"/>
                <a:sym typeface="Arial"/>
              </a:rPr>
              <a:t>cont…</a:t>
            </a:r>
            <a:endParaRPr b="1" i="1" sz="2400">
              <a:solidFill>
                <a:srgbClr val="FF6600"/>
              </a:solidFill>
              <a:latin typeface="Arial"/>
              <a:ea typeface="Arial"/>
              <a:cs typeface="Arial"/>
              <a:sym typeface="Arial"/>
            </a:endParaRPr>
          </a:p>
        </p:txBody>
      </p:sp>
      <p:sp>
        <p:nvSpPr>
          <p:cNvPr id="818" name="Google Shape;818;p96"/>
          <p:cNvSpPr/>
          <p:nvPr/>
        </p:nvSpPr>
        <p:spPr>
          <a:xfrm>
            <a:off x="336970" y="3320851"/>
            <a:ext cx="3437681" cy="1367963"/>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176213" lvl="0" marL="176213" marR="0" rtl="0" algn="ctr">
              <a:lnSpc>
                <a:spcPct val="90000"/>
              </a:lnSpc>
              <a:spcBef>
                <a:spcPts val="0"/>
              </a:spcBef>
              <a:spcAft>
                <a:spcPts val="0"/>
              </a:spcAft>
              <a:buNone/>
            </a:pPr>
            <a:r>
              <a:rPr b="1" lang="en-US" sz="2000">
                <a:solidFill>
                  <a:schemeClr val="dk1"/>
                </a:solidFill>
                <a:latin typeface="Arial"/>
                <a:ea typeface="Arial"/>
                <a:cs typeface="Arial"/>
                <a:sym typeface="Arial"/>
              </a:rPr>
              <a:t>12 – 12 RULE</a:t>
            </a:r>
            <a:endParaRPr/>
          </a:p>
          <a:p>
            <a:pPr indent="-176213" lvl="0" marL="176213" marR="0" rtl="0" algn="ctr">
              <a:lnSpc>
                <a:spcPct val="90000"/>
              </a:lnSpc>
              <a:spcBef>
                <a:spcPts val="0"/>
              </a:spcBef>
              <a:spcAft>
                <a:spcPts val="0"/>
              </a:spcAft>
              <a:buNone/>
            </a:pPr>
            <a:r>
              <a:t/>
            </a:r>
            <a:endParaRPr b="1" sz="800">
              <a:solidFill>
                <a:schemeClr val="dk1"/>
              </a:solidFill>
              <a:latin typeface="Arial"/>
              <a:ea typeface="Arial"/>
              <a:cs typeface="Arial"/>
              <a:sym typeface="Arial"/>
            </a:endParaRPr>
          </a:p>
          <a:p>
            <a:pPr indent="-176213" lvl="0" marL="176213" marR="0" rtl="0" algn="l">
              <a:lnSpc>
                <a:spcPct val="90000"/>
              </a:lnSpc>
              <a:spcBef>
                <a:spcPts val="0"/>
              </a:spcBef>
              <a:spcAft>
                <a:spcPts val="0"/>
              </a:spcAft>
              <a:buNone/>
            </a:pPr>
            <a:r>
              <a:rPr lang="en-US" sz="1400">
                <a:solidFill>
                  <a:schemeClr val="dk1"/>
                </a:solidFill>
                <a:latin typeface="Arial"/>
                <a:ea typeface="Arial"/>
                <a:cs typeface="Arial"/>
                <a:sym typeface="Arial"/>
              </a:rPr>
              <a:t>	HIB is not payable on the first year of the policy if the cause of confinement was contracted within 12 months prior to policy issue or reinstatement</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9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Q&amp;A</a:t>
            </a:r>
            <a:endParaRPr b="1"/>
          </a:p>
        </p:txBody>
      </p:sp>
      <p:pic>
        <p:nvPicPr>
          <p:cNvPr id="824" name="Google Shape;824;p97"/>
          <p:cNvPicPr preferRelativeResize="0"/>
          <p:nvPr/>
        </p:nvPicPr>
        <p:blipFill rotWithShape="1">
          <a:blip r:embed="rId3">
            <a:alphaModFix/>
          </a:blip>
          <a:srcRect b="0" l="0" r="0" t="0"/>
          <a:stretch/>
        </p:blipFill>
        <p:spPr>
          <a:xfrm>
            <a:off x="0" y="1"/>
            <a:ext cx="9144000" cy="6858000"/>
          </a:xfrm>
          <a:prstGeom prst="rect">
            <a:avLst/>
          </a:prstGeom>
          <a:noFill/>
          <a:ln>
            <a:noFill/>
          </a:ln>
        </p:spPr>
      </p:pic>
    </p:spTree>
  </p:cSld>
  <p:clrMapOvr>
    <a:masterClrMapping/>
  </p:clrMapOvr>
  <p:transition spd="slow">
    <p:randomBar dir="vert"/>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9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OTHER RIDERS</a:t>
            </a:r>
            <a:endParaRPr b="1"/>
          </a:p>
        </p:txBody>
      </p:sp>
      <p:sp>
        <p:nvSpPr>
          <p:cNvPr id="830" name="Google Shape;830;p98"/>
          <p:cNvSpPr txBox="1"/>
          <p:nvPr>
            <p:ph idx="1" type="body"/>
          </p:nvPr>
        </p:nvSpPr>
        <p:spPr>
          <a:xfrm>
            <a:off x="228600" y="1516284"/>
            <a:ext cx="8686800" cy="515073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800"/>
              <a:buFont typeface="Noto Sans Symbols"/>
              <a:buChar char="❖"/>
            </a:pPr>
            <a:r>
              <a:rPr lang="en-US" sz="2800"/>
              <a:t>Accidental Death, Dismemberment and Disablement (ADDD)</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560"/>
              </a:spcBef>
              <a:spcAft>
                <a:spcPts val="0"/>
              </a:spcAft>
              <a:buSzPts val="2800"/>
              <a:buFont typeface="Noto Sans Symbols"/>
              <a:buChar char="❖"/>
            </a:pPr>
            <a:r>
              <a:rPr lang="en-US" sz="2800"/>
              <a:t>Living Benefit Rider (LBR)</a:t>
            </a:r>
            <a:endParaRPr sz="2800"/>
          </a:p>
          <a:p>
            <a:pPr indent="-292100" lvl="0" marL="342900" rtl="0" algn="l">
              <a:spcBef>
                <a:spcPts val="160"/>
              </a:spcBef>
              <a:spcAft>
                <a:spcPts val="0"/>
              </a:spcAft>
              <a:buSzPts val="800"/>
              <a:buFont typeface="Noto Sans Symbols"/>
              <a:buNone/>
            </a:pPr>
            <a:r>
              <a:t/>
            </a:r>
            <a:endParaRPr sz="800"/>
          </a:p>
          <a:p>
            <a:pPr indent="-342900" lvl="0" marL="342900" rtl="0" algn="l">
              <a:spcBef>
                <a:spcPts val="560"/>
              </a:spcBef>
              <a:spcAft>
                <a:spcPts val="0"/>
              </a:spcAft>
              <a:buSzPts val="2800"/>
              <a:buFont typeface="Noto Sans Symbols"/>
              <a:buChar char="❖"/>
            </a:pPr>
            <a:r>
              <a:rPr lang="en-US" sz="2800"/>
              <a:t>Advance Payment Disability Benefit (APDB)</a:t>
            </a:r>
            <a:endParaRPr sz="2800"/>
          </a:p>
          <a:p>
            <a:pPr indent="-292100" lvl="0" marL="342900" rtl="0" algn="l">
              <a:spcBef>
                <a:spcPts val="160"/>
              </a:spcBef>
              <a:spcAft>
                <a:spcPts val="0"/>
              </a:spcAft>
              <a:buSzPts val="800"/>
              <a:buFont typeface="Noto Sans Symbols"/>
              <a:buNone/>
            </a:pPr>
            <a:r>
              <a:t/>
            </a:r>
            <a:endParaRPr sz="800"/>
          </a:p>
          <a:p>
            <a:pPr indent="-342900" lvl="0" marL="342900" rtl="0" algn="l">
              <a:spcBef>
                <a:spcPts val="560"/>
              </a:spcBef>
              <a:spcAft>
                <a:spcPts val="0"/>
              </a:spcAft>
              <a:buSzPts val="2800"/>
              <a:buFont typeface="Noto Sans Symbols"/>
              <a:buChar char="❖"/>
            </a:pPr>
            <a:r>
              <a:rPr lang="en-US" sz="2800"/>
              <a:t>Waiver of Premium After Death of the Initial Owner (WPD)</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560"/>
              </a:spcBef>
              <a:spcAft>
                <a:spcPts val="0"/>
              </a:spcAft>
              <a:buSzPts val="2800"/>
              <a:buFont typeface="Noto Sans Symbols"/>
              <a:buChar char="❖"/>
            </a:pPr>
            <a:r>
              <a:rPr lang="en-US" sz="2800"/>
              <a:t>Waiver of Premium Upon Death or During Total Disability of the Initial Owner (WPDD)</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560"/>
              </a:spcBef>
              <a:spcAft>
                <a:spcPts val="0"/>
              </a:spcAft>
              <a:buSzPts val="2800"/>
              <a:buFont typeface="Noto Sans Symbols"/>
              <a:buChar char="❖"/>
            </a:pPr>
            <a:r>
              <a:rPr lang="en-US" sz="2800"/>
              <a:t>Sun First Aid</a:t>
            </a:r>
            <a:endParaRPr/>
          </a:p>
        </p:txBody>
      </p:sp>
    </p:spTree>
  </p:cSld>
  <p:clrMapOvr>
    <a:masterClrMapping/>
  </p:clrMapOvr>
  <p:transition spd="slow">
    <p:wheel spokes="8"/>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0" st="0"/>
                                            </p:txEl>
                                          </p:spTgt>
                                        </p:tgtEl>
                                        <p:attrNameLst>
                                          <p:attrName>style.visibility</p:attrName>
                                        </p:attrNameLst>
                                      </p:cBhvr>
                                      <p:to>
                                        <p:strVal val="visible"/>
                                      </p:to>
                                    </p:set>
                                    <p:animEffect filter="fade" transition="in">
                                      <p:cBhvr>
                                        <p:cTn dur="500"/>
                                        <p:tgtEl>
                                          <p:spTgt spid="8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1" st="1"/>
                                            </p:txEl>
                                          </p:spTgt>
                                        </p:tgtEl>
                                        <p:attrNameLst>
                                          <p:attrName>style.visibility</p:attrName>
                                        </p:attrNameLst>
                                      </p:cBhvr>
                                      <p:to>
                                        <p:strVal val="visible"/>
                                      </p:to>
                                    </p:set>
                                    <p:animEffect filter="fade" transition="in">
                                      <p:cBhvr>
                                        <p:cTn dur="500"/>
                                        <p:tgtEl>
                                          <p:spTgt spid="8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2" st="2"/>
                                            </p:txEl>
                                          </p:spTgt>
                                        </p:tgtEl>
                                        <p:attrNameLst>
                                          <p:attrName>style.visibility</p:attrName>
                                        </p:attrNameLst>
                                      </p:cBhvr>
                                      <p:to>
                                        <p:strVal val="visible"/>
                                      </p:to>
                                    </p:set>
                                    <p:animEffect filter="fade" transition="in">
                                      <p:cBhvr>
                                        <p:cTn dur="500"/>
                                        <p:tgtEl>
                                          <p:spTgt spid="8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3" st="3"/>
                                            </p:txEl>
                                          </p:spTgt>
                                        </p:tgtEl>
                                        <p:attrNameLst>
                                          <p:attrName>style.visibility</p:attrName>
                                        </p:attrNameLst>
                                      </p:cBhvr>
                                      <p:to>
                                        <p:strVal val="visible"/>
                                      </p:to>
                                    </p:set>
                                    <p:animEffect filter="fade" transition="in">
                                      <p:cBhvr>
                                        <p:cTn dur="500"/>
                                        <p:tgtEl>
                                          <p:spTgt spid="8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4" st="4"/>
                                            </p:txEl>
                                          </p:spTgt>
                                        </p:tgtEl>
                                        <p:attrNameLst>
                                          <p:attrName>style.visibility</p:attrName>
                                        </p:attrNameLst>
                                      </p:cBhvr>
                                      <p:to>
                                        <p:strVal val="visible"/>
                                      </p:to>
                                    </p:set>
                                    <p:animEffect filter="fade" transition="in">
                                      <p:cBhvr>
                                        <p:cTn dur="500"/>
                                        <p:tgtEl>
                                          <p:spTgt spid="8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5" st="5"/>
                                            </p:txEl>
                                          </p:spTgt>
                                        </p:tgtEl>
                                        <p:attrNameLst>
                                          <p:attrName>style.visibility</p:attrName>
                                        </p:attrNameLst>
                                      </p:cBhvr>
                                      <p:to>
                                        <p:strVal val="visible"/>
                                      </p:to>
                                    </p:set>
                                    <p:animEffect filter="fade" transition="in">
                                      <p:cBhvr>
                                        <p:cTn dur="500"/>
                                        <p:tgtEl>
                                          <p:spTgt spid="8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6" st="6"/>
                                            </p:txEl>
                                          </p:spTgt>
                                        </p:tgtEl>
                                        <p:attrNameLst>
                                          <p:attrName>style.visibility</p:attrName>
                                        </p:attrNameLst>
                                      </p:cBhvr>
                                      <p:to>
                                        <p:strVal val="visible"/>
                                      </p:to>
                                    </p:set>
                                    <p:animEffect filter="fade" transition="in">
                                      <p:cBhvr>
                                        <p:cTn dur="500"/>
                                        <p:tgtEl>
                                          <p:spTgt spid="8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7" st="7"/>
                                            </p:txEl>
                                          </p:spTgt>
                                        </p:tgtEl>
                                        <p:attrNameLst>
                                          <p:attrName>style.visibility</p:attrName>
                                        </p:attrNameLst>
                                      </p:cBhvr>
                                      <p:to>
                                        <p:strVal val="visible"/>
                                      </p:to>
                                    </p:set>
                                    <p:animEffect filter="fade" transition="in">
                                      <p:cBhvr>
                                        <p:cTn dur="500"/>
                                        <p:tgtEl>
                                          <p:spTgt spid="8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8" st="8"/>
                                            </p:txEl>
                                          </p:spTgt>
                                        </p:tgtEl>
                                        <p:attrNameLst>
                                          <p:attrName>style.visibility</p:attrName>
                                        </p:attrNameLst>
                                      </p:cBhvr>
                                      <p:to>
                                        <p:strVal val="visible"/>
                                      </p:to>
                                    </p:set>
                                    <p:animEffect filter="fade" transition="in">
                                      <p:cBhvr>
                                        <p:cTn dur="500"/>
                                        <p:tgtEl>
                                          <p:spTgt spid="8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9" st="9"/>
                                            </p:txEl>
                                          </p:spTgt>
                                        </p:tgtEl>
                                        <p:attrNameLst>
                                          <p:attrName>style.visibility</p:attrName>
                                        </p:attrNameLst>
                                      </p:cBhvr>
                                      <p:to>
                                        <p:strVal val="visible"/>
                                      </p:to>
                                    </p:set>
                                    <p:animEffect filter="fade" transition="in">
                                      <p:cBhvr>
                                        <p:cTn dur="500"/>
                                        <p:tgtEl>
                                          <p:spTgt spid="8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xEl>
                                              <p:pRg end="10" st="10"/>
                                            </p:txEl>
                                          </p:spTgt>
                                        </p:tgtEl>
                                        <p:attrNameLst>
                                          <p:attrName>style.visibility</p:attrName>
                                        </p:attrNameLst>
                                      </p:cBhvr>
                                      <p:to>
                                        <p:strVal val="visible"/>
                                      </p:to>
                                    </p:set>
                                    <p:animEffect filter="fade" transition="in">
                                      <p:cBhvr>
                                        <p:cTn dur="500"/>
                                        <p:tgtEl>
                                          <p:spTgt spid="83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9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36" name="Google Shape;836;p99"/>
          <p:cNvSpPr txBox="1"/>
          <p:nvPr>
            <p:ph idx="1" type="body"/>
          </p:nvPr>
        </p:nvSpPr>
        <p:spPr>
          <a:xfrm>
            <a:off x="462987" y="2667000"/>
            <a:ext cx="8287474" cy="305861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800"/>
              <a:buNone/>
            </a:pPr>
            <a:r>
              <a:rPr lang="en-US" sz="2800"/>
              <a:t>Percentage of ADDD face amount will paid upon death, dismemberment or disablement of the insured within one year from date of accident</a:t>
            </a:r>
            <a:endParaRPr sz="2800"/>
          </a:p>
        </p:txBody>
      </p:sp>
      <p:pic>
        <p:nvPicPr>
          <p:cNvPr descr="C:\Documents and Settings\p084\Application Data\Microsoft\Media Catalog\bd07261_.wmf" id="837" name="Google Shape;837;p99"/>
          <p:cNvPicPr preferRelativeResize="0"/>
          <p:nvPr/>
        </p:nvPicPr>
        <p:blipFill rotWithShape="1">
          <a:blip r:embed="rId3">
            <a:alphaModFix/>
          </a:blip>
          <a:srcRect b="0" l="0" r="0" t="0"/>
          <a:stretch/>
        </p:blipFill>
        <p:spPr>
          <a:xfrm>
            <a:off x="914400" y="4185694"/>
            <a:ext cx="3032760" cy="2405344"/>
          </a:xfrm>
          <a:prstGeom prst="rect">
            <a:avLst/>
          </a:prstGeom>
          <a:noFill/>
          <a:ln>
            <a:noFill/>
          </a:ln>
        </p:spPr>
      </p:pic>
      <p:sp>
        <p:nvSpPr>
          <p:cNvPr id="838" name="Google Shape;838;p99"/>
          <p:cNvSpPr txBox="1"/>
          <p:nvPr/>
        </p:nvSpPr>
        <p:spPr>
          <a:xfrm>
            <a:off x="462987" y="1600199"/>
            <a:ext cx="8287474"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Accidental Death, Dismemberment and Disablement</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glitter dir="u"/>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6">
                                            <p:txEl>
                                              <p:pRg end="0" st="0"/>
                                            </p:txEl>
                                          </p:spTgt>
                                        </p:tgtEl>
                                        <p:attrNameLst>
                                          <p:attrName>style.visibility</p:attrName>
                                        </p:attrNameLst>
                                      </p:cBhvr>
                                      <p:to>
                                        <p:strVal val="visible"/>
                                      </p:to>
                                    </p:set>
                                    <p:animEffect filter="fade" transition="in">
                                      <p:cBhvr>
                                        <p:cTn dur="1822"/>
                                        <p:tgtEl>
                                          <p:spTgt spid="83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1822"/>
                                        <p:tgtEl>
                                          <p:spTgt spid="8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0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44" name="Google Shape;844;p100"/>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Accidental Dismemberment</a:t>
            </a:r>
            <a:endParaRPr/>
          </a:p>
        </p:txBody>
      </p:sp>
      <p:sp>
        <p:nvSpPr>
          <p:cNvPr id="845" name="Google Shape;845;p100"/>
          <p:cNvSpPr txBox="1"/>
          <p:nvPr/>
        </p:nvSpPr>
        <p:spPr>
          <a:xfrm>
            <a:off x="335666" y="2268634"/>
            <a:ext cx="8472669" cy="224548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2800"/>
              <a:buFont typeface="Arial"/>
              <a:buNone/>
            </a:pPr>
            <a:r>
              <a:rPr lang="en-US" sz="2800">
                <a:solidFill>
                  <a:srgbClr val="003946"/>
                </a:solidFill>
                <a:latin typeface="Arial"/>
                <a:ea typeface="Arial"/>
                <a:cs typeface="Arial"/>
                <a:sym typeface="Arial"/>
              </a:rPr>
              <a:t>Percentage of the ADDD face amount if insured incurs a loss due to an accident</a:t>
            </a:r>
            <a:endParaRPr/>
          </a:p>
          <a:p>
            <a:pPr indent="0" lvl="0" marL="0" marR="0" rtl="0" algn="l">
              <a:spcBef>
                <a:spcPts val="480"/>
              </a:spcBef>
              <a:spcAft>
                <a:spcPts val="0"/>
              </a:spcAft>
              <a:buClr>
                <a:srgbClr val="EAAB00"/>
              </a:buClr>
              <a:buSzPts val="2400"/>
              <a:buFont typeface="Arial"/>
              <a:buNone/>
            </a:pPr>
            <a:r>
              <a:t/>
            </a:r>
            <a:endParaRPr sz="2400">
              <a:solidFill>
                <a:srgbClr val="003946"/>
              </a:solidFill>
              <a:latin typeface="Arial"/>
              <a:ea typeface="Arial"/>
              <a:cs typeface="Arial"/>
              <a:sym typeface="Arial"/>
            </a:endParaRPr>
          </a:p>
        </p:txBody>
      </p:sp>
      <p:pic>
        <p:nvPicPr>
          <p:cNvPr id="846" name="Google Shape;846;p100"/>
          <p:cNvPicPr preferRelativeResize="0"/>
          <p:nvPr/>
        </p:nvPicPr>
        <p:blipFill rotWithShape="1">
          <a:blip r:embed="rId3">
            <a:alphaModFix/>
          </a:blip>
          <a:srcRect b="0" l="0" r="0" t="0"/>
          <a:stretch/>
        </p:blipFill>
        <p:spPr>
          <a:xfrm>
            <a:off x="254640" y="3345077"/>
            <a:ext cx="8637609" cy="3240917"/>
          </a:xfrm>
          <a:prstGeom prst="rect">
            <a:avLst/>
          </a:prstGeom>
          <a:noFill/>
          <a:ln>
            <a:noFill/>
          </a:ln>
        </p:spPr>
      </p:pic>
    </p:spTree>
  </p:cSld>
  <p:clrMapOvr>
    <a:masterClrMapping/>
  </p:clrMapOvr>
  <p:transition spd="slow">
    <p:push dir="r"/>
  </p:transition>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10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52" name="Google Shape;852;p101"/>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Accidental Dismemberment  </a:t>
            </a:r>
            <a:r>
              <a:rPr i="1" lang="en-US"/>
              <a:t>cont…</a:t>
            </a:r>
            <a:endParaRPr b="1" i="1">
              <a:solidFill>
                <a:srgbClr val="FF6600"/>
              </a:solidFill>
            </a:endParaRPr>
          </a:p>
        </p:txBody>
      </p:sp>
      <p:sp>
        <p:nvSpPr>
          <p:cNvPr id="853" name="Google Shape;853;p101"/>
          <p:cNvSpPr txBox="1"/>
          <p:nvPr/>
        </p:nvSpPr>
        <p:spPr>
          <a:xfrm>
            <a:off x="335666" y="2268634"/>
            <a:ext cx="8472669" cy="422476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2800"/>
              <a:buFont typeface="Noto Sans Symbols"/>
              <a:buChar char="✔"/>
            </a:pPr>
            <a:r>
              <a:rPr lang="en-US" sz="2800">
                <a:solidFill>
                  <a:srgbClr val="003946"/>
                </a:solidFill>
                <a:latin typeface="Arial"/>
                <a:ea typeface="Arial"/>
                <a:cs typeface="Arial"/>
                <a:sym typeface="Arial"/>
              </a:rPr>
              <a:t>If insured sustains more than one of the </a:t>
            </a:r>
            <a:r>
              <a:rPr lang="en-US" sz="2800" u="sng">
                <a:solidFill>
                  <a:srgbClr val="003946"/>
                </a:solidFill>
                <a:latin typeface="Arial"/>
                <a:ea typeface="Arial"/>
                <a:cs typeface="Arial"/>
                <a:sym typeface="Arial"/>
                <a:hlinkClick action="ppaction://hlinkshowjump?jump=previousslide">
                  <a:extLst>
                    <a:ext uri="{A12FA001-AC4F-418D-AE19-62706E023703}">
                      <ahyp:hlinkClr val="tx"/>
                    </a:ext>
                  </a:extLst>
                </a:hlinkClick>
              </a:rPr>
              <a:t>losses</a:t>
            </a:r>
            <a:r>
              <a:rPr lang="en-US" sz="2800">
                <a:solidFill>
                  <a:srgbClr val="003946"/>
                </a:solidFill>
                <a:latin typeface="Arial"/>
                <a:ea typeface="Arial"/>
                <a:cs typeface="Arial"/>
                <a:sym typeface="Arial"/>
              </a:rPr>
              <a:t> as a result of one accident, pay the loss with largest amount</a:t>
            </a:r>
            <a:endParaRPr/>
          </a:p>
          <a:p>
            <a:pPr indent="-292100" lvl="0" marL="342900" marR="0" rtl="0" algn="l">
              <a:spcBef>
                <a:spcPts val="160"/>
              </a:spcBef>
              <a:spcAft>
                <a:spcPts val="0"/>
              </a:spcAft>
              <a:buClr>
                <a:srgbClr val="EAAB00"/>
              </a:buClr>
              <a:buSzPts val="800"/>
              <a:buFont typeface="Noto Sans Symbols"/>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Noto Sans Symbols"/>
              <a:buChar char="✔"/>
            </a:pPr>
            <a:r>
              <a:rPr lang="en-US" sz="2800">
                <a:solidFill>
                  <a:srgbClr val="003946"/>
                </a:solidFill>
                <a:latin typeface="Arial"/>
                <a:ea typeface="Arial"/>
                <a:cs typeface="Arial"/>
                <a:sym typeface="Arial"/>
              </a:rPr>
              <a:t>Losses sustained as a result of any subsequent accident will be considered a separate loss</a:t>
            </a:r>
            <a:endParaRPr/>
          </a:p>
          <a:p>
            <a:pPr indent="-292100" lvl="0" marL="342900" marR="0" rtl="0" algn="l">
              <a:spcBef>
                <a:spcPts val="160"/>
              </a:spcBef>
              <a:spcAft>
                <a:spcPts val="0"/>
              </a:spcAft>
              <a:buClr>
                <a:srgbClr val="EAAB00"/>
              </a:buClr>
              <a:buSzPts val="800"/>
              <a:buFont typeface="Noto Sans Symbols"/>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Noto Sans Symbols"/>
              <a:buChar char="✔"/>
            </a:pPr>
            <a:r>
              <a:rPr lang="en-US" sz="2800">
                <a:solidFill>
                  <a:srgbClr val="003946"/>
                </a:solidFill>
                <a:latin typeface="Arial"/>
                <a:ea typeface="Arial"/>
                <a:cs typeface="Arial"/>
                <a:sym typeface="Arial"/>
              </a:rPr>
              <a:t>In any policy year, the aggregate benefits for one or more accidents is 100% of the ADDD face amount less any disablement benefit paid</a:t>
            </a:r>
            <a:endParaRPr sz="2400">
              <a:solidFill>
                <a:srgbClr val="003946"/>
              </a:solidFill>
              <a:latin typeface="Arial"/>
              <a:ea typeface="Arial"/>
              <a:cs typeface="Arial"/>
              <a:sym typeface="Arial"/>
            </a:endParaRPr>
          </a:p>
        </p:txBody>
      </p:sp>
    </p:spTree>
  </p:cSld>
  <p:clrMapOvr>
    <a:masterClrMapping/>
  </p:clrMapOvr>
  <p:transition spd="slow">
    <p:push/>
  </p:transition>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0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59" name="Google Shape;859;p102"/>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Accidental Disablement</a:t>
            </a:r>
            <a:endParaRPr/>
          </a:p>
        </p:txBody>
      </p:sp>
      <p:sp>
        <p:nvSpPr>
          <p:cNvPr id="860" name="Google Shape;860;p102"/>
          <p:cNvSpPr txBox="1"/>
          <p:nvPr/>
        </p:nvSpPr>
        <p:spPr>
          <a:xfrm>
            <a:off x="335667" y="2268634"/>
            <a:ext cx="6308202" cy="423633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2800"/>
              <a:buFont typeface="Noto Sans Symbols"/>
              <a:buChar char="✔"/>
            </a:pPr>
            <a:r>
              <a:rPr lang="en-US" sz="2800">
                <a:solidFill>
                  <a:srgbClr val="003946"/>
                </a:solidFill>
                <a:latin typeface="Arial"/>
                <a:ea typeface="Arial"/>
                <a:cs typeface="Arial"/>
                <a:sym typeface="Arial"/>
              </a:rPr>
              <a:t>10% of the [ADDD face amount less any dismemberment] if insured, due to an accident, becomes Totally Disabled </a:t>
            </a:r>
            <a:r>
              <a:rPr lang="en-US" sz="2800">
                <a:solidFill>
                  <a:srgbClr val="FFC000"/>
                </a:solidFill>
                <a:latin typeface="Arial"/>
                <a:ea typeface="Arial"/>
                <a:cs typeface="Arial"/>
                <a:sym typeface="Arial"/>
              </a:rPr>
              <a:t>(follows the definition of TDB)</a:t>
            </a:r>
            <a:endParaRPr/>
          </a:p>
          <a:p>
            <a:pPr indent="0" lvl="0" marL="0" marR="0" rtl="0" algn="l">
              <a:spcBef>
                <a:spcPts val="560"/>
              </a:spcBef>
              <a:spcAft>
                <a:spcPts val="0"/>
              </a:spcAft>
              <a:buClr>
                <a:srgbClr val="EAAB00"/>
              </a:buClr>
              <a:buSzPts val="2800"/>
              <a:buFont typeface="Arial"/>
              <a:buNone/>
            </a:pPr>
            <a:r>
              <a:t/>
            </a:r>
            <a:endParaRPr sz="2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Noto Sans Symbols"/>
              <a:buChar char="✔"/>
            </a:pPr>
            <a:r>
              <a:rPr lang="en-US" sz="2800">
                <a:solidFill>
                  <a:srgbClr val="003946"/>
                </a:solidFill>
                <a:latin typeface="Arial"/>
                <a:ea typeface="Arial"/>
                <a:cs typeface="Arial"/>
                <a:sym typeface="Arial"/>
              </a:rPr>
              <a:t>Yearly payment for 10 years</a:t>
            </a:r>
            <a:endParaRPr/>
          </a:p>
        </p:txBody>
      </p:sp>
      <p:pic>
        <p:nvPicPr>
          <p:cNvPr descr="C:\Documents and Settings\p084\Application Data\Microsoft\Media Catalog\Downloaded Clips\cl71\j0283638.gif" id="861" name="Google Shape;861;p102"/>
          <p:cNvPicPr preferRelativeResize="0"/>
          <p:nvPr/>
        </p:nvPicPr>
        <p:blipFill rotWithShape="1">
          <a:blip r:embed="rId3">
            <a:alphaModFix/>
          </a:blip>
          <a:srcRect b="0" l="0" r="0" t="0"/>
          <a:stretch/>
        </p:blipFill>
        <p:spPr>
          <a:xfrm>
            <a:off x="5999544" y="2326517"/>
            <a:ext cx="2362200" cy="335280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0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67" name="Google Shape;867;p103"/>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Accidental Death</a:t>
            </a:r>
            <a:endParaRPr/>
          </a:p>
        </p:txBody>
      </p:sp>
      <p:sp>
        <p:nvSpPr>
          <p:cNvPr id="868" name="Google Shape;868;p103"/>
          <p:cNvSpPr txBox="1"/>
          <p:nvPr/>
        </p:nvSpPr>
        <p:spPr>
          <a:xfrm>
            <a:off x="335666" y="2268634"/>
            <a:ext cx="8472669" cy="224548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2800"/>
              <a:buFont typeface="Arial"/>
              <a:buNone/>
            </a:pPr>
            <a:r>
              <a:rPr lang="en-US" sz="2800">
                <a:solidFill>
                  <a:srgbClr val="003946"/>
                </a:solidFill>
                <a:latin typeface="Arial"/>
                <a:ea typeface="Arial"/>
                <a:cs typeface="Arial"/>
                <a:sym typeface="Arial"/>
              </a:rPr>
              <a:t>100% of the ADDD face amount if insured dies of an accident</a:t>
            </a:r>
            <a:endParaRPr/>
          </a:p>
          <a:p>
            <a:pPr indent="0" lvl="0" marL="0" marR="0" rtl="0" algn="l">
              <a:spcBef>
                <a:spcPts val="320"/>
              </a:spcBef>
              <a:spcAft>
                <a:spcPts val="0"/>
              </a:spcAft>
              <a:buClr>
                <a:srgbClr val="EAAB00"/>
              </a:buClr>
              <a:buSzPts val="1600"/>
              <a:buFont typeface="Arial"/>
              <a:buNone/>
            </a:pPr>
            <a:r>
              <a:t/>
            </a:r>
            <a:endParaRPr sz="1600">
              <a:solidFill>
                <a:srgbClr val="003946"/>
              </a:solidFill>
              <a:latin typeface="Arial"/>
              <a:ea typeface="Arial"/>
              <a:cs typeface="Arial"/>
              <a:sym typeface="Arial"/>
            </a:endParaRPr>
          </a:p>
          <a:p>
            <a:pPr indent="0" lvl="0" marL="0" marR="0" rtl="0" algn="l">
              <a:spcBef>
                <a:spcPts val="480"/>
              </a:spcBef>
              <a:spcAft>
                <a:spcPts val="0"/>
              </a:spcAft>
              <a:buClr>
                <a:srgbClr val="EAAB00"/>
              </a:buClr>
              <a:buSzPts val="2400"/>
              <a:buFont typeface="Arial"/>
              <a:buNone/>
            </a:pPr>
            <a:r>
              <a:rPr lang="en-US" sz="2400">
                <a:solidFill>
                  <a:srgbClr val="003946"/>
                </a:solidFill>
                <a:latin typeface="Arial"/>
                <a:ea typeface="Arial"/>
                <a:cs typeface="Arial"/>
                <a:sym typeface="Arial"/>
              </a:rPr>
              <a:t>Less any dismemberment and/or disablement benefit paid within the policy year as a result of the same accident</a:t>
            </a:r>
            <a:endParaRPr/>
          </a:p>
        </p:txBody>
      </p:sp>
      <p:sp>
        <p:nvSpPr>
          <p:cNvPr id="869" name="Google Shape;869;p103"/>
          <p:cNvSpPr txBox="1"/>
          <p:nvPr/>
        </p:nvSpPr>
        <p:spPr>
          <a:xfrm>
            <a:off x="823730" y="4791916"/>
            <a:ext cx="7417446" cy="1238494"/>
          </a:xfrm>
          <a:prstGeom prst="rect">
            <a:avLst/>
          </a:prstGeom>
          <a:noFill/>
          <a:ln cap="flat" cmpd="sng" w="38100">
            <a:solidFill>
              <a:schemeClr val="dk1"/>
            </a:solidFill>
            <a:prstDash val="dot"/>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2400"/>
              <a:buFont typeface="Arial"/>
              <a:buNone/>
            </a:pPr>
            <a:r>
              <a:rPr lang="en-US" sz="2400">
                <a:solidFill>
                  <a:srgbClr val="003946"/>
                </a:solidFill>
                <a:latin typeface="Arial"/>
                <a:ea typeface="Arial"/>
                <a:cs typeface="Arial"/>
                <a:sym typeface="Arial"/>
              </a:rPr>
              <a:t>In any policy year, 100% of the ADDD face amount is payable if insured dies due to independent and unrelated accident</a:t>
            </a:r>
            <a:endParaRPr/>
          </a:p>
        </p:txBody>
      </p:sp>
    </p:spTree>
  </p:cSld>
  <p:clrMapOvr>
    <a:masterClrMapping/>
  </p:clrMapOvr>
  <mc:AlternateContent>
    <mc:Choice Requires="p14">
      <p:transition spd="slow" p14:dur="16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500"/>
                                        <p:tgtEl>
                                          <p:spTgt spid="8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500"/>
                                        <p:tgtEl>
                                          <p:spTgt spid="8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0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75" name="Google Shape;875;p104"/>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Exclusions</a:t>
            </a:r>
            <a:endParaRPr/>
          </a:p>
        </p:txBody>
      </p:sp>
      <p:sp>
        <p:nvSpPr>
          <p:cNvPr id="876" name="Google Shape;876;p104"/>
          <p:cNvSpPr txBox="1"/>
          <p:nvPr/>
        </p:nvSpPr>
        <p:spPr>
          <a:xfrm>
            <a:off x="335666" y="2268634"/>
            <a:ext cx="8495817" cy="423633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Suicide while sane or insane, or intentionally self-inflicted injuries</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Bodily or mental infirmity or disease of any kind or infection other than infection occurring simultaneously with and in consequence of an accidental cut or wound</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Committing a criminal offense</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Homicide</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Poison, carbon monoxide or drug overdose</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Insurrection, civil commotion or hostile action of armed forces, whether or not the life insured was actually participating therein</a:t>
            </a:r>
            <a:endParaRPr/>
          </a:p>
          <a:p>
            <a:pPr indent="-342900" lvl="0" marL="342900" marR="0" rtl="0" algn="l">
              <a:spcBef>
                <a:spcPts val="360"/>
              </a:spcBef>
              <a:spcAft>
                <a:spcPts val="0"/>
              </a:spcAft>
              <a:buClr>
                <a:srgbClr val="EAAB00"/>
              </a:buClr>
              <a:buSzPts val="1800"/>
              <a:buFont typeface="Calibri"/>
              <a:buAutoNum type="alphaLcParenR"/>
            </a:pPr>
            <a:r>
              <a:rPr lang="en-US" sz="1800">
                <a:solidFill>
                  <a:srgbClr val="003946"/>
                </a:solidFill>
                <a:latin typeface="Arial"/>
                <a:ea typeface="Arial"/>
                <a:cs typeface="Arial"/>
                <a:sym typeface="Arial"/>
              </a:rPr>
              <a:t>Injury sustained from any aviation or marine activities, other than riding as a fare paying passenger in an air or marine device operated by a commercial airline or shipping line on a scheduled passenger trip over its established passenger route</a:t>
            </a:r>
            <a:endParaRPr/>
          </a:p>
        </p:txBody>
      </p:sp>
    </p:spTree>
  </p:cSld>
  <p:clrMapOvr>
    <a:masterClrMapping/>
  </p:clrMapOvr>
  <p:transition spd="slow">
    <p:push dir="r"/>
  </p:transition>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0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ADDD</a:t>
            </a:r>
            <a:endParaRPr b="1"/>
          </a:p>
        </p:txBody>
      </p:sp>
      <p:sp>
        <p:nvSpPr>
          <p:cNvPr id="882" name="Google Shape;882;p105"/>
          <p:cNvSpPr txBox="1"/>
          <p:nvPr>
            <p:ph idx="1" type="body"/>
          </p:nvPr>
        </p:nvSpPr>
        <p:spPr>
          <a:xfrm>
            <a:off x="277791" y="1504706"/>
            <a:ext cx="7755039" cy="53243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3200"/>
              <a:buNone/>
            </a:pPr>
            <a:r>
              <a:rPr b="1" lang="en-US">
                <a:solidFill>
                  <a:srgbClr val="FF6600"/>
                </a:solidFill>
              </a:rPr>
              <a:t>Limitations</a:t>
            </a:r>
            <a:endParaRPr/>
          </a:p>
        </p:txBody>
      </p:sp>
      <p:sp>
        <p:nvSpPr>
          <p:cNvPr id="883" name="Google Shape;883;p105"/>
          <p:cNvSpPr txBox="1"/>
          <p:nvPr/>
        </p:nvSpPr>
        <p:spPr>
          <a:xfrm>
            <a:off x="335667" y="2268634"/>
            <a:ext cx="8484242" cy="4236338"/>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2400"/>
              <a:buFont typeface="Noto Sans Symbols"/>
              <a:buChar char="✔"/>
            </a:pPr>
            <a:r>
              <a:rPr lang="en-US" sz="2400">
                <a:solidFill>
                  <a:srgbClr val="003946"/>
                </a:solidFill>
                <a:latin typeface="Arial"/>
                <a:ea typeface="Arial"/>
                <a:cs typeface="Arial"/>
                <a:sym typeface="Arial"/>
              </a:rPr>
              <a:t>In any policy year, aggregate amount payable under accidental death, dismemberment and disablement in respect of one accident = 100% of the ADDD face amount</a:t>
            </a:r>
            <a:endParaRPr sz="2400">
              <a:solidFill>
                <a:srgbClr val="FFC000"/>
              </a:solidFill>
              <a:latin typeface="Arial"/>
              <a:ea typeface="Arial"/>
              <a:cs typeface="Arial"/>
              <a:sym typeface="Arial"/>
            </a:endParaRPr>
          </a:p>
          <a:p>
            <a:pPr indent="0" lvl="0" marL="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480"/>
              </a:spcBef>
              <a:spcAft>
                <a:spcPts val="0"/>
              </a:spcAft>
              <a:buClr>
                <a:srgbClr val="EAAB00"/>
              </a:buClr>
              <a:buSzPts val="2400"/>
              <a:buFont typeface="Noto Sans Symbols"/>
              <a:buChar char="✔"/>
            </a:pPr>
            <a:r>
              <a:rPr lang="en-US" sz="2400">
                <a:solidFill>
                  <a:srgbClr val="003946"/>
                </a:solidFill>
                <a:latin typeface="Arial"/>
                <a:ea typeface="Arial"/>
                <a:cs typeface="Arial"/>
                <a:sym typeface="Arial"/>
              </a:rPr>
              <a:t>In any policy year, aggregate payable under dismemberment or disability benefit in respect of one or more accidents = 100% of ADDD face amount</a:t>
            </a:r>
            <a:endParaRPr/>
          </a:p>
          <a:p>
            <a:pPr indent="-292100" lvl="0" marL="342900" marR="0" rtl="0" algn="l">
              <a:spcBef>
                <a:spcPts val="160"/>
              </a:spcBef>
              <a:spcAft>
                <a:spcPts val="0"/>
              </a:spcAft>
              <a:buClr>
                <a:srgbClr val="EAAB00"/>
              </a:buClr>
              <a:buSzPts val="800"/>
              <a:buFont typeface="Noto Sans Symbols"/>
              <a:buNone/>
            </a:pPr>
            <a:r>
              <a:t/>
            </a:r>
            <a:endParaRPr sz="800">
              <a:solidFill>
                <a:srgbClr val="003946"/>
              </a:solidFill>
              <a:latin typeface="Arial"/>
              <a:ea typeface="Arial"/>
              <a:cs typeface="Arial"/>
              <a:sym typeface="Arial"/>
            </a:endParaRPr>
          </a:p>
          <a:p>
            <a:pPr indent="-342900" lvl="0" marL="342900" marR="0" rtl="0" algn="l">
              <a:spcBef>
                <a:spcPts val="480"/>
              </a:spcBef>
              <a:spcAft>
                <a:spcPts val="0"/>
              </a:spcAft>
              <a:buClr>
                <a:srgbClr val="EAAB00"/>
              </a:buClr>
              <a:buSzPts val="2400"/>
              <a:buFont typeface="Noto Sans Symbols"/>
              <a:buChar char="✔"/>
            </a:pPr>
            <a:r>
              <a:rPr lang="en-US" sz="2400">
                <a:solidFill>
                  <a:srgbClr val="003946"/>
                </a:solidFill>
                <a:latin typeface="Arial"/>
                <a:ea typeface="Arial"/>
                <a:cs typeface="Arial"/>
                <a:sym typeface="Arial"/>
              </a:rPr>
              <a:t>In any policy year, amount payable for loss of life arising from unrelated accident is always = 100% of ADDD face amount</a:t>
            </a:r>
            <a:endParaRPr/>
          </a:p>
        </p:txBody>
      </p:sp>
    </p:spTree>
  </p:cSld>
  <p:clrMapOvr>
    <a:masterClrMapping/>
  </p:clrMapOvr>
  <mc:AlternateContent>
    <mc:Choice Requires="p14">
      <p:transition spd="slow" p14:dur="1200">
        <p14:flip dir="l"/>
      </p:transition>
    </mc:Choice>
    <mc:Fallback>
      <p:transition spd="slow">
        <p:fade/>
      </p:transition>
    </mc:Fallback>
  </mc:AlternateContent>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0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LBR</a:t>
            </a:r>
            <a:endParaRPr b="1"/>
          </a:p>
        </p:txBody>
      </p:sp>
      <p:sp>
        <p:nvSpPr>
          <p:cNvPr id="889" name="Google Shape;889;p106"/>
          <p:cNvSpPr txBox="1"/>
          <p:nvPr>
            <p:ph idx="1" type="body"/>
          </p:nvPr>
        </p:nvSpPr>
        <p:spPr>
          <a:xfrm>
            <a:off x="213361" y="2472162"/>
            <a:ext cx="5345429" cy="3979479"/>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Font typeface="Noto Sans Symbols"/>
              <a:buChar char="▪"/>
            </a:pPr>
            <a:r>
              <a:rPr lang="en-US"/>
              <a:t>Payment of 60% of the face amount, less advances plus interest</a:t>
            </a:r>
            <a:endParaRPr/>
          </a:p>
          <a:p>
            <a:pPr indent="0" lvl="0" marL="0" rtl="0" algn="l">
              <a:spcBef>
                <a:spcPts val="351"/>
              </a:spcBef>
              <a:spcAft>
                <a:spcPts val="0"/>
              </a:spcAft>
              <a:buSzPct val="100000"/>
              <a:buNone/>
            </a:pPr>
            <a:r>
              <a:t/>
            </a:r>
            <a:endParaRPr sz="1900"/>
          </a:p>
          <a:p>
            <a:pPr indent="-342900" lvl="0" marL="342900" rtl="0" algn="l">
              <a:spcBef>
                <a:spcPts val="592"/>
              </a:spcBef>
              <a:spcAft>
                <a:spcPts val="0"/>
              </a:spcAft>
              <a:buSzPct val="100000"/>
              <a:buFont typeface="Noto Sans Symbols"/>
              <a:buChar char="▪"/>
            </a:pPr>
            <a:r>
              <a:rPr lang="en-US"/>
              <a:t>When the life insured is diagnosed of a terminal illness with a life expectancy of 12 months or less</a:t>
            </a:r>
            <a:endParaRPr/>
          </a:p>
        </p:txBody>
      </p:sp>
      <p:pic>
        <p:nvPicPr>
          <p:cNvPr id="890" name="Google Shape;890;p106"/>
          <p:cNvPicPr preferRelativeResize="0"/>
          <p:nvPr/>
        </p:nvPicPr>
        <p:blipFill rotWithShape="1">
          <a:blip r:embed="rId3">
            <a:alphaModFix/>
          </a:blip>
          <a:srcRect b="0" l="0" r="0" t="0"/>
          <a:stretch/>
        </p:blipFill>
        <p:spPr>
          <a:xfrm>
            <a:off x="5680710" y="1722120"/>
            <a:ext cx="3067049" cy="4544247"/>
          </a:xfrm>
          <a:prstGeom prst="rect">
            <a:avLst/>
          </a:prstGeom>
          <a:noFill/>
          <a:ln cap="flat" cmpd="sng" w="31750">
            <a:solidFill>
              <a:schemeClr val="dk2"/>
            </a:solidFill>
            <a:prstDash val="solid"/>
            <a:miter lim="800000"/>
            <a:headEnd len="sm" w="sm" type="none"/>
            <a:tailEnd len="sm" w="sm" type="none"/>
          </a:ln>
        </p:spPr>
      </p:pic>
      <p:sp>
        <p:nvSpPr>
          <p:cNvPr id="891" name="Google Shape;891;p106"/>
          <p:cNvSpPr txBox="1"/>
          <p:nvPr/>
        </p:nvSpPr>
        <p:spPr>
          <a:xfrm>
            <a:off x="213362" y="1584958"/>
            <a:ext cx="8534398"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Living Benefit Rider</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shred dir="ou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par>
                                <p:cTn fill="hold" nodeType="with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500"/>
                                        <p:tgtEl>
                                          <p:spTgt spid="8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0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LBR</a:t>
            </a:r>
            <a:endParaRPr b="1"/>
          </a:p>
        </p:txBody>
      </p:sp>
      <p:sp>
        <p:nvSpPr>
          <p:cNvPr id="897" name="Google Shape;897;p107"/>
          <p:cNvSpPr txBox="1"/>
          <p:nvPr>
            <p:ph idx="1" type="body"/>
          </p:nvPr>
        </p:nvSpPr>
        <p:spPr>
          <a:xfrm>
            <a:off x="320041" y="1722120"/>
            <a:ext cx="8488679" cy="490727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Conditions</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640"/>
              </a:spcBef>
              <a:spcAft>
                <a:spcPts val="0"/>
              </a:spcAft>
              <a:buSzPts val="3200"/>
              <a:buFont typeface="Noto Sans Symbols"/>
              <a:buChar char="▪"/>
            </a:pPr>
            <a:r>
              <a:rPr lang="en-US"/>
              <a:t>Policy is incontestable</a:t>
            </a:r>
            <a:endParaRPr/>
          </a:p>
          <a:p>
            <a:pPr indent="-342900" lvl="0" marL="342900" rtl="0" algn="l">
              <a:spcBef>
                <a:spcPts val="640"/>
              </a:spcBef>
              <a:spcAft>
                <a:spcPts val="0"/>
              </a:spcAft>
              <a:buSzPts val="3200"/>
              <a:buFont typeface="Noto Sans Symbols"/>
              <a:buChar char="▪"/>
            </a:pPr>
            <a:r>
              <a:rPr lang="en-US"/>
              <a:t>Policy must not be assigned</a:t>
            </a:r>
            <a:endParaRPr/>
          </a:p>
          <a:p>
            <a:pPr indent="-342900" lvl="0" marL="342900" rtl="0" algn="l">
              <a:spcBef>
                <a:spcPts val="640"/>
              </a:spcBef>
              <a:spcAft>
                <a:spcPts val="0"/>
              </a:spcAft>
              <a:buSzPts val="3200"/>
              <a:buFont typeface="Noto Sans Symbols"/>
              <a:buChar char="▪"/>
            </a:pPr>
            <a:r>
              <a:rPr lang="en-US"/>
              <a:t>Policy is a permanent plan or an endowment plan</a:t>
            </a:r>
            <a:endParaRPr/>
          </a:p>
          <a:p>
            <a:pPr indent="-342900" lvl="0" marL="342900" rtl="0" algn="l">
              <a:spcBef>
                <a:spcPts val="640"/>
              </a:spcBef>
              <a:spcAft>
                <a:spcPts val="0"/>
              </a:spcAft>
              <a:buSzPts val="3200"/>
              <a:buFont typeface="Noto Sans Symbols"/>
              <a:buChar char="▪"/>
            </a:pPr>
            <a:r>
              <a:rPr lang="en-US"/>
              <a:t>Client is still living</a:t>
            </a:r>
            <a:endParaRPr/>
          </a:p>
          <a:p>
            <a:pPr indent="-342900" lvl="0" marL="342900" rtl="0" algn="l">
              <a:spcBef>
                <a:spcPts val="640"/>
              </a:spcBef>
              <a:spcAft>
                <a:spcPts val="0"/>
              </a:spcAft>
              <a:buSzPts val="3200"/>
              <a:buFont typeface="Noto Sans Symbols"/>
              <a:buChar char="▪"/>
            </a:pPr>
            <a:r>
              <a:rPr lang="en-US"/>
              <a:t>Consent of irrevocable primary death beneficiary is needed</a:t>
            </a:r>
            <a:endParaRPr/>
          </a:p>
          <a:p>
            <a:pPr indent="-139700" lvl="0" marL="342900" rtl="0" algn="l">
              <a:spcBef>
                <a:spcPts val="640"/>
              </a:spcBef>
              <a:spcAft>
                <a:spcPts val="0"/>
              </a:spcAft>
              <a:buSzPts val="3200"/>
              <a:buFont typeface="Noto Sans Symbols"/>
              <a:buNone/>
            </a:pPr>
            <a:r>
              <a:t/>
            </a:r>
            <a:endParaRPr/>
          </a:p>
        </p:txBody>
      </p:sp>
    </p:spTree>
  </p:cSld>
  <p:clrMapOvr>
    <a:masterClrMapping/>
  </p:clrMapOvr>
  <mc:AlternateContent>
    <mc:Choice Requires="p14">
      <p:transition spd="slow" p14:dur="11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0" st="0"/>
                                            </p:txEl>
                                          </p:spTgt>
                                        </p:tgtEl>
                                        <p:attrNameLst>
                                          <p:attrName>style.visibility</p:attrName>
                                        </p:attrNameLst>
                                      </p:cBhvr>
                                      <p:to>
                                        <p:strVal val="visible"/>
                                      </p:to>
                                    </p:set>
                                    <p:animEffect filter="fade" transition="in">
                                      <p:cBhvr>
                                        <p:cTn dur="500"/>
                                        <p:tgtEl>
                                          <p:spTgt spid="8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1" st="1"/>
                                            </p:txEl>
                                          </p:spTgt>
                                        </p:tgtEl>
                                        <p:attrNameLst>
                                          <p:attrName>style.visibility</p:attrName>
                                        </p:attrNameLst>
                                      </p:cBhvr>
                                      <p:to>
                                        <p:strVal val="visible"/>
                                      </p:to>
                                    </p:set>
                                    <p:animEffect filter="fade" transition="in">
                                      <p:cBhvr>
                                        <p:cTn dur="500"/>
                                        <p:tgtEl>
                                          <p:spTgt spid="8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2" st="2"/>
                                            </p:txEl>
                                          </p:spTgt>
                                        </p:tgtEl>
                                        <p:attrNameLst>
                                          <p:attrName>style.visibility</p:attrName>
                                        </p:attrNameLst>
                                      </p:cBhvr>
                                      <p:to>
                                        <p:strVal val="visible"/>
                                      </p:to>
                                    </p:set>
                                    <p:animEffect filter="fade" transition="in">
                                      <p:cBhvr>
                                        <p:cTn dur="500"/>
                                        <p:tgtEl>
                                          <p:spTgt spid="8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3" st="3"/>
                                            </p:txEl>
                                          </p:spTgt>
                                        </p:tgtEl>
                                        <p:attrNameLst>
                                          <p:attrName>style.visibility</p:attrName>
                                        </p:attrNameLst>
                                      </p:cBhvr>
                                      <p:to>
                                        <p:strVal val="visible"/>
                                      </p:to>
                                    </p:set>
                                    <p:animEffect filter="fade" transition="in">
                                      <p:cBhvr>
                                        <p:cTn dur="500"/>
                                        <p:tgtEl>
                                          <p:spTgt spid="8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4" st="4"/>
                                            </p:txEl>
                                          </p:spTgt>
                                        </p:tgtEl>
                                        <p:attrNameLst>
                                          <p:attrName>style.visibility</p:attrName>
                                        </p:attrNameLst>
                                      </p:cBhvr>
                                      <p:to>
                                        <p:strVal val="visible"/>
                                      </p:to>
                                    </p:set>
                                    <p:animEffect filter="fade" transition="in">
                                      <p:cBhvr>
                                        <p:cTn dur="500"/>
                                        <p:tgtEl>
                                          <p:spTgt spid="8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5" st="5"/>
                                            </p:txEl>
                                          </p:spTgt>
                                        </p:tgtEl>
                                        <p:attrNameLst>
                                          <p:attrName>style.visibility</p:attrName>
                                        </p:attrNameLst>
                                      </p:cBhvr>
                                      <p:to>
                                        <p:strVal val="visible"/>
                                      </p:to>
                                    </p:set>
                                    <p:animEffect filter="fade" transition="in">
                                      <p:cBhvr>
                                        <p:cTn dur="500"/>
                                        <p:tgtEl>
                                          <p:spTgt spid="8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6" st="6"/>
                                            </p:txEl>
                                          </p:spTgt>
                                        </p:tgtEl>
                                        <p:attrNameLst>
                                          <p:attrName>style.visibility</p:attrName>
                                        </p:attrNameLst>
                                      </p:cBhvr>
                                      <p:to>
                                        <p:strVal val="visible"/>
                                      </p:to>
                                    </p:set>
                                    <p:animEffect filter="fade" transition="in">
                                      <p:cBhvr>
                                        <p:cTn dur="500"/>
                                        <p:tgtEl>
                                          <p:spTgt spid="89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7" st="7"/>
                                            </p:txEl>
                                          </p:spTgt>
                                        </p:tgtEl>
                                        <p:attrNameLst>
                                          <p:attrName>style.visibility</p:attrName>
                                        </p:attrNameLst>
                                      </p:cBhvr>
                                      <p:to>
                                        <p:strVal val="visible"/>
                                      </p:to>
                                    </p:set>
                                    <p:animEffect filter="fade" transition="in">
                                      <p:cBhvr>
                                        <p:cTn dur="500"/>
                                        <p:tgtEl>
                                          <p:spTgt spid="89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0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LBR</a:t>
            </a:r>
            <a:endParaRPr b="1"/>
          </a:p>
        </p:txBody>
      </p:sp>
      <p:sp>
        <p:nvSpPr>
          <p:cNvPr id="903" name="Google Shape;903;p108"/>
          <p:cNvSpPr txBox="1"/>
          <p:nvPr>
            <p:ph idx="1" type="body"/>
          </p:nvPr>
        </p:nvSpPr>
        <p:spPr>
          <a:xfrm>
            <a:off x="320041" y="1722120"/>
            <a:ext cx="8488679" cy="490727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LBR Payment</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640"/>
              </a:spcBef>
              <a:spcAft>
                <a:spcPts val="0"/>
              </a:spcAft>
              <a:buSzPts val="3200"/>
              <a:buFont typeface="Noto Sans Symbols"/>
              <a:buChar char="▪"/>
            </a:pPr>
            <a:r>
              <a:rPr lang="en-US"/>
              <a:t>Amount shall be paid upon Sun Life’s receipt of the proof of insured’s terminal illness</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640"/>
              </a:spcBef>
              <a:spcAft>
                <a:spcPts val="0"/>
              </a:spcAft>
              <a:buSzPts val="3200"/>
              <a:buFont typeface="Noto Sans Symbols"/>
              <a:buChar char="▪"/>
            </a:pPr>
            <a:r>
              <a:rPr lang="en-US"/>
              <a:t>Payments made will be treated as a loan against the policy which will incur interest</a:t>
            </a:r>
            <a:endParaRPr/>
          </a:p>
          <a:p>
            <a:pPr indent="-292100" lvl="0" marL="342900" rtl="0" algn="l">
              <a:spcBef>
                <a:spcPts val="160"/>
              </a:spcBef>
              <a:spcAft>
                <a:spcPts val="0"/>
              </a:spcAft>
              <a:buSzPts val="800"/>
              <a:buFont typeface="Noto Sans Symbols"/>
              <a:buNone/>
            </a:pPr>
            <a:r>
              <a:t/>
            </a:r>
            <a:endParaRPr sz="800"/>
          </a:p>
          <a:p>
            <a:pPr indent="-342900" lvl="0" marL="342900" rtl="0" algn="l">
              <a:spcBef>
                <a:spcPts val="640"/>
              </a:spcBef>
              <a:spcAft>
                <a:spcPts val="0"/>
              </a:spcAft>
              <a:buSzPts val="3200"/>
              <a:buFont typeface="Noto Sans Symbols"/>
              <a:buChar char="▪"/>
            </a:pPr>
            <a:r>
              <a:rPr lang="en-US"/>
              <a:t>An administration fee of Ps.750/policy shall be deducted from the LBR amount</a:t>
            </a:r>
            <a:endParaRPr/>
          </a:p>
          <a:p>
            <a:pPr indent="-139700" lvl="0" marL="342900" rtl="0" algn="l">
              <a:spcBef>
                <a:spcPts val="640"/>
              </a:spcBef>
              <a:spcAft>
                <a:spcPts val="0"/>
              </a:spcAft>
              <a:buSzPts val="3200"/>
              <a:buFont typeface="Noto Sans Symbols"/>
              <a:buNone/>
            </a:pPr>
            <a:r>
              <a:t/>
            </a:r>
            <a:endParaRPr/>
          </a:p>
        </p:txBody>
      </p:sp>
    </p:spTree>
  </p:cSld>
  <p:clrMapOvr>
    <a:masterClrMapping/>
  </p:clrMapOvr>
  <mc:AlternateContent>
    <mc:Choice Requires="p14">
      <p:transition spd="slow" p14:dur="12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0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LBR</a:t>
            </a:r>
            <a:endParaRPr b="1"/>
          </a:p>
        </p:txBody>
      </p:sp>
      <p:sp>
        <p:nvSpPr>
          <p:cNvPr id="909" name="Google Shape;909;p109"/>
          <p:cNvSpPr txBox="1"/>
          <p:nvPr>
            <p:ph idx="1" type="body"/>
          </p:nvPr>
        </p:nvSpPr>
        <p:spPr>
          <a:xfrm>
            <a:off x="320041" y="1722120"/>
            <a:ext cx="8488679" cy="490727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Important Notice</a:t>
            </a:r>
            <a:endParaRPr/>
          </a:p>
          <a:p>
            <a:pPr indent="-241300" lvl="0" marL="342900" rtl="0" algn="l">
              <a:spcBef>
                <a:spcPts val="320"/>
              </a:spcBef>
              <a:spcAft>
                <a:spcPts val="0"/>
              </a:spcAft>
              <a:buSzPts val="1600"/>
              <a:buFont typeface="Noto Sans Symbols"/>
              <a:buNone/>
            </a:pPr>
            <a:r>
              <a:t/>
            </a:r>
            <a:endParaRPr sz="1600"/>
          </a:p>
          <a:p>
            <a:pPr indent="0" lvl="0" marL="0" rtl="0" algn="l">
              <a:spcBef>
                <a:spcPts val="640"/>
              </a:spcBef>
              <a:spcAft>
                <a:spcPts val="0"/>
              </a:spcAft>
              <a:buSzPts val="3200"/>
              <a:buNone/>
            </a:pPr>
            <a:r>
              <a:rPr lang="en-US"/>
              <a:t>The LBR amount plus all future loans (i.e. premium loan) and interest should not exceed 75% of the basic face amount.  </a:t>
            </a:r>
            <a:endParaRPr/>
          </a:p>
          <a:p>
            <a:pPr indent="0" lvl="0" marL="0" rtl="0" algn="l">
              <a:spcBef>
                <a:spcPts val="640"/>
              </a:spcBef>
              <a:spcAft>
                <a:spcPts val="0"/>
              </a:spcAft>
              <a:buSzPts val="3200"/>
              <a:buNone/>
            </a:pPr>
            <a:r>
              <a:t/>
            </a:r>
            <a:endParaRPr/>
          </a:p>
          <a:p>
            <a:pPr indent="0" lvl="0" marL="0" rtl="0" algn="l">
              <a:spcBef>
                <a:spcPts val="640"/>
              </a:spcBef>
              <a:spcAft>
                <a:spcPts val="0"/>
              </a:spcAft>
              <a:buSzPts val="3200"/>
              <a:buNone/>
            </a:pPr>
            <a:r>
              <a:rPr lang="en-US"/>
              <a:t>Otherwise, the policy will terminate.</a:t>
            </a:r>
            <a:endParaRPr/>
          </a:p>
          <a:p>
            <a:pPr indent="-139700" lvl="0" marL="342900" rtl="0" algn="l">
              <a:spcBef>
                <a:spcPts val="640"/>
              </a:spcBef>
              <a:spcAft>
                <a:spcPts val="0"/>
              </a:spcAft>
              <a:buSzPts val="3200"/>
              <a:buFont typeface="Noto Sans Symbols"/>
              <a:buNone/>
            </a:pPr>
            <a:r>
              <a:t/>
            </a:r>
            <a:endParaRPr/>
          </a:p>
        </p:txBody>
      </p:sp>
    </p:spTree>
  </p:cSld>
  <p:clrMapOvr>
    <a:masterClrMapping/>
  </p:clrMapOvr>
  <mc:AlternateContent>
    <mc:Choice Requires="p14">
      <p:transition spd="slow" p14:dur="12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0" st="0"/>
                                            </p:txEl>
                                          </p:spTgt>
                                        </p:tgtEl>
                                        <p:attrNameLst>
                                          <p:attrName>style.visibility</p:attrName>
                                        </p:attrNameLst>
                                      </p:cBhvr>
                                      <p:to>
                                        <p:strVal val="visible"/>
                                      </p:to>
                                    </p:set>
                                    <p:animEffect filter="fade" transition="in">
                                      <p:cBhvr>
                                        <p:cTn dur="500"/>
                                        <p:tgtEl>
                                          <p:spTgt spid="9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1" st="1"/>
                                            </p:txEl>
                                          </p:spTgt>
                                        </p:tgtEl>
                                        <p:attrNameLst>
                                          <p:attrName>style.visibility</p:attrName>
                                        </p:attrNameLst>
                                      </p:cBhvr>
                                      <p:to>
                                        <p:strVal val="visible"/>
                                      </p:to>
                                    </p:set>
                                    <p:animEffect filter="fade" transition="in">
                                      <p:cBhvr>
                                        <p:cTn dur="500"/>
                                        <p:tgtEl>
                                          <p:spTgt spid="9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2" st="2"/>
                                            </p:txEl>
                                          </p:spTgt>
                                        </p:tgtEl>
                                        <p:attrNameLst>
                                          <p:attrName>style.visibility</p:attrName>
                                        </p:attrNameLst>
                                      </p:cBhvr>
                                      <p:to>
                                        <p:strVal val="visible"/>
                                      </p:to>
                                    </p:set>
                                    <p:animEffect filter="fade" transition="in">
                                      <p:cBhvr>
                                        <p:cTn dur="500"/>
                                        <p:tgtEl>
                                          <p:spTgt spid="9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3" st="3"/>
                                            </p:txEl>
                                          </p:spTgt>
                                        </p:tgtEl>
                                        <p:attrNameLst>
                                          <p:attrName>style.visibility</p:attrName>
                                        </p:attrNameLst>
                                      </p:cBhvr>
                                      <p:to>
                                        <p:strVal val="visible"/>
                                      </p:to>
                                    </p:set>
                                    <p:animEffect filter="fade" transition="in">
                                      <p:cBhvr>
                                        <p:cTn dur="500"/>
                                        <p:tgtEl>
                                          <p:spTgt spid="9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4" st="4"/>
                                            </p:txEl>
                                          </p:spTgt>
                                        </p:tgtEl>
                                        <p:attrNameLst>
                                          <p:attrName>style.visibility</p:attrName>
                                        </p:attrNameLst>
                                      </p:cBhvr>
                                      <p:to>
                                        <p:strVal val="visible"/>
                                      </p:to>
                                    </p:set>
                                    <p:animEffect filter="fade" transition="in">
                                      <p:cBhvr>
                                        <p:cTn dur="500"/>
                                        <p:tgtEl>
                                          <p:spTgt spid="9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xEl>
                                              <p:pRg end="5" st="5"/>
                                            </p:txEl>
                                          </p:spTgt>
                                        </p:tgtEl>
                                        <p:attrNameLst>
                                          <p:attrName>style.visibility</p:attrName>
                                        </p:attrNameLst>
                                      </p:cBhvr>
                                      <p:to>
                                        <p:strVal val="visible"/>
                                      </p:to>
                                    </p:set>
                                    <p:animEffect filter="fade" transition="in">
                                      <p:cBhvr>
                                        <p:cTn dur="500"/>
                                        <p:tgtEl>
                                          <p:spTgt spid="90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1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APDB</a:t>
            </a:r>
            <a:endParaRPr b="1"/>
          </a:p>
        </p:txBody>
      </p:sp>
      <p:sp>
        <p:nvSpPr>
          <p:cNvPr id="915" name="Google Shape;915;p110"/>
          <p:cNvSpPr txBox="1"/>
          <p:nvPr>
            <p:ph idx="1" type="body"/>
          </p:nvPr>
        </p:nvSpPr>
        <p:spPr>
          <a:xfrm>
            <a:off x="513378" y="2225041"/>
            <a:ext cx="8234381" cy="387608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lang="en-US"/>
              <a:t>10% of the face amount (net of any outstanding advances) is paid in 10 year yearly installments in case of insured’s total disability</a:t>
            </a:r>
            <a:endParaRPr/>
          </a:p>
        </p:txBody>
      </p:sp>
      <p:pic>
        <p:nvPicPr>
          <p:cNvPr id="916" name="Google Shape;916;p110"/>
          <p:cNvPicPr preferRelativeResize="0"/>
          <p:nvPr/>
        </p:nvPicPr>
        <p:blipFill rotWithShape="1">
          <a:blip r:embed="rId3">
            <a:alphaModFix/>
          </a:blip>
          <a:srcRect b="0" l="0" r="0" t="0"/>
          <a:stretch/>
        </p:blipFill>
        <p:spPr>
          <a:xfrm>
            <a:off x="6294120" y="3901440"/>
            <a:ext cx="2560320" cy="2708486"/>
          </a:xfrm>
          <a:prstGeom prst="rect">
            <a:avLst/>
          </a:prstGeom>
          <a:noFill/>
          <a:ln>
            <a:noFill/>
          </a:ln>
        </p:spPr>
      </p:pic>
      <p:sp>
        <p:nvSpPr>
          <p:cNvPr id="917" name="Google Shape;917;p110"/>
          <p:cNvSpPr txBox="1"/>
          <p:nvPr/>
        </p:nvSpPr>
        <p:spPr>
          <a:xfrm>
            <a:off x="381000" y="1584958"/>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Advance Payment Disability Benefit</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vortex dir="u"/>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xEl>
                                              <p:pRg end="0" st="0"/>
                                            </p:txEl>
                                          </p:spTgt>
                                        </p:tgtEl>
                                        <p:attrNameLst>
                                          <p:attrName>style.visibility</p:attrName>
                                        </p:attrNameLst>
                                      </p:cBhvr>
                                      <p:to>
                                        <p:strVal val="visible"/>
                                      </p:to>
                                    </p:set>
                                    <p:animEffect filter="fade" transition="in">
                                      <p:cBhvr>
                                        <p:cTn dur="500"/>
                                        <p:tgtEl>
                                          <p:spTgt spid="91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1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APDB</a:t>
            </a:r>
            <a:endParaRPr b="1"/>
          </a:p>
        </p:txBody>
      </p:sp>
      <p:sp>
        <p:nvSpPr>
          <p:cNvPr id="923" name="Google Shape;923;p111"/>
          <p:cNvSpPr txBox="1"/>
          <p:nvPr>
            <p:ph idx="1" type="body"/>
          </p:nvPr>
        </p:nvSpPr>
        <p:spPr>
          <a:xfrm>
            <a:off x="513378" y="1792473"/>
            <a:ext cx="8097221" cy="446104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Conditions</a:t>
            </a:r>
            <a:endParaRPr/>
          </a:p>
          <a:p>
            <a:pPr indent="0" lvl="0" marL="0" rtl="0" algn="l">
              <a:spcBef>
                <a:spcPts val="240"/>
              </a:spcBef>
              <a:spcAft>
                <a:spcPts val="0"/>
              </a:spcAft>
              <a:buSzPts val="1200"/>
              <a:buNone/>
            </a:pPr>
            <a:r>
              <a:t/>
            </a:r>
            <a:endParaRPr sz="1200"/>
          </a:p>
          <a:p>
            <a:pPr indent="0" lvl="0" marL="0" rtl="0" algn="l">
              <a:spcBef>
                <a:spcPts val="640"/>
              </a:spcBef>
              <a:spcAft>
                <a:spcPts val="0"/>
              </a:spcAft>
              <a:buSzPts val="3200"/>
              <a:buNone/>
            </a:pPr>
            <a:r>
              <a:rPr lang="en-US"/>
              <a:t>APDB is:</a:t>
            </a:r>
            <a:endParaRPr/>
          </a:p>
          <a:p>
            <a:pPr indent="0" lvl="0" marL="0" rtl="0" algn="l">
              <a:spcBef>
                <a:spcPts val="240"/>
              </a:spcBef>
              <a:spcAft>
                <a:spcPts val="0"/>
              </a:spcAft>
              <a:buSzPts val="1200"/>
              <a:buNone/>
            </a:pPr>
            <a:r>
              <a:t/>
            </a:r>
            <a:endParaRPr sz="1200"/>
          </a:p>
          <a:p>
            <a:pPr indent="-342900" lvl="0" marL="342900" rtl="0" algn="l">
              <a:spcBef>
                <a:spcPts val="640"/>
              </a:spcBef>
              <a:spcAft>
                <a:spcPts val="0"/>
              </a:spcAft>
              <a:buSzPts val="3200"/>
              <a:buFont typeface="Noto Sans Symbols"/>
              <a:buChar char="▪"/>
            </a:pPr>
            <a:r>
              <a:rPr lang="en-US"/>
              <a:t>issued with TDB</a:t>
            </a:r>
            <a:endParaRPr/>
          </a:p>
          <a:p>
            <a:pPr indent="-266700" lvl="0" marL="342900" rtl="0" algn="l">
              <a:spcBef>
                <a:spcPts val="240"/>
              </a:spcBef>
              <a:spcAft>
                <a:spcPts val="0"/>
              </a:spcAft>
              <a:buSzPts val="1200"/>
              <a:buFont typeface="Noto Sans Symbols"/>
              <a:buNone/>
            </a:pPr>
            <a:r>
              <a:t/>
            </a:r>
            <a:endParaRPr sz="1200"/>
          </a:p>
          <a:p>
            <a:pPr indent="-342900" lvl="0" marL="342900" rtl="0" algn="l">
              <a:spcBef>
                <a:spcPts val="640"/>
              </a:spcBef>
              <a:spcAft>
                <a:spcPts val="0"/>
              </a:spcAft>
              <a:buSzPts val="3200"/>
              <a:buFont typeface="Noto Sans Symbols"/>
              <a:buChar char="▪"/>
            </a:pPr>
            <a:r>
              <a:rPr lang="en-US"/>
              <a:t>subject to the terms of the TDB</a:t>
            </a:r>
            <a:endParaRPr/>
          </a:p>
          <a:p>
            <a:pPr indent="-279400" lvl="0" marL="342900" rtl="0" algn="l">
              <a:spcBef>
                <a:spcPts val="200"/>
              </a:spcBef>
              <a:spcAft>
                <a:spcPts val="0"/>
              </a:spcAft>
              <a:buSzPts val="1000"/>
              <a:buFont typeface="Noto Sans Symbols"/>
              <a:buNone/>
            </a:pPr>
            <a:r>
              <a:t/>
            </a:r>
            <a:endParaRPr sz="1000"/>
          </a:p>
          <a:p>
            <a:pPr indent="-342900" lvl="0" marL="342900" rtl="0" algn="l">
              <a:spcBef>
                <a:spcPts val="640"/>
              </a:spcBef>
              <a:spcAft>
                <a:spcPts val="0"/>
              </a:spcAft>
              <a:buSzPts val="3200"/>
              <a:buFont typeface="Noto Sans Symbols"/>
              <a:buChar char="▪"/>
            </a:pPr>
            <a:r>
              <a:rPr lang="en-US"/>
              <a:t>subject to a maximum of 5M for all policies</a:t>
            </a:r>
            <a:endParaRPr/>
          </a:p>
        </p:txBody>
      </p:sp>
    </p:spTree>
  </p:cSld>
  <p:clrMapOvr>
    <a:masterClrMapping/>
  </p:clrMapOvr>
  <mc:AlternateContent>
    <mc:Choice Requires="p14">
      <p:transition spd="slow" p14:dur="1600">
        <p14:prism dir="l"/>
      </p:transition>
    </mc:Choice>
    <mc:Fallback>
      <p:transition spd="slow">
        <p:fade/>
      </p:transition>
    </mc:Fallback>
  </mc:AlternateContent>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1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APDB</a:t>
            </a:r>
            <a:endParaRPr b="1"/>
          </a:p>
        </p:txBody>
      </p:sp>
      <p:sp>
        <p:nvSpPr>
          <p:cNvPr id="929" name="Google Shape;929;p112"/>
          <p:cNvSpPr txBox="1"/>
          <p:nvPr>
            <p:ph idx="1" type="body"/>
          </p:nvPr>
        </p:nvSpPr>
        <p:spPr>
          <a:xfrm>
            <a:off x="513378" y="1792473"/>
            <a:ext cx="8097221" cy="446104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Exclusions</a:t>
            </a:r>
            <a:endParaRPr/>
          </a:p>
          <a:p>
            <a:pPr indent="0" lvl="0" marL="0" rtl="0" algn="l">
              <a:spcBef>
                <a:spcPts val="640"/>
              </a:spcBef>
              <a:spcAft>
                <a:spcPts val="0"/>
              </a:spcAft>
              <a:buSzPts val="3200"/>
              <a:buNone/>
            </a:pPr>
            <a:r>
              <a:t/>
            </a:r>
            <a:endParaRPr/>
          </a:p>
          <a:p>
            <a:pPr indent="0" lvl="0" marL="0" rtl="0" algn="l">
              <a:spcBef>
                <a:spcPts val="640"/>
              </a:spcBef>
              <a:spcAft>
                <a:spcPts val="0"/>
              </a:spcAft>
              <a:buSzPts val="3200"/>
              <a:buNone/>
            </a:pPr>
            <a:r>
              <a:rPr lang="en-US"/>
              <a:t>Same as </a:t>
            </a:r>
            <a:r>
              <a:rPr lang="en-US" u="sng">
                <a:solidFill>
                  <a:schemeClr val="hlink"/>
                </a:solidFill>
                <a:hlinkClick action="ppaction://hlinksldjump" r:id="rId3"/>
              </a:rPr>
              <a:t>TDB</a:t>
            </a:r>
            <a:endParaRPr/>
          </a:p>
        </p:txBody>
      </p:sp>
    </p:spTree>
  </p:cSld>
  <p:clrMapOvr>
    <a:masterClrMapping/>
  </p:clrMapOvr>
  <mc:AlternateContent>
    <mc:Choice Requires="p14">
      <p:transition spd="slow" p14:dur="1400">
        <p14:doors dir="vert"/>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1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APDB</a:t>
            </a:r>
            <a:endParaRPr b="1"/>
          </a:p>
        </p:txBody>
      </p:sp>
      <p:sp>
        <p:nvSpPr>
          <p:cNvPr id="935" name="Google Shape;935;p113"/>
          <p:cNvSpPr txBox="1"/>
          <p:nvPr>
            <p:ph idx="1" type="body"/>
          </p:nvPr>
        </p:nvSpPr>
        <p:spPr>
          <a:xfrm>
            <a:off x="513378" y="1792472"/>
            <a:ext cx="8097221" cy="4791207"/>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100000"/>
              <a:buNone/>
            </a:pPr>
            <a:r>
              <a:rPr b="1" lang="en-US">
                <a:solidFill>
                  <a:srgbClr val="FF6600"/>
                </a:solidFill>
              </a:rPr>
              <a:t>Effect on the policy</a:t>
            </a:r>
            <a:endParaRPr/>
          </a:p>
          <a:p>
            <a:pPr indent="0" lvl="0" marL="0" rtl="0" algn="l">
              <a:spcBef>
                <a:spcPts val="222"/>
              </a:spcBef>
              <a:spcAft>
                <a:spcPts val="0"/>
              </a:spcAft>
              <a:buSzPct val="100000"/>
              <a:buNone/>
            </a:pPr>
            <a:r>
              <a:t/>
            </a:r>
            <a:endParaRPr sz="1200"/>
          </a:p>
          <a:p>
            <a:pPr indent="-342900" lvl="0" marL="342900" rtl="0" algn="l">
              <a:spcBef>
                <a:spcPts val="592"/>
              </a:spcBef>
              <a:spcAft>
                <a:spcPts val="0"/>
              </a:spcAft>
              <a:buSzPct val="100000"/>
              <a:buFont typeface="Noto Sans Symbols"/>
              <a:buChar char="▪"/>
            </a:pPr>
            <a:r>
              <a:rPr lang="en-US"/>
              <a:t>Reduced face amount</a:t>
            </a:r>
            <a:endParaRPr/>
          </a:p>
          <a:p>
            <a:pPr indent="-290068" lvl="0" marL="342900" rtl="0" algn="l">
              <a:spcBef>
                <a:spcPts val="166"/>
              </a:spcBef>
              <a:spcAft>
                <a:spcPts val="0"/>
              </a:spcAft>
              <a:buSzPct val="100000"/>
              <a:buFont typeface="Noto Sans Symbols"/>
              <a:buNone/>
            </a:pPr>
            <a:r>
              <a:t/>
            </a:r>
            <a:endParaRPr sz="900"/>
          </a:p>
          <a:p>
            <a:pPr indent="-342900" lvl="0" marL="342900" rtl="0" algn="l">
              <a:spcBef>
                <a:spcPts val="592"/>
              </a:spcBef>
              <a:spcAft>
                <a:spcPts val="0"/>
              </a:spcAft>
              <a:buSzPct val="100000"/>
              <a:buFont typeface="Noto Sans Symbols"/>
              <a:buChar char="▪"/>
            </a:pPr>
            <a:r>
              <a:rPr lang="en-US"/>
              <a:t>Reduced guaranteed values</a:t>
            </a:r>
            <a:endParaRPr/>
          </a:p>
          <a:p>
            <a:pPr indent="-290068" lvl="0" marL="342900" rtl="0" algn="l">
              <a:spcBef>
                <a:spcPts val="166"/>
              </a:spcBef>
              <a:spcAft>
                <a:spcPts val="0"/>
              </a:spcAft>
              <a:buSzPct val="100000"/>
              <a:buFont typeface="Noto Sans Symbols"/>
              <a:buNone/>
            </a:pPr>
            <a:r>
              <a:t/>
            </a:r>
            <a:endParaRPr sz="900"/>
          </a:p>
          <a:p>
            <a:pPr indent="-342900" lvl="0" marL="342900" rtl="0" algn="l">
              <a:spcBef>
                <a:spcPts val="592"/>
              </a:spcBef>
              <a:spcAft>
                <a:spcPts val="0"/>
              </a:spcAft>
              <a:buSzPct val="100000"/>
              <a:buFont typeface="Noto Sans Symbols"/>
              <a:buChar char="▪"/>
            </a:pPr>
            <a:r>
              <a:rPr lang="en-US"/>
              <a:t>Reduced dividends</a:t>
            </a:r>
            <a:endParaRPr/>
          </a:p>
          <a:p>
            <a:pPr indent="-290068" lvl="0" marL="342900" rtl="0" algn="l">
              <a:spcBef>
                <a:spcPts val="166"/>
              </a:spcBef>
              <a:spcAft>
                <a:spcPts val="0"/>
              </a:spcAft>
              <a:buSzPct val="100000"/>
              <a:buFont typeface="Noto Sans Symbols"/>
              <a:buNone/>
            </a:pPr>
            <a:r>
              <a:t/>
            </a:r>
            <a:endParaRPr sz="900"/>
          </a:p>
          <a:p>
            <a:pPr indent="-342900" lvl="0" marL="342900" rtl="0" algn="l">
              <a:spcBef>
                <a:spcPts val="592"/>
              </a:spcBef>
              <a:spcAft>
                <a:spcPts val="0"/>
              </a:spcAft>
              <a:buSzPct val="100000"/>
              <a:buFont typeface="Noto Sans Symbols"/>
              <a:buChar char="▪"/>
            </a:pPr>
            <a:r>
              <a:rPr lang="en-US"/>
              <a:t>Dividend option may not be changed to Paid Up Additions</a:t>
            </a:r>
            <a:endParaRPr/>
          </a:p>
          <a:p>
            <a:pPr indent="-290068" lvl="0" marL="342900" rtl="0" algn="l">
              <a:spcBef>
                <a:spcPts val="166"/>
              </a:spcBef>
              <a:spcAft>
                <a:spcPts val="0"/>
              </a:spcAft>
              <a:buSzPct val="100000"/>
              <a:buFont typeface="Noto Sans Symbols"/>
              <a:buNone/>
            </a:pPr>
            <a:r>
              <a:t/>
            </a:r>
            <a:endParaRPr sz="900"/>
          </a:p>
          <a:p>
            <a:pPr indent="-342900" lvl="0" marL="342900" rtl="0" algn="l">
              <a:spcBef>
                <a:spcPts val="592"/>
              </a:spcBef>
              <a:spcAft>
                <a:spcPts val="0"/>
              </a:spcAft>
              <a:buSzPct val="100000"/>
              <a:buFont typeface="Noto Sans Symbols"/>
              <a:buChar char="▪"/>
            </a:pPr>
            <a:r>
              <a:rPr lang="en-US"/>
              <a:t>Policy terminates upon payment of the 10</a:t>
            </a:r>
            <a:r>
              <a:rPr baseline="30000" lang="en-US"/>
              <a:t>th</a:t>
            </a:r>
            <a:r>
              <a:rPr lang="en-US"/>
              <a:t> yearly installment net of dividends and other living benefits</a:t>
            </a:r>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1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WPD</a:t>
            </a:r>
            <a:endParaRPr b="1"/>
          </a:p>
        </p:txBody>
      </p:sp>
      <p:sp>
        <p:nvSpPr>
          <p:cNvPr id="941" name="Google Shape;941;p114"/>
          <p:cNvSpPr txBox="1"/>
          <p:nvPr>
            <p:ph idx="1" type="body"/>
          </p:nvPr>
        </p:nvSpPr>
        <p:spPr>
          <a:xfrm>
            <a:off x="513379" y="2880359"/>
            <a:ext cx="7914970" cy="33731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lang="en-US"/>
              <a:t>This benefit will waive all premiums due before age 21 of the insured in case of death of the initial owner.</a:t>
            </a:r>
            <a:endParaRPr/>
          </a:p>
        </p:txBody>
      </p:sp>
      <p:sp>
        <p:nvSpPr>
          <p:cNvPr id="942" name="Google Shape;942;p114"/>
          <p:cNvSpPr txBox="1"/>
          <p:nvPr/>
        </p:nvSpPr>
        <p:spPr>
          <a:xfrm>
            <a:off x="381000" y="1584958"/>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Waiver of Premium After Death of the Initial Owner</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xEl>
                                              <p:pRg end="0" st="0"/>
                                            </p:txEl>
                                          </p:spTgt>
                                        </p:tgtEl>
                                        <p:attrNameLst>
                                          <p:attrName>style.visibility</p:attrName>
                                        </p:attrNameLst>
                                      </p:cBhvr>
                                      <p:to>
                                        <p:strVal val="visible"/>
                                      </p:to>
                                    </p:set>
                                    <p:animEffect filter="fade" transition="in">
                                      <p:cBhvr>
                                        <p:cTn dur="500"/>
                                        <p:tgtEl>
                                          <p:spTgt spid="94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1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WPD</a:t>
            </a:r>
            <a:endParaRPr b="1"/>
          </a:p>
        </p:txBody>
      </p:sp>
      <p:sp>
        <p:nvSpPr>
          <p:cNvPr id="948" name="Google Shape;948;p115"/>
          <p:cNvSpPr txBox="1"/>
          <p:nvPr>
            <p:ph idx="1" type="body"/>
          </p:nvPr>
        </p:nvSpPr>
        <p:spPr>
          <a:xfrm>
            <a:off x="513379" y="2499359"/>
            <a:ext cx="7914970" cy="37541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lang="en-US"/>
              <a:t>Death of the owner from suicide less than 2 years from date of issue date or last reinstatement</a:t>
            </a:r>
            <a:endParaRPr/>
          </a:p>
        </p:txBody>
      </p:sp>
      <p:sp>
        <p:nvSpPr>
          <p:cNvPr id="949" name="Google Shape;949;p115"/>
          <p:cNvSpPr txBox="1"/>
          <p:nvPr/>
        </p:nvSpPr>
        <p:spPr>
          <a:xfrm>
            <a:off x="381000" y="1584958"/>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Exclusion</a:t>
            </a:r>
            <a:endParaRPr b="1" sz="3200">
              <a:solidFill>
                <a:srgbClr val="FF6600"/>
              </a:solidFill>
              <a:latin typeface="Arial"/>
              <a:ea typeface="Arial"/>
              <a:cs typeface="Arial"/>
              <a:sym typeface="Arial"/>
            </a:endParaRPr>
          </a:p>
        </p:txBody>
      </p:sp>
      <p:sp>
        <p:nvSpPr>
          <p:cNvPr id="950" name="Google Shape;950;p115"/>
          <p:cNvSpPr/>
          <p:nvPr/>
        </p:nvSpPr>
        <p:spPr>
          <a:xfrm>
            <a:off x="7842073" y="6543042"/>
            <a:ext cx="1180008" cy="19812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u="sng">
                <a:solidFill>
                  <a:srgbClr val="17365D"/>
                </a:solidFill>
                <a:latin typeface="Arial"/>
                <a:ea typeface="Arial"/>
                <a:cs typeface="Arial"/>
                <a:sym typeface="Arial"/>
                <a:hlinkClick action="ppaction://hlinksldjump" r:id="rId3">
                  <a:extLst>
                    <a:ext uri="{A12FA001-AC4F-418D-AE19-62706E023703}">
                      <ahyp:hlinkClr val="tx"/>
                    </a:ext>
                  </a:extLst>
                </a:hlinkClick>
              </a:rPr>
              <a:t>Go to WPDD</a:t>
            </a:r>
            <a:endParaRPr sz="1200">
              <a:solidFill>
                <a:srgbClr val="17365D"/>
              </a:solidFill>
              <a:latin typeface="Arial"/>
              <a:ea typeface="Arial"/>
              <a:cs typeface="Arial"/>
              <a:sym typeface="Arial"/>
            </a:endParaRPr>
          </a:p>
        </p:txBody>
      </p:sp>
    </p:spTree>
  </p:cSld>
  <p:clrMapOvr>
    <a:masterClrMapping/>
  </p:clrMapOvr>
  <mc:AlternateContent>
    <mc:Choice Requires="p14">
      <p:transition spd="slow" p14:dur="1100">
        <p14:flip dir="l"/>
      </p:transition>
    </mc:Choice>
    <mc:Fallback>
      <p:transition spd="slow">
        <p:fade/>
      </p:transition>
    </mc:Fallback>
  </mc:AlternateContent>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1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WPDD</a:t>
            </a:r>
            <a:endParaRPr b="1"/>
          </a:p>
        </p:txBody>
      </p:sp>
      <p:sp>
        <p:nvSpPr>
          <p:cNvPr id="956" name="Google Shape;956;p116"/>
          <p:cNvSpPr txBox="1"/>
          <p:nvPr>
            <p:ph idx="1" type="body"/>
          </p:nvPr>
        </p:nvSpPr>
        <p:spPr>
          <a:xfrm>
            <a:off x="513379" y="2880359"/>
            <a:ext cx="7914970" cy="33731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lang="en-US"/>
              <a:t>This benefit will waive all premiums due before age 21 of the insured:</a:t>
            </a:r>
            <a:endParaRPr/>
          </a:p>
          <a:p>
            <a:pPr indent="-342900" lvl="0" marL="342900" rtl="0" algn="l">
              <a:spcBef>
                <a:spcPts val="640"/>
              </a:spcBef>
              <a:spcAft>
                <a:spcPts val="0"/>
              </a:spcAft>
              <a:buSzPts val="3200"/>
              <a:buFont typeface="Noto Sans Symbols"/>
              <a:buChar char="▪"/>
            </a:pPr>
            <a:r>
              <a:rPr lang="en-US"/>
              <a:t>during the total disability of the initial owner before age 60; </a:t>
            </a:r>
            <a:r>
              <a:rPr b="1" lang="en-US">
                <a:solidFill>
                  <a:srgbClr val="FFCC00"/>
                </a:solidFill>
              </a:rPr>
              <a:t>or </a:t>
            </a:r>
            <a:endParaRPr/>
          </a:p>
          <a:p>
            <a:pPr indent="-342900" lvl="0" marL="342900" rtl="0" algn="l">
              <a:spcBef>
                <a:spcPts val="640"/>
              </a:spcBef>
              <a:spcAft>
                <a:spcPts val="0"/>
              </a:spcAft>
              <a:buSzPts val="3200"/>
              <a:buFont typeface="Noto Sans Symbols"/>
              <a:buChar char="▪"/>
            </a:pPr>
            <a:r>
              <a:rPr lang="en-US"/>
              <a:t>in case of death of the initial owner.</a:t>
            </a:r>
            <a:endParaRPr/>
          </a:p>
        </p:txBody>
      </p:sp>
      <p:sp>
        <p:nvSpPr>
          <p:cNvPr id="957" name="Google Shape;957;p116"/>
          <p:cNvSpPr txBox="1"/>
          <p:nvPr/>
        </p:nvSpPr>
        <p:spPr>
          <a:xfrm>
            <a:off x="381000" y="1584958"/>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Waiver of Premium Upon Death or During Total Disability of the Initial Owner</a:t>
            </a:r>
            <a:endParaRPr b="1" sz="3200">
              <a:solidFill>
                <a:srgbClr val="FF6600"/>
              </a:solidFill>
              <a:latin typeface="Arial"/>
              <a:ea typeface="Arial"/>
              <a:cs typeface="Arial"/>
              <a:sym typeface="Arial"/>
            </a:endParaRPr>
          </a:p>
        </p:txBody>
      </p:sp>
    </p:spTree>
  </p:cSld>
  <p:clrMapOvr>
    <a:masterClrMapping/>
  </p:clrMapOvr>
  <mc:AlternateContent>
    <mc:Choice Requires="p14">
      <p:transition spd="slow" p14:dur="2000">
        <p14:ripple dir="ld"/>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1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WPDD</a:t>
            </a:r>
            <a:endParaRPr b="1"/>
          </a:p>
        </p:txBody>
      </p:sp>
      <p:sp>
        <p:nvSpPr>
          <p:cNvPr id="963" name="Google Shape;963;p117"/>
          <p:cNvSpPr txBox="1"/>
          <p:nvPr>
            <p:ph idx="1" type="body"/>
          </p:nvPr>
        </p:nvSpPr>
        <p:spPr>
          <a:xfrm>
            <a:off x="513379" y="2331719"/>
            <a:ext cx="7914970" cy="89916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lang="en-US"/>
              <a:t>Same as </a:t>
            </a:r>
            <a:r>
              <a:rPr lang="en-US" u="sng">
                <a:solidFill>
                  <a:schemeClr val="hlink"/>
                </a:solidFill>
                <a:hlinkClick action="ppaction://hlinksldjump" r:id="rId3"/>
              </a:rPr>
              <a:t>TDB</a:t>
            </a:r>
            <a:endParaRPr/>
          </a:p>
        </p:txBody>
      </p:sp>
      <p:sp>
        <p:nvSpPr>
          <p:cNvPr id="964" name="Google Shape;964;p117"/>
          <p:cNvSpPr txBox="1"/>
          <p:nvPr/>
        </p:nvSpPr>
        <p:spPr>
          <a:xfrm>
            <a:off x="381000" y="1584958"/>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Exclusions and Criteria for Disability</a:t>
            </a:r>
            <a:endParaRPr b="1" sz="3200">
              <a:solidFill>
                <a:srgbClr val="FF6600"/>
              </a:solidFill>
              <a:latin typeface="Arial"/>
              <a:ea typeface="Arial"/>
              <a:cs typeface="Arial"/>
              <a:sym typeface="Arial"/>
            </a:endParaRPr>
          </a:p>
        </p:txBody>
      </p:sp>
      <p:sp>
        <p:nvSpPr>
          <p:cNvPr id="965" name="Google Shape;965;p117"/>
          <p:cNvSpPr txBox="1"/>
          <p:nvPr/>
        </p:nvSpPr>
        <p:spPr>
          <a:xfrm>
            <a:off x="381000" y="3695700"/>
            <a:ext cx="8366760" cy="105156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AAB00"/>
              </a:buClr>
              <a:buSzPts val="3200"/>
              <a:buFont typeface="Arial"/>
              <a:buNone/>
            </a:pPr>
            <a:r>
              <a:rPr b="1" lang="en-US" sz="3200">
                <a:solidFill>
                  <a:srgbClr val="FF6600"/>
                </a:solidFill>
                <a:latin typeface="Arial"/>
                <a:ea typeface="Arial"/>
                <a:cs typeface="Arial"/>
                <a:sym typeface="Arial"/>
              </a:rPr>
              <a:t>Exclusion for Death</a:t>
            </a:r>
            <a:endParaRPr b="1" sz="3200">
              <a:solidFill>
                <a:srgbClr val="FF6600"/>
              </a:solidFill>
              <a:latin typeface="Arial"/>
              <a:ea typeface="Arial"/>
              <a:cs typeface="Arial"/>
              <a:sym typeface="Arial"/>
            </a:endParaRPr>
          </a:p>
        </p:txBody>
      </p:sp>
      <p:sp>
        <p:nvSpPr>
          <p:cNvPr id="966" name="Google Shape;966;p117"/>
          <p:cNvSpPr txBox="1"/>
          <p:nvPr/>
        </p:nvSpPr>
        <p:spPr>
          <a:xfrm>
            <a:off x="518160" y="4427221"/>
            <a:ext cx="7914970" cy="89916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EAAB00"/>
              </a:buClr>
              <a:buSzPts val="3200"/>
              <a:buFont typeface="Arial"/>
              <a:buNone/>
            </a:pPr>
            <a:r>
              <a:rPr lang="en-US" sz="3200">
                <a:solidFill>
                  <a:srgbClr val="003946"/>
                </a:solidFill>
                <a:latin typeface="Arial"/>
                <a:ea typeface="Arial"/>
                <a:cs typeface="Arial"/>
                <a:sym typeface="Arial"/>
              </a:rPr>
              <a:t>Same as </a:t>
            </a:r>
            <a:r>
              <a:rPr lang="en-US" sz="3200" u="sng">
                <a:solidFill>
                  <a:srgbClr val="003946"/>
                </a:solidFill>
                <a:latin typeface="Arial"/>
                <a:ea typeface="Arial"/>
                <a:cs typeface="Arial"/>
                <a:sym typeface="Arial"/>
                <a:hlinkClick action="ppaction://hlinksldjump" r:id="rId4">
                  <a:extLst>
                    <a:ext uri="{A12FA001-AC4F-418D-AE19-62706E023703}">
                      <ahyp:hlinkClr val="tx"/>
                    </a:ext>
                  </a:extLst>
                </a:hlinkClick>
              </a:rPr>
              <a:t>WPD</a:t>
            </a:r>
            <a:endParaRPr sz="3200">
              <a:solidFill>
                <a:srgbClr val="003946"/>
              </a:solidFill>
              <a:latin typeface="Arial"/>
              <a:ea typeface="Arial"/>
              <a:cs typeface="Arial"/>
              <a:sym typeface="Arial"/>
            </a:endParaRPr>
          </a:p>
        </p:txBody>
      </p:sp>
    </p:spTree>
  </p:cSld>
  <p:clrMapOvr>
    <a:masterClrMapping/>
  </p:clrMapOvr>
  <mc:AlternateContent>
    <mc:Choice Requires="p14">
      <p:transition spd="slow" p14:dur="1200">
        <p14:flip dir="l"/>
      </p:transition>
    </mc:Choice>
    <mc:Fallback>
      <p:transition spd="slow">
        <p:fade/>
      </p:transition>
    </mc:Fallback>
  </mc:AlternateContent>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1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972" name="Google Shape;972;p118"/>
          <p:cNvSpPr txBox="1"/>
          <p:nvPr>
            <p:ph idx="1" type="body"/>
          </p:nvPr>
        </p:nvSpPr>
        <p:spPr>
          <a:xfrm>
            <a:off x="513379" y="1813560"/>
            <a:ext cx="7914970" cy="4739639"/>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100000"/>
              <a:buNone/>
            </a:pPr>
            <a:r>
              <a:rPr lang="en-US"/>
              <a:t>A peso denominated, non-participating stand alone plan with:</a:t>
            </a:r>
            <a:endParaRPr/>
          </a:p>
          <a:p>
            <a:pPr indent="-514350" lvl="0" marL="514350" rtl="0" algn="l">
              <a:spcBef>
                <a:spcPts val="544"/>
              </a:spcBef>
              <a:spcAft>
                <a:spcPts val="0"/>
              </a:spcAft>
              <a:buSzPct val="100000"/>
              <a:buAutoNum type="alphaLcPeriod"/>
            </a:pPr>
            <a:r>
              <a:rPr b="1" lang="en-US">
                <a:solidFill>
                  <a:srgbClr val="FF6600"/>
                </a:solidFill>
              </a:rPr>
              <a:t>Hospitalization Benefits</a:t>
            </a:r>
            <a:endParaRPr/>
          </a:p>
          <a:p>
            <a:pPr indent="-228600" lvl="2" marL="1143000" rtl="0" algn="l">
              <a:spcBef>
                <a:spcPts val="408"/>
              </a:spcBef>
              <a:spcAft>
                <a:spcPts val="0"/>
              </a:spcAft>
              <a:buSzPct val="100000"/>
              <a:buFont typeface="Arial"/>
              <a:buChar char="•"/>
            </a:pPr>
            <a:r>
              <a:rPr lang="en-US"/>
              <a:t>Daily Hospital Income Benefit (DHI)</a:t>
            </a:r>
            <a:endParaRPr/>
          </a:p>
          <a:p>
            <a:pPr indent="-228600" lvl="2" marL="1143000" rtl="0" algn="l">
              <a:spcBef>
                <a:spcPts val="408"/>
              </a:spcBef>
              <a:spcAft>
                <a:spcPts val="0"/>
              </a:spcAft>
              <a:buSzPct val="100000"/>
              <a:buFont typeface="Arial"/>
              <a:buChar char="•"/>
            </a:pPr>
            <a:r>
              <a:rPr lang="en-US"/>
              <a:t>Long-Term Hospital Income (LTHI)</a:t>
            </a:r>
            <a:endParaRPr/>
          </a:p>
          <a:p>
            <a:pPr indent="-228600" lvl="2" marL="1143000" rtl="0" algn="l">
              <a:spcBef>
                <a:spcPts val="408"/>
              </a:spcBef>
              <a:spcAft>
                <a:spcPts val="0"/>
              </a:spcAft>
              <a:buSzPct val="100000"/>
              <a:buFont typeface="Arial"/>
              <a:buChar char="•"/>
            </a:pPr>
            <a:r>
              <a:rPr lang="en-US"/>
              <a:t>Intensive Care Unit Income (ICU)</a:t>
            </a:r>
            <a:endParaRPr/>
          </a:p>
          <a:p>
            <a:pPr indent="-228600" lvl="2" marL="1143000" rtl="0" algn="l">
              <a:spcBef>
                <a:spcPts val="408"/>
              </a:spcBef>
              <a:spcAft>
                <a:spcPts val="0"/>
              </a:spcAft>
              <a:buSzPct val="100000"/>
              <a:buFont typeface="Arial"/>
              <a:buChar char="•"/>
            </a:pPr>
            <a:r>
              <a:rPr lang="en-US"/>
              <a:t>Surgical Expense Benefit</a:t>
            </a:r>
            <a:endParaRPr/>
          </a:p>
          <a:p>
            <a:pPr indent="-514350" lvl="0" marL="514350" rtl="0" algn="l">
              <a:spcBef>
                <a:spcPts val="544"/>
              </a:spcBef>
              <a:spcAft>
                <a:spcPts val="0"/>
              </a:spcAft>
              <a:buSzPct val="100000"/>
              <a:buAutoNum type="alphaLcPeriod"/>
            </a:pPr>
            <a:r>
              <a:rPr b="1" lang="en-US">
                <a:solidFill>
                  <a:srgbClr val="FF6600"/>
                </a:solidFill>
              </a:rPr>
              <a:t>Protection Benefits</a:t>
            </a:r>
            <a:endParaRPr/>
          </a:p>
          <a:p>
            <a:pPr indent="-228600" lvl="2" marL="1143000" rtl="0" algn="l">
              <a:spcBef>
                <a:spcPts val="408"/>
              </a:spcBef>
              <a:spcAft>
                <a:spcPts val="0"/>
              </a:spcAft>
              <a:buSzPct val="100000"/>
              <a:buFont typeface="Arial"/>
              <a:buChar char="•"/>
            </a:pPr>
            <a:r>
              <a:rPr lang="en-US"/>
              <a:t>Life Insurance Protection</a:t>
            </a:r>
            <a:endParaRPr/>
          </a:p>
          <a:p>
            <a:pPr indent="-228600" lvl="2" marL="1143000" rtl="0" algn="l">
              <a:spcBef>
                <a:spcPts val="408"/>
              </a:spcBef>
              <a:spcAft>
                <a:spcPts val="0"/>
              </a:spcAft>
              <a:buSzPct val="100000"/>
              <a:buFont typeface="Arial"/>
              <a:buChar char="•"/>
            </a:pPr>
            <a:r>
              <a:rPr lang="en-US"/>
              <a:t>Accidental Death Benefit (built-in)</a:t>
            </a:r>
            <a:endParaRPr/>
          </a:p>
          <a:p>
            <a:pPr indent="-228600" lvl="2" marL="1143000" rtl="0" algn="l">
              <a:spcBef>
                <a:spcPts val="408"/>
              </a:spcBef>
              <a:spcAft>
                <a:spcPts val="0"/>
              </a:spcAft>
              <a:buSzPct val="100000"/>
              <a:buFont typeface="Arial"/>
              <a:buChar char="•"/>
            </a:pPr>
            <a:r>
              <a:rPr lang="en-US"/>
              <a:t>Total Disability Benefit (built-in)</a:t>
            </a:r>
            <a:endParaRPr/>
          </a:p>
          <a:p>
            <a:pPr indent="-514350" lvl="0" marL="514350" rtl="0" algn="l">
              <a:spcBef>
                <a:spcPts val="544"/>
              </a:spcBef>
              <a:spcAft>
                <a:spcPts val="0"/>
              </a:spcAft>
              <a:buSzPct val="100000"/>
              <a:buAutoNum type="alphaLcPeriod"/>
            </a:pPr>
            <a:r>
              <a:rPr b="1" lang="en-US">
                <a:solidFill>
                  <a:srgbClr val="FF6600"/>
                </a:solidFill>
              </a:rPr>
              <a:t>Cash Benefit </a:t>
            </a:r>
            <a:r>
              <a:rPr lang="en-US"/>
              <a:t>– for Sun First Aid Plus only</a:t>
            </a:r>
            <a:endParaRPr/>
          </a:p>
          <a:p>
            <a:pPr indent="-228600" lvl="2" marL="1143000" rtl="0" algn="l">
              <a:spcBef>
                <a:spcPts val="408"/>
              </a:spcBef>
              <a:spcAft>
                <a:spcPts val="0"/>
              </a:spcAft>
              <a:buSzPct val="100000"/>
              <a:buFont typeface="Arial"/>
              <a:buChar char="•"/>
            </a:pPr>
            <a:r>
              <a:rPr lang="en-US"/>
              <a:t>Return of Premium</a:t>
            </a:r>
            <a:endParaRPr/>
          </a:p>
        </p:txBody>
      </p:sp>
    </p:spTree>
  </p:cSld>
  <p:clrMapOvr>
    <a:masterClrMapping/>
  </p:clrMapOvr>
  <mc:AlternateContent>
    <mc:Choice Requires="p14">
      <p:transition spd="slow" p14:dur="3000">
        <p14:shred dir="ou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500"/>
                                        <p:tgtEl>
                                          <p:spTgt spid="9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1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978" name="Google Shape;978;p119"/>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Conditions</a:t>
            </a:r>
            <a:endParaRPr/>
          </a:p>
        </p:txBody>
      </p:sp>
      <p:sp>
        <p:nvSpPr>
          <p:cNvPr id="979" name="Google Shape;979;p119"/>
          <p:cNvSpPr txBox="1"/>
          <p:nvPr/>
        </p:nvSpPr>
        <p:spPr>
          <a:xfrm>
            <a:off x="350520" y="2362200"/>
            <a:ext cx="8442960" cy="4236719"/>
          </a:xfrm>
          <a:prstGeom prst="rect">
            <a:avLst/>
          </a:prstGeom>
          <a:noFill/>
          <a:ln>
            <a:noFill/>
          </a:ln>
        </p:spPr>
        <p:txBody>
          <a:bodyPr anchorCtr="0" anchor="t" bIns="45700" lIns="91425" spcFirstLastPara="1" rIns="91425" wrap="square" tIns="45700">
            <a:normAutofit/>
          </a:bodyPr>
          <a:lstStyle/>
          <a:p>
            <a:pPr indent="-514350" lvl="0" marL="514350" marR="0" rtl="0" algn="l">
              <a:spcBef>
                <a:spcPts val="0"/>
              </a:spcBef>
              <a:spcAft>
                <a:spcPts val="0"/>
              </a:spcAft>
              <a:buClr>
                <a:srgbClr val="EAAB00"/>
              </a:buClr>
              <a:buSzPts val="3200"/>
              <a:buFont typeface="Arial"/>
              <a:buAutoNum type="alphaLcPeriod"/>
            </a:pPr>
            <a:r>
              <a:rPr lang="en-US" sz="3200">
                <a:solidFill>
                  <a:srgbClr val="003946"/>
                </a:solidFill>
                <a:latin typeface="Arial"/>
                <a:ea typeface="Arial"/>
                <a:cs typeface="Arial"/>
                <a:sym typeface="Arial"/>
              </a:rPr>
              <a:t>Waiting period</a:t>
            </a:r>
            <a:endParaRPr/>
          </a:p>
          <a:p>
            <a:pPr indent="-457200" lvl="2" marL="1257300" marR="0" rtl="0" algn="l">
              <a:spcBef>
                <a:spcPts val="480"/>
              </a:spcBef>
              <a:spcAft>
                <a:spcPts val="0"/>
              </a:spcAft>
              <a:buClr>
                <a:srgbClr val="EAAB00"/>
              </a:buClr>
              <a:buSzPts val="2400"/>
              <a:buFont typeface="Arial"/>
              <a:buChar char="•"/>
            </a:pPr>
            <a:r>
              <a:rPr b="0" i="0" lang="en-US" sz="2400" u="none" cap="none" strike="noStrike">
                <a:solidFill>
                  <a:srgbClr val="003946"/>
                </a:solidFill>
                <a:latin typeface="Arial"/>
                <a:ea typeface="Arial"/>
                <a:cs typeface="Arial"/>
                <a:sym typeface="Arial"/>
              </a:rPr>
              <a:t>Sickness – 30 days from date of issue or last reinstatement</a:t>
            </a:r>
            <a:endParaRPr/>
          </a:p>
          <a:p>
            <a:pPr indent="-457200" lvl="2" marL="1257300" marR="0" rtl="0" algn="l">
              <a:spcBef>
                <a:spcPts val="480"/>
              </a:spcBef>
              <a:spcAft>
                <a:spcPts val="0"/>
              </a:spcAft>
              <a:buClr>
                <a:srgbClr val="EAAB00"/>
              </a:buClr>
              <a:buSzPts val="2400"/>
              <a:buFont typeface="Arial"/>
              <a:buChar char="•"/>
            </a:pPr>
            <a:r>
              <a:rPr b="0" i="0" lang="en-US" sz="2400" u="none" cap="none" strike="noStrike">
                <a:solidFill>
                  <a:srgbClr val="003946"/>
                </a:solidFill>
                <a:latin typeface="Arial"/>
                <a:ea typeface="Arial"/>
                <a:cs typeface="Arial"/>
                <a:sym typeface="Arial"/>
              </a:rPr>
              <a:t>Injury – no waiting period</a:t>
            </a:r>
            <a:endParaRPr/>
          </a:p>
          <a:p>
            <a:pPr indent="-381000" lvl="2" marL="1257300" marR="0" rtl="0" algn="l">
              <a:spcBef>
                <a:spcPts val="240"/>
              </a:spcBef>
              <a:spcAft>
                <a:spcPts val="0"/>
              </a:spcAft>
              <a:buClr>
                <a:srgbClr val="EAAB00"/>
              </a:buClr>
              <a:buSzPts val="1200"/>
              <a:buFont typeface="Arial"/>
              <a:buNone/>
            </a:pPr>
            <a:r>
              <a:t/>
            </a:r>
            <a:endParaRPr b="0" i="0" sz="1200" u="none" cap="none" strike="noStrike">
              <a:solidFill>
                <a:srgbClr val="003946"/>
              </a:solidFill>
              <a:latin typeface="Arial"/>
              <a:ea typeface="Arial"/>
              <a:cs typeface="Arial"/>
              <a:sym typeface="Arial"/>
            </a:endParaRPr>
          </a:p>
          <a:p>
            <a:pPr indent="-514350" lvl="0" marL="514350" marR="0" rtl="0" algn="l">
              <a:spcBef>
                <a:spcPts val="640"/>
              </a:spcBef>
              <a:spcAft>
                <a:spcPts val="0"/>
              </a:spcAft>
              <a:buClr>
                <a:srgbClr val="EAAB00"/>
              </a:buClr>
              <a:buSzPts val="3200"/>
              <a:buFont typeface="Arial"/>
              <a:buAutoNum type="alphaLcPeriod"/>
            </a:pPr>
            <a:r>
              <a:rPr lang="en-US" sz="3200">
                <a:solidFill>
                  <a:srgbClr val="003946"/>
                </a:solidFill>
                <a:latin typeface="Arial"/>
                <a:ea typeface="Arial"/>
                <a:cs typeface="Arial"/>
                <a:sym typeface="Arial"/>
              </a:rPr>
              <a:t>Confinement must be recommended by a Physician as an in-patient</a:t>
            </a:r>
            <a:endParaRPr/>
          </a:p>
        </p:txBody>
      </p:sp>
    </p:spTree>
  </p:cSld>
  <p:clrMapOvr>
    <a:masterClrMapping/>
  </p:clrMapOvr>
  <mc:AlternateContent>
    <mc:Choice Requires="p14">
      <p:transition spd="slow" p14:dur="12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9"/>
                                        </p:tgtEl>
                                        <p:attrNameLst>
                                          <p:attrName>style.visibility</p:attrName>
                                        </p:attrNameLst>
                                      </p:cBhvr>
                                      <p:to>
                                        <p:strVal val="visible"/>
                                      </p:to>
                                    </p:set>
                                    <p:animEffect filter="fade" transition="in">
                                      <p:cBhvr>
                                        <p:cTn dur="500"/>
                                        <p:tgtEl>
                                          <p:spTgt spid="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2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985" name="Google Shape;985;p120"/>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Daily Hospital Income Benefit (DHI)</a:t>
            </a:r>
            <a:endParaRPr/>
          </a:p>
        </p:txBody>
      </p:sp>
      <p:sp>
        <p:nvSpPr>
          <p:cNvPr id="986" name="Google Shape;986;p120"/>
          <p:cNvSpPr txBox="1"/>
          <p:nvPr/>
        </p:nvSpPr>
        <p:spPr>
          <a:xfrm>
            <a:off x="335280" y="2286000"/>
            <a:ext cx="5508898" cy="345948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EAAB00"/>
              </a:buClr>
              <a:buSzPts val="2400"/>
              <a:buFont typeface="Arial"/>
              <a:buChar char="•"/>
            </a:pPr>
            <a:r>
              <a:rPr lang="en-US" sz="2400">
                <a:solidFill>
                  <a:srgbClr val="003946"/>
                </a:solidFill>
                <a:latin typeface="Arial"/>
                <a:ea typeface="Arial"/>
                <a:cs typeface="Arial"/>
                <a:sym typeface="Arial"/>
              </a:rPr>
              <a:t>Hospital confinement commencing on the first day of such hospitalization</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480"/>
              </a:spcBef>
              <a:spcAft>
                <a:spcPts val="0"/>
              </a:spcAft>
              <a:buClr>
                <a:srgbClr val="EAAB00"/>
              </a:buClr>
              <a:buSzPts val="2400"/>
              <a:buFont typeface="Arial"/>
              <a:buChar char="•"/>
            </a:pPr>
            <a:r>
              <a:rPr lang="en-US" sz="2400">
                <a:solidFill>
                  <a:srgbClr val="003946"/>
                </a:solidFill>
                <a:latin typeface="Arial"/>
                <a:ea typeface="Arial"/>
                <a:cs typeface="Arial"/>
                <a:sym typeface="Arial"/>
              </a:rPr>
              <a:t>Sickness – up to 180 days per policy year</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480"/>
              </a:spcBef>
              <a:spcAft>
                <a:spcPts val="0"/>
              </a:spcAft>
              <a:buClr>
                <a:srgbClr val="EAAB00"/>
              </a:buClr>
              <a:buSzPts val="2400"/>
              <a:buFont typeface="Arial"/>
              <a:buChar char="•"/>
            </a:pPr>
            <a:r>
              <a:rPr lang="en-US" sz="2400">
                <a:solidFill>
                  <a:srgbClr val="003946"/>
                </a:solidFill>
                <a:latin typeface="Arial"/>
                <a:ea typeface="Arial"/>
                <a:cs typeface="Arial"/>
                <a:sym typeface="Arial"/>
              </a:rPr>
              <a:t>Injury – up to 365 days per policy year</a:t>
            </a:r>
            <a:endParaRPr/>
          </a:p>
        </p:txBody>
      </p:sp>
      <p:pic>
        <p:nvPicPr>
          <p:cNvPr id="987" name="Google Shape;987;p120"/>
          <p:cNvPicPr preferRelativeResize="0"/>
          <p:nvPr/>
        </p:nvPicPr>
        <p:blipFill rotWithShape="1">
          <a:blip r:embed="rId3">
            <a:alphaModFix/>
          </a:blip>
          <a:srcRect b="0" l="0" r="0" t="0"/>
          <a:stretch/>
        </p:blipFill>
        <p:spPr>
          <a:xfrm>
            <a:off x="5905138" y="2118360"/>
            <a:ext cx="2819398" cy="3276600"/>
          </a:xfrm>
          <a:prstGeom prst="rect">
            <a:avLst/>
          </a:prstGeom>
          <a:noFill/>
          <a:ln>
            <a:noFill/>
          </a:ln>
        </p:spPr>
      </p:pic>
      <p:sp>
        <p:nvSpPr>
          <p:cNvPr id="988" name="Google Shape;988;p120"/>
          <p:cNvSpPr txBox="1"/>
          <p:nvPr/>
        </p:nvSpPr>
        <p:spPr>
          <a:xfrm>
            <a:off x="335280" y="5547360"/>
            <a:ext cx="8328296" cy="10515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2400"/>
              <a:buFont typeface="Arial"/>
              <a:buChar char="•"/>
            </a:pPr>
            <a:r>
              <a:rPr lang="en-US" sz="2400">
                <a:solidFill>
                  <a:srgbClr val="003946"/>
                </a:solidFill>
                <a:latin typeface="Arial"/>
                <a:ea typeface="Arial"/>
                <a:cs typeface="Arial"/>
                <a:sym typeface="Arial"/>
              </a:rPr>
              <a:t>Subject to the maximum limit per admission of 90 days of hospital confinement</a:t>
            </a:r>
            <a:endParaRPr/>
          </a:p>
        </p:txBody>
      </p:sp>
    </p:spTree>
  </p:cSld>
  <p:clrMapOvr>
    <a:masterClrMapping/>
  </p:clrMapOvr>
  <mc:AlternateContent>
    <mc:Choice Requires="p14">
      <p:transition spd="slow" p14:dur="1400">
        <p14:doors/>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2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994" name="Google Shape;994;p121"/>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Long-Term Hospital Income Benefit (LTH)</a:t>
            </a:r>
            <a:endParaRPr/>
          </a:p>
        </p:txBody>
      </p:sp>
      <p:sp>
        <p:nvSpPr>
          <p:cNvPr id="995" name="Google Shape;995;p121"/>
          <p:cNvSpPr txBox="1"/>
          <p:nvPr/>
        </p:nvSpPr>
        <p:spPr>
          <a:xfrm>
            <a:off x="350520" y="2270760"/>
            <a:ext cx="8442960" cy="414528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Additional hospital income starting on the 31</a:t>
            </a:r>
            <a:r>
              <a:rPr baseline="30000" lang="en-US" sz="2800">
                <a:solidFill>
                  <a:srgbClr val="003946"/>
                </a:solidFill>
                <a:latin typeface="Arial"/>
                <a:ea typeface="Arial"/>
                <a:cs typeface="Arial"/>
                <a:sym typeface="Arial"/>
              </a:rPr>
              <a:t>st</a:t>
            </a:r>
            <a:r>
              <a:rPr lang="en-US" sz="2800">
                <a:solidFill>
                  <a:srgbClr val="003946"/>
                </a:solidFill>
                <a:latin typeface="Arial"/>
                <a:ea typeface="Arial"/>
                <a:cs typeface="Arial"/>
                <a:sym typeface="Arial"/>
              </a:rPr>
              <a:t> day of hospital confinement due to same or related sickness or injury</a:t>
            </a:r>
            <a:endParaRPr/>
          </a:p>
          <a:p>
            <a:pPr indent="-285750" lvl="0" marL="342900" marR="0" rtl="0" algn="l">
              <a:spcBef>
                <a:spcPts val="180"/>
              </a:spcBef>
              <a:spcAft>
                <a:spcPts val="0"/>
              </a:spcAft>
              <a:buClr>
                <a:srgbClr val="EAAB00"/>
              </a:buClr>
              <a:buSzPts val="900"/>
              <a:buFont typeface="Arial"/>
              <a:buNone/>
            </a:pPr>
            <a:r>
              <a:t/>
            </a:r>
            <a:endParaRPr sz="9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Sickness – up to 180 days per policy year</a:t>
            </a:r>
            <a:endParaRPr/>
          </a:p>
          <a:p>
            <a:pPr indent="-285750" lvl="0" marL="342900" marR="0" rtl="0" algn="l">
              <a:spcBef>
                <a:spcPts val="180"/>
              </a:spcBef>
              <a:spcAft>
                <a:spcPts val="0"/>
              </a:spcAft>
              <a:buClr>
                <a:srgbClr val="EAAB00"/>
              </a:buClr>
              <a:buSzPts val="900"/>
              <a:buFont typeface="Arial"/>
              <a:buNone/>
            </a:pPr>
            <a:r>
              <a:t/>
            </a:r>
            <a:endParaRPr sz="9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Injury – up to 365 days per policy year</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Subject to the maximum limit per admission of 60 days of hospital confinement</a:t>
            </a:r>
            <a:endParaRPr sz="2800">
              <a:solidFill>
                <a:srgbClr val="003946"/>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500"/>
                                        <p:tgtEl>
                                          <p:spTgt spid="9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22"/>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01" name="Google Shape;1001;p122"/>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Intensive Care Unit Benefit (ICU)</a:t>
            </a:r>
            <a:endParaRPr/>
          </a:p>
        </p:txBody>
      </p:sp>
      <p:sp>
        <p:nvSpPr>
          <p:cNvPr id="1002" name="Google Shape;1002;p122"/>
          <p:cNvSpPr txBox="1"/>
          <p:nvPr/>
        </p:nvSpPr>
        <p:spPr>
          <a:xfrm>
            <a:off x="350520" y="2225040"/>
            <a:ext cx="5989320" cy="31242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Hospital income when the life insured is confined in the ICU commencing on the first day of ICU confinement</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Sickness or injury – up to 180 days per policy year</a:t>
            </a:r>
            <a:endParaRPr sz="2800">
              <a:solidFill>
                <a:srgbClr val="003946"/>
              </a:solidFill>
              <a:latin typeface="Arial"/>
              <a:ea typeface="Arial"/>
              <a:cs typeface="Arial"/>
              <a:sym typeface="Arial"/>
            </a:endParaRPr>
          </a:p>
        </p:txBody>
      </p:sp>
      <p:pic>
        <p:nvPicPr>
          <p:cNvPr id="1003" name="Google Shape;1003;p122"/>
          <p:cNvPicPr preferRelativeResize="0"/>
          <p:nvPr/>
        </p:nvPicPr>
        <p:blipFill rotWithShape="1">
          <a:blip r:embed="rId3">
            <a:alphaModFix/>
          </a:blip>
          <a:srcRect b="0" l="0" r="0" t="0"/>
          <a:stretch/>
        </p:blipFill>
        <p:spPr>
          <a:xfrm>
            <a:off x="6075045" y="2403288"/>
            <a:ext cx="2510790" cy="2578649"/>
          </a:xfrm>
          <a:prstGeom prst="rect">
            <a:avLst/>
          </a:prstGeom>
          <a:noFill/>
          <a:ln>
            <a:noFill/>
          </a:ln>
        </p:spPr>
      </p:pic>
      <p:sp>
        <p:nvSpPr>
          <p:cNvPr id="1004" name="Google Shape;1004;p122"/>
          <p:cNvSpPr txBox="1"/>
          <p:nvPr/>
        </p:nvSpPr>
        <p:spPr>
          <a:xfrm>
            <a:off x="350520" y="5242560"/>
            <a:ext cx="8328296" cy="14630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Subject to the maximum limit per admission of 90 days of hospital confinement</a:t>
            </a:r>
            <a:endParaRPr/>
          </a:p>
        </p:txBody>
      </p:sp>
    </p:spTree>
  </p:cSld>
  <p:clrMapOvr>
    <a:masterClrMapping/>
  </p:clrMapOvr>
  <mc:AlternateContent>
    <mc:Choice Requires="p14">
      <p:transition spd="slow" p14:dur="900">
        <p14:warp dir="i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500"/>
                                        <p:tgtEl>
                                          <p:spTgt spid="10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23"/>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10" name="Google Shape;1010;p123"/>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Surgical Benefit</a:t>
            </a:r>
            <a:endParaRPr/>
          </a:p>
        </p:txBody>
      </p:sp>
      <p:sp>
        <p:nvSpPr>
          <p:cNvPr id="1011" name="Google Shape;1011;p123"/>
          <p:cNvSpPr txBox="1"/>
          <p:nvPr/>
        </p:nvSpPr>
        <p:spPr>
          <a:xfrm>
            <a:off x="350520" y="2240280"/>
            <a:ext cx="8442960" cy="414528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Additional benefit if surgical operation is performed during hospital confinement</a:t>
            </a:r>
            <a:endParaRPr/>
          </a:p>
          <a:p>
            <a:pPr indent="-285750" lvl="0" marL="342900" marR="0" rtl="0" algn="l">
              <a:spcBef>
                <a:spcPts val="180"/>
              </a:spcBef>
              <a:spcAft>
                <a:spcPts val="0"/>
              </a:spcAft>
              <a:buClr>
                <a:srgbClr val="EAAB00"/>
              </a:buClr>
              <a:buSzPts val="900"/>
              <a:buFont typeface="Arial"/>
              <a:buNone/>
            </a:pPr>
            <a:r>
              <a:t/>
            </a:r>
            <a:endParaRPr sz="9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Surgical Benefit multiplied by the corresponding percentage as listed in the Schedule of Surgical Benefit</a:t>
            </a:r>
            <a:endParaRPr/>
          </a:p>
          <a:p>
            <a:pPr indent="-285750" lvl="0" marL="342900" marR="0" rtl="0" algn="l">
              <a:spcBef>
                <a:spcPts val="180"/>
              </a:spcBef>
              <a:spcAft>
                <a:spcPts val="0"/>
              </a:spcAft>
              <a:buClr>
                <a:srgbClr val="EAAB00"/>
              </a:buClr>
              <a:buSzPts val="900"/>
              <a:buFont typeface="Arial"/>
              <a:buNone/>
            </a:pPr>
            <a:r>
              <a:t/>
            </a:r>
            <a:endParaRPr sz="9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In any policy year, the aggregate amount of all benefits payable with respect to surgical operations performed shall not exceed the maximum amount of Surgical Benefit</a:t>
            </a:r>
            <a:endParaRPr sz="2800">
              <a:solidFill>
                <a:srgbClr val="003946"/>
              </a:solidFill>
              <a:latin typeface="Arial"/>
              <a:ea typeface="Arial"/>
              <a:cs typeface="Arial"/>
              <a:sym typeface="Arial"/>
            </a:endParaRPr>
          </a:p>
        </p:txBody>
      </p:sp>
    </p:spTree>
  </p:cSld>
  <p:clrMapOvr>
    <a:masterClrMapping/>
  </p:clrMapOvr>
  <mc:AlternateContent>
    <mc:Choice Requires="p14">
      <p:transition spd="slow" p14:dur="11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500"/>
                                        <p:tgtEl>
                                          <p:spTgt spid="10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24"/>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17" name="Google Shape;1017;p124"/>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Return of Premiums</a:t>
            </a:r>
            <a:endParaRPr/>
          </a:p>
        </p:txBody>
      </p:sp>
      <p:sp>
        <p:nvSpPr>
          <p:cNvPr id="1018" name="Google Shape;1018;p124"/>
          <p:cNvSpPr txBox="1"/>
          <p:nvPr/>
        </p:nvSpPr>
        <p:spPr>
          <a:xfrm>
            <a:off x="350520" y="2179320"/>
            <a:ext cx="8442960" cy="414528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If the life insured is living on the maturity date of the policy, an amount equivalent to a percentage of the original annual premiums paid, decreased by any advances with interest, will be returned to the owner</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Original annual premium is the annual premium at the issue date of the policy</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Percentage = 50% or 75%</a:t>
            </a:r>
            <a:endParaRPr sz="2800">
              <a:solidFill>
                <a:srgbClr val="003946"/>
              </a:solidFill>
              <a:latin typeface="Arial"/>
              <a:ea typeface="Arial"/>
              <a:cs typeface="Arial"/>
              <a:sym typeface="Arial"/>
            </a:endParaRPr>
          </a:p>
        </p:txBody>
      </p:sp>
    </p:spTree>
  </p:cSld>
  <p:clrMapOvr>
    <a:masterClrMapping/>
  </p:clrMapOvr>
  <mc:AlternateContent>
    <mc:Choice Requires="p14">
      <p:transition spd="slow" p14:dur="12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25"/>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24" name="Google Shape;1024;p125"/>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Pre-Existing Condition</a:t>
            </a:r>
            <a:endParaRPr/>
          </a:p>
        </p:txBody>
      </p:sp>
      <p:pic>
        <p:nvPicPr>
          <p:cNvPr id="1025" name="Google Shape;1025;p125"/>
          <p:cNvPicPr preferRelativeResize="0"/>
          <p:nvPr/>
        </p:nvPicPr>
        <p:blipFill rotWithShape="1">
          <a:blip r:embed="rId3">
            <a:alphaModFix/>
          </a:blip>
          <a:srcRect b="0" l="0" r="0" t="0"/>
          <a:stretch/>
        </p:blipFill>
        <p:spPr>
          <a:xfrm>
            <a:off x="1021081" y="2184558"/>
            <a:ext cx="7132319" cy="4404598"/>
          </a:xfrm>
          <a:prstGeom prst="rect">
            <a:avLst/>
          </a:prstGeom>
          <a:noFill/>
          <a:ln>
            <a:noFill/>
          </a:ln>
        </p:spPr>
      </p:pic>
    </p:spTree>
  </p:cSld>
  <p:clrMapOvr>
    <a:masterClrMapping/>
  </p:clrMapOvr>
  <mc:AlternateContent>
    <mc:Choice Requires="p14">
      <p:transition spd="slow" p14:dur="16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1000"/>
                                        <p:tgtEl>
                                          <p:spTgt spid="10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26"/>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31" name="Google Shape;1031;p126"/>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Limitations</a:t>
            </a:r>
            <a:endParaRPr/>
          </a:p>
        </p:txBody>
      </p:sp>
      <p:sp>
        <p:nvSpPr>
          <p:cNvPr id="1032" name="Google Shape;1032;p126"/>
          <p:cNvSpPr txBox="1"/>
          <p:nvPr/>
        </p:nvSpPr>
        <p:spPr>
          <a:xfrm>
            <a:off x="350520" y="2346960"/>
            <a:ext cx="8442960" cy="393192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EAAB00"/>
              </a:buClr>
              <a:buSzPts val="2800"/>
              <a:buFont typeface="Arial"/>
              <a:buChar char="•"/>
            </a:pPr>
            <a:r>
              <a:rPr lang="en-US" sz="2800">
                <a:solidFill>
                  <a:srgbClr val="003946"/>
                </a:solidFill>
                <a:latin typeface="Arial"/>
                <a:ea typeface="Arial"/>
                <a:cs typeface="Arial"/>
                <a:sym typeface="Arial"/>
              </a:rPr>
              <a:t>Hospital confinement within the Philippines only</a:t>
            </a:r>
            <a:endParaRPr/>
          </a:p>
          <a:p>
            <a:pPr indent="-292100" lvl="0" marL="342900" marR="0" rtl="0" algn="l">
              <a:spcBef>
                <a:spcPts val="160"/>
              </a:spcBef>
              <a:spcAft>
                <a:spcPts val="0"/>
              </a:spcAft>
              <a:buClr>
                <a:srgbClr val="EAAB00"/>
              </a:buClr>
              <a:buSzPts val="800"/>
              <a:buFont typeface="Arial"/>
              <a:buNone/>
            </a:pPr>
            <a:r>
              <a:t/>
            </a:r>
            <a:endParaRPr sz="800">
              <a:solidFill>
                <a:srgbClr val="003946"/>
              </a:solidFill>
              <a:latin typeface="Arial"/>
              <a:ea typeface="Arial"/>
              <a:cs typeface="Arial"/>
              <a:sym typeface="Arial"/>
            </a:endParaRPr>
          </a:p>
          <a:p>
            <a:pPr indent="-342900" lvl="0" marL="342900" marR="0" rtl="0" algn="l">
              <a:spcBef>
                <a:spcPts val="560"/>
              </a:spcBef>
              <a:spcAft>
                <a:spcPts val="0"/>
              </a:spcAft>
              <a:buClr>
                <a:srgbClr val="EAAB00"/>
              </a:buClr>
              <a:buSzPts val="2800"/>
              <a:buFont typeface="Arial"/>
              <a:buChar char="•"/>
            </a:pPr>
            <a:r>
              <a:rPr lang="en-US" sz="2800">
                <a:solidFill>
                  <a:srgbClr val="003946"/>
                </a:solidFill>
                <a:latin typeface="Arial"/>
                <a:ea typeface="Arial"/>
                <a:cs typeface="Arial"/>
                <a:sym typeface="Arial"/>
              </a:rPr>
              <a:t>Maximum of Php3,000 daily hospital income benefit under all Sun Life policies</a:t>
            </a:r>
            <a:endParaRPr sz="2800">
              <a:solidFill>
                <a:srgbClr val="003946"/>
              </a:solidFill>
              <a:latin typeface="Arial"/>
              <a:ea typeface="Arial"/>
              <a:cs typeface="Arial"/>
              <a:sym typeface="Arial"/>
            </a:endParaRPr>
          </a:p>
        </p:txBody>
      </p:sp>
    </p:spTree>
  </p:cSld>
  <p:clrMapOvr>
    <a:masterClrMapping/>
  </p:clrMapOvr>
  <mc:AlternateContent>
    <mc:Choice Requires="p14">
      <p:transition spd="slow" p14:dur="1200">
        <p14:prism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27"/>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38" name="Google Shape;1038;p127"/>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Exclusions</a:t>
            </a:r>
            <a:endParaRPr/>
          </a:p>
        </p:txBody>
      </p:sp>
      <p:sp>
        <p:nvSpPr>
          <p:cNvPr id="1039" name="Google Shape;1039;p127"/>
          <p:cNvSpPr txBox="1"/>
          <p:nvPr/>
        </p:nvSpPr>
        <p:spPr>
          <a:xfrm>
            <a:off x="350520" y="2133600"/>
            <a:ext cx="8442960" cy="4495800"/>
          </a:xfrm>
          <a:prstGeom prst="rect">
            <a:avLst/>
          </a:prstGeom>
          <a:noFill/>
          <a:ln>
            <a:noFill/>
          </a:ln>
        </p:spPr>
        <p:txBody>
          <a:bodyPr anchorCtr="0" anchor="t" bIns="45700" lIns="91425" spcFirstLastPara="1" rIns="91425" wrap="square" tIns="45700">
            <a:normAutofit/>
          </a:bodyPr>
          <a:lstStyle/>
          <a:p>
            <a:pPr indent="-514350" lvl="0" marL="514350" marR="0" rtl="0" algn="l">
              <a:spcBef>
                <a:spcPts val="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confinement in a hospital due to Sickness during the waiting period of 30 days from the date this benefit comes into force, or its last reinstatement whichever is later</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pre-existing Conditions subject to the provision on pre-existing condition as defined in the policy</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attempted suicide or self-inflicted injury while sane or insane;</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war, declared or undeclared, insurrection, riots, rebellion, civil commotion or hostile action of armed forces; </a:t>
            </a:r>
            <a:endParaRPr sz="2000">
              <a:solidFill>
                <a:srgbClr val="003946"/>
              </a:solidFill>
              <a:latin typeface="Arial"/>
              <a:ea typeface="Arial"/>
              <a:cs typeface="Arial"/>
              <a:sym typeface="Arial"/>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abuse of drug or alcohol;</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committing or attempting to commit a criminal offense;</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nervous or mental disorder;</a:t>
            </a:r>
            <a:endParaRPr/>
          </a:p>
          <a:p>
            <a:pPr indent="-514350" lvl="0" marL="514350" marR="0" rtl="0" algn="l">
              <a:spcBef>
                <a:spcPts val="400"/>
              </a:spcBef>
              <a:spcAft>
                <a:spcPts val="0"/>
              </a:spcAft>
              <a:buClr>
                <a:srgbClr val="EAAB00"/>
              </a:buClr>
              <a:buSzPts val="2000"/>
              <a:buFont typeface="Calibri"/>
              <a:buAutoNum type="arabicParenR"/>
            </a:pPr>
            <a:r>
              <a:rPr lang="en-US" sz="2000">
                <a:solidFill>
                  <a:srgbClr val="003946"/>
                </a:solidFill>
                <a:latin typeface="Arial"/>
                <a:ea typeface="Arial"/>
                <a:cs typeface="Arial"/>
                <a:sym typeface="Arial"/>
              </a:rPr>
              <a:t>pregnancy, childbirth, miscarriage or abortion or complication of any of these;</a:t>
            </a:r>
            <a:endParaRPr sz="2000">
              <a:solidFill>
                <a:srgbClr val="003946"/>
              </a:solidFill>
              <a:latin typeface="Arial"/>
              <a:ea typeface="Arial"/>
              <a:cs typeface="Arial"/>
              <a:sym typeface="Arial"/>
            </a:endParaRPr>
          </a:p>
          <a:p>
            <a:pPr indent="-387350" lvl="0" marL="514350" marR="0" rtl="0" algn="l">
              <a:spcBef>
                <a:spcPts val="400"/>
              </a:spcBef>
              <a:spcAft>
                <a:spcPts val="0"/>
              </a:spcAft>
              <a:buClr>
                <a:srgbClr val="EAAB00"/>
              </a:buClr>
              <a:buSzPts val="2000"/>
              <a:buFont typeface="Calibri"/>
              <a:buNone/>
            </a:pPr>
            <a:r>
              <a:t/>
            </a:r>
            <a:endParaRPr sz="2000">
              <a:solidFill>
                <a:srgbClr val="003946"/>
              </a:solidFill>
              <a:latin typeface="Arial"/>
              <a:ea typeface="Arial"/>
              <a:cs typeface="Arial"/>
              <a:sym typeface="Arial"/>
            </a:endParaRPr>
          </a:p>
        </p:txBody>
      </p:sp>
    </p:spTree>
  </p:cSld>
  <p:clrMapOvr>
    <a:masterClrMapping/>
  </p:clrMapOvr>
  <mc:AlternateContent>
    <mc:Choice Requires="p14">
      <p:transition spd="slow" p14:dur="14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28"/>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45" name="Google Shape;1045;p128"/>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Exclusions  </a:t>
            </a:r>
            <a:r>
              <a:rPr i="1" lang="en-US" sz="2800"/>
              <a:t>cont…</a:t>
            </a:r>
            <a:endParaRPr/>
          </a:p>
        </p:txBody>
      </p:sp>
      <p:sp>
        <p:nvSpPr>
          <p:cNvPr id="1046" name="Google Shape;1046;p128"/>
          <p:cNvSpPr txBox="1"/>
          <p:nvPr/>
        </p:nvSpPr>
        <p:spPr>
          <a:xfrm>
            <a:off x="350520" y="2026921"/>
            <a:ext cx="8442960" cy="4648199"/>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congenital deformities or defects;</a:t>
            </a:r>
            <a:endParaRPr/>
          </a:p>
          <a:p>
            <a:pPr indent="-514350" lvl="0" marL="514350" marR="0" rtl="0" algn="l">
              <a:spcBef>
                <a:spcPts val="40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routine physical check-up or rest cures;</a:t>
            </a:r>
            <a:endParaRPr/>
          </a:p>
          <a:p>
            <a:pPr indent="-514350" lvl="0" marL="514350" marR="0" rtl="0" algn="l">
              <a:spcBef>
                <a:spcPts val="40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cosmetic or plastic surgery, except as a result of Injury and recommended by a physician;</a:t>
            </a:r>
            <a:endParaRPr/>
          </a:p>
          <a:p>
            <a:pPr indent="-514350" lvl="0" marL="514350" marR="0" rtl="0" algn="l">
              <a:spcBef>
                <a:spcPts val="40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any Human Immunodeficiency Virus (HIV) and/or any HIV-related illness including Acquired Immune Deficiency Syndrome (AIDS) and/or any mutations, deprivation or variations thereof;</a:t>
            </a:r>
            <a:endParaRPr/>
          </a:p>
          <a:p>
            <a:pPr indent="-514350" lvl="0" marL="514350" marR="0" rtl="0" algn="l">
              <a:spcBef>
                <a:spcPts val="40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engaging in any aviation other than as a fare paying passenger on a licensed public or chartered air service;</a:t>
            </a:r>
            <a:endParaRPr sz="2000">
              <a:solidFill>
                <a:srgbClr val="003946"/>
              </a:solidFill>
              <a:latin typeface="Arial"/>
              <a:ea typeface="Arial"/>
              <a:cs typeface="Arial"/>
              <a:sym typeface="Arial"/>
            </a:endParaRPr>
          </a:p>
          <a:p>
            <a:pPr indent="-514350" lvl="0" marL="514350" marR="0" rtl="0" algn="l">
              <a:spcBef>
                <a:spcPts val="400"/>
              </a:spcBef>
              <a:spcAft>
                <a:spcPts val="0"/>
              </a:spcAft>
              <a:buClr>
                <a:srgbClr val="EAAB00"/>
              </a:buClr>
              <a:buSzPts val="2000"/>
              <a:buFont typeface="Calibri"/>
              <a:buAutoNum type="arabicParenR" startAt="9"/>
            </a:pPr>
            <a:r>
              <a:rPr lang="en-US" sz="2000">
                <a:solidFill>
                  <a:srgbClr val="003946"/>
                </a:solidFill>
                <a:latin typeface="Arial"/>
                <a:ea typeface="Arial"/>
                <a:cs typeface="Arial"/>
                <a:sym typeface="Arial"/>
              </a:rPr>
              <a:t>engaging in/practicing for/training or taking part in scuba diving, any from of Combat, any kind of racing on horse or wheel, climbing or mountaineering necessitating the use of ropes or guides, parachuting, hang gliding, hunting, extreme or profession sports with the exception of basketball;</a:t>
            </a:r>
            <a:endParaRPr sz="2000">
              <a:solidFill>
                <a:srgbClr val="003946"/>
              </a:solidFill>
              <a:latin typeface="Arial"/>
              <a:ea typeface="Arial"/>
              <a:cs typeface="Arial"/>
              <a:sym typeface="Arial"/>
            </a:endParaRPr>
          </a:p>
        </p:txBody>
      </p:sp>
    </p:spTree>
  </p:cSld>
  <p:clrMapOvr>
    <a:masterClrMapping/>
  </p:clrMapOvr>
  <mc:AlternateContent>
    <mc:Choice Requires="p14">
      <p:transition spd="slow" p14:dur="1600">
        <p14:prism dir="l"/>
      </p:transition>
    </mc:Choice>
    <mc:Fallback>
      <p:transition spd="slow">
        <p:fade/>
      </p:transition>
    </mc:Fallback>
  </mc:AlternateContent>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29"/>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SUN FIRST AID</a:t>
            </a:r>
            <a:endParaRPr b="1"/>
          </a:p>
        </p:txBody>
      </p:sp>
      <p:sp>
        <p:nvSpPr>
          <p:cNvPr id="1052" name="Google Shape;1052;p129"/>
          <p:cNvSpPr txBox="1"/>
          <p:nvPr>
            <p:ph idx="1" type="body"/>
          </p:nvPr>
        </p:nvSpPr>
        <p:spPr>
          <a:xfrm>
            <a:off x="350520" y="1508761"/>
            <a:ext cx="8442960" cy="5943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3200"/>
              <a:buNone/>
            </a:pPr>
            <a:r>
              <a:rPr b="1" lang="en-US">
                <a:solidFill>
                  <a:srgbClr val="FF6600"/>
                </a:solidFill>
              </a:rPr>
              <a:t>Exclusions  </a:t>
            </a:r>
            <a:r>
              <a:rPr i="1" lang="en-US" sz="2800"/>
              <a:t>cont…</a:t>
            </a:r>
            <a:endParaRPr/>
          </a:p>
        </p:txBody>
      </p:sp>
      <p:sp>
        <p:nvSpPr>
          <p:cNvPr id="1053" name="Google Shape;1053;p129"/>
          <p:cNvSpPr txBox="1"/>
          <p:nvPr/>
        </p:nvSpPr>
        <p:spPr>
          <a:xfrm>
            <a:off x="350520" y="2133600"/>
            <a:ext cx="8442960" cy="4495800"/>
          </a:xfrm>
          <a:prstGeom prst="rect">
            <a:avLst/>
          </a:prstGeom>
          <a:noFill/>
          <a:ln>
            <a:noFill/>
          </a:ln>
        </p:spPr>
        <p:txBody>
          <a:bodyPr anchorCtr="0" anchor="t" bIns="45700" lIns="91425" spcFirstLastPara="1" rIns="91425" wrap="square" tIns="45700">
            <a:normAutofit/>
          </a:bodyPr>
          <a:lstStyle/>
          <a:p>
            <a:pPr indent="-514350" lvl="0" marL="514350" marR="0" rtl="0" algn="l">
              <a:spcBef>
                <a:spcPts val="0"/>
              </a:spcBef>
              <a:spcAft>
                <a:spcPts val="0"/>
              </a:spcAft>
              <a:buClr>
                <a:srgbClr val="EAAB00"/>
              </a:buClr>
              <a:buSzPts val="2000"/>
              <a:buFont typeface="Calibri"/>
              <a:buAutoNum type="arabicParenR" startAt="15"/>
            </a:pPr>
            <a:r>
              <a:rPr lang="en-US" sz="2000">
                <a:solidFill>
                  <a:srgbClr val="003946"/>
                </a:solidFill>
                <a:latin typeface="Arial"/>
                <a:ea typeface="Arial"/>
                <a:cs typeface="Arial"/>
                <a:sym typeface="Arial"/>
              </a:rPr>
              <a:t>Hospital Confinement for rest cures, periodic checkups, any dental work, dental treatment or eye examination except as a result of Injury;</a:t>
            </a:r>
            <a:endParaRPr/>
          </a:p>
          <a:p>
            <a:pPr indent="-514350" lvl="0" marL="514350" marR="0" rtl="0" algn="l">
              <a:spcBef>
                <a:spcPts val="400"/>
              </a:spcBef>
              <a:spcAft>
                <a:spcPts val="0"/>
              </a:spcAft>
              <a:buClr>
                <a:srgbClr val="EAAB00"/>
              </a:buClr>
              <a:buSzPts val="2000"/>
              <a:buFont typeface="Calibri"/>
              <a:buAutoNum type="arabicParenR" startAt="15"/>
            </a:pPr>
            <a:r>
              <a:rPr lang="en-US" sz="2000">
                <a:solidFill>
                  <a:srgbClr val="003946"/>
                </a:solidFill>
                <a:latin typeface="Arial"/>
                <a:ea typeface="Arial"/>
                <a:cs typeface="Arial"/>
                <a:sym typeface="Arial"/>
              </a:rPr>
              <a:t>Inhaling any gas or fumes, except if inhalation is accidental AND in the course of duty;</a:t>
            </a:r>
            <a:endParaRPr/>
          </a:p>
          <a:p>
            <a:pPr indent="-514350" lvl="0" marL="514350" marR="0" rtl="0" algn="l">
              <a:spcBef>
                <a:spcPts val="400"/>
              </a:spcBef>
              <a:spcAft>
                <a:spcPts val="0"/>
              </a:spcAft>
              <a:buClr>
                <a:srgbClr val="EAAB00"/>
              </a:buClr>
              <a:buSzPts val="2000"/>
              <a:buFont typeface="Calibri"/>
              <a:buAutoNum type="arabicParenR" startAt="15"/>
            </a:pPr>
            <a:r>
              <a:rPr lang="en-US" sz="2000">
                <a:solidFill>
                  <a:srgbClr val="003946"/>
                </a:solidFill>
                <a:latin typeface="Arial"/>
                <a:ea typeface="Arial"/>
                <a:cs typeface="Arial"/>
                <a:sym typeface="Arial"/>
              </a:rPr>
              <a:t>Poison.</a:t>
            </a:r>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30"/>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b="1" lang="en-US"/>
              <a:t>Q&amp;A</a:t>
            </a:r>
            <a:endParaRPr b="1"/>
          </a:p>
        </p:txBody>
      </p:sp>
      <p:sp>
        <p:nvSpPr>
          <p:cNvPr id="1059" name="Google Shape;1059;p130"/>
          <p:cNvSpPr/>
          <p:nvPr/>
        </p:nvSpPr>
        <p:spPr>
          <a:xfrm>
            <a:off x="87086" y="76200"/>
            <a:ext cx="8958943" cy="6694714"/>
          </a:xfrm>
          <a:prstGeom prst="rect">
            <a:avLst/>
          </a:prstGeom>
          <a:solidFill>
            <a:schemeClr val="lt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60" name="Google Shape;1060;p130"/>
          <p:cNvPicPr preferRelativeResize="0"/>
          <p:nvPr/>
        </p:nvPicPr>
        <p:blipFill rotWithShape="1">
          <a:blip r:embed="rId3">
            <a:alphaModFix/>
          </a:blip>
          <a:srcRect b="0" l="0" r="0" t="0"/>
          <a:stretch/>
        </p:blipFill>
        <p:spPr>
          <a:xfrm>
            <a:off x="87085" y="76200"/>
            <a:ext cx="8958943" cy="6694714"/>
          </a:xfrm>
          <a:prstGeom prst="rect">
            <a:avLst/>
          </a:prstGeom>
          <a:noFill/>
          <a:ln>
            <a:noFill/>
          </a:ln>
        </p:spPr>
      </p:pic>
      <p:pic>
        <p:nvPicPr>
          <p:cNvPr id="1061" name="Google Shape;1061;p130"/>
          <p:cNvPicPr preferRelativeResize="0"/>
          <p:nvPr/>
        </p:nvPicPr>
        <p:blipFill rotWithShape="1">
          <a:blip r:embed="rId4">
            <a:alphaModFix/>
          </a:blip>
          <a:srcRect b="0" l="0" r="0" t="0"/>
          <a:stretch/>
        </p:blipFill>
        <p:spPr>
          <a:xfrm>
            <a:off x="807720" y="839699"/>
            <a:ext cx="7360920" cy="5103901"/>
          </a:xfrm>
          <a:prstGeom prst="rect">
            <a:avLst/>
          </a:prstGeom>
          <a:noFill/>
          <a:ln>
            <a:noFill/>
          </a:ln>
        </p:spPr>
      </p:pic>
    </p:spTree>
  </p:cSld>
  <p:clrMapOvr>
    <a:masterClrMapping/>
  </p:clrMapOvr>
  <p:transition spd="slow" p14:dur="1200">
    <p:zoom dir="out"/>
  </p:transition>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65" name="Shape 1065"/>
        <p:cNvGrpSpPr/>
        <p:nvPr/>
      </p:nvGrpSpPr>
      <p:grpSpPr>
        <a:xfrm>
          <a:off x="0" y="0"/>
          <a:ext cx="0" cy="0"/>
          <a:chOff x="0" y="0"/>
          <a:chExt cx="0" cy="0"/>
        </a:xfrm>
      </p:grpSpPr>
      <p:sp>
        <p:nvSpPr>
          <p:cNvPr id="1066" name="Google Shape;1066;p131"/>
          <p:cNvSpPr txBox="1"/>
          <p:nvPr>
            <p:ph type="title"/>
          </p:nvPr>
        </p:nvSpPr>
        <p:spPr>
          <a:xfrm>
            <a:off x="228600" y="198164"/>
            <a:ext cx="8686800" cy="110790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3946"/>
              </a:buClr>
              <a:buSzPts val="4400"/>
              <a:buFont typeface="Arial"/>
              <a:buNone/>
            </a:pPr>
            <a:r>
              <a:rPr lang="en-US"/>
              <a:t>THANK YOU!</a:t>
            </a:r>
            <a:endParaRPr/>
          </a:p>
        </p:txBody>
      </p:sp>
      <p:sp>
        <p:nvSpPr>
          <p:cNvPr id="1067" name="Google Shape;1067;p131"/>
          <p:cNvSpPr/>
          <p:nvPr/>
        </p:nvSpPr>
        <p:spPr>
          <a:xfrm>
            <a:off x="0" y="0"/>
            <a:ext cx="9144000" cy="6858000"/>
          </a:xfrm>
          <a:prstGeom prst="rect">
            <a:avLst/>
          </a:prstGeom>
          <a:solidFill>
            <a:schemeClr val="lt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68" name="Google Shape;1068;p131"/>
          <p:cNvPicPr preferRelativeResize="0"/>
          <p:nvPr/>
        </p:nvPicPr>
        <p:blipFill rotWithShape="1">
          <a:blip r:embed="rId3">
            <a:alphaModFix/>
          </a:blip>
          <a:srcRect b="0" l="0" r="0" t="0"/>
          <a:stretch/>
        </p:blipFill>
        <p:spPr>
          <a:xfrm>
            <a:off x="0" y="0"/>
            <a:ext cx="9144000" cy="6858000"/>
          </a:xfrm>
          <a:prstGeom prst="rect">
            <a:avLst/>
          </a:prstGeom>
          <a:noFill/>
          <a:ln>
            <a:noFill/>
          </a:ln>
        </p:spPr>
      </p:pic>
      <p:pic>
        <p:nvPicPr>
          <p:cNvPr descr="C:\Users\p084\Downloads\thanks-5409.gif" id="1069" name="Google Shape;1069;p131"/>
          <p:cNvPicPr preferRelativeResize="0"/>
          <p:nvPr/>
        </p:nvPicPr>
        <p:blipFill rotWithShape="1">
          <a:blip r:embed="rId4">
            <a:alphaModFix/>
          </a:blip>
          <a:srcRect b="0" l="0" r="0" t="0"/>
          <a:stretch/>
        </p:blipFill>
        <p:spPr>
          <a:xfrm>
            <a:off x="1383019" y="1066800"/>
            <a:ext cx="6377962" cy="4770119"/>
          </a:xfrm>
          <a:prstGeom prst="rect">
            <a:avLst/>
          </a:prstGeom>
          <a:noFill/>
          <a:ln>
            <a:noFill/>
          </a:ln>
        </p:spPr>
      </p:pic>
    </p:spTree>
  </p:cSld>
  <p:clrMapOvr>
    <a:masterClrMapping/>
  </p:clrMapOvr>
  <mc:AlternateContent>
    <mc:Choice Requires="p14">
      <p:transition spd="slow" p14:dur="1400">
        <p14:rippl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2011-11-09T16:05:52Z</dcterms:created>
  <dc:creator>Irena Howard</dc:creator>
</cp:coreProperties>
</file>